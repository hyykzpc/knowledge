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theme/themeOverride15.xml" ContentType="application/vnd.openxmlformats-officedocument.themeOverr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heme/themeOverride21.xml" ContentType="application/vnd.openxmlformats-officedocument.themeOverride+xml"/>
  <Override PartName="/ppt/notesSlides/notesSlide39.xml" ContentType="application/vnd.openxmlformats-officedocument.presentationml.notesSlide+xml"/>
  <Override PartName="/ppt/theme/themeOverride22.xml" ContentType="application/vnd.openxmlformats-officedocument.themeOverride+xml"/>
  <Override PartName="/ppt/notesSlides/notesSlide40.xml" ContentType="application/vnd.openxmlformats-officedocument.presentationml.notesSlide+xml"/>
  <Override PartName="/ppt/theme/themeOverride23.xml" ContentType="application/vnd.openxmlformats-officedocument.themeOverride+xml"/>
  <Override PartName="/ppt/notesSlides/notesSlide41.xml" ContentType="application/vnd.openxmlformats-officedocument.presentationml.notesSlide+xml"/>
  <Override PartName="/ppt/theme/themeOverride24.xml" ContentType="application/vnd.openxmlformats-officedocument.themeOverride+xml"/>
  <Override PartName="/ppt/notesSlides/notesSlide42.xml" ContentType="application/vnd.openxmlformats-officedocument.presentationml.notesSlide+xml"/>
  <Override PartName="/ppt/theme/themeOverride25.xml" ContentType="application/vnd.openxmlformats-officedocument.themeOverride+xml"/>
  <Override PartName="/ppt/notesSlides/notesSlide43.xml" ContentType="application/vnd.openxmlformats-officedocument.presentationml.notesSlide+xml"/>
  <Override PartName="/ppt/theme/themeOverride26.xml" ContentType="application/vnd.openxmlformats-officedocument.themeOverride+xml"/>
  <Override PartName="/ppt/notesSlides/notesSlide44.xml" ContentType="application/vnd.openxmlformats-officedocument.presentationml.notesSlide+xml"/>
  <Override PartName="/ppt/theme/themeOverride27.xml" ContentType="application/vnd.openxmlformats-officedocument.themeOverride+xml"/>
  <Override PartName="/ppt/notesSlides/notesSlide45.xml" ContentType="application/vnd.openxmlformats-officedocument.presentationml.notesSlide+xml"/>
  <Override PartName="/ppt/theme/themeOverride28.xml" ContentType="application/vnd.openxmlformats-officedocument.themeOverride+xml"/>
  <Override PartName="/ppt/notesSlides/notesSlide46.xml" ContentType="application/vnd.openxmlformats-officedocument.presentationml.notesSlide+xml"/>
  <Override PartName="/ppt/theme/themeOverride29.xml" ContentType="application/vnd.openxmlformats-officedocument.themeOverride+xml"/>
  <Override PartName="/ppt/notesSlides/notesSlide47.xml" ContentType="application/vnd.openxmlformats-officedocument.presentationml.notesSlide+xml"/>
  <Override PartName="/ppt/theme/themeOverride30.xml" ContentType="application/vnd.openxmlformats-officedocument.themeOverride+xml"/>
  <Override PartName="/ppt/notesSlides/notesSlide48.xml" ContentType="application/vnd.openxmlformats-officedocument.presentationml.notesSlide+xml"/>
  <Override PartName="/ppt/theme/themeOverride31.xml" ContentType="application/vnd.openxmlformats-officedocument.themeOverride+xml"/>
  <Override PartName="/ppt/notesSlides/notesSlide49.xml" ContentType="application/vnd.openxmlformats-officedocument.presentationml.notesSlide+xml"/>
  <Override PartName="/ppt/theme/themeOverride32.xml" ContentType="application/vnd.openxmlformats-officedocument.themeOverride+xml"/>
  <Override PartName="/ppt/notesSlides/notesSlide50.xml" ContentType="application/vnd.openxmlformats-officedocument.presentationml.notesSlide+xml"/>
  <Override PartName="/ppt/theme/themeOverride33.xml" ContentType="application/vnd.openxmlformats-officedocument.themeOverride+xml"/>
  <Override PartName="/ppt/notesSlides/notesSlide51.xml" ContentType="application/vnd.openxmlformats-officedocument.presentationml.notesSlide+xml"/>
  <Override PartName="/ppt/theme/themeOverride34.xml" ContentType="application/vnd.openxmlformats-officedocument.themeOverride+xml"/>
  <Override PartName="/ppt/notesSlides/notesSlide52.xml" ContentType="application/vnd.openxmlformats-officedocument.presentationml.notesSlide+xml"/>
  <Override PartName="/ppt/theme/themeOverride35.xml" ContentType="application/vnd.openxmlformats-officedocument.themeOverride+xml"/>
  <Override PartName="/ppt/notesSlides/notesSlide53.xml" ContentType="application/vnd.openxmlformats-officedocument.presentationml.notesSlide+xml"/>
  <Override PartName="/ppt/theme/themeOverride36.xml" ContentType="application/vnd.openxmlformats-officedocument.themeOverride+xml"/>
  <Override PartName="/ppt/notesSlides/notesSlide54.xml" ContentType="application/vnd.openxmlformats-officedocument.presentationml.notesSlide+xml"/>
  <Override PartName="/ppt/theme/themeOverride37.xml" ContentType="application/vnd.openxmlformats-officedocument.themeOverride+xml"/>
  <Override PartName="/ppt/notesSlides/notesSlide55.xml" ContentType="application/vnd.openxmlformats-officedocument.presentationml.notesSlide+xml"/>
  <Override PartName="/ppt/theme/themeOverride38.xml" ContentType="application/vnd.openxmlformats-officedocument.themeOverride+xml"/>
  <Override PartName="/ppt/notesSlides/notesSlide56.xml" ContentType="application/vnd.openxmlformats-officedocument.presentationml.notesSlide+xml"/>
  <Override PartName="/ppt/theme/themeOverride39.xml" ContentType="application/vnd.openxmlformats-officedocument.themeOverride+xml"/>
  <Override PartName="/ppt/notesSlides/notesSlide57.xml" ContentType="application/vnd.openxmlformats-officedocument.presentationml.notesSlide+xml"/>
  <Override PartName="/ppt/theme/themeOverride40.xml" ContentType="application/vnd.openxmlformats-officedocument.themeOverride+xml"/>
  <Override PartName="/ppt/notesSlides/notesSlide58.xml" ContentType="application/vnd.openxmlformats-officedocument.presentationml.notesSlide+xml"/>
  <Override PartName="/ppt/theme/themeOverride41.xml" ContentType="application/vnd.openxmlformats-officedocument.themeOverride+xml"/>
  <Override PartName="/ppt/notesSlides/notesSlide59.xml" ContentType="application/vnd.openxmlformats-officedocument.presentationml.notesSlide+xml"/>
  <Override PartName="/ppt/theme/themeOverride42.xml" ContentType="application/vnd.openxmlformats-officedocument.themeOverride+xml"/>
  <Override PartName="/ppt/notesSlides/notesSlide60.xml" ContentType="application/vnd.openxmlformats-officedocument.presentationml.notesSlide+xml"/>
  <Override PartName="/ppt/theme/themeOverride43.xml" ContentType="application/vnd.openxmlformats-officedocument.themeOverride+xml"/>
  <Override PartName="/ppt/notesSlides/notesSlide61.xml" ContentType="application/vnd.openxmlformats-officedocument.presentationml.notesSlide+xml"/>
  <Override PartName="/ppt/theme/themeOverride44.xml" ContentType="application/vnd.openxmlformats-officedocument.themeOverride+xml"/>
  <Override PartName="/ppt/notesSlides/notesSlide62.xml" ContentType="application/vnd.openxmlformats-officedocument.presentationml.notesSlide+xml"/>
  <Override PartName="/ppt/theme/themeOverride45.xml" ContentType="application/vnd.openxmlformats-officedocument.themeOverride+xml"/>
  <Override PartName="/ppt/notesSlides/notesSlide63.xml" ContentType="application/vnd.openxmlformats-officedocument.presentationml.notesSlide+xml"/>
  <Override PartName="/ppt/theme/themeOverride46.xml" ContentType="application/vnd.openxmlformats-officedocument.themeOverride+xml"/>
  <Override PartName="/ppt/notesSlides/notesSlide64.xml" ContentType="application/vnd.openxmlformats-officedocument.presentationml.notesSlide+xml"/>
  <Override PartName="/ppt/theme/themeOverride47.xml" ContentType="application/vnd.openxmlformats-officedocument.themeOverride+xml"/>
  <Override PartName="/ppt/notesSlides/notesSlide65.xml" ContentType="application/vnd.openxmlformats-officedocument.presentationml.notesSlide+xml"/>
  <Override PartName="/ppt/theme/themeOverride48.xml" ContentType="application/vnd.openxmlformats-officedocument.themeOverride+xml"/>
  <Override PartName="/ppt/notesSlides/notesSlide66.xml" ContentType="application/vnd.openxmlformats-officedocument.presentationml.notesSlide+xml"/>
  <Override PartName="/ppt/theme/themeOverride49.xml" ContentType="application/vnd.openxmlformats-officedocument.themeOverride+xml"/>
  <Override PartName="/ppt/notesSlides/notesSlide67.xml" ContentType="application/vnd.openxmlformats-officedocument.presentationml.notesSlide+xml"/>
  <Override PartName="/ppt/theme/themeOverride50.xml" ContentType="application/vnd.openxmlformats-officedocument.themeOverride+xml"/>
  <Override PartName="/ppt/notesSlides/notesSlide68.xml" ContentType="application/vnd.openxmlformats-officedocument.presentationml.notesSlide+xml"/>
  <Override PartName="/ppt/theme/themeOverride51.xml" ContentType="application/vnd.openxmlformats-officedocument.themeOverride+xml"/>
  <Override PartName="/ppt/notesSlides/notesSlide69.xml" ContentType="application/vnd.openxmlformats-officedocument.presentationml.notesSlide+xml"/>
  <Override PartName="/ppt/theme/themeOverride52.xml" ContentType="application/vnd.openxmlformats-officedocument.themeOverride+xml"/>
  <Override PartName="/ppt/notesSlides/notesSlide70.xml" ContentType="application/vnd.openxmlformats-officedocument.presentationml.notesSlide+xml"/>
  <Override PartName="/ppt/theme/themeOverride53.xml" ContentType="application/vnd.openxmlformats-officedocument.themeOverride+xml"/>
  <Override PartName="/ppt/notesSlides/notesSlide71.xml" ContentType="application/vnd.openxmlformats-officedocument.presentationml.notesSlide+xml"/>
  <Override PartName="/ppt/theme/themeOverride54.xml" ContentType="application/vnd.openxmlformats-officedocument.themeOverr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74"/>
  </p:notesMasterIdLst>
  <p:sldIdLst>
    <p:sldId id="411" r:id="rId2"/>
    <p:sldId id="518" r:id="rId3"/>
    <p:sldId id="519" r:id="rId4"/>
    <p:sldId id="520" r:id="rId5"/>
    <p:sldId id="537" r:id="rId6"/>
    <p:sldId id="538" r:id="rId7"/>
    <p:sldId id="539" r:id="rId8"/>
    <p:sldId id="521" r:id="rId9"/>
    <p:sldId id="523" r:id="rId10"/>
    <p:sldId id="536" r:id="rId11"/>
    <p:sldId id="535" r:id="rId12"/>
    <p:sldId id="412" r:id="rId13"/>
    <p:sldId id="507" r:id="rId14"/>
    <p:sldId id="413" r:id="rId15"/>
    <p:sldId id="414" r:id="rId16"/>
    <p:sldId id="509" r:id="rId17"/>
    <p:sldId id="416" r:id="rId18"/>
    <p:sldId id="418" r:id="rId19"/>
    <p:sldId id="508" r:id="rId20"/>
    <p:sldId id="417" r:id="rId21"/>
    <p:sldId id="510" r:id="rId22"/>
    <p:sldId id="512" r:id="rId23"/>
    <p:sldId id="513" r:id="rId24"/>
    <p:sldId id="525" r:id="rId25"/>
    <p:sldId id="565" r:id="rId26"/>
    <p:sldId id="566" r:id="rId27"/>
    <p:sldId id="567" r:id="rId28"/>
    <p:sldId id="564" r:id="rId29"/>
    <p:sldId id="563" r:id="rId30"/>
    <p:sldId id="531" r:id="rId31"/>
    <p:sldId id="562" r:id="rId32"/>
    <p:sldId id="533" r:id="rId33"/>
    <p:sldId id="534" r:id="rId34"/>
    <p:sldId id="511" r:id="rId35"/>
    <p:sldId id="514" r:id="rId36"/>
    <p:sldId id="540" r:id="rId37"/>
    <p:sldId id="515" r:id="rId38"/>
    <p:sldId id="516" r:id="rId39"/>
    <p:sldId id="438" r:id="rId40"/>
    <p:sldId id="568" r:id="rId41"/>
    <p:sldId id="546" r:id="rId42"/>
    <p:sldId id="542" r:id="rId43"/>
    <p:sldId id="569" r:id="rId44"/>
    <p:sldId id="570" r:id="rId45"/>
    <p:sldId id="571" r:id="rId46"/>
    <p:sldId id="572" r:id="rId47"/>
    <p:sldId id="543" r:id="rId48"/>
    <p:sldId id="545" r:id="rId49"/>
    <p:sldId id="444" r:id="rId50"/>
    <p:sldId id="548" r:id="rId51"/>
    <p:sldId id="547" r:id="rId52"/>
    <p:sldId id="459" r:id="rId53"/>
    <p:sldId id="460" r:id="rId54"/>
    <p:sldId id="467" r:id="rId55"/>
    <p:sldId id="468" r:id="rId56"/>
    <p:sldId id="469" r:id="rId57"/>
    <p:sldId id="470" r:id="rId58"/>
    <p:sldId id="475" r:id="rId59"/>
    <p:sldId id="549" r:id="rId60"/>
    <p:sldId id="550" r:id="rId61"/>
    <p:sldId id="551" r:id="rId62"/>
    <p:sldId id="552" r:id="rId63"/>
    <p:sldId id="553" r:id="rId64"/>
    <p:sldId id="556" r:id="rId65"/>
    <p:sldId id="554" r:id="rId66"/>
    <p:sldId id="555" r:id="rId67"/>
    <p:sldId id="557" r:id="rId68"/>
    <p:sldId id="558" r:id="rId69"/>
    <p:sldId id="559" r:id="rId70"/>
    <p:sldId id="560" r:id="rId71"/>
    <p:sldId id="561" r:id="rId72"/>
    <p:sldId id="506" r:id="rId7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289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5C98"/>
    <a:srgbClr val="45679F"/>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16" autoAdjust="0"/>
    <p:restoredTop sz="92609" autoAdjust="0"/>
  </p:normalViewPr>
  <p:slideViewPr>
    <p:cSldViewPr snapToGrid="0">
      <p:cViewPr varScale="1">
        <p:scale>
          <a:sx n="115" d="100"/>
          <a:sy n="115" d="100"/>
        </p:scale>
        <p:origin x="1718" y="77"/>
      </p:cViewPr>
      <p:guideLst>
        <p:guide orient="horz" pos="2159"/>
        <p:guide pos="289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2</a:t>
            </a:fld>
            <a:endParaRPr lang="zh-CN" altLang="en-US"/>
          </a:p>
        </p:txBody>
      </p:sp>
    </p:spTree>
    <p:extLst>
      <p:ext uri="{BB962C8B-B14F-4D97-AF65-F5344CB8AC3E}">
        <p14:creationId xmlns:p14="http://schemas.microsoft.com/office/powerpoint/2010/main" val="1438786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a:t>
            </a:fld>
            <a:endParaRPr lang="zh-CN" altLang="en-US"/>
          </a:p>
        </p:txBody>
      </p:sp>
    </p:spTree>
    <p:extLst>
      <p:ext uri="{BB962C8B-B14F-4D97-AF65-F5344CB8AC3E}">
        <p14:creationId xmlns:p14="http://schemas.microsoft.com/office/powerpoint/2010/main" val="1093166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4</a:t>
            </a:fld>
            <a:endParaRPr lang="zh-CN" altLang="en-US"/>
          </a:p>
        </p:txBody>
      </p:sp>
    </p:spTree>
    <p:extLst>
      <p:ext uri="{BB962C8B-B14F-4D97-AF65-F5344CB8AC3E}">
        <p14:creationId xmlns:p14="http://schemas.microsoft.com/office/powerpoint/2010/main" val="3466165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a:t>
            </a:fld>
            <a:endParaRPr lang="zh-CN" altLang="en-US"/>
          </a:p>
        </p:txBody>
      </p:sp>
    </p:spTree>
    <p:extLst>
      <p:ext uri="{BB962C8B-B14F-4D97-AF65-F5344CB8AC3E}">
        <p14:creationId xmlns:p14="http://schemas.microsoft.com/office/powerpoint/2010/main" val="4091007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a:t>
            </a:fld>
            <a:endParaRPr lang="zh-CN" altLang="en-US"/>
          </a:p>
        </p:txBody>
      </p:sp>
    </p:spTree>
    <p:extLst>
      <p:ext uri="{BB962C8B-B14F-4D97-AF65-F5344CB8AC3E}">
        <p14:creationId xmlns:p14="http://schemas.microsoft.com/office/powerpoint/2010/main" val="1656435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7</a:t>
            </a:fld>
            <a:endParaRPr lang="zh-CN" altLang="en-US"/>
          </a:p>
        </p:txBody>
      </p:sp>
    </p:spTree>
    <p:extLst>
      <p:ext uri="{BB962C8B-B14F-4D97-AF65-F5344CB8AC3E}">
        <p14:creationId xmlns:p14="http://schemas.microsoft.com/office/powerpoint/2010/main" val="2677621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8</a:t>
            </a:fld>
            <a:endParaRPr lang="zh-CN" altLang="en-US"/>
          </a:p>
        </p:txBody>
      </p:sp>
    </p:spTree>
    <p:extLst>
      <p:ext uri="{BB962C8B-B14F-4D97-AF65-F5344CB8AC3E}">
        <p14:creationId xmlns:p14="http://schemas.microsoft.com/office/powerpoint/2010/main" val="3452192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9</a:t>
            </a:fld>
            <a:endParaRPr lang="zh-CN" altLang="en-US"/>
          </a:p>
        </p:txBody>
      </p:sp>
    </p:spTree>
    <p:extLst>
      <p:ext uri="{BB962C8B-B14F-4D97-AF65-F5344CB8AC3E}">
        <p14:creationId xmlns:p14="http://schemas.microsoft.com/office/powerpoint/2010/main" val="3458837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10</a:t>
            </a:fld>
            <a:endParaRPr lang="zh-CN" altLang="en-US"/>
          </a:p>
        </p:txBody>
      </p:sp>
    </p:spTree>
    <p:extLst>
      <p:ext uri="{BB962C8B-B14F-4D97-AF65-F5344CB8AC3E}">
        <p14:creationId xmlns:p14="http://schemas.microsoft.com/office/powerpoint/2010/main" val="1758788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11</a:t>
            </a:fld>
            <a:endParaRPr lang="zh-CN" altLang="en-US"/>
          </a:p>
        </p:txBody>
      </p:sp>
    </p:spTree>
    <p:extLst>
      <p:ext uri="{BB962C8B-B14F-4D97-AF65-F5344CB8AC3E}">
        <p14:creationId xmlns:p14="http://schemas.microsoft.com/office/powerpoint/2010/main" val="3981085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13</a:t>
            </a:fld>
            <a:endParaRPr lang="zh-CN" altLang="en-US"/>
          </a:p>
        </p:txBody>
      </p:sp>
    </p:spTree>
    <p:extLst>
      <p:ext uri="{BB962C8B-B14F-4D97-AF65-F5344CB8AC3E}">
        <p14:creationId xmlns:p14="http://schemas.microsoft.com/office/powerpoint/2010/main" val="3369120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16</a:t>
            </a:fld>
            <a:endParaRPr lang="zh-CN" altLang="en-US"/>
          </a:p>
        </p:txBody>
      </p:sp>
    </p:spTree>
    <p:extLst>
      <p:ext uri="{BB962C8B-B14F-4D97-AF65-F5344CB8AC3E}">
        <p14:creationId xmlns:p14="http://schemas.microsoft.com/office/powerpoint/2010/main" val="516916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19</a:t>
            </a:fld>
            <a:endParaRPr lang="zh-CN" altLang="en-US"/>
          </a:p>
        </p:txBody>
      </p:sp>
    </p:spTree>
    <p:extLst>
      <p:ext uri="{BB962C8B-B14F-4D97-AF65-F5344CB8AC3E}">
        <p14:creationId xmlns:p14="http://schemas.microsoft.com/office/powerpoint/2010/main" val="29108389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21</a:t>
            </a:fld>
            <a:endParaRPr lang="zh-CN" altLang="en-US"/>
          </a:p>
        </p:txBody>
      </p:sp>
    </p:spTree>
    <p:extLst>
      <p:ext uri="{BB962C8B-B14F-4D97-AF65-F5344CB8AC3E}">
        <p14:creationId xmlns:p14="http://schemas.microsoft.com/office/powerpoint/2010/main" val="2937051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22</a:t>
            </a:fld>
            <a:endParaRPr lang="zh-CN" altLang="en-US"/>
          </a:p>
        </p:txBody>
      </p:sp>
    </p:spTree>
    <p:extLst>
      <p:ext uri="{BB962C8B-B14F-4D97-AF65-F5344CB8AC3E}">
        <p14:creationId xmlns:p14="http://schemas.microsoft.com/office/powerpoint/2010/main" val="42608696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23</a:t>
            </a:fld>
            <a:endParaRPr lang="zh-CN" altLang="en-US"/>
          </a:p>
        </p:txBody>
      </p:sp>
    </p:spTree>
    <p:extLst>
      <p:ext uri="{BB962C8B-B14F-4D97-AF65-F5344CB8AC3E}">
        <p14:creationId xmlns:p14="http://schemas.microsoft.com/office/powerpoint/2010/main" val="26945164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24</a:t>
            </a:fld>
            <a:endParaRPr lang="zh-CN" altLang="en-US"/>
          </a:p>
        </p:txBody>
      </p:sp>
    </p:spTree>
    <p:extLst>
      <p:ext uri="{BB962C8B-B14F-4D97-AF65-F5344CB8AC3E}">
        <p14:creationId xmlns:p14="http://schemas.microsoft.com/office/powerpoint/2010/main" val="8089277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75BB5-F227-FA67-2A75-D24ABB05E0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0F3EC3-8624-FFBD-3DF7-EC002D7544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EF0960-5C21-85A8-F3E2-4B0E849B729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BF766AEB-DAF6-C0EA-3B10-DB2F8090CDBE}"/>
              </a:ext>
            </a:extLst>
          </p:cNvPr>
          <p:cNvSpPr>
            <a:spLocks noGrp="1"/>
          </p:cNvSpPr>
          <p:nvPr>
            <p:ph type="sldNum" sz="quarter" idx="10"/>
          </p:nvPr>
        </p:nvSpPr>
        <p:spPr/>
        <p:txBody>
          <a:bodyPr/>
          <a:lstStyle/>
          <a:p>
            <a:fld id="{2659FB61-0C9E-4E97-B72F-39B92671D19C}" type="slidenum">
              <a:rPr lang="zh-CN" altLang="en-US" smtClean="0"/>
              <a:t>25</a:t>
            </a:fld>
            <a:endParaRPr lang="zh-CN" altLang="en-US"/>
          </a:p>
        </p:txBody>
      </p:sp>
    </p:spTree>
    <p:extLst>
      <p:ext uri="{BB962C8B-B14F-4D97-AF65-F5344CB8AC3E}">
        <p14:creationId xmlns:p14="http://schemas.microsoft.com/office/powerpoint/2010/main" val="3056140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DCCB-39F9-4020-00DE-EAA869E6C66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9FD72A-B605-22EC-7DF3-071B21891E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7A57C3-4D4C-01A1-8473-152FA61D147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929D4A2B-5F5A-FBD1-9C9A-FDE9014106E7}"/>
              </a:ext>
            </a:extLst>
          </p:cNvPr>
          <p:cNvSpPr>
            <a:spLocks noGrp="1"/>
          </p:cNvSpPr>
          <p:nvPr>
            <p:ph type="sldNum" sz="quarter" idx="10"/>
          </p:nvPr>
        </p:nvSpPr>
        <p:spPr/>
        <p:txBody>
          <a:bodyPr/>
          <a:lstStyle/>
          <a:p>
            <a:fld id="{2659FB61-0C9E-4E97-B72F-39B92671D19C}" type="slidenum">
              <a:rPr lang="zh-CN" altLang="en-US" smtClean="0"/>
              <a:t>26</a:t>
            </a:fld>
            <a:endParaRPr lang="zh-CN" altLang="en-US"/>
          </a:p>
        </p:txBody>
      </p:sp>
    </p:spTree>
    <p:extLst>
      <p:ext uri="{BB962C8B-B14F-4D97-AF65-F5344CB8AC3E}">
        <p14:creationId xmlns:p14="http://schemas.microsoft.com/office/powerpoint/2010/main" val="25875939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609AD-6B93-52EE-B9C4-90637F014F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DF388A-5BCE-F36C-3C74-6E095C9BB7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A6EB4F3-290E-B2AB-BB3C-72243C77774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4E65A76A-35A9-B255-FC47-2C03969D3731}"/>
              </a:ext>
            </a:extLst>
          </p:cNvPr>
          <p:cNvSpPr>
            <a:spLocks noGrp="1"/>
          </p:cNvSpPr>
          <p:nvPr>
            <p:ph type="sldNum" sz="quarter" idx="10"/>
          </p:nvPr>
        </p:nvSpPr>
        <p:spPr/>
        <p:txBody>
          <a:bodyPr/>
          <a:lstStyle/>
          <a:p>
            <a:fld id="{2659FB61-0C9E-4E97-B72F-39B92671D19C}" type="slidenum">
              <a:rPr lang="zh-CN" altLang="en-US" smtClean="0"/>
              <a:t>27</a:t>
            </a:fld>
            <a:endParaRPr lang="zh-CN" altLang="en-US"/>
          </a:p>
        </p:txBody>
      </p:sp>
    </p:spTree>
    <p:extLst>
      <p:ext uri="{BB962C8B-B14F-4D97-AF65-F5344CB8AC3E}">
        <p14:creationId xmlns:p14="http://schemas.microsoft.com/office/powerpoint/2010/main" val="1959124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2F2ED-0CCF-7197-5F5D-F472489688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6FE50B-7E89-7846-6260-20C17E274E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9E6603-6562-86D9-5C56-EA3729462C4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29B67A42-AC66-1EAC-A084-A460AFAA5C8A}"/>
              </a:ext>
            </a:extLst>
          </p:cNvPr>
          <p:cNvSpPr>
            <a:spLocks noGrp="1"/>
          </p:cNvSpPr>
          <p:nvPr>
            <p:ph type="sldNum" sz="quarter" idx="10"/>
          </p:nvPr>
        </p:nvSpPr>
        <p:spPr/>
        <p:txBody>
          <a:bodyPr/>
          <a:lstStyle/>
          <a:p>
            <a:fld id="{2659FB61-0C9E-4E97-B72F-39B92671D19C}" type="slidenum">
              <a:rPr lang="zh-CN" altLang="en-US" smtClean="0"/>
              <a:t>28</a:t>
            </a:fld>
            <a:endParaRPr lang="zh-CN" altLang="en-US"/>
          </a:p>
        </p:txBody>
      </p:sp>
    </p:spTree>
    <p:extLst>
      <p:ext uri="{BB962C8B-B14F-4D97-AF65-F5344CB8AC3E}">
        <p14:creationId xmlns:p14="http://schemas.microsoft.com/office/powerpoint/2010/main" val="40787707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3D42-7A53-EA8E-35C5-9113657645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FB4AFF-E1E4-C801-86AB-05195E6B36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EBE196-A218-0517-5E68-051C017D902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C633C973-C6F6-4ED6-FC10-FDA95FD1AB2D}"/>
              </a:ext>
            </a:extLst>
          </p:cNvPr>
          <p:cNvSpPr>
            <a:spLocks noGrp="1"/>
          </p:cNvSpPr>
          <p:nvPr>
            <p:ph type="sldNum" sz="quarter" idx="10"/>
          </p:nvPr>
        </p:nvSpPr>
        <p:spPr/>
        <p:txBody>
          <a:bodyPr/>
          <a:lstStyle/>
          <a:p>
            <a:fld id="{2659FB61-0C9E-4E97-B72F-39B92671D19C}" type="slidenum">
              <a:rPr lang="zh-CN" altLang="en-US" smtClean="0"/>
              <a:t>29</a:t>
            </a:fld>
            <a:endParaRPr lang="zh-CN" altLang="en-US"/>
          </a:p>
        </p:txBody>
      </p:sp>
    </p:spTree>
    <p:extLst>
      <p:ext uri="{BB962C8B-B14F-4D97-AF65-F5344CB8AC3E}">
        <p14:creationId xmlns:p14="http://schemas.microsoft.com/office/powerpoint/2010/main" val="8469213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30</a:t>
            </a:fld>
            <a:endParaRPr lang="zh-CN" altLang="en-US"/>
          </a:p>
        </p:txBody>
      </p:sp>
    </p:spTree>
    <p:extLst>
      <p:ext uri="{BB962C8B-B14F-4D97-AF65-F5344CB8AC3E}">
        <p14:creationId xmlns:p14="http://schemas.microsoft.com/office/powerpoint/2010/main" val="4589371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B7A0F-841E-BF42-0683-D310C101C8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60E1BC-64A3-E11A-016B-C23D2388BE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FDDB59-6536-3940-F171-D6782F1E9BC2}"/>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D0102A07-51B8-D72E-080B-2770E07D712E}"/>
              </a:ext>
            </a:extLst>
          </p:cNvPr>
          <p:cNvSpPr>
            <a:spLocks noGrp="1"/>
          </p:cNvSpPr>
          <p:nvPr>
            <p:ph type="sldNum" sz="quarter" idx="10"/>
          </p:nvPr>
        </p:nvSpPr>
        <p:spPr/>
        <p:txBody>
          <a:bodyPr/>
          <a:lstStyle/>
          <a:p>
            <a:fld id="{2659FB61-0C9E-4E97-B72F-39B92671D19C}" type="slidenum">
              <a:rPr lang="zh-CN" altLang="en-US" smtClean="0"/>
              <a:t>31</a:t>
            </a:fld>
            <a:endParaRPr lang="zh-CN" altLang="en-US"/>
          </a:p>
        </p:txBody>
      </p:sp>
    </p:spTree>
    <p:extLst>
      <p:ext uri="{BB962C8B-B14F-4D97-AF65-F5344CB8AC3E}">
        <p14:creationId xmlns:p14="http://schemas.microsoft.com/office/powerpoint/2010/main" val="1627146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32</a:t>
            </a:fld>
            <a:endParaRPr lang="zh-CN" altLang="en-US"/>
          </a:p>
        </p:txBody>
      </p:sp>
    </p:spTree>
    <p:extLst>
      <p:ext uri="{BB962C8B-B14F-4D97-AF65-F5344CB8AC3E}">
        <p14:creationId xmlns:p14="http://schemas.microsoft.com/office/powerpoint/2010/main" val="3528223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33</a:t>
            </a:fld>
            <a:endParaRPr lang="zh-CN" altLang="en-US"/>
          </a:p>
        </p:txBody>
      </p:sp>
    </p:spTree>
    <p:extLst>
      <p:ext uri="{BB962C8B-B14F-4D97-AF65-F5344CB8AC3E}">
        <p14:creationId xmlns:p14="http://schemas.microsoft.com/office/powerpoint/2010/main" val="3508525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34</a:t>
            </a:fld>
            <a:endParaRPr lang="zh-CN" altLang="en-US"/>
          </a:p>
        </p:txBody>
      </p:sp>
    </p:spTree>
    <p:extLst>
      <p:ext uri="{BB962C8B-B14F-4D97-AF65-F5344CB8AC3E}">
        <p14:creationId xmlns:p14="http://schemas.microsoft.com/office/powerpoint/2010/main" val="40524749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35</a:t>
            </a:fld>
            <a:endParaRPr lang="zh-CN" altLang="en-US"/>
          </a:p>
        </p:txBody>
      </p:sp>
    </p:spTree>
    <p:extLst>
      <p:ext uri="{BB962C8B-B14F-4D97-AF65-F5344CB8AC3E}">
        <p14:creationId xmlns:p14="http://schemas.microsoft.com/office/powerpoint/2010/main" val="28083712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36</a:t>
            </a:fld>
            <a:endParaRPr lang="zh-CN" altLang="en-US"/>
          </a:p>
        </p:txBody>
      </p:sp>
    </p:spTree>
    <p:extLst>
      <p:ext uri="{BB962C8B-B14F-4D97-AF65-F5344CB8AC3E}">
        <p14:creationId xmlns:p14="http://schemas.microsoft.com/office/powerpoint/2010/main" val="679517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37</a:t>
            </a:fld>
            <a:endParaRPr lang="zh-CN" altLang="en-US"/>
          </a:p>
        </p:txBody>
      </p:sp>
    </p:spTree>
    <p:extLst>
      <p:ext uri="{BB962C8B-B14F-4D97-AF65-F5344CB8AC3E}">
        <p14:creationId xmlns:p14="http://schemas.microsoft.com/office/powerpoint/2010/main" val="26375797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38</a:t>
            </a:fld>
            <a:endParaRPr lang="zh-CN" altLang="en-US"/>
          </a:p>
        </p:txBody>
      </p:sp>
    </p:spTree>
    <p:extLst>
      <p:ext uri="{BB962C8B-B14F-4D97-AF65-F5344CB8AC3E}">
        <p14:creationId xmlns:p14="http://schemas.microsoft.com/office/powerpoint/2010/main" val="11918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E0A3-8C52-E177-1368-2C81077844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1D767D-8A5C-E647-5FCA-26B8F878BD1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DFAFA3-DDDB-19F5-5051-A7E4DC4EE1E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174824EE-9041-5D06-4DE7-2BA3AC22F871}"/>
              </a:ext>
            </a:extLst>
          </p:cNvPr>
          <p:cNvSpPr>
            <a:spLocks noGrp="1"/>
          </p:cNvSpPr>
          <p:nvPr>
            <p:ph type="sldNum" sz="quarter" idx="10"/>
          </p:nvPr>
        </p:nvSpPr>
        <p:spPr/>
        <p:txBody>
          <a:bodyPr/>
          <a:lstStyle/>
          <a:p>
            <a:fld id="{2659FB61-0C9E-4E97-B72F-39B92671D19C}" type="slidenum">
              <a:rPr lang="zh-CN" altLang="en-US" smtClean="0"/>
              <a:t>40</a:t>
            </a:fld>
            <a:endParaRPr lang="zh-CN" altLang="en-US"/>
          </a:p>
        </p:txBody>
      </p:sp>
    </p:spTree>
    <p:extLst>
      <p:ext uri="{BB962C8B-B14F-4D97-AF65-F5344CB8AC3E}">
        <p14:creationId xmlns:p14="http://schemas.microsoft.com/office/powerpoint/2010/main" val="775337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41</a:t>
            </a:fld>
            <a:endParaRPr lang="zh-CN" altLang="en-US"/>
          </a:p>
        </p:txBody>
      </p:sp>
    </p:spTree>
    <p:extLst>
      <p:ext uri="{BB962C8B-B14F-4D97-AF65-F5344CB8AC3E}">
        <p14:creationId xmlns:p14="http://schemas.microsoft.com/office/powerpoint/2010/main" val="11957602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42</a:t>
            </a:fld>
            <a:endParaRPr lang="zh-CN" altLang="en-US"/>
          </a:p>
        </p:txBody>
      </p:sp>
    </p:spTree>
    <p:extLst>
      <p:ext uri="{BB962C8B-B14F-4D97-AF65-F5344CB8AC3E}">
        <p14:creationId xmlns:p14="http://schemas.microsoft.com/office/powerpoint/2010/main" val="9904554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8E93C-37AF-F653-9CBB-5D485B8AB6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8F81E7-F151-F7F0-E140-DD8C04EF4E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0BB361-7E80-CEE1-3409-2DDC778C427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A08DBAA5-A9FA-DA1A-B58A-B84BCFE9D7C1}"/>
              </a:ext>
            </a:extLst>
          </p:cNvPr>
          <p:cNvSpPr>
            <a:spLocks noGrp="1"/>
          </p:cNvSpPr>
          <p:nvPr>
            <p:ph type="sldNum" sz="quarter" idx="10"/>
          </p:nvPr>
        </p:nvSpPr>
        <p:spPr/>
        <p:txBody>
          <a:bodyPr/>
          <a:lstStyle/>
          <a:p>
            <a:fld id="{2659FB61-0C9E-4E97-B72F-39B92671D19C}" type="slidenum">
              <a:rPr lang="zh-CN" altLang="en-US" smtClean="0"/>
              <a:t>43</a:t>
            </a:fld>
            <a:endParaRPr lang="zh-CN" altLang="en-US"/>
          </a:p>
        </p:txBody>
      </p:sp>
    </p:spTree>
    <p:extLst>
      <p:ext uri="{BB962C8B-B14F-4D97-AF65-F5344CB8AC3E}">
        <p14:creationId xmlns:p14="http://schemas.microsoft.com/office/powerpoint/2010/main" val="35552147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60771-4347-B66C-3847-D575FD7BC4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21C996-519D-5960-6CDB-A00B6AFA31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9BFEE0-9654-D714-7869-7978C0A0611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944F53BB-3585-F5EB-3608-8E50273887D8}"/>
              </a:ext>
            </a:extLst>
          </p:cNvPr>
          <p:cNvSpPr>
            <a:spLocks noGrp="1"/>
          </p:cNvSpPr>
          <p:nvPr>
            <p:ph type="sldNum" sz="quarter" idx="10"/>
          </p:nvPr>
        </p:nvSpPr>
        <p:spPr/>
        <p:txBody>
          <a:bodyPr/>
          <a:lstStyle/>
          <a:p>
            <a:fld id="{2659FB61-0C9E-4E97-B72F-39B92671D19C}" type="slidenum">
              <a:rPr lang="zh-CN" altLang="en-US" smtClean="0"/>
              <a:t>44</a:t>
            </a:fld>
            <a:endParaRPr lang="zh-CN" altLang="en-US"/>
          </a:p>
        </p:txBody>
      </p:sp>
    </p:spTree>
    <p:extLst>
      <p:ext uri="{BB962C8B-B14F-4D97-AF65-F5344CB8AC3E}">
        <p14:creationId xmlns:p14="http://schemas.microsoft.com/office/powerpoint/2010/main" val="3094317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F7103-FBF2-B3C1-5239-113A2585AE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9B7101-354B-C0DD-D737-DE6177B14C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DB97A7-A75D-DB26-40FD-394C981F3E9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536E088E-943E-CDD5-CB9C-EBE131D70F5F}"/>
              </a:ext>
            </a:extLst>
          </p:cNvPr>
          <p:cNvSpPr>
            <a:spLocks noGrp="1"/>
          </p:cNvSpPr>
          <p:nvPr>
            <p:ph type="sldNum" sz="quarter" idx="10"/>
          </p:nvPr>
        </p:nvSpPr>
        <p:spPr/>
        <p:txBody>
          <a:bodyPr/>
          <a:lstStyle/>
          <a:p>
            <a:fld id="{2659FB61-0C9E-4E97-B72F-39B92671D19C}" type="slidenum">
              <a:rPr lang="zh-CN" altLang="en-US" smtClean="0"/>
              <a:t>45</a:t>
            </a:fld>
            <a:endParaRPr lang="zh-CN" altLang="en-US"/>
          </a:p>
        </p:txBody>
      </p:sp>
    </p:spTree>
    <p:extLst>
      <p:ext uri="{BB962C8B-B14F-4D97-AF65-F5344CB8AC3E}">
        <p14:creationId xmlns:p14="http://schemas.microsoft.com/office/powerpoint/2010/main" val="19414369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C3D11-FF97-F3AC-DACD-CE3B5D900C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907C7D-CFF3-B496-BB49-2AA26DFC10E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965055-6DF7-10D7-5BF4-2D26D4650C47}"/>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a:extLst>
              <a:ext uri="{FF2B5EF4-FFF2-40B4-BE49-F238E27FC236}">
                <a16:creationId xmlns:a16="http://schemas.microsoft.com/office/drawing/2014/main" id="{8F768BB4-B43A-81B1-0E40-FB1D14EC87F3}"/>
              </a:ext>
            </a:extLst>
          </p:cNvPr>
          <p:cNvSpPr>
            <a:spLocks noGrp="1"/>
          </p:cNvSpPr>
          <p:nvPr>
            <p:ph type="sldNum" sz="quarter" idx="10"/>
          </p:nvPr>
        </p:nvSpPr>
        <p:spPr/>
        <p:txBody>
          <a:bodyPr/>
          <a:lstStyle/>
          <a:p>
            <a:fld id="{2659FB61-0C9E-4E97-B72F-39B92671D19C}" type="slidenum">
              <a:rPr lang="zh-CN" altLang="en-US" smtClean="0"/>
              <a:t>46</a:t>
            </a:fld>
            <a:endParaRPr lang="zh-CN" altLang="en-US"/>
          </a:p>
        </p:txBody>
      </p:sp>
    </p:spTree>
    <p:extLst>
      <p:ext uri="{BB962C8B-B14F-4D97-AF65-F5344CB8AC3E}">
        <p14:creationId xmlns:p14="http://schemas.microsoft.com/office/powerpoint/2010/main" val="38061907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47</a:t>
            </a:fld>
            <a:endParaRPr lang="zh-CN" altLang="en-US"/>
          </a:p>
        </p:txBody>
      </p:sp>
    </p:spTree>
    <p:extLst>
      <p:ext uri="{BB962C8B-B14F-4D97-AF65-F5344CB8AC3E}">
        <p14:creationId xmlns:p14="http://schemas.microsoft.com/office/powerpoint/2010/main" val="42823339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48</a:t>
            </a:fld>
            <a:endParaRPr lang="zh-CN" altLang="en-US"/>
          </a:p>
        </p:txBody>
      </p:sp>
    </p:spTree>
    <p:extLst>
      <p:ext uri="{BB962C8B-B14F-4D97-AF65-F5344CB8AC3E}">
        <p14:creationId xmlns:p14="http://schemas.microsoft.com/office/powerpoint/2010/main" val="17975251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50</a:t>
            </a:fld>
            <a:endParaRPr lang="zh-CN" altLang="en-US"/>
          </a:p>
        </p:txBody>
      </p:sp>
    </p:spTree>
    <p:extLst>
      <p:ext uri="{BB962C8B-B14F-4D97-AF65-F5344CB8AC3E}">
        <p14:creationId xmlns:p14="http://schemas.microsoft.com/office/powerpoint/2010/main" val="14601468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51</a:t>
            </a:fld>
            <a:endParaRPr lang="zh-CN" altLang="en-US"/>
          </a:p>
        </p:txBody>
      </p:sp>
    </p:spTree>
    <p:extLst>
      <p:ext uri="{BB962C8B-B14F-4D97-AF65-F5344CB8AC3E}">
        <p14:creationId xmlns:p14="http://schemas.microsoft.com/office/powerpoint/2010/main" val="32986384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659FB61-0C9E-4E97-B72F-39B92671D19C}"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659FB61-0C9E-4E97-B72F-39B92671D19C}" type="slidenum">
              <a:rPr lang="zh-CN" altLang="en-US" smtClean="0"/>
              <a:t>59</a:t>
            </a:fld>
            <a:endParaRPr lang="zh-CN" altLang="en-US"/>
          </a:p>
        </p:txBody>
      </p:sp>
    </p:spTree>
    <p:extLst>
      <p:ext uri="{BB962C8B-B14F-4D97-AF65-F5344CB8AC3E}">
        <p14:creationId xmlns:p14="http://schemas.microsoft.com/office/powerpoint/2010/main" val="27853445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60</a:t>
            </a:fld>
            <a:endParaRPr lang="zh-CN" altLang="en-US"/>
          </a:p>
        </p:txBody>
      </p:sp>
    </p:spTree>
    <p:extLst>
      <p:ext uri="{BB962C8B-B14F-4D97-AF65-F5344CB8AC3E}">
        <p14:creationId xmlns:p14="http://schemas.microsoft.com/office/powerpoint/2010/main" val="29561976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61</a:t>
            </a:fld>
            <a:endParaRPr lang="zh-CN" altLang="en-US"/>
          </a:p>
        </p:txBody>
      </p:sp>
    </p:spTree>
    <p:extLst>
      <p:ext uri="{BB962C8B-B14F-4D97-AF65-F5344CB8AC3E}">
        <p14:creationId xmlns:p14="http://schemas.microsoft.com/office/powerpoint/2010/main" val="9305173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62</a:t>
            </a:fld>
            <a:endParaRPr lang="zh-CN" altLang="en-US"/>
          </a:p>
        </p:txBody>
      </p:sp>
    </p:spTree>
    <p:extLst>
      <p:ext uri="{BB962C8B-B14F-4D97-AF65-F5344CB8AC3E}">
        <p14:creationId xmlns:p14="http://schemas.microsoft.com/office/powerpoint/2010/main" val="13667347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63</a:t>
            </a:fld>
            <a:endParaRPr lang="zh-CN" altLang="en-US"/>
          </a:p>
        </p:txBody>
      </p:sp>
    </p:spTree>
    <p:extLst>
      <p:ext uri="{BB962C8B-B14F-4D97-AF65-F5344CB8AC3E}">
        <p14:creationId xmlns:p14="http://schemas.microsoft.com/office/powerpoint/2010/main" val="26685218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64</a:t>
            </a:fld>
            <a:endParaRPr lang="zh-CN" altLang="en-US"/>
          </a:p>
        </p:txBody>
      </p:sp>
    </p:spTree>
    <p:extLst>
      <p:ext uri="{BB962C8B-B14F-4D97-AF65-F5344CB8AC3E}">
        <p14:creationId xmlns:p14="http://schemas.microsoft.com/office/powerpoint/2010/main" val="2709404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65</a:t>
            </a:fld>
            <a:endParaRPr lang="zh-CN" altLang="en-US"/>
          </a:p>
        </p:txBody>
      </p:sp>
    </p:spTree>
    <p:extLst>
      <p:ext uri="{BB962C8B-B14F-4D97-AF65-F5344CB8AC3E}">
        <p14:creationId xmlns:p14="http://schemas.microsoft.com/office/powerpoint/2010/main" val="17030953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变分自编码器，概率论如何与深度学习结合</a:t>
            </a:r>
          </a:p>
        </p:txBody>
      </p:sp>
      <p:sp>
        <p:nvSpPr>
          <p:cNvPr id="4" name="灯片编号占位符 3"/>
          <p:cNvSpPr>
            <a:spLocks noGrp="1"/>
          </p:cNvSpPr>
          <p:nvPr>
            <p:ph type="sldNum" sz="quarter" idx="10"/>
          </p:nvPr>
        </p:nvSpPr>
        <p:spPr/>
        <p:txBody>
          <a:bodyPr/>
          <a:lstStyle/>
          <a:p>
            <a:fld id="{2659FB61-0C9E-4E97-B72F-39B92671D19C}" type="slidenum">
              <a:rPr lang="zh-CN" altLang="en-US" smtClean="0"/>
              <a:t>66</a:t>
            </a:fld>
            <a:endParaRPr lang="zh-CN" altLang="en-US"/>
          </a:p>
        </p:txBody>
      </p:sp>
    </p:spTree>
    <p:extLst>
      <p:ext uri="{BB962C8B-B14F-4D97-AF65-F5344CB8AC3E}">
        <p14:creationId xmlns:p14="http://schemas.microsoft.com/office/powerpoint/2010/main" val="7006960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变分自编码器，概率论如何与深度学习结合</a:t>
            </a:r>
          </a:p>
        </p:txBody>
      </p:sp>
      <p:sp>
        <p:nvSpPr>
          <p:cNvPr id="4" name="灯片编号占位符 3"/>
          <p:cNvSpPr>
            <a:spLocks noGrp="1"/>
          </p:cNvSpPr>
          <p:nvPr>
            <p:ph type="sldNum" sz="quarter" idx="10"/>
          </p:nvPr>
        </p:nvSpPr>
        <p:spPr/>
        <p:txBody>
          <a:bodyPr/>
          <a:lstStyle/>
          <a:p>
            <a:fld id="{2659FB61-0C9E-4E97-B72F-39B92671D19C}" type="slidenum">
              <a:rPr lang="zh-CN" altLang="en-US" smtClean="0"/>
              <a:t>67</a:t>
            </a:fld>
            <a:endParaRPr lang="zh-CN" altLang="en-US"/>
          </a:p>
        </p:txBody>
      </p:sp>
    </p:spTree>
    <p:extLst>
      <p:ext uri="{BB962C8B-B14F-4D97-AF65-F5344CB8AC3E}">
        <p14:creationId xmlns:p14="http://schemas.microsoft.com/office/powerpoint/2010/main" val="40199841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变分自编码器，概率论如何与深度学习结合</a:t>
            </a:r>
          </a:p>
        </p:txBody>
      </p:sp>
      <p:sp>
        <p:nvSpPr>
          <p:cNvPr id="4" name="灯片编号占位符 3"/>
          <p:cNvSpPr>
            <a:spLocks noGrp="1"/>
          </p:cNvSpPr>
          <p:nvPr>
            <p:ph type="sldNum" sz="quarter" idx="10"/>
          </p:nvPr>
        </p:nvSpPr>
        <p:spPr/>
        <p:txBody>
          <a:bodyPr/>
          <a:lstStyle/>
          <a:p>
            <a:fld id="{2659FB61-0C9E-4E97-B72F-39B92671D19C}" type="slidenum">
              <a:rPr lang="zh-CN" altLang="en-US" smtClean="0"/>
              <a:t>68</a:t>
            </a:fld>
            <a:endParaRPr lang="zh-CN" altLang="en-US"/>
          </a:p>
        </p:txBody>
      </p:sp>
    </p:spTree>
    <p:extLst>
      <p:ext uri="{BB962C8B-B14F-4D97-AF65-F5344CB8AC3E}">
        <p14:creationId xmlns:p14="http://schemas.microsoft.com/office/powerpoint/2010/main" val="4504766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变分自编码器，概率论如何与深度学习结合</a:t>
            </a:r>
          </a:p>
        </p:txBody>
      </p:sp>
      <p:sp>
        <p:nvSpPr>
          <p:cNvPr id="4" name="灯片编号占位符 3"/>
          <p:cNvSpPr>
            <a:spLocks noGrp="1"/>
          </p:cNvSpPr>
          <p:nvPr>
            <p:ph type="sldNum" sz="quarter" idx="10"/>
          </p:nvPr>
        </p:nvSpPr>
        <p:spPr/>
        <p:txBody>
          <a:bodyPr/>
          <a:lstStyle/>
          <a:p>
            <a:fld id="{2659FB61-0C9E-4E97-B72F-39B92671D19C}" type="slidenum">
              <a:rPr lang="zh-CN" altLang="en-US" smtClean="0"/>
              <a:t>69</a:t>
            </a:fld>
            <a:endParaRPr lang="zh-CN" altLang="en-US"/>
          </a:p>
        </p:txBody>
      </p:sp>
    </p:spTree>
    <p:extLst>
      <p:ext uri="{BB962C8B-B14F-4D97-AF65-F5344CB8AC3E}">
        <p14:creationId xmlns:p14="http://schemas.microsoft.com/office/powerpoint/2010/main" val="762178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变分自编码器，概率论如何与深度学习结合</a:t>
            </a:r>
          </a:p>
        </p:txBody>
      </p:sp>
      <p:sp>
        <p:nvSpPr>
          <p:cNvPr id="4" name="灯片编号占位符 3"/>
          <p:cNvSpPr>
            <a:spLocks noGrp="1"/>
          </p:cNvSpPr>
          <p:nvPr>
            <p:ph type="sldNum" sz="quarter" idx="10"/>
          </p:nvPr>
        </p:nvSpPr>
        <p:spPr/>
        <p:txBody>
          <a:bodyPr/>
          <a:lstStyle/>
          <a:p>
            <a:fld id="{2659FB61-0C9E-4E97-B72F-39B92671D19C}" type="slidenum">
              <a:rPr lang="zh-CN" altLang="en-US" smtClean="0"/>
              <a:t>70</a:t>
            </a:fld>
            <a:endParaRPr lang="zh-CN" altLang="en-US"/>
          </a:p>
        </p:txBody>
      </p:sp>
    </p:spTree>
    <p:extLst>
      <p:ext uri="{BB962C8B-B14F-4D97-AF65-F5344CB8AC3E}">
        <p14:creationId xmlns:p14="http://schemas.microsoft.com/office/powerpoint/2010/main" val="6027332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变分自编码器，概率论如何与深度学习结合</a:t>
            </a:r>
          </a:p>
        </p:txBody>
      </p:sp>
      <p:sp>
        <p:nvSpPr>
          <p:cNvPr id="4" name="灯片编号占位符 3"/>
          <p:cNvSpPr>
            <a:spLocks noGrp="1"/>
          </p:cNvSpPr>
          <p:nvPr>
            <p:ph type="sldNum" sz="quarter" idx="10"/>
          </p:nvPr>
        </p:nvSpPr>
        <p:spPr/>
        <p:txBody>
          <a:bodyPr/>
          <a:lstStyle/>
          <a:p>
            <a:fld id="{2659FB61-0C9E-4E97-B72F-39B92671D19C}" type="slidenum">
              <a:rPr lang="zh-CN" altLang="en-US" smtClean="0"/>
              <a:t>71</a:t>
            </a:fld>
            <a:endParaRPr lang="zh-CN" altLang="en-US"/>
          </a:p>
        </p:txBody>
      </p:sp>
    </p:spTree>
    <p:extLst>
      <p:ext uri="{BB962C8B-B14F-4D97-AF65-F5344CB8AC3E}">
        <p14:creationId xmlns:p14="http://schemas.microsoft.com/office/powerpoint/2010/main" val="37134545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a:p>
        </p:txBody>
      </p:sp>
      <p:sp>
        <p:nvSpPr>
          <p:cNvPr id="4" name="灯片编号占位符 3"/>
          <p:cNvSpPr>
            <a:spLocks noGrp="1"/>
          </p:cNvSpPr>
          <p:nvPr>
            <p:ph type="sldNum" sz="quarter" idx="10"/>
          </p:nvPr>
        </p:nvSpPr>
        <p:spPr/>
        <p:txBody>
          <a:bodyPr/>
          <a:lstStyle/>
          <a:p>
            <a:fld id="{2659FB61-0C9E-4E97-B72F-39B92671D19C}" type="slidenum">
              <a:rPr lang="zh-CN" altLang="en-US" smtClean="0"/>
              <a:t>72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2026/4/14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Just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2026/4/14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hemeOverride" Target="../theme/themeOverride2.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3.xml"/><Relationship Id="rId7"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hemeOverride" Target="../theme/themeOverride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4.xm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hemeOverride" Target="../theme/themeOverride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5.xml"/><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hemeOverride" Target="../theme/themeOverride5.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4.png"/><Relationship Id="rId10" Type="http://schemas.openxmlformats.org/officeDocument/2006/relationships/image" Target="../media/image19.png"/><Relationship Id="rId4" Type="http://schemas.openxmlformats.org/officeDocument/2006/relationships/image" Target="../media/image1.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6.xml"/><Relationship Id="rId7"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hemeOverride" Target="../theme/themeOverride6.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7.xml"/><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hemeOverride" Target="../theme/themeOverride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4.png"/><Relationship Id="rId10" Type="http://schemas.openxmlformats.org/officeDocument/2006/relationships/image" Target="../media/image19.png"/><Relationship Id="rId4" Type="http://schemas.openxmlformats.org/officeDocument/2006/relationships/image" Target="../media/image1.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8.xml"/><Relationship Id="rId7" Type="http://schemas.openxmlformats.org/officeDocument/2006/relationships/image" Target="../media/image27.png"/><Relationship Id="rId12" Type="http://schemas.openxmlformats.org/officeDocument/2006/relationships/image" Target="../media/image180.png"/><Relationship Id="rId2" Type="http://schemas.openxmlformats.org/officeDocument/2006/relationships/slideLayout" Target="../slideLayouts/slideLayout3.xml"/><Relationship Id="rId1" Type="http://schemas.openxmlformats.org/officeDocument/2006/relationships/themeOverride" Target="../theme/themeOverride8.xml"/><Relationship Id="rId6" Type="http://schemas.openxmlformats.org/officeDocument/2006/relationships/image" Target="../media/image120.png"/><Relationship Id="rId11" Type="http://schemas.openxmlformats.org/officeDocument/2006/relationships/image" Target="../media/image170.png"/><Relationship Id="rId5" Type="http://schemas.openxmlformats.org/officeDocument/2006/relationships/image" Target="../media/image4.png"/><Relationship Id="rId10" Type="http://schemas.openxmlformats.org/officeDocument/2006/relationships/image" Target="../media/image30.png"/><Relationship Id="rId4" Type="http://schemas.openxmlformats.org/officeDocument/2006/relationships/image" Target="../media/image1.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notesSlide" Target="../notesSlides/notesSlide9.xml"/><Relationship Id="rId7" Type="http://schemas.openxmlformats.org/officeDocument/2006/relationships/image" Target="../media/image190.png"/><Relationship Id="rId2" Type="http://schemas.openxmlformats.org/officeDocument/2006/relationships/slideLayout" Target="../slideLayouts/slideLayout3.xml"/><Relationship Id="rId1" Type="http://schemas.openxmlformats.org/officeDocument/2006/relationships/themeOverride" Target="../theme/themeOverride9.xml"/><Relationship Id="rId6" Type="http://schemas.openxmlformats.org/officeDocument/2006/relationships/image" Target="../media/image120.png"/><Relationship Id="rId5" Type="http://schemas.openxmlformats.org/officeDocument/2006/relationships/image" Target="../media/image4.png"/><Relationship Id="rId4" Type="http://schemas.openxmlformats.org/officeDocument/2006/relationships/image" Target="../media/image1.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hemeOverride" Target="../theme/themeOverride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notesSlide" Target="../notesSlides/notesSlide11.xml"/><Relationship Id="rId7" Type="http://schemas.openxmlformats.org/officeDocument/2006/relationships/image" Target="../media/image710.png"/><Relationship Id="rId2" Type="http://schemas.openxmlformats.org/officeDocument/2006/relationships/slideLayout" Target="../slideLayouts/slideLayout3.xml"/><Relationship Id="rId1" Type="http://schemas.openxmlformats.org/officeDocument/2006/relationships/themeOverride" Target="../theme/themeOverride11.xml"/><Relationship Id="rId6" Type="http://schemas.openxmlformats.org/officeDocument/2006/relationships/image" Target="../media/image610.png"/><Relationship Id="rId11" Type="http://schemas.openxmlformats.org/officeDocument/2006/relationships/image" Target="../media/image116.png"/><Relationship Id="rId5" Type="http://schemas.openxmlformats.org/officeDocument/2006/relationships/image" Target="../media/image4.png"/><Relationship Id="rId10" Type="http://schemas.openxmlformats.org/officeDocument/2006/relationships/image" Target="../media/image106.png"/><Relationship Id="rId4" Type="http://schemas.openxmlformats.org/officeDocument/2006/relationships/image" Target="../media/image1.png"/><Relationship Id="rId9" Type="http://schemas.openxmlformats.org/officeDocument/2006/relationships/image" Target="../media/image9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hemeOverride" Target="../theme/themeOverride12.xml"/><Relationship Id="rId6" Type="http://schemas.openxmlformats.org/officeDocument/2006/relationships/image" Target="../media/image31.png"/><Relationship Id="rId5" Type="http://schemas.openxmlformats.org/officeDocument/2006/relationships/image" Target="../media/image2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hemeOverride" Target="../theme/themeOverride13.xml"/><Relationship Id="rId6" Type="http://schemas.openxmlformats.org/officeDocument/2006/relationships/image" Target="../media/image22.png"/><Relationship Id="rId5" Type="http://schemas.openxmlformats.org/officeDocument/2006/relationships/image" Target="../media/image3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14.xml"/><Relationship Id="rId7" Type="http://schemas.openxmlformats.org/officeDocument/2006/relationships/image" Target="../media/image35.png"/><Relationship Id="rId2" Type="http://schemas.openxmlformats.org/officeDocument/2006/relationships/slideLayout" Target="../slideLayouts/slideLayout3.xml"/><Relationship Id="rId1" Type="http://schemas.openxmlformats.org/officeDocument/2006/relationships/themeOverride" Target="../theme/themeOverride14.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4.png"/><Relationship Id="rId10" Type="http://schemas.openxmlformats.org/officeDocument/2006/relationships/image" Target="../media/image38.png"/><Relationship Id="rId4" Type="http://schemas.openxmlformats.org/officeDocument/2006/relationships/image" Target="../media/image1.png"/><Relationship Id="rId9"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xml"/><Relationship Id="rId1" Type="http://schemas.openxmlformats.org/officeDocument/2006/relationships/themeOverride" Target="../theme/themeOverride15.xml"/><Relationship Id="rId6" Type="http://schemas.openxmlformats.org/officeDocument/2006/relationships/image" Target="../media/image33.png"/><Relationship Id="rId5" Type="http://schemas.openxmlformats.org/officeDocument/2006/relationships/image" Target="../media/image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00.png"/><Relationship Id="rId2" Type="http://schemas.openxmlformats.org/officeDocument/2006/relationships/slideLayout" Target="../slideLayouts/slideLayout3.xml"/><Relationship Id="rId1" Type="http://schemas.openxmlformats.org/officeDocument/2006/relationships/themeOverride" Target="../theme/themeOverride1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notesSlide" Target="../notesSlides/notesSlide18.xml"/><Relationship Id="rId7" Type="http://schemas.openxmlformats.org/officeDocument/2006/relationships/image" Target="../media/image41.png"/><Relationship Id="rId2" Type="http://schemas.openxmlformats.org/officeDocument/2006/relationships/slideLayout" Target="../slideLayouts/slideLayout3.xml"/><Relationship Id="rId1" Type="http://schemas.openxmlformats.org/officeDocument/2006/relationships/themeOverride" Target="../theme/themeOverride1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hemeOverride" Target="../theme/themeOverride18.xml"/><Relationship Id="rId5" Type="http://schemas.openxmlformats.org/officeDocument/2006/relationships/image" Target="../media/image4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tags" Target="../tags/tag3.xml"/><Relationship Id="rId7" Type="http://schemas.openxmlformats.org/officeDocument/2006/relationships/image" Target="../media/image45.jpeg"/><Relationship Id="rId2" Type="http://schemas.openxmlformats.org/officeDocument/2006/relationships/tags" Target="../tags/tag2.xml"/><Relationship Id="rId1" Type="http://schemas.openxmlformats.org/officeDocument/2006/relationships/themeOverride" Target="../theme/themeOverride19.xml"/><Relationship Id="rId6" Type="http://schemas.openxmlformats.org/officeDocument/2006/relationships/image" Target="../media/image1.png"/><Relationship Id="rId5" Type="http://schemas.openxmlformats.org/officeDocument/2006/relationships/notesSlide" Target="../notesSlides/notesSlide20.xml"/><Relationship Id="rId10" Type="http://schemas.openxmlformats.org/officeDocument/2006/relationships/image" Target="../media/image48.png"/><Relationship Id="rId4" Type="http://schemas.openxmlformats.org/officeDocument/2006/relationships/slideLayout" Target="../slideLayouts/slideLayout3.xml"/><Relationship Id="rId9"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50.png"/><Relationship Id="rId2" Type="http://schemas.openxmlformats.org/officeDocument/2006/relationships/slideLayout" Target="../slideLayouts/slideLayout3.xml"/><Relationship Id="rId1" Type="http://schemas.openxmlformats.org/officeDocument/2006/relationships/themeOverride" Target="../theme/themeOverride20.xml"/><Relationship Id="rId6" Type="http://schemas.openxmlformats.org/officeDocument/2006/relationships/image" Target="../media/image4.png"/><Relationship Id="rId5" Type="http://schemas.openxmlformats.org/officeDocument/2006/relationships/image" Target="../media/image49.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420.png"/><Relationship Id="rId4" Type="http://schemas.openxmlformats.org/officeDocument/2006/relationships/image" Target="../media/image410.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2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2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4.png"/><Relationship Id="rId7"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75.png"/><Relationship Id="rId4" Type="http://schemas.openxmlformats.org/officeDocument/2006/relationships/image" Target="../media/image74.png"/></Relationships>
</file>

<file path=ppt/slides/_rels/slide2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4.png"/><Relationship Id="rId7" Type="http://schemas.openxmlformats.org/officeDocument/2006/relationships/image" Target="../media/image76.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75.png"/><Relationship Id="rId4" Type="http://schemas.openxmlformats.org/officeDocument/2006/relationships/image" Target="../media/image74.png"/></Relationships>
</file>

<file path=ppt/slides/_rels/slide30.xml.rels><?xml version="1.0" encoding="UTF-8" standalone="yes"?>
<Relationships xmlns="http://schemas.openxmlformats.org/package/2006/relationships"><Relationship Id="rId3" Type="http://schemas.openxmlformats.org/officeDocument/2006/relationships/image" Target="../media/image561.png"/><Relationship Id="rId7" Type="http://schemas.openxmlformats.org/officeDocument/2006/relationships/image" Target="../media/image570.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560.png"/><Relationship Id="rId5" Type="http://schemas.openxmlformats.org/officeDocument/2006/relationships/image" Target="../media/image23.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1.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23.png"/><Relationship Id="rId4" Type="http://schemas.openxmlformats.org/officeDocument/2006/relationships/image" Target="../media/image79.png"/></Relationships>
</file>

<file path=ppt/slides/_rels/slide32.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82.png"/><Relationship Id="rId5" Type="http://schemas.openxmlformats.org/officeDocument/2006/relationships/image" Target="../media/image23.png"/><Relationship Id="rId4" Type="http://schemas.openxmlformats.org/officeDocument/2006/relationships/image" Target="../media/image500.png"/></Relationships>
</file>

<file path=ppt/slides/_rels/slide33.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83.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611.png"/><Relationship Id="rId4" Type="http://schemas.openxmlformats.org/officeDocument/2006/relationships/image" Target="../media/image600.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650.png"/><Relationship Id="rId2" Type="http://schemas.openxmlformats.org/officeDocument/2006/relationships/notesSlide" Target="../notesSlides/notesSlide36.xml"/><Relationship Id="rId1" Type="http://schemas.openxmlformats.org/officeDocument/2006/relationships/slideLayout" Target="../slideLayouts/slideLayout3.xml"/><Relationship Id="rId6" Type="http://schemas.openxmlformats.org/officeDocument/2006/relationships/image" Target="../media/image640.png"/><Relationship Id="rId5" Type="http://schemas.openxmlformats.org/officeDocument/2006/relationships/image" Target="../media/image630.png"/><Relationship Id="rId4" Type="http://schemas.openxmlformats.org/officeDocument/2006/relationships/image" Target="../media/image620.png"/></Relationships>
</file>

<file path=ppt/slides/_rels/slide37.xml.rels><?xml version="1.0" encoding="UTF-8" standalone="yes"?>
<Relationships xmlns="http://schemas.openxmlformats.org/package/2006/relationships"><Relationship Id="rId8" Type="http://schemas.openxmlformats.org/officeDocument/2006/relationships/image" Target="../media/image700.png"/><Relationship Id="rId3" Type="http://schemas.openxmlformats.org/officeDocument/2006/relationships/image" Target="../media/image49.png"/><Relationship Id="rId7" Type="http://schemas.openxmlformats.org/officeDocument/2006/relationships/image" Target="../media/image690.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680.png"/><Relationship Id="rId5" Type="http://schemas.openxmlformats.org/officeDocument/2006/relationships/image" Target="../media/image670.png"/><Relationship Id="rId4" Type="http://schemas.openxmlformats.org/officeDocument/2006/relationships/image" Target="../media/image660.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711.png"/></Relationships>
</file>

<file path=ppt/slides/_rels/slide39.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notesSlide" Target="../notesSlides/notesSlide39.xml"/><Relationship Id="rId7" Type="http://schemas.openxmlformats.org/officeDocument/2006/relationships/image" Target="../media/image84.png"/><Relationship Id="rId2" Type="http://schemas.openxmlformats.org/officeDocument/2006/relationships/slideLayout" Target="../slideLayouts/slideLayout3.xml"/><Relationship Id="rId1" Type="http://schemas.openxmlformats.org/officeDocument/2006/relationships/themeOverride" Target="../theme/themeOverride21.xml"/><Relationship Id="rId6" Type="http://schemas.openxmlformats.org/officeDocument/2006/relationships/image" Target="../media/image730.png"/><Relationship Id="rId5" Type="http://schemas.openxmlformats.org/officeDocument/2006/relationships/image" Target="../media/image720.png"/><Relationship Id="rId4" Type="http://schemas.openxmlformats.org/officeDocument/2006/relationships/image" Target="../media/image1.png"/><Relationship Id="rId9" Type="http://schemas.openxmlformats.org/officeDocument/2006/relationships/image" Target="../media/image86.png"/></Relationships>
</file>

<file path=ppt/slides/_rels/slide40.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notesSlide" Target="../notesSlides/notesSlide40.xml"/><Relationship Id="rId7" Type="http://schemas.openxmlformats.org/officeDocument/2006/relationships/image" Target="../media/image87.png"/><Relationship Id="rId2" Type="http://schemas.openxmlformats.org/officeDocument/2006/relationships/slideLayout" Target="../slideLayouts/slideLayout3.xml"/><Relationship Id="rId1" Type="http://schemas.openxmlformats.org/officeDocument/2006/relationships/themeOverride" Target="../theme/themeOverride2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png"/><Relationship Id="rId9" Type="http://schemas.openxmlformats.org/officeDocument/2006/relationships/image" Target="../media/image8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themeOverride" Target="../theme/themeOverride23.xml"/><Relationship Id="rId5" Type="http://schemas.openxmlformats.org/officeDocument/2006/relationships/image" Target="../media/image91.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7" Type="http://schemas.openxmlformats.org/officeDocument/2006/relationships/image" Target="../media/image92.png"/><Relationship Id="rId2" Type="http://schemas.openxmlformats.org/officeDocument/2006/relationships/slideLayout" Target="../slideLayouts/slideLayout3.xml"/><Relationship Id="rId1" Type="http://schemas.openxmlformats.org/officeDocument/2006/relationships/themeOverride" Target="../theme/themeOverride24.xml"/><Relationship Id="rId6" Type="http://schemas.openxmlformats.org/officeDocument/2006/relationships/image" Target="../media/image730.png"/><Relationship Id="rId5" Type="http://schemas.openxmlformats.org/officeDocument/2006/relationships/image" Target="../media/image720.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notesSlide" Target="../notesSlides/notesSlide43.xml"/><Relationship Id="rId7" Type="http://schemas.openxmlformats.org/officeDocument/2006/relationships/image" Target="../media/image95.png"/><Relationship Id="rId2" Type="http://schemas.openxmlformats.org/officeDocument/2006/relationships/slideLayout" Target="../slideLayouts/slideLayout3.xml"/><Relationship Id="rId1" Type="http://schemas.openxmlformats.org/officeDocument/2006/relationships/themeOverride" Target="../theme/themeOverride25.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1.png"/><Relationship Id="rId9" Type="http://schemas.openxmlformats.org/officeDocument/2006/relationships/image" Target="../media/image97.png"/></Relationships>
</file>

<file path=ppt/slides/_rels/slide44.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notesSlide" Target="../notesSlides/notesSlide44.xml"/><Relationship Id="rId7" Type="http://schemas.openxmlformats.org/officeDocument/2006/relationships/image" Target="../media/image98.png"/><Relationship Id="rId2" Type="http://schemas.openxmlformats.org/officeDocument/2006/relationships/slideLayout" Target="../slideLayouts/slideLayout3.xml"/><Relationship Id="rId1" Type="http://schemas.openxmlformats.org/officeDocument/2006/relationships/themeOverride" Target="../theme/themeOverride26.xml"/><Relationship Id="rId6" Type="http://schemas.openxmlformats.org/officeDocument/2006/relationships/image" Target="../media/image94.png"/><Relationship Id="rId5" Type="http://schemas.openxmlformats.org/officeDocument/2006/relationships/image" Target="../media/image93.png"/><Relationship Id="rId10" Type="http://schemas.openxmlformats.org/officeDocument/2006/relationships/image" Target="../media/image101.png"/><Relationship Id="rId4" Type="http://schemas.openxmlformats.org/officeDocument/2006/relationships/image" Target="../media/image1.png"/><Relationship Id="rId9" Type="http://schemas.openxmlformats.org/officeDocument/2006/relationships/image" Target="../media/image9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3.xml"/><Relationship Id="rId1" Type="http://schemas.openxmlformats.org/officeDocument/2006/relationships/themeOverride" Target="../theme/themeOverride27.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105.png"/><Relationship Id="rId2" Type="http://schemas.openxmlformats.org/officeDocument/2006/relationships/slideLayout" Target="../slideLayouts/slideLayout3.xml"/><Relationship Id="rId1" Type="http://schemas.openxmlformats.org/officeDocument/2006/relationships/themeOverride" Target="../theme/themeOverride28.xml"/><Relationship Id="rId6" Type="http://schemas.openxmlformats.org/officeDocument/2006/relationships/image" Target="../media/image103.png"/><Relationship Id="rId5" Type="http://schemas.openxmlformats.org/officeDocument/2006/relationships/image" Target="../media/image104.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3.xml"/><Relationship Id="rId1" Type="http://schemas.openxmlformats.org/officeDocument/2006/relationships/themeOverride" Target="../theme/themeOverride29.xml"/><Relationship Id="rId5" Type="http://schemas.openxmlformats.org/officeDocument/2006/relationships/image" Target="../media/image107.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image" Target="../media/image811.png"/><Relationship Id="rId2" Type="http://schemas.openxmlformats.org/officeDocument/2006/relationships/slideLayout" Target="../slideLayouts/slideLayout3.xml"/><Relationship Id="rId1" Type="http://schemas.openxmlformats.org/officeDocument/2006/relationships/themeOverride" Target="../theme/themeOverride30.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themeOverride" Target="../theme/themeOverride31.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xml"/><Relationship Id="rId1" Type="http://schemas.openxmlformats.org/officeDocument/2006/relationships/themeOverride" Target="../theme/themeOverride32.xml"/><Relationship Id="rId5" Type="http://schemas.openxmlformats.org/officeDocument/2006/relationships/image" Target="../media/image112.pn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themeOverride" Target="../theme/themeOverride33.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themeOverride" Target="../theme/themeOverride34.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xml"/><Relationship Id="rId1" Type="http://schemas.openxmlformats.org/officeDocument/2006/relationships/themeOverride" Target="../theme/themeOverride35.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xml"/><Relationship Id="rId1" Type="http://schemas.openxmlformats.org/officeDocument/2006/relationships/themeOverride" Target="../theme/themeOverride36.xml"/><Relationship Id="rId6" Type="http://schemas.openxmlformats.org/officeDocument/2006/relationships/image" Target="../media/image117.png"/><Relationship Id="rId5" Type="http://schemas.openxmlformats.org/officeDocument/2006/relationships/image" Target="../media/image115.png"/><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xml"/><Relationship Id="rId1" Type="http://schemas.openxmlformats.org/officeDocument/2006/relationships/themeOverride" Target="../theme/themeOverride37.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vmlDrawing" Target="../drawings/vmlDrawing1.vml"/><Relationship Id="rId1" Type="http://schemas.openxmlformats.org/officeDocument/2006/relationships/themeOverride" Target="../theme/themeOverride38.xml"/><Relationship Id="rId6" Type="http://schemas.openxmlformats.org/officeDocument/2006/relationships/image" Target="../media/image121.png"/><Relationship Id="rId5" Type="http://schemas.openxmlformats.org/officeDocument/2006/relationships/image" Target="../media/image1.png"/><Relationship Id="rId10" Type="http://schemas.openxmlformats.org/officeDocument/2006/relationships/image" Target="../media/image119.wmf"/><Relationship Id="rId4" Type="http://schemas.openxmlformats.org/officeDocument/2006/relationships/notesSlide" Target="../notesSlides/notesSlide56.xml"/><Relationship Id="rId9" Type="http://schemas.openxmlformats.org/officeDocument/2006/relationships/oleObject" Target="../embeddings/oleObject2.bin"/></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xml"/><Relationship Id="rId1" Type="http://schemas.openxmlformats.org/officeDocument/2006/relationships/themeOverride" Target="../theme/themeOverride39.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7" Type="http://schemas.openxmlformats.org/officeDocument/2006/relationships/image" Target="../media/image125.png"/><Relationship Id="rId2" Type="http://schemas.openxmlformats.org/officeDocument/2006/relationships/slideLayout" Target="../slideLayouts/slideLayout3.xml"/><Relationship Id="rId1" Type="http://schemas.openxmlformats.org/officeDocument/2006/relationships/themeOverride" Target="../theme/themeOverride40.xml"/><Relationship Id="rId6" Type="http://schemas.openxmlformats.org/officeDocument/2006/relationships/image" Target="../media/image1150.png"/><Relationship Id="rId5" Type="http://schemas.openxmlformats.org/officeDocument/2006/relationships/image" Target="../media/image124.png"/><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126.png"/><Relationship Id="rId2" Type="http://schemas.openxmlformats.org/officeDocument/2006/relationships/slideLayout" Target="../slideLayouts/slideLayout3.xml"/><Relationship Id="rId1" Type="http://schemas.openxmlformats.org/officeDocument/2006/relationships/themeOverride" Target="../theme/themeOverride41.xml"/><Relationship Id="rId6" Type="http://schemas.openxmlformats.org/officeDocument/2006/relationships/image" Target="../media/image980.png"/><Relationship Id="rId5" Type="http://schemas.openxmlformats.org/officeDocument/2006/relationships/image" Target="../media/image109.png"/><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3.xml"/><Relationship Id="rId1" Type="http://schemas.openxmlformats.org/officeDocument/2006/relationships/themeOverride" Target="../theme/themeOverride42.xml"/><Relationship Id="rId5" Type="http://schemas.openxmlformats.org/officeDocument/2006/relationships/image" Target="../media/image127.png"/><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3.xml"/><Relationship Id="rId1" Type="http://schemas.openxmlformats.org/officeDocument/2006/relationships/themeOverride" Target="../theme/themeOverride43.xml"/><Relationship Id="rId5" Type="http://schemas.openxmlformats.org/officeDocument/2006/relationships/image" Target="../media/image128.png"/><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3.xml"/><Relationship Id="rId1" Type="http://schemas.openxmlformats.org/officeDocument/2006/relationships/themeOverride" Target="../theme/themeOverride44.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3.xml"/><Relationship Id="rId1" Type="http://schemas.openxmlformats.org/officeDocument/2006/relationships/themeOverride" Target="../theme/themeOverride45.xml"/><Relationship Id="rId5" Type="http://schemas.openxmlformats.org/officeDocument/2006/relationships/image" Target="../media/image131.png"/><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3.xml"/><Relationship Id="rId1" Type="http://schemas.openxmlformats.org/officeDocument/2006/relationships/themeOverride" Target="../theme/themeOverride46.xml"/><Relationship Id="rId5" Type="http://schemas.openxmlformats.org/officeDocument/2006/relationships/image" Target="../media/image132.jpg"/><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7" Type="http://schemas.openxmlformats.org/officeDocument/2006/relationships/image" Target="../media/image128.png"/><Relationship Id="rId2" Type="http://schemas.openxmlformats.org/officeDocument/2006/relationships/slideLayout" Target="../slideLayouts/slideLayout3.xml"/><Relationship Id="rId1" Type="http://schemas.openxmlformats.org/officeDocument/2006/relationships/themeOverride" Target="../theme/themeOverride47.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3.xml"/><Relationship Id="rId1" Type="http://schemas.openxmlformats.org/officeDocument/2006/relationships/themeOverride" Target="../theme/themeOverride48.xml"/><Relationship Id="rId5" Type="http://schemas.openxmlformats.org/officeDocument/2006/relationships/image" Target="../media/image135.png"/><Relationship Id="rId4" Type="http://schemas.openxmlformats.org/officeDocument/2006/relationships/image" Target="../media/image1.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3.xml"/><Relationship Id="rId1" Type="http://schemas.openxmlformats.org/officeDocument/2006/relationships/themeOverride" Target="../theme/themeOverride49.xml"/><Relationship Id="rId5" Type="http://schemas.openxmlformats.org/officeDocument/2006/relationships/image" Target="../media/image136.png"/><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3.xml"/><Relationship Id="rId1" Type="http://schemas.openxmlformats.org/officeDocument/2006/relationships/themeOverride" Target="../theme/themeOverride50.xml"/><Relationship Id="rId6" Type="http://schemas.openxmlformats.org/officeDocument/2006/relationships/image" Target="../media/image138.jpeg"/><Relationship Id="rId5" Type="http://schemas.openxmlformats.org/officeDocument/2006/relationships/image" Target="../media/image137.png"/><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3.xml"/><Relationship Id="rId1" Type="http://schemas.openxmlformats.org/officeDocument/2006/relationships/themeOverride" Target="../theme/themeOverride51.xml"/><Relationship Id="rId5" Type="http://schemas.openxmlformats.org/officeDocument/2006/relationships/image" Target="../media/image139.png"/><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3.xml"/><Relationship Id="rId1" Type="http://schemas.openxmlformats.org/officeDocument/2006/relationships/themeOverride" Target="../theme/themeOverride52.xml"/><Relationship Id="rId5" Type="http://schemas.openxmlformats.org/officeDocument/2006/relationships/image" Target="../media/image140.png"/><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3.xml"/><Relationship Id="rId1" Type="http://schemas.openxmlformats.org/officeDocument/2006/relationships/themeOverride" Target="../theme/themeOverride53.xml"/><Relationship Id="rId5" Type="http://schemas.openxmlformats.org/officeDocument/2006/relationships/image" Target="../media/image141.png"/><Relationship Id="rId4" Type="http://schemas.openxmlformats.org/officeDocument/2006/relationships/image" Target="../media/image1.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3.xml"/><Relationship Id="rId1" Type="http://schemas.openxmlformats.org/officeDocument/2006/relationships/themeOverride" Target="../theme/themeOverride54.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20" name="TextBox 19"/>
          <p:cNvSpPr txBox="1"/>
          <p:nvPr/>
        </p:nvSpPr>
        <p:spPr>
          <a:xfrm>
            <a:off x="35496" y="1883306"/>
            <a:ext cx="9073008" cy="1014730"/>
          </a:xfrm>
          <a:prstGeom prst="rect">
            <a:avLst/>
          </a:prstGeom>
          <a:noFill/>
        </p:spPr>
        <p:txBody>
          <a:bodyPr wrap="square" rtlCol="0">
            <a:spAutoFit/>
          </a:bodyPr>
          <a:lstStyle/>
          <a:p>
            <a:pPr algn="ctr">
              <a:buClrTx/>
              <a:buSzTx/>
              <a:buFontTx/>
            </a:pPr>
            <a:r>
              <a:rPr lang="zh-CN" altLang="en-US" sz="6000" b="1" dirty="0">
                <a:solidFill>
                  <a:srgbClr val="18478F"/>
                </a:solidFill>
                <a:latin typeface="+mn-ea"/>
                <a:cs typeface="+mn-ea"/>
                <a:sym typeface="+mn-ea"/>
              </a:rPr>
              <a:t>概率图模型</a:t>
            </a:r>
            <a:endParaRPr lang="zh-CN" altLang="en-US" sz="6000" b="1" dirty="0">
              <a:solidFill>
                <a:srgbClr val="18478F"/>
              </a:solidFill>
              <a:latin typeface="+mn-ea"/>
              <a:cs typeface="+mn-ea"/>
            </a:endParaRPr>
          </a:p>
        </p:txBody>
      </p:sp>
      <p:pic>
        <p:nvPicPr>
          <p:cNvPr id="6" name="Picture 7" descr="校园-大门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697095"/>
            <a:ext cx="9144000" cy="214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未标题-1"/>
          <p:cNvPicPr>
            <a:picLocks noChangeAspect="1"/>
          </p:cNvPicPr>
          <p:nvPr/>
        </p:nvPicPr>
        <p:blipFill>
          <a:blip r:embed="rId6"/>
          <a:stretch>
            <a:fillRect/>
          </a:stretch>
        </p:blipFill>
        <p:spPr>
          <a:xfrm>
            <a:off x="63500" y="63500"/>
            <a:ext cx="1228090" cy="125603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20" name="TextBox 19"/>
          <p:cNvSpPr txBox="1"/>
          <p:nvPr/>
        </p:nvSpPr>
        <p:spPr>
          <a:xfrm>
            <a:off x="35496" y="1883306"/>
            <a:ext cx="9073008" cy="1014730"/>
          </a:xfrm>
          <a:prstGeom prst="rect">
            <a:avLst/>
          </a:prstGeom>
          <a:noFill/>
        </p:spPr>
        <p:txBody>
          <a:bodyPr wrap="square" rtlCol="0">
            <a:spAutoFit/>
          </a:bodyPr>
          <a:lstStyle/>
          <a:p>
            <a:pPr algn="ctr">
              <a:buClrTx/>
              <a:buSzTx/>
              <a:buFontTx/>
            </a:pPr>
            <a:r>
              <a:rPr lang="zh-CN" altLang="en-US" sz="6000" b="1" dirty="0">
                <a:solidFill>
                  <a:srgbClr val="18478F"/>
                </a:solidFill>
                <a:latin typeface="+mn-ea"/>
                <a:cs typeface="+mn-ea"/>
                <a:sym typeface="+mn-ea"/>
              </a:rPr>
              <a:t>概率图模型导入</a:t>
            </a:r>
            <a:endParaRPr lang="zh-CN" altLang="en-US" sz="6000" b="1" dirty="0">
              <a:solidFill>
                <a:srgbClr val="18478F"/>
              </a:solidFill>
              <a:latin typeface="+mn-ea"/>
              <a:cs typeface="+mn-ea"/>
            </a:endParaRPr>
          </a:p>
        </p:txBody>
      </p:sp>
      <p:pic>
        <p:nvPicPr>
          <p:cNvPr id="6" name="Picture 7" descr="校园-大门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697095"/>
            <a:ext cx="9144000" cy="214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未标题-1"/>
          <p:cNvPicPr>
            <a:picLocks noChangeAspect="1"/>
          </p:cNvPicPr>
          <p:nvPr/>
        </p:nvPicPr>
        <p:blipFill>
          <a:blip r:embed="rId6"/>
          <a:stretch>
            <a:fillRect/>
          </a:stretch>
        </p:blipFill>
        <p:spPr>
          <a:xfrm>
            <a:off x="63500" y="63500"/>
            <a:ext cx="1228090" cy="1256030"/>
          </a:xfrm>
          <a:prstGeom prst="rect">
            <a:avLst/>
          </a:prstGeom>
        </p:spPr>
      </p:pic>
    </p:spTree>
    <p:extLst>
      <p:ext uri="{BB962C8B-B14F-4D97-AF65-F5344CB8AC3E}">
        <p14:creationId xmlns:p14="http://schemas.microsoft.com/office/powerpoint/2010/main" val="416191590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15265"/>
            <a:ext cx="8925560" cy="708025"/>
            <a:chOff x="-9" y="182"/>
            <a:chExt cx="14056" cy="1115"/>
          </a:xfrm>
        </p:grpSpPr>
        <p:sp>
          <p:nvSpPr>
            <p:cNvPr id="34" name="矩形 33"/>
            <p:cNvSpPr/>
            <p:nvPr/>
          </p:nvSpPr>
          <p:spPr>
            <a:xfrm>
              <a:off x="4474" y="429"/>
              <a:ext cx="9573"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182"/>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480060" y="1655419"/>
            <a:ext cx="4547973" cy="3237857"/>
          </a:xfrm>
          <a:prstGeom prst="rect">
            <a:avLst/>
          </a:prstGeom>
        </p:spPr>
      </p:pic>
      <p:sp>
        <p:nvSpPr>
          <p:cNvPr id="20" name="文本框 19">
            <a:extLst>
              <a:ext uri="{FF2B5EF4-FFF2-40B4-BE49-F238E27FC236}">
                <a16:creationId xmlns:a16="http://schemas.microsoft.com/office/drawing/2014/main" id="{F0E9110F-2719-4A71-99E4-D59EBB72B78A}"/>
              </a:ext>
            </a:extLst>
          </p:cNvPr>
          <p:cNvSpPr txBox="1"/>
          <p:nvPr/>
        </p:nvSpPr>
        <p:spPr>
          <a:xfrm>
            <a:off x="388282" y="1157182"/>
            <a:ext cx="4801314" cy="369332"/>
          </a:xfrm>
          <a:prstGeom prst="rect">
            <a:avLst/>
          </a:prstGeom>
          <a:noFill/>
        </p:spPr>
        <p:txBody>
          <a:bodyPr wrap="none" rtlCol="0">
            <a:spAutoFit/>
          </a:bodyPr>
          <a:lstStyle/>
          <a:p>
            <a:r>
              <a:rPr lang="zh-CN" altLang="en-US" dirty="0"/>
              <a:t>例子：基于文本分类是否属于体育运动类新闻</a:t>
            </a:r>
          </a:p>
        </p:txBody>
      </p:sp>
      <p:sp>
        <p:nvSpPr>
          <p:cNvPr id="29" name="椭圆 28">
            <a:extLst>
              <a:ext uri="{FF2B5EF4-FFF2-40B4-BE49-F238E27FC236}">
                <a16:creationId xmlns:a16="http://schemas.microsoft.com/office/drawing/2014/main" id="{8FD39C6B-C5FE-4B2D-81FE-6011A5A2B452}"/>
              </a:ext>
            </a:extLst>
          </p:cNvPr>
          <p:cNvSpPr/>
          <p:nvPr/>
        </p:nvSpPr>
        <p:spPr>
          <a:xfrm>
            <a:off x="3645947" y="5067067"/>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31" name="椭圆 30">
            <a:extLst>
              <a:ext uri="{FF2B5EF4-FFF2-40B4-BE49-F238E27FC236}">
                <a16:creationId xmlns:a16="http://schemas.microsoft.com/office/drawing/2014/main" id="{54178F48-211B-46EB-90CA-CFE8232EB81B}"/>
              </a:ext>
            </a:extLst>
          </p:cNvPr>
          <p:cNvSpPr/>
          <p:nvPr/>
        </p:nvSpPr>
        <p:spPr>
          <a:xfrm>
            <a:off x="1353193" y="5067067"/>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9" name="直接箭头连接符 8">
            <a:extLst>
              <a:ext uri="{FF2B5EF4-FFF2-40B4-BE49-F238E27FC236}">
                <a16:creationId xmlns:a16="http://schemas.microsoft.com/office/drawing/2014/main" id="{2DA296D0-6161-4287-B066-8507E6763070}"/>
              </a:ext>
            </a:extLst>
          </p:cNvPr>
          <p:cNvCxnSpPr>
            <a:endCxn id="31" idx="0"/>
          </p:cNvCxnSpPr>
          <p:nvPr/>
        </p:nvCxnSpPr>
        <p:spPr>
          <a:xfrm>
            <a:off x="1621952" y="4893276"/>
            <a:ext cx="1" cy="1737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8BD59BC3-65C1-4BFC-B5EF-C5F51A862C5B}"/>
              </a:ext>
            </a:extLst>
          </p:cNvPr>
          <p:cNvCxnSpPr/>
          <p:nvPr/>
        </p:nvCxnSpPr>
        <p:spPr>
          <a:xfrm>
            <a:off x="3914706" y="4893275"/>
            <a:ext cx="1" cy="1737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640C475-5220-4959-9A9E-3D9BB76C94CF}"/>
                  </a:ext>
                </a:extLst>
              </p:cNvPr>
              <p:cNvSpPr txBox="1"/>
              <p:nvPr/>
            </p:nvSpPr>
            <p:spPr>
              <a:xfrm>
                <a:off x="1188777" y="5813854"/>
                <a:ext cx="3130537" cy="369332"/>
              </a:xfrm>
              <a:prstGeom prst="rect">
                <a:avLst/>
              </a:prstGeom>
              <a:noFill/>
            </p:spPr>
            <p:txBody>
              <a:bodyPr wrap="none" rtlCol="0">
                <a:spAutoFit/>
              </a:bodyPr>
              <a:lstStyle/>
              <a:p>
                <a:r>
                  <a:rPr lang="zh-CN" altLang="en-US" dirty="0"/>
                  <a:t>最简单的建模方式：</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𝑤</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a14:m>
                <a:endParaRPr lang="zh-CN" altLang="en-US" dirty="0"/>
              </a:p>
            </p:txBody>
          </p:sp>
        </mc:Choice>
        <mc:Fallback xmlns="">
          <p:sp>
            <p:nvSpPr>
              <p:cNvPr id="10" name="文本框 9">
                <a:extLst>
                  <a:ext uri="{FF2B5EF4-FFF2-40B4-BE49-F238E27FC236}">
                    <a16:creationId xmlns:a16="http://schemas.microsoft.com/office/drawing/2014/main" id="{6640C475-5220-4959-9A9E-3D9BB76C94CF}"/>
                  </a:ext>
                </a:extLst>
              </p:cNvPr>
              <p:cNvSpPr txBox="1">
                <a:spLocks noRot="1" noChangeAspect="1" noMove="1" noResize="1" noEditPoints="1" noAdjustHandles="1" noChangeArrowheads="1" noChangeShapeType="1" noTextEdit="1"/>
              </p:cNvSpPr>
              <p:nvPr/>
            </p:nvSpPr>
            <p:spPr>
              <a:xfrm>
                <a:off x="1188777" y="5813854"/>
                <a:ext cx="3130537" cy="369332"/>
              </a:xfrm>
              <a:prstGeom prst="rect">
                <a:avLst/>
              </a:prstGeom>
              <a:blipFill>
                <a:blip r:embed="rId6"/>
                <a:stretch>
                  <a:fillRect l="-1556" t="-15000" b="-2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B5265B0-F9E9-45E0-9BAD-AC309D311AB8}"/>
                  </a:ext>
                </a:extLst>
              </p:cNvPr>
              <p:cNvSpPr txBox="1"/>
              <p:nvPr/>
            </p:nvSpPr>
            <p:spPr>
              <a:xfrm>
                <a:off x="5313406" y="2162432"/>
                <a:ext cx="3797835" cy="341760"/>
              </a:xfrm>
              <a:prstGeom prst="rect">
                <a:avLst/>
              </a:prstGeom>
              <a:noFill/>
            </p:spPr>
            <p:txBody>
              <a:bodyPr wrap="none" rtlCol="0">
                <a:spAutoFit/>
              </a:bodyPr>
              <a:lstStyle/>
              <a:p>
                <a14:m>
                  <m:oMath xmlns:m="http://schemas.openxmlformats.org/officeDocument/2006/math">
                    <m:r>
                      <a:rPr lang="en-US" altLang="zh-CN" sz="1600" b="0" i="1" smtClean="0">
                        <a:latin typeface="Cambria Math" panose="02040503050406030204" pitchFamily="18" charset="0"/>
                      </a:rPr>
                      <m:t>𝑥</m:t>
                    </m:r>
                    <m:r>
                      <a:rPr lang="en-US" altLang="zh-CN" sz="1600" b="0" i="1" smtClean="0">
                        <a:latin typeface="Cambria Math" panose="02040503050406030204" pitchFamily="18" charset="0"/>
                      </a:rPr>
                      <m:t>:</m:t>
                    </m:r>
                  </m:oMath>
                </a14:m>
                <a:r>
                  <a:rPr lang="zh-CN" altLang="en-US" sz="1600" dirty="0"/>
                  <a:t>输入词向量的拼接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1</m:t>
                        </m:r>
                      </m:sup>
                    </m:sSubSup>
                    <m:r>
                      <a:rPr lang="en-US" altLang="zh-CN" sz="1600" b="0" i="1" smtClean="0">
                        <a:latin typeface="Cambria Math" panose="02040503050406030204" pitchFamily="18" charset="0"/>
                        <a:ea typeface="Cambria Math" panose="02040503050406030204" pitchFamily="18" charset="0"/>
                      </a:rPr>
                      <m:t>⨁</m:t>
                    </m:r>
                    <m:sSubSup>
                      <m:sSubSupPr>
                        <m:ctrlPr>
                          <a:rPr lang="en-US" altLang="zh-CN" sz="1600" b="0" i="1" smtClean="0">
                            <a:latin typeface="Cambria Math" panose="02040503050406030204" pitchFamily="18" charset="0"/>
                            <a:ea typeface="Cambria Math" panose="02040503050406030204" pitchFamily="18" charset="0"/>
                          </a:rPr>
                        </m:ctrlPr>
                      </m:sSubSupPr>
                      <m:e>
                        <m:r>
                          <a:rPr lang="en-US" altLang="zh-CN" sz="1600" b="0" i="1" smtClean="0">
                            <a:latin typeface="Cambria Math" panose="02040503050406030204" pitchFamily="18" charset="0"/>
                            <a:ea typeface="Cambria Math" panose="02040503050406030204" pitchFamily="18" charset="0"/>
                          </a:rPr>
                          <m:t>𝑥</m:t>
                        </m:r>
                      </m:e>
                      <m:sub>
                        <m:r>
                          <a:rPr lang="en-US" altLang="zh-CN" sz="1600" b="0" i="1" smtClean="0">
                            <a:latin typeface="Cambria Math" panose="02040503050406030204" pitchFamily="18" charset="0"/>
                            <a:ea typeface="Cambria Math" panose="02040503050406030204" pitchFamily="18" charset="0"/>
                          </a:rPr>
                          <m:t>1</m:t>
                        </m:r>
                      </m:sub>
                      <m:sup>
                        <m:r>
                          <a:rPr lang="en-US" altLang="zh-CN" sz="1600" b="0" i="1" smtClean="0">
                            <a:latin typeface="Cambria Math" panose="02040503050406030204" pitchFamily="18" charset="0"/>
                            <a:ea typeface="Cambria Math" panose="02040503050406030204" pitchFamily="18" charset="0"/>
                          </a:rPr>
                          <m:t>2</m:t>
                        </m:r>
                      </m:sup>
                    </m:sSubSup>
                    <m:r>
                      <a:rPr lang="en-US" altLang="zh-CN" sz="1600" b="0" i="1"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m:t>
                    </m:r>
                  </m:oMath>
                </a14:m>
                <a:endParaRPr lang="zh-CN" altLang="en-US" sz="1600" dirty="0"/>
              </a:p>
            </p:txBody>
          </p:sp>
        </mc:Choice>
        <mc:Fallback xmlns="">
          <p:sp>
            <p:nvSpPr>
              <p:cNvPr id="3" name="文本框 2">
                <a:extLst>
                  <a:ext uri="{FF2B5EF4-FFF2-40B4-BE49-F238E27FC236}">
                    <a16:creationId xmlns:a16="http://schemas.microsoft.com/office/drawing/2014/main" id="{DB5265B0-F9E9-45E0-9BAD-AC309D311AB8}"/>
                  </a:ext>
                </a:extLst>
              </p:cNvPr>
              <p:cNvSpPr txBox="1">
                <a:spLocks noRot="1" noChangeAspect="1" noMove="1" noResize="1" noEditPoints="1" noAdjustHandles="1" noChangeArrowheads="1" noChangeShapeType="1" noTextEdit="1"/>
              </p:cNvSpPr>
              <p:nvPr/>
            </p:nvSpPr>
            <p:spPr>
              <a:xfrm>
                <a:off x="5313406" y="2162432"/>
                <a:ext cx="3797835" cy="341760"/>
              </a:xfrm>
              <a:prstGeom prst="rect">
                <a:avLst/>
              </a:prstGeom>
              <a:blipFill>
                <a:blip r:embed="rId7"/>
                <a:stretch>
                  <a:fillRect t="-8929" b="-1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D4817716-C7CD-4A25-A19D-EDA5A2D76BA4}"/>
                  </a:ext>
                </a:extLst>
              </p:cNvPr>
              <p:cNvSpPr txBox="1"/>
              <p:nvPr/>
            </p:nvSpPr>
            <p:spPr>
              <a:xfrm>
                <a:off x="5313406" y="2827638"/>
                <a:ext cx="3447535" cy="788806"/>
              </a:xfrm>
              <a:prstGeom prst="rect">
                <a:avLst/>
              </a:prstGeom>
              <a:noFill/>
            </p:spPr>
            <p:txBody>
              <a:bodyPr wrap="square" rtlCol="0">
                <a:spAutoFit/>
              </a:bodyPr>
              <a:lstStyle/>
              <a:p>
                <a:pPr>
                  <a:lnSpc>
                    <a:spcPct val="150000"/>
                  </a:lnSpc>
                </a:pPr>
                <a14:m>
                  <m:oMath xmlns:m="http://schemas.openxmlformats.org/officeDocument/2006/math">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 </m:t>
                    </m:r>
                  </m:oMath>
                </a14:m>
                <a:r>
                  <a:rPr lang="zh-CN" altLang="en-US" sz="1600" dirty="0"/>
                  <a:t>标签值为</a:t>
                </a:r>
                <a:r>
                  <a:rPr lang="en-US" altLang="zh-CN" sz="1600" dirty="0"/>
                  <a:t>0</a:t>
                </a:r>
                <a:r>
                  <a:rPr lang="zh-CN" altLang="en-US" sz="1600" dirty="0"/>
                  <a:t>表示“不是体育运动”，标签值为</a:t>
                </a:r>
                <a:r>
                  <a:rPr lang="en-US" altLang="zh-CN" sz="1600" dirty="0"/>
                  <a:t>1</a:t>
                </a:r>
                <a:r>
                  <a:rPr lang="zh-CN" altLang="en-US" sz="1600" dirty="0"/>
                  <a:t>表示“体育运动”</a:t>
                </a:r>
              </a:p>
            </p:txBody>
          </p:sp>
        </mc:Choice>
        <mc:Fallback xmlns="">
          <p:sp>
            <p:nvSpPr>
              <p:cNvPr id="17" name="文本框 16">
                <a:extLst>
                  <a:ext uri="{FF2B5EF4-FFF2-40B4-BE49-F238E27FC236}">
                    <a16:creationId xmlns:a16="http://schemas.microsoft.com/office/drawing/2014/main" id="{D4817716-C7CD-4A25-A19D-EDA5A2D76BA4}"/>
                  </a:ext>
                </a:extLst>
              </p:cNvPr>
              <p:cNvSpPr txBox="1">
                <a:spLocks noRot="1" noChangeAspect="1" noMove="1" noResize="1" noEditPoints="1" noAdjustHandles="1" noChangeArrowheads="1" noChangeShapeType="1" noTextEdit="1"/>
              </p:cNvSpPr>
              <p:nvPr/>
            </p:nvSpPr>
            <p:spPr>
              <a:xfrm>
                <a:off x="5313406" y="2827638"/>
                <a:ext cx="3447535" cy="788806"/>
              </a:xfrm>
              <a:prstGeom prst="rect">
                <a:avLst/>
              </a:prstGeom>
              <a:blipFill>
                <a:blip r:embed="rId8"/>
                <a:stretch>
                  <a:fillRect l="-1062" r="-6903" b="-100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54382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04470"/>
            <a:ext cx="8925560" cy="708025"/>
            <a:chOff x="-9" y="165"/>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165"/>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647021" y="1344778"/>
            <a:ext cx="3737352" cy="2660748"/>
          </a:xfrm>
          <a:prstGeom prst="rect">
            <a:avLst/>
          </a:prstGeom>
        </p:spPr>
      </p:pic>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98C2430E-2A36-4904-B180-8495FCBF3AEB}"/>
                  </a:ext>
                </a:extLst>
              </p:cNvPr>
              <p:cNvSpPr txBox="1"/>
              <p:nvPr/>
            </p:nvSpPr>
            <p:spPr>
              <a:xfrm>
                <a:off x="1936785" y="4328972"/>
                <a:ext cx="11059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𝑤</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32" name="文本框 31">
                <a:extLst>
                  <a:ext uri="{FF2B5EF4-FFF2-40B4-BE49-F238E27FC236}">
                    <a16:creationId xmlns:a16="http://schemas.microsoft.com/office/drawing/2014/main" id="{98C2430E-2A36-4904-B180-8495FCBF3AEB}"/>
                  </a:ext>
                </a:extLst>
              </p:cNvPr>
              <p:cNvSpPr txBox="1">
                <a:spLocks noRot="1" noChangeAspect="1" noMove="1" noResize="1" noEditPoints="1" noAdjustHandles="1" noChangeArrowheads="1" noChangeShapeType="1" noTextEdit="1"/>
              </p:cNvSpPr>
              <p:nvPr/>
            </p:nvSpPr>
            <p:spPr>
              <a:xfrm>
                <a:off x="1936785" y="4328972"/>
                <a:ext cx="1105944" cy="369332"/>
              </a:xfrm>
              <a:prstGeom prst="rect">
                <a:avLst/>
              </a:prstGeom>
              <a:blipFill>
                <a:blip r:embed="rId6"/>
                <a:stretch>
                  <a:fillRect b="-6557"/>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C7B666C7-B9C6-4577-8DBE-84D26B3E9AEC}"/>
              </a:ext>
            </a:extLst>
          </p:cNvPr>
          <p:cNvCxnSpPr>
            <a:cxnSpLocks/>
            <a:stCxn id="32" idx="3"/>
          </p:cNvCxnSpPr>
          <p:nvPr/>
        </p:nvCxnSpPr>
        <p:spPr>
          <a:xfrm>
            <a:off x="3042729" y="4513638"/>
            <a:ext cx="985573"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3B00ACD-A48B-4D32-85AD-D88251609B8A}"/>
                  </a:ext>
                </a:extLst>
              </p:cNvPr>
              <p:cNvSpPr txBox="1"/>
              <p:nvPr/>
            </p:nvSpPr>
            <p:spPr>
              <a:xfrm>
                <a:off x="4028302" y="4328972"/>
                <a:ext cx="3891643" cy="372859"/>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e>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1</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2</m:t>
                        </m:r>
                      </m:sup>
                    </m:sSub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m:t>
                    </m:r>
                  </m:oMath>
                </a14:m>
                <a:r>
                  <a:rPr lang="en-US" altLang="zh-CN" dirty="0"/>
                  <a:t>)</a:t>
                </a:r>
                <a:endParaRPr lang="zh-CN" altLang="en-US" dirty="0"/>
              </a:p>
            </p:txBody>
          </p:sp>
        </mc:Choice>
        <mc:Fallback xmlns="">
          <p:sp>
            <p:nvSpPr>
              <p:cNvPr id="22" name="文本框 21">
                <a:extLst>
                  <a:ext uri="{FF2B5EF4-FFF2-40B4-BE49-F238E27FC236}">
                    <a16:creationId xmlns:a16="http://schemas.microsoft.com/office/drawing/2014/main" id="{43B00ACD-A48B-4D32-85AD-D88251609B8A}"/>
                  </a:ext>
                </a:extLst>
              </p:cNvPr>
              <p:cNvSpPr txBox="1">
                <a:spLocks noRot="1" noChangeAspect="1" noMove="1" noResize="1" noEditPoints="1" noAdjustHandles="1" noChangeArrowheads="1" noChangeShapeType="1" noTextEdit="1"/>
              </p:cNvSpPr>
              <p:nvPr/>
            </p:nvSpPr>
            <p:spPr>
              <a:xfrm>
                <a:off x="4028302" y="4328972"/>
                <a:ext cx="3891643" cy="372859"/>
              </a:xfrm>
              <a:prstGeom prst="rect">
                <a:avLst/>
              </a:prstGeom>
              <a:blipFill>
                <a:blip r:embed="rId7"/>
                <a:stretch>
                  <a:fillRect t="-6557" r="-940" b="-2623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1629A48-9B06-411A-BCB1-CE60246406BC}"/>
              </a:ext>
            </a:extLst>
          </p:cNvPr>
          <p:cNvSpPr txBox="1"/>
          <p:nvPr/>
        </p:nvSpPr>
        <p:spPr>
          <a:xfrm>
            <a:off x="3133049" y="4217761"/>
            <a:ext cx="723275" cy="307777"/>
          </a:xfrm>
          <a:prstGeom prst="rect">
            <a:avLst/>
          </a:prstGeom>
          <a:noFill/>
        </p:spPr>
        <p:txBody>
          <a:bodyPr wrap="none" rtlCol="0">
            <a:spAutoFit/>
          </a:bodyPr>
          <a:lstStyle/>
          <a:p>
            <a:r>
              <a:rPr lang="zh-CN" altLang="en-US" sz="1400" dirty="0"/>
              <a:t>等价于</a:t>
            </a: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B12C50B-E2C3-4EE6-9FFA-5AEA59140495}"/>
                  </a:ext>
                </a:extLst>
              </p:cNvPr>
              <p:cNvSpPr txBox="1"/>
              <p:nvPr/>
            </p:nvSpPr>
            <p:spPr>
              <a:xfrm>
                <a:off x="5078610" y="1974988"/>
                <a:ext cx="3797835" cy="341760"/>
              </a:xfrm>
              <a:prstGeom prst="rect">
                <a:avLst/>
              </a:prstGeom>
              <a:noFill/>
            </p:spPr>
            <p:txBody>
              <a:bodyPr wrap="none" rtlCol="0">
                <a:spAutoFit/>
              </a:bodyPr>
              <a:lstStyle/>
              <a:p>
                <a14:m>
                  <m:oMath xmlns:m="http://schemas.openxmlformats.org/officeDocument/2006/math">
                    <m:r>
                      <a:rPr lang="en-US" altLang="zh-CN" sz="1600" b="0" i="1" smtClean="0">
                        <a:latin typeface="Cambria Math" panose="02040503050406030204" pitchFamily="18" charset="0"/>
                      </a:rPr>
                      <m:t>𝑥</m:t>
                    </m:r>
                    <m:r>
                      <a:rPr lang="en-US" altLang="zh-CN" sz="1600" b="0" i="1" smtClean="0">
                        <a:latin typeface="Cambria Math" panose="02040503050406030204" pitchFamily="18" charset="0"/>
                      </a:rPr>
                      <m:t>:</m:t>
                    </m:r>
                  </m:oMath>
                </a14:m>
                <a:r>
                  <a:rPr lang="zh-CN" altLang="en-US" sz="1600" dirty="0"/>
                  <a:t>输入词向量的拼接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1</m:t>
                        </m:r>
                      </m:sup>
                    </m:sSubSup>
                    <m:r>
                      <a:rPr lang="en-US" altLang="zh-CN" sz="1600" b="0" i="1" smtClean="0">
                        <a:latin typeface="Cambria Math" panose="02040503050406030204" pitchFamily="18" charset="0"/>
                        <a:ea typeface="Cambria Math" panose="02040503050406030204" pitchFamily="18" charset="0"/>
                      </a:rPr>
                      <m:t>⨁</m:t>
                    </m:r>
                    <m:sSubSup>
                      <m:sSubSupPr>
                        <m:ctrlPr>
                          <a:rPr lang="en-US" altLang="zh-CN" sz="1600" b="0" i="1" smtClean="0">
                            <a:latin typeface="Cambria Math" panose="02040503050406030204" pitchFamily="18" charset="0"/>
                            <a:ea typeface="Cambria Math" panose="02040503050406030204" pitchFamily="18" charset="0"/>
                          </a:rPr>
                        </m:ctrlPr>
                      </m:sSubSupPr>
                      <m:e>
                        <m:r>
                          <a:rPr lang="en-US" altLang="zh-CN" sz="1600" b="0" i="1" smtClean="0">
                            <a:latin typeface="Cambria Math" panose="02040503050406030204" pitchFamily="18" charset="0"/>
                            <a:ea typeface="Cambria Math" panose="02040503050406030204" pitchFamily="18" charset="0"/>
                          </a:rPr>
                          <m:t>𝑥</m:t>
                        </m:r>
                      </m:e>
                      <m:sub>
                        <m:r>
                          <a:rPr lang="en-US" altLang="zh-CN" sz="1600" b="0" i="1" smtClean="0">
                            <a:latin typeface="Cambria Math" panose="02040503050406030204" pitchFamily="18" charset="0"/>
                            <a:ea typeface="Cambria Math" panose="02040503050406030204" pitchFamily="18" charset="0"/>
                          </a:rPr>
                          <m:t>1</m:t>
                        </m:r>
                      </m:sub>
                      <m:sup>
                        <m:r>
                          <a:rPr lang="en-US" altLang="zh-CN" sz="1600" b="0" i="1" smtClean="0">
                            <a:latin typeface="Cambria Math" panose="02040503050406030204" pitchFamily="18" charset="0"/>
                            <a:ea typeface="Cambria Math" panose="02040503050406030204" pitchFamily="18" charset="0"/>
                          </a:rPr>
                          <m:t>2</m:t>
                        </m:r>
                      </m:sup>
                    </m:sSubSup>
                    <m:r>
                      <a:rPr lang="en-US" altLang="zh-CN" sz="1600" b="0" i="1"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m:t>
                    </m:r>
                  </m:oMath>
                </a14:m>
                <a:endParaRPr lang="zh-CN" altLang="en-US" sz="1600" dirty="0"/>
              </a:p>
            </p:txBody>
          </p:sp>
        </mc:Choice>
        <mc:Fallback xmlns="">
          <p:sp>
            <p:nvSpPr>
              <p:cNvPr id="25" name="文本框 24">
                <a:extLst>
                  <a:ext uri="{FF2B5EF4-FFF2-40B4-BE49-F238E27FC236}">
                    <a16:creationId xmlns:a16="http://schemas.microsoft.com/office/drawing/2014/main" id="{7B12C50B-E2C3-4EE6-9FFA-5AEA59140495}"/>
                  </a:ext>
                </a:extLst>
              </p:cNvPr>
              <p:cNvSpPr txBox="1">
                <a:spLocks noRot="1" noChangeAspect="1" noMove="1" noResize="1" noEditPoints="1" noAdjustHandles="1" noChangeArrowheads="1" noChangeShapeType="1" noTextEdit="1"/>
              </p:cNvSpPr>
              <p:nvPr/>
            </p:nvSpPr>
            <p:spPr>
              <a:xfrm>
                <a:off x="5078610" y="1974988"/>
                <a:ext cx="3797835" cy="341760"/>
              </a:xfrm>
              <a:prstGeom prst="rect">
                <a:avLst/>
              </a:prstGeom>
              <a:blipFill>
                <a:blip r:embed="rId8"/>
                <a:stretch>
                  <a:fillRect t="-8929" b="-1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F87F645-F662-458A-A7D2-85D24A229D60}"/>
                  </a:ext>
                </a:extLst>
              </p:cNvPr>
              <p:cNvSpPr txBox="1"/>
              <p:nvPr/>
            </p:nvSpPr>
            <p:spPr>
              <a:xfrm>
                <a:off x="5078610" y="2640194"/>
                <a:ext cx="3447535" cy="788806"/>
              </a:xfrm>
              <a:prstGeom prst="rect">
                <a:avLst/>
              </a:prstGeom>
              <a:noFill/>
            </p:spPr>
            <p:txBody>
              <a:bodyPr wrap="square" rtlCol="0">
                <a:spAutoFit/>
              </a:bodyPr>
              <a:lstStyle/>
              <a:p>
                <a:pPr>
                  <a:lnSpc>
                    <a:spcPct val="150000"/>
                  </a:lnSpc>
                </a:pPr>
                <a14:m>
                  <m:oMath xmlns:m="http://schemas.openxmlformats.org/officeDocument/2006/math">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 </m:t>
                    </m:r>
                  </m:oMath>
                </a14:m>
                <a:r>
                  <a:rPr lang="zh-CN" altLang="en-US" sz="1600" dirty="0"/>
                  <a:t>标签值为</a:t>
                </a:r>
                <a:r>
                  <a:rPr lang="en-US" altLang="zh-CN" sz="1600" dirty="0"/>
                  <a:t>0</a:t>
                </a:r>
                <a:r>
                  <a:rPr lang="zh-CN" altLang="en-US" sz="1600" dirty="0"/>
                  <a:t>表示“不是体育运动”，标签值为</a:t>
                </a:r>
                <a:r>
                  <a:rPr lang="en-US" altLang="zh-CN" sz="1600" dirty="0"/>
                  <a:t>1</a:t>
                </a:r>
                <a:r>
                  <a:rPr lang="zh-CN" altLang="en-US" sz="1600" dirty="0"/>
                  <a:t>表示“体育运动”</a:t>
                </a:r>
              </a:p>
            </p:txBody>
          </p:sp>
        </mc:Choice>
        <mc:Fallback xmlns="">
          <p:sp>
            <p:nvSpPr>
              <p:cNvPr id="26" name="文本框 25">
                <a:extLst>
                  <a:ext uri="{FF2B5EF4-FFF2-40B4-BE49-F238E27FC236}">
                    <a16:creationId xmlns:a16="http://schemas.microsoft.com/office/drawing/2014/main" id="{0F87F645-F662-458A-A7D2-85D24A229D60}"/>
                  </a:ext>
                </a:extLst>
              </p:cNvPr>
              <p:cNvSpPr txBox="1">
                <a:spLocks noRot="1" noChangeAspect="1" noMove="1" noResize="1" noEditPoints="1" noAdjustHandles="1" noChangeArrowheads="1" noChangeShapeType="1" noTextEdit="1"/>
              </p:cNvSpPr>
              <p:nvPr/>
            </p:nvSpPr>
            <p:spPr>
              <a:xfrm>
                <a:off x="5078610" y="2640194"/>
                <a:ext cx="3447535" cy="788806"/>
              </a:xfrm>
              <a:prstGeom prst="rect">
                <a:avLst/>
              </a:prstGeom>
              <a:blipFill>
                <a:blip r:embed="rId9"/>
                <a:stretch>
                  <a:fillRect l="-883" r="-6890" b="-9231"/>
                </a:stretch>
              </a:blipFill>
            </p:spPr>
            <p:txBody>
              <a:bodyPr/>
              <a:lstStyle/>
              <a:p>
                <a:r>
                  <a:rPr lang="zh-CN" altLang="en-US">
                    <a:noFill/>
                  </a:rPr>
                  <a:t> </a:t>
                </a:r>
              </a:p>
            </p:txBody>
          </p:sp>
        </mc:Fallback>
      </mc:AlternateContent>
      <p:sp>
        <p:nvSpPr>
          <p:cNvPr id="6" name="梯形 5">
            <a:extLst>
              <a:ext uri="{FF2B5EF4-FFF2-40B4-BE49-F238E27FC236}">
                <a16:creationId xmlns:a16="http://schemas.microsoft.com/office/drawing/2014/main" id="{9F01C74E-9C0A-48F1-8F2B-3D79CFBDF173}"/>
              </a:ext>
            </a:extLst>
          </p:cNvPr>
          <p:cNvSpPr/>
          <p:nvPr/>
        </p:nvSpPr>
        <p:spPr>
          <a:xfrm rot="5400000">
            <a:off x="4074640" y="5453032"/>
            <a:ext cx="994719" cy="636662"/>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8062B6F-6878-4983-BD59-EBCC45206CCA}"/>
                  </a:ext>
                </a:extLst>
              </p:cNvPr>
              <p:cNvSpPr/>
              <p:nvPr/>
            </p:nvSpPr>
            <p:spPr>
              <a:xfrm>
                <a:off x="2101099" y="5513222"/>
                <a:ext cx="1393587" cy="3104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m:t>
                      </m:r>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𝑥</m:t>
                          </m:r>
                        </m:e>
                        <m:sub>
                          <m:r>
                            <a:rPr lang="en-US" altLang="zh-CN" sz="1400" i="1">
                              <a:latin typeface="Cambria Math" panose="02040503050406030204" pitchFamily="18" charset="0"/>
                            </a:rPr>
                            <m:t>1</m:t>
                          </m:r>
                        </m:sub>
                        <m:sup>
                          <m:r>
                            <a:rPr lang="en-US" altLang="zh-CN" sz="1400" i="1">
                              <a:latin typeface="Cambria Math" panose="02040503050406030204" pitchFamily="18" charset="0"/>
                            </a:rPr>
                            <m:t>1</m:t>
                          </m:r>
                        </m:sup>
                      </m:sSubSup>
                      <m:r>
                        <a:rPr lang="en-US" altLang="zh-CN" sz="1400" i="1">
                          <a:latin typeface="Cambria Math" panose="02040503050406030204" pitchFamily="18" charset="0"/>
                          <a:ea typeface="Cambria Math" panose="02040503050406030204" pitchFamily="18" charset="0"/>
                        </a:rPr>
                        <m:t>⨁</m:t>
                      </m:r>
                      <m:sSubSup>
                        <m:sSubSupPr>
                          <m:ctrlPr>
                            <a:rPr lang="en-US" altLang="zh-CN" sz="1400" i="1">
                              <a:latin typeface="Cambria Math" panose="02040503050406030204" pitchFamily="18" charset="0"/>
                              <a:ea typeface="Cambria Math" panose="02040503050406030204" pitchFamily="18" charset="0"/>
                            </a:rPr>
                          </m:ctrlPr>
                        </m:sSubSupPr>
                        <m:e>
                          <m:r>
                            <a:rPr lang="en-US" altLang="zh-CN" sz="1400" i="1">
                              <a:latin typeface="Cambria Math" panose="02040503050406030204" pitchFamily="18" charset="0"/>
                              <a:ea typeface="Cambria Math" panose="02040503050406030204" pitchFamily="18" charset="0"/>
                            </a:rPr>
                            <m:t>𝑥</m:t>
                          </m:r>
                        </m:e>
                        <m:sub>
                          <m:r>
                            <a:rPr lang="en-US" altLang="zh-CN" sz="1400" i="1">
                              <a:latin typeface="Cambria Math" panose="02040503050406030204" pitchFamily="18" charset="0"/>
                              <a:ea typeface="Cambria Math" panose="02040503050406030204" pitchFamily="18" charset="0"/>
                            </a:rPr>
                            <m:t>1</m:t>
                          </m:r>
                        </m:sub>
                        <m:sup>
                          <m:r>
                            <a:rPr lang="en-US" altLang="zh-CN" sz="1400" i="1">
                              <a:latin typeface="Cambria Math" panose="02040503050406030204" pitchFamily="18" charset="0"/>
                              <a:ea typeface="Cambria Math" panose="02040503050406030204" pitchFamily="18" charset="0"/>
                            </a:rPr>
                            <m:t>2</m:t>
                          </m:r>
                        </m:sup>
                      </m:sSubSup>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m:t>
                      </m:r>
                    </m:oMath>
                  </m:oMathPara>
                </a14:m>
                <a:endParaRPr lang="zh-CN" altLang="en-US" sz="1400" dirty="0"/>
              </a:p>
            </p:txBody>
          </p:sp>
        </mc:Choice>
        <mc:Fallback xmlns="">
          <p:sp>
            <p:nvSpPr>
              <p:cNvPr id="7" name="矩形 6">
                <a:extLst>
                  <a:ext uri="{FF2B5EF4-FFF2-40B4-BE49-F238E27FC236}">
                    <a16:creationId xmlns:a16="http://schemas.microsoft.com/office/drawing/2014/main" id="{68062B6F-6878-4983-BD59-EBCC45206CCA}"/>
                  </a:ext>
                </a:extLst>
              </p:cNvPr>
              <p:cNvSpPr>
                <a:spLocks noRot="1" noChangeAspect="1" noMove="1" noResize="1" noEditPoints="1" noAdjustHandles="1" noChangeArrowheads="1" noChangeShapeType="1" noTextEdit="1"/>
              </p:cNvSpPr>
              <p:nvPr/>
            </p:nvSpPr>
            <p:spPr>
              <a:xfrm>
                <a:off x="2101099" y="5513222"/>
                <a:ext cx="1393587" cy="310470"/>
              </a:xfrm>
              <a:prstGeom prst="rect">
                <a:avLst/>
              </a:prstGeom>
              <a:blipFill>
                <a:blip r:embed="rId10"/>
                <a:stretch>
                  <a:fillRect b="-9804"/>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93714A2E-9025-411B-8495-97A7E91FBF44}"/>
              </a:ext>
            </a:extLst>
          </p:cNvPr>
          <p:cNvGrpSpPr/>
          <p:nvPr/>
        </p:nvGrpSpPr>
        <p:grpSpPr>
          <a:xfrm>
            <a:off x="3633983" y="5294869"/>
            <a:ext cx="141006" cy="952987"/>
            <a:chOff x="2515697" y="5369011"/>
            <a:chExt cx="141006" cy="952987"/>
          </a:xfrm>
        </p:grpSpPr>
        <p:sp>
          <p:nvSpPr>
            <p:cNvPr id="8" name="矩形 7">
              <a:extLst>
                <a:ext uri="{FF2B5EF4-FFF2-40B4-BE49-F238E27FC236}">
                  <a16:creationId xmlns:a16="http://schemas.microsoft.com/office/drawing/2014/main" id="{141A84AE-67C7-462F-B0F6-0A4956479158}"/>
                </a:ext>
              </a:extLst>
            </p:cNvPr>
            <p:cNvSpPr/>
            <p:nvPr/>
          </p:nvSpPr>
          <p:spPr>
            <a:xfrm>
              <a:off x="2515697" y="5369011"/>
              <a:ext cx="141006" cy="3150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41E58DF0-CA46-4C30-B5EE-1CFCA6021696}"/>
                </a:ext>
              </a:extLst>
            </p:cNvPr>
            <p:cNvSpPr/>
            <p:nvPr/>
          </p:nvSpPr>
          <p:spPr>
            <a:xfrm>
              <a:off x="2515697" y="5692583"/>
              <a:ext cx="141006" cy="31047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3E4444A-BF12-484A-AFE7-8468FDCC4914}"/>
                </a:ext>
              </a:extLst>
            </p:cNvPr>
            <p:cNvSpPr/>
            <p:nvPr/>
          </p:nvSpPr>
          <p:spPr>
            <a:xfrm>
              <a:off x="2515697" y="6011528"/>
              <a:ext cx="141006" cy="31047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cxnSp>
        <p:nvCxnSpPr>
          <p:cNvPr id="12" name="直接箭头连接符 11">
            <a:extLst>
              <a:ext uri="{FF2B5EF4-FFF2-40B4-BE49-F238E27FC236}">
                <a16:creationId xmlns:a16="http://schemas.microsoft.com/office/drawing/2014/main" id="{2E358FE0-E159-4EB9-AC9B-0ABB9CFD7389}"/>
              </a:ext>
            </a:extLst>
          </p:cNvPr>
          <p:cNvCxnSpPr>
            <a:stCxn id="31" idx="3"/>
            <a:endCxn id="6" idx="2"/>
          </p:cNvCxnSpPr>
          <p:nvPr/>
        </p:nvCxnSpPr>
        <p:spPr>
          <a:xfrm flipV="1">
            <a:off x="3774989" y="5771364"/>
            <a:ext cx="478680" cy="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B2FE4F81-7880-45B4-A72F-CC74EEE0E981}"/>
              </a:ext>
            </a:extLst>
          </p:cNvPr>
          <p:cNvCxnSpPr>
            <a:cxnSpLocks/>
          </p:cNvCxnSpPr>
          <p:nvPr/>
        </p:nvCxnSpPr>
        <p:spPr>
          <a:xfrm>
            <a:off x="4890331" y="5769015"/>
            <a:ext cx="758982" cy="2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DD9748BE-4181-480F-A9FD-34E092199E92}"/>
              </a:ext>
            </a:extLst>
          </p:cNvPr>
          <p:cNvSpPr txBox="1"/>
          <p:nvPr/>
        </p:nvSpPr>
        <p:spPr>
          <a:xfrm>
            <a:off x="4948258" y="5527495"/>
            <a:ext cx="643125" cy="261610"/>
          </a:xfrm>
          <a:prstGeom prst="rect">
            <a:avLst/>
          </a:prstGeom>
          <a:noFill/>
        </p:spPr>
        <p:txBody>
          <a:bodyPr wrap="none" rtlCol="0">
            <a:spAutoFit/>
          </a:bodyPr>
          <a:lstStyle/>
          <a:p>
            <a:r>
              <a:rPr lang="en-US" altLang="zh-CN" sz="1100" dirty="0" err="1"/>
              <a:t>softmax</a:t>
            </a:r>
            <a:endParaRPr lang="zh-CN" altLang="en-US" sz="11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08FCBDC-6508-4A66-9E83-9C593C5E0E0F}"/>
                  </a:ext>
                </a:extLst>
              </p:cNvPr>
              <p:cNvSpPr txBox="1"/>
              <p:nvPr/>
            </p:nvSpPr>
            <p:spPr>
              <a:xfrm>
                <a:off x="5591383" y="5584349"/>
                <a:ext cx="1311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[0.01,0.99]</m:t>
                      </m:r>
                    </m:oMath>
                  </m:oMathPara>
                </a14:m>
                <a:endParaRPr lang="zh-CN" altLang="en-US" dirty="0"/>
              </a:p>
            </p:txBody>
          </p:sp>
        </mc:Choice>
        <mc:Fallback xmlns="">
          <p:sp>
            <p:nvSpPr>
              <p:cNvPr id="16" name="文本框 15">
                <a:extLst>
                  <a:ext uri="{FF2B5EF4-FFF2-40B4-BE49-F238E27FC236}">
                    <a16:creationId xmlns:a16="http://schemas.microsoft.com/office/drawing/2014/main" id="{D08FCBDC-6508-4A66-9E83-9C593C5E0E0F}"/>
                  </a:ext>
                </a:extLst>
              </p:cNvPr>
              <p:cNvSpPr txBox="1">
                <a:spLocks noRot="1" noChangeAspect="1" noMove="1" noResize="1" noEditPoints="1" noAdjustHandles="1" noChangeArrowheads="1" noChangeShapeType="1" noTextEdit="1"/>
              </p:cNvSpPr>
              <p:nvPr/>
            </p:nvSpPr>
            <p:spPr>
              <a:xfrm>
                <a:off x="5591383" y="5584349"/>
                <a:ext cx="1311578" cy="369332"/>
              </a:xfrm>
              <a:prstGeom prst="rect">
                <a:avLst/>
              </a:prstGeom>
              <a:blipFill>
                <a:blip r:embed="rId11"/>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45CAB5E9-8902-430D-810C-6188FE30E3AE}"/>
                  </a:ext>
                </a:extLst>
              </p:cNvPr>
              <p:cNvSpPr/>
              <p:nvPr/>
            </p:nvSpPr>
            <p:spPr>
              <a:xfrm>
                <a:off x="5645982" y="5278923"/>
                <a:ext cx="12023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18" name="矩形 17">
                <a:extLst>
                  <a:ext uri="{FF2B5EF4-FFF2-40B4-BE49-F238E27FC236}">
                    <a16:creationId xmlns:a16="http://schemas.microsoft.com/office/drawing/2014/main" id="{45CAB5E9-8902-430D-810C-6188FE30E3AE}"/>
                  </a:ext>
                </a:extLst>
              </p:cNvPr>
              <p:cNvSpPr>
                <a:spLocks noRot="1" noChangeAspect="1" noMove="1" noResize="1" noEditPoints="1" noAdjustHandles="1" noChangeArrowheads="1" noChangeShapeType="1" noTextEdit="1"/>
              </p:cNvSpPr>
              <p:nvPr/>
            </p:nvSpPr>
            <p:spPr>
              <a:xfrm>
                <a:off x="5645982" y="5278923"/>
                <a:ext cx="1202380" cy="369332"/>
              </a:xfrm>
              <a:prstGeom prst="rect">
                <a:avLst/>
              </a:prstGeom>
              <a:blipFill>
                <a:blip r:embed="rId12"/>
                <a:stretch>
                  <a:fillRect t="-6557" r="-13706" b="-49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2593143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04470"/>
            <a:ext cx="8925560" cy="708025"/>
            <a:chOff x="-9" y="165"/>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165"/>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647020" y="1084757"/>
            <a:ext cx="3737352" cy="2660748"/>
          </a:xfrm>
          <a:prstGeom prst="rect">
            <a:avLst/>
          </a:prstGeom>
        </p:spPr>
      </p:pic>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98C2430E-2A36-4904-B180-8495FCBF3AEB}"/>
                  </a:ext>
                </a:extLst>
              </p:cNvPr>
              <p:cNvSpPr txBox="1"/>
              <p:nvPr/>
            </p:nvSpPr>
            <p:spPr>
              <a:xfrm>
                <a:off x="1936784" y="3886079"/>
                <a:ext cx="11059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𝑤</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32" name="文本框 31">
                <a:extLst>
                  <a:ext uri="{FF2B5EF4-FFF2-40B4-BE49-F238E27FC236}">
                    <a16:creationId xmlns:a16="http://schemas.microsoft.com/office/drawing/2014/main" id="{98C2430E-2A36-4904-B180-8495FCBF3AEB}"/>
                  </a:ext>
                </a:extLst>
              </p:cNvPr>
              <p:cNvSpPr txBox="1">
                <a:spLocks noRot="1" noChangeAspect="1" noMove="1" noResize="1" noEditPoints="1" noAdjustHandles="1" noChangeArrowheads="1" noChangeShapeType="1" noTextEdit="1"/>
              </p:cNvSpPr>
              <p:nvPr/>
            </p:nvSpPr>
            <p:spPr>
              <a:xfrm>
                <a:off x="1936784" y="3886079"/>
                <a:ext cx="1105944" cy="369332"/>
              </a:xfrm>
              <a:prstGeom prst="rect">
                <a:avLst/>
              </a:prstGeom>
              <a:blipFill>
                <a:blip r:embed="rId6"/>
                <a:stretch>
                  <a:fillRect b="-6557"/>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C7B666C7-B9C6-4577-8DBE-84D26B3E9AEC}"/>
              </a:ext>
            </a:extLst>
          </p:cNvPr>
          <p:cNvCxnSpPr>
            <a:cxnSpLocks/>
            <a:stCxn id="32" idx="3"/>
          </p:cNvCxnSpPr>
          <p:nvPr/>
        </p:nvCxnSpPr>
        <p:spPr>
          <a:xfrm>
            <a:off x="3042728" y="4070745"/>
            <a:ext cx="985573"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3B00ACD-A48B-4D32-85AD-D88251609B8A}"/>
                  </a:ext>
                </a:extLst>
              </p:cNvPr>
              <p:cNvSpPr txBox="1"/>
              <p:nvPr/>
            </p:nvSpPr>
            <p:spPr>
              <a:xfrm>
                <a:off x="4028301" y="3886079"/>
                <a:ext cx="3891643" cy="372859"/>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e>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1</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2</m:t>
                        </m:r>
                      </m:sup>
                    </m:sSub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m:t>
                    </m:r>
                  </m:oMath>
                </a14:m>
                <a:r>
                  <a:rPr lang="en-US" altLang="zh-CN" dirty="0"/>
                  <a:t>)</a:t>
                </a:r>
                <a:endParaRPr lang="zh-CN" altLang="en-US" dirty="0"/>
              </a:p>
            </p:txBody>
          </p:sp>
        </mc:Choice>
        <mc:Fallback xmlns="">
          <p:sp>
            <p:nvSpPr>
              <p:cNvPr id="22" name="文本框 21">
                <a:extLst>
                  <a:ext uri="{FF2B5EF4-FFF2-40B4-BE49-F238E27FC236}">
                    <a16:creationId xmlns:a16="http://schemas.microsoft.com/office/drawing/2014/main" id="{43B00ACD-A48B-4D32-85AD-D88251609B8A}"/>
                  </a:ext>
                </a:extLst>
              </p:cNvPr>
              <p:cNvSpPr txBox="1">
                <a:spLocks noRot="1" noChangeAspect="1" noMove="1" noResize="1" noEditPoints="1" noAdjustHandles="1" noChangeArrowheads="1" noChangeShapeType="1" noTextEdit="1"/>
              </p:cNvSpPr>
              <p:nvPr/>
            </p:nvSpPr>
            <p:spPr>
              <a:xfrm>
                <a:off x="4028301" y="3886079"/>
                <a:ext cx="3891643" cy="372859"/>
              </a:xfrm>
              <a:prstGeom prst="rect">
                <a:avLst/>
              </a:prstGeom>
              <a:blipFill>
                <a:blip r:embed="rId7"/>
                <a:stretch>
                  <a:fillRect t="-6452" r="-940" b="-2419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1629A48-9B06-411A-BCB1-CE60246406BC}"/>
              </a:ext>
            </a:extLst>
          </p:cNvPr>
          <p:cNvSpPr txBox="1"/>
          <p:nvPr/>
        </p:nvSpPr>
        <p:spPr>
          <a:xfrm>
            <a:off x="3133048" y="3774868"/>
            <a:ext cx="723275" cy="307777"/>
          </a:xfrm>
          <a:prstGeom prst="rect">
            <a:avLst/>
          </a:prstGeom>
          <a:noFill/>
        </p:spPr>
        <p:txBody>
          <a:bodyPr wrap="none" rtlCol="0">
            <a:spAutoFit/>
          </a:bodyPr>
          <a:lstStyle/>
          <a:p>
            <a:r>
              <a:rPr lang="zh-CN" altLang="en-US" sz="1400" dirty="0"/>
              <a:t>等价于</a:t>
            </a: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B12C50B-E2C3-4EE6-9FFA-5AEA59140495}"/>
                  </a:ext>
                </a:extLst>
              </p:cNvPr>
              <p:cNvSpPr txBox="1"/>
              <p:nvPr/>
            </p:nvSpPr>
            <p:spPr>
              <a:xfrm>
                <a:off x="4699145" y="1692252"/>
                <a:ext cx="3797835" cy="341760"/>
              </a:xfrm>
              <a:prstGeom prst="rect">
                <a:avLst/>
              </a:prstGeom>
              <a:noFill/>
            </p:spPr>
            <p:txBody>
              <a:bodyPr wrap="none" rtlCol="0">
                <a:spAutoFit/>
              </a:bodyPr>
              <a:lstStyle/>
              <a:p>
                <a14:m>
                  <m:oMath xmlns:m="http://schemas.openxmlformats.org/officeDocument/2006/math">
                    <m:r>
                      <a:rPr lang="en-US" altLang="zh-CN" sz="1600" b="0" i="1" smtClean="0">
                        <a:latin typeface="Cambria Math" panose="02040503050406030204" pitchFamily="18" charset="0"/>
                      </a:rPr>
                      <m:t>𝑥</m:t>
                    </m:r>
                    <m:r>
                      <a:rPr lang="en-US" altLang="zh-CN" sz="1600" b="0" i="1" smtClean="0">
                        <a:latin typeface="Cambria Math" panose="02040503050406030204" pitchFamily="18" charset="0"/>
                      </a:rPr>
                      <m:t>:</m:t>
                    </m:r>
                  </m:oMath>
                </a14:m>
                <a:r>
                  <a:rPr lang="zh-CN" altLang="en-US" sz="1600" dirty="0"/>
                  <a:t>输入词向量的拼接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1</m:t>
                        </m:r>
                      </m:sup>
                    </m:sSubSup>
                    <m:r>
                      <a:rPr lang="en-US" altLang="zh-CN" sz="1600" b="0" i="1" smtClean="0">
                        <a:latin typeface="Cambria Math" panose="02040503050406030204" pitchFamily="18" charset="0"/>
                        <a:ea typeface="Cambria Math" panose="02040503050406030204" pitchFamily="18" charset="0"/>
                      </a:rPr>
                      <m:t>⨁</m:t>
                    </m:r>
                    <m:sSubSup>
                      <m:sSubSupPr>
                        <m:ctrlPr>
                          <a:rPr lang="en-US" altLang="zh-CN" sz="1600" b="0" i="1" smtClean="0">
                            <a:latin typeface="Cambria Math" panose="02040503050406030204" pitchFamily="18" charset="0"/>
                            <a:ea typeface="Cambria Math" panose="02040503050406030204" pitchFamily="18" charset="0"/>
                          </a:rPr>
                        </m:ctrlPr>
                      </m:sSubSupPr>
                      <m:e>
                        <m:r>
                          <a:rPr lang="en-US" altLang="zh-CN" sz="1600" b="0" i="1" smtClean="0">
                            <a:latin typeface="Cambria Math" panose="02040503050406030204" pitchFamily="18" charset="0"/>
                            <a:ea typeface="Cambria Math" panose="02040503050406030204" pitchFamily="18" charset="0"/>
                          </a:rPr>
                          <m:t>𝑥</m:t>
                        </m:r>
                      </m:e>
                      <m:sub>
                        <m:r>
                          <a:rPr lang="en-US" altLang="zh-CN" sz="1600" b="0" i="1" smtClean="0">
                            <a:latin typeface="Cambria Math" panose="02040503050406030204" pitchFamily="18" charset="0"/>
                            <a:ea typeface="Cambria Math" panose="02040503050406030204" pitchFamily="18" charset="0"/>
                          </a:rPr>
                          <m:t>1</m:t>
                        </m:r>
                      </m:sub>
                      <m:sup>
                        <m:r>
                          <a:rPr lang="en-US" altLang="zh-CN" sz="1600" b="0" i="1" smtClean="0">
                            <a:latin typeface="Cambria Math" panose="02040503050406030204" pitchFamily="18" charset="0"/>
                            <a:ea typeface="Cambria Math" panose="02040503050406030204" pitchFamily="18" charset="0"/>
                          </a:rPr>
                          <m:t>2</m:t>
                        </m:r>
                      </m:sup>
                    </m:sSubSup>
                    <m:r>
                      <a:rPr lang="en-US" altLang="zh-CN" sz="1600" b="0" i="1"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m:t>
                    </m:r>
                  </m:oMath>
                </a14:m>
                <a:endParaRPr lang="zh-CN" altLang="en-US" sz="1600" dirty="0"/>
              </a:p>
            </p:txBody>
          </p:sp>
        </mc:Choice>
        <mc:Fallback xmlns="">
          <p:sp>
            <p:nvSpPr>
              <p:cNvPr id="25" name="文本框 24">
                <a:extLst>
                  <a:ext uri="{FF2B5EF4-FFF2-40B4-BE49-F238E27FC236}">
                    <a16:creationId xmlns:a16="http://schemas.microsoft.com/office/drawing/2014/main" id="{7B12C50B-E2C3-4EE6-9FFA-5AEA59140495}"/>
                  </a:ext>
                </a:extLst>
              </p:cNvPr>
              <p:cNvSpPr txBox="1">
                <a:spLocks noRot="1" noChangeAspect="1" noMove="1" noResize="1" noEditPoints="1" noAdjustHandles="1" noChangeArrowheads="1" noChangeShapeType="1" noTextEdit="1"/>
              </p:cNvSpPr>
              <p:nvPr/>
            </p:nvSpPr>
            <p:spPr>
              <a:xfrm>
                <a:off x="4699145" y="1692252"/>
                <a:ext cx="3797835" cy="341760"/>
              </a:xfrm>
              <a:prstGeom prst="rect">
                <a:avLst/>
              </a:prstGeom>
              <a:blipFill>
                <a:blip r:embed="rId8"/>
                <a:stretch>
                  <a:fillRect t="-8929" b="-1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F87F645-F662-458A-A7D2-85D24A229D60}"/>
                  </a:ext>
                </a:extLst>
              </p:cNvPr>
              <p:cNvSpPr txBox="1"/>
              <p:nvPr/>
            </p:nvSpPr>
            <p:spPr>
              <a:xfrm>
                <a:off x="4699145" y="2357458"/>
                <a:ext cx="3447535" cy="788806"/>
              </a:xfrm>
              <a:prstGeom prst="rect">
                <a:avLst/>
              </a:prstGeom>
              <a:noFill/>
            </p:spPr>
            <p:txBody>
              <a:bodyPr wrap="square" rtlCol="0">
                <a:spAutoFit/>
              </a:bodyPr>
              <a:lstStyle/>
              <a:p>
                <a:pPr>
                  <a:lnSpc>
                    <a:spcPct val="150000"/>
                  </a:lnSpc>
                </a:pPr>
                <a14:m>
                  <m:oMath xmlns:m="http://schemas.openxmlformats.org/officeDocument/2006/math">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 </m:t>
                    </m:r>
                  </m:oMath>
                </a14:m>
                <a:r>
                  <a:rPr lang="zh-CN" altLang="en-US" sz="1600" dirty="0"/>
                  <a:t>标签值为</a:t>
                </a:r>
                <a:r>
                  <a:rPr lang="en-US" altLang="zh-CN" sz="1600" dirty="0"/>
                  <a:t>0</a:t>
                </a:r>
                <a:r>
                  <a:rPr lang="zh-CN" altLang="en-US" sz="1600" dirty="0"/>
                  <a:t>表示“不是体育运动”，标签值为</a:t>
                </a:r>
                <a:r>
                  <a:rPr lang="en-US" altLang="zh-CN" sz="1600" dirty="0"/>
                  <a:t>1</a:t>
                </a:r>
                <a:r>
                  <a:rPr lang="zh-CN" altLang="en-US" sz="1600" dirty="0"/>
                  <a:t>表示“体育运动”</a:t>
                </a:r>
              </a:p>
            </p:txBody>
          </p:sp>
        </mc:Choice>
        <mc:Fallback xmlns="">
          <p:sp>
            <p:nvSpPr>
              <p:cNvPr id="26" name="文本框 25">
                <a:extLst>
                  <a:ext uri="{FF2B5EF4-FFF2-40B4-BE49-F238E27FC236}">
                    <a16:creationId xmlns:a16="http://schemas.microsoft.com/office/drawing/2014/main" id="{0F87F645-F662-458A-A7D2-85D24A229D60}"/>
                  </a:ext>
                </a:extLst>
              </p:cNvPr>
              <p:cNvSpPr txBox="1">
                <a:spLocks noRot="1" noChangeAspect="1" noMove="1" noResize="1" noEditPoints="1" noAdjustHandles="1" noChangeArrowheads="1" noChangeShapeType="1" noTextEdit="1"/>
              </p:cNvSpPr>
              <p:nvPr/>
            </p:nvSpPr>
            <p:spPr>
              <a:xfrm>
                <a:off x="4699145" y="2357458"/>
                <a:ext cx="3447535" cy="788806"/>
              </a:xfrm>
              <a:prstGeom prst="rect">
                <a:avLst/>
              </a:prstGeom>
              <a:blipFill>
                <a:blip r:embed="rId9"/>
                <a:stretch>
                  <a:fillRect l="-1062" r="-6903" b="-10078"/>
                </a:stretch>
              </a:blipFill>
            </p:spPr>
            <p:txBody>
              <a:bodyPr/>
              <a:lstStyle/>
              <a:p>
                <a:r>
                  <a:rPr lang="zh-CN" altLang="en-US">
                    <a:noFill/>
                  </a:rPr>
                  <a:t> </a:t>
                </a:r>
              </a:p>
            </p:txBody>
          </p:sp>
        </mc:Fallback>
      </mc:AlternateContent>
      <p:sp>
        <p:nvSpPr>
          <p:cNvPr id="6" name="梯形 5">
            <a:extLst>
              <a:ext uri="{FF2B5EF4-FFF2-40B4-BE49-F238E27FC236}">
                <a16:creationId xmlns:a16="http://schemas.microsoft.com/office/drawing/2014/main" id="{9F01C74E-9C0A-48F1-8F2B-3D79CFBDF173}"/>
              </a:ext>
            </a:extLst>
          </p:cNvPr>
          <p:cNvSpPr/>
          <p:nvPr/>
        </p:nvSpPr>
        <p:spPr>
          <a:xfrm rot="5400000">
            <a:off x="4205343" y="4619106"/>
            <a:ext cx="994719" cy="636662"/>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8062B6F-6878-4983-BD59-EBCC45206CCA}"/>
                  </a:ext>
                </a:extLst>
              </p:cNvPr>
              <p:cNvSpPr/>
              <p:nvPr/>
            </p:nvSpPr>
            <p:spPr>
              <a:xfrm>
                <a:off x="2175946" y="4827081"/>
                <a:ext cx="1393587" cy="3104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m:t>
                      </m:r>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𝑥</m:t>
                          </m:r>
                        </m:e>
                        <m:sub>
                          <m:r>
                            <a:rPr lang="en-US" altLang="zh-CN" sz="1400" i="1">
                              <a:latin typeface="Cambria Math" panose="02040503050406030204" pitchFamily="18" charset="0"/>
                            </a:rPr>
                            <m:t>1</m:t>
                          </m:r>
                        </m:sub>
                        <m:sup>
                          <m:r>
                            <a:rPr lang="en-US" altLang="zh-CN" sz="1400" i="1">
                              <a:latin typeface="Cambria Math" panose="02040503050406030204" pitchFamily="18" charset="0"/>
                            </a:rPr>
                            <m:t>1</m:t>
                          </m:r>
                        </m:sup>
                      </m:sSubSup>
                      <m:r>
                        <a:rPr lang="en-US" altLang="zh-CN" sz="1400" i="1">
                          <a:latin typeface="Cambria Math" panose="02040503050406030204" pitchFamily="18" charset="0"/>
                          <a:ea typeface="Cambria Math" panose="02040503050406030204" pitchFamily="18" charset="0"/>
                        </a:rPr>
                        <m:t>⨁</m:t>
                      </m:r>
                      <m:sSubSup>
                        <m:sSubSupPr>
                          <m:ctrlPr>
                            <a:rPr lang="en-US" altLang="zh-CN" sz="1400" i="1">
                              <a:latin typeface="Cambria Math" panose="02040503050406030204" pitchFamily="18" charset="0"/>
                              <a:ea typeface="Cambria Math" panose="02040503050406030204" pitchFamily="18" charset="0"/>
                            </a:rPr>
                          </m:ctrlPr>
                        </m:sSubSupPr>
                        <m:e>
                          <m:r>
                            <a:rPr lang="en-US" altLang="zh-CN" sz="1400" i="1">
                              <a:latin typeface="Cambria Math" panose="02040503050406030204" pitchFamily="18" charset="0"/>
                              <a:ea typeface="Cambria Math" panose="02040503050406030204" pitchFamily="18" charset="0"/>
                            </a:rPr>
                            <m:t>𝑥</m:t>
                          </m:r>
                        </m:e>
                        <m:sub>
                          <m:r>
                            <a:rPr lang="en-US" altLang="zh-CN" sz="1400" i="1">
                              <a:latin typeface="Cambria Math" panose="02040503050406030204" pitchFamily="18" charset="0"/>
                              <a:ea typeface="Cambria Math" panose="02040503050406030204" pitchFamily="18" charset="0"/>
                            </a:rPr>
                            <m:t>1</m:t>
                          </m:r>
                        </m:sub>
                        <m:sup>
                          <m:r>
                            <a:rPr lang="en-US" altLang="zh-CN" sz="1400" i="1">
                              <a:latin typeface="Cambria Math" panose="02040503050406030204" pitchFamily="18" charset="0"/>
                              <a:ea typeface="Cambria Math" panose="02040503050406030204" pitchFamily="18" charset="0"/>
                            </a:rPr>
                            <m:t>2</m:t>
                          </m:r>
                        </m:sup>
                      </m:sSubSup>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m:t>
                      </m:r>
                    </m:oMath>
                  </m:oMathPara>
                </a14:m>
                <a:endParaRPr lang="zh-CN" altLang="en-US" sz="1400" dirty="0"/>
              </a:p>
            </p:txBody>
          </p:sp>
        </mc:Choice>
        <mc:Fallback xmlns="">
          <p:sp>
            <p:nvSpPr>
              <p:cNvPr id="7" name="矩形 6">
                <a:extLst>
                  <a:ext uri="{FF2B5EF4-FFF2-40B4-BE49-F238E27FC236}">
                    <a16:creationId xmlns:a16="http://schemas.microsoft.com/office/drawing/2014/main" id="{68062B6F-6878-4983-BD59-EBCC45206CCA}"/>
                  </a:ext>
                </a:extLst>
              </p:cNvPr>
              <p:cNvSpPr>
                <a:spLocks noRot="1" noChangeAspect="1" noMove="1" noResize="1" noEditPoints="1" noAdjustHandles="1" noChangeArrowheads="1" noChangeShapeType="1" noTextEdit="1"/>
              </p:cNvSpPr>
              <p:nvPr/>
            </p:nvSpPr>
            <p:spPr>
              <a:xfrm>
                <a:off x="2175946" y="4827081"/>
                <a:ext cx="1393587" cy="310470"/>
              </a:xfrm>
              <a:prstGeom prst="rect">
                <a:avLst/>
              </a:prstGeom>
              <a:blipFill>
                <a:blip r:embed="rId10"/>
                <a:stretch>
                  <a:fillRect b="-7843"/>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93714A2E-9025-411B-8495-97A7E91FBF44}"/>
              </a:ext>
            </a:extLst>
          </p:cNvPr>
          <p:cNvGrpSpPr/>
          <p:nvPr/>
        </p:nvGrpSpPr>
        <p:grpSpPr>
          <a:xfrm>
            <a:off x="3645416" y="4460944"/>
            <a:ext cx="141006" cy="952987"/>
            <a:chOff x="2515697" y="5369011"/>
            <a:chExt cx="141006" cy="952987"/>
          </a:xfrm>
        </p:grpSpPr>
        <p:sp>
          <p:nvSpPr>
            <p:cNvPr id="8" name="矩形 7">
              <a:extLst>
                <a:ext uri="{FF2B5EF4-FFF2-40B4-BE49-F238E27FC236}">
                  <a16:creationId xmlns:a16="http://schemas.microsoft.com/office/drawing/2014/main" id="{141A84AE-67C7-462F-B0F6-0A4956479158}"/>
                </a:ext>
              </a:extLst>
            </p:cNvPr>
            <p:cNvSpPr/>
            <p:nvPr/>
          </p:nvSpPr>
          <p:spPr>
            <a:xfrm>
              <a:off x="2515697" y="5369011"/>
              <a:ext cx="141006" cy="3150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41E58DF0-CA46-4C30-B5EE-1CFCA6021696}"/>
                </a:ext>
              </a:extLst>
            </p:cNvPr>
            <p:cNvSpPr/>
            <p:nvPr/>
          </p:nvSpPr>
          <p:spPr>
            <a:xfrm>
              <a:off x="2515697" y="5692583"/>
              <a:ext cx="141006" cy="31047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3E4444A-BF12-484A-AFE7-8468FDCC4914}"/>
                </a:ext>
              </a:extLst>
            </p:cNvPr>
            <p:cNvSpPr/>
            <p:nvPr/>
          </p:nvSpPr>
          <p:spPr>
            <a:xfrm>
              <a:off x="2515697" y="6011528"/>
              <a:ext cx="141006" cy="31047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cxnSp>
        <p:nvCxnSpPr>
          <p:cNvPr id="12" name="直接箭头连接符 11">
            <a:extLst>
              <a:ext uri="{FF2B5EF4-FFF2-40B4-BE49-F238E27FC236}">
                <a16:creationId xmlns:a16="http://schemas.microsoft.com/office/drawing/2014/main" id="{2E358FE0-E159-4EB9-AC9B-0ABB9CFD7389}"/>
              </a:ext>
            </a:extLst>
          </p:cNvPr>
          <p:cNvCxnSpPr>
            <a:stCxn id="31" idx="3"/>
            <a:endCxn id="6" idx="2"/>
          </p:cNvCxnSpPr>
          <p:nvPr/>
        </p:nvCxnSpPr>
        <p:spPr>
          <a:xfrm flipV="1">
            <a:off x="3786422" y="4937438"/>
            <a:ext cx="597950" cy="23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B2FE4F81-7880-45B4-A72F-CC74EEE0E981}"/>
              </a:ext>
            </a:extLst>
          </p:cNvPr>
          <p:cNvCxnSpPr>
            <a:cxnSpLocks/>
          </p:cNvCxnSpPr>
          <p:nvPr/>
        </p:nvCxnSpPr>
        <p:spPr>
          <a:xfrm>
            <a:off x="5021034" y="4935089"/>
            <a:ext cx="758982" cy="2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DD9748BE-4181-480F-A9FD-34E092199E92}"/>
              </a:ext>
            </a:extLst>
          </p:cNvPr>
          <p:cNvSpPr txBox="1"/>
          <p:nvPr/>
        </p:nvSpPr>
        <p:spPr>
          <a:xfrm>
            <a:off x="5085424" y="4679296"/>
            <a:ext cx="643125" cy="261610"/>
          </a:xfrm>
          <a:prstGeom prst="rect">
            <a:avLst/>
          </a:prstGeom>
          <a:noFill/>
        </p:spPr>
        <p:txBody>
          <a:bodyPr wrap="none" rtlCol="0">
            <a:spAutoFit/>
          </a:bodyPr>
          <a:lstStyle/>
          <a:p>
            <a:r>
              <a:rPr lang="en-US" altLang="zh-CN" sz="1100" dirty="0" err="1"/>
              <a:t>softmax</a:t>
            </a:r>
            <a:endParaRPr lang="zh-CN" altLang="en-US" sz="11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08FCBDC-6508-4A66-9E83-9C593C5E0E0F}"/>
                  </a:ext>
                </a:extLst>
              </p:cNvPr>
              <p:cNvSpPr txBox="1"/>
              <p:nvPr/>
            </p:nvSpPr>
            <p:spPr>
              <a:xfrm>
                <a:off x="5722086" y="4750423"/>
                <a:ext cx="1311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[0.01,0.99]</m:t>
                      </m:r>
                    </m:oMath>
                  </m:oMathPara>
                </a14:m>
                <a:endParaRPr lang="zh-CN" altLang="en-US" dirty="0"/>
              </a:p>
            </p:txBody>
          </p:sp>
        </mc:Choice>
        <mc:Fallback xmlns="">
          <p:sp>
            <p:nvSpPr>
              <p:cNvPr id="16" name="文本框 15">
                <a:extLst>
                  <a:ext uri="{FF2B5EF4-FFF2-40B4-BE49-F238E27FC236}">
                    <a16:creationId xmlns:a16="http://schemas.microsoft.com/office/drawing/2014/main" id="{D08FCBDC-6508-4A66-9E83-9C593C5E0E0F}"/>
                  </a:ext>
                </a:extLst>
              </p:cNvPr>
              <p:cNvSpPr txBox="1">
                <a:spLocks noRot="1" noChangeAspect="1" noMove="1" noResize="1" noEditPoints="1" noAdjustHandles="1" noChangeArrowheads="1" noChangeShapeType="1" noTextEdit="1"/>
              </p:cNvSpPr>
              <p:nvPr/>
            </p:nvSpPr>
            <p:spPr>
              <a:xfrm>
                <a:off x="5722086" y="4750423"/>
                <a:ext cx="1311578" cy="369332"/>
              </a:xfrm>
              <a:prstGeom prst="rect">
                <a:avLst/>
              </a:prstGeom>
              <a:blipFill>
                <a:blip r:embed="rId11"/>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45CAB5E9-8902-430D-810C-6188FE30E3AE}"/>
                  </a:ext>
                </a:extLst>
              </p:cNvPr>
              <p:cNvSpPr/>
              <p:nvPr/>
            </p:nvSpPr>
            <p:spPr>
              <a:xfrm>
                <a:off x="5776685" y="4444997"/>
                <a:ext cx="12023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18" name="矩形 17">
                <a:extLst>
                  <a:ext uri="{FF2B5EF4-FFF2-40B4-BE49-F238E27FC236}">
                    <a16:creationId xmlns:a16="http://schemas.microsoft.com/office/drawing/2014/main" id="{45CAB5E9-8902-430D-810C-6188FE30E3AE}"/>
                  </a:ext>
                </a:extLst>
              </p:cNvPr>
              <p:cNvSpPr>
                <a:spLocks noRot="1" noChangeAspect="1" noMove="1" noResize="1" noEditPoints="1" noAdjustHandles="1" noChangeArrowheads="1" noChangeShapeType="1" noTextEdit="1"/>
              </p:cNvSpPr>
              <p:nvPr/>
            </p:nvSpPr>
            <p:spPr>
              <a:xfrm>
                <a:off x="5776685" y="4444997"/>
                <a:ext cx="1202380" cy="369332"/>
              </a:xfrm>
              <a:prstGeom prst="rect">
                <a:avLst/>
              </a:prstGeom>
              <a:blipFill>
                <a:blip r:embed="rId12"/>
                <a:stretch>
                  <a:fillRect t="-6557" r="-13198" b="-65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721026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04470"/>
            <a:ext cx="8925560" cy="708025"/>
            <a:chOff x="-9" y="165"/>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165"/>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35" name="图片 34">
            <a:extLst>
              <a:ext uri="{FF2B5EF4-FFF2-40B4-BE49-F238E27FC236}">
                <a16:creationId xmlns:a16="http://schemas.microsoft.com/office/drawing/2014/main" id="{784E9E93-A220-4DED-93B9-E22E14CA56AB}"/>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464274" y="1548702"/>
            <a:ext cx="6016133" cy="2805503"/>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F94E20E-E402-4E78-890A-7EAA46A0CB8F}"/>
                  </a:ext>
                </a:extLst>
              </p:cNvPr>
              <p:cNvSpPr txBox="1"/>
              <p:nvPr/>
            </p:nvSpPr>
            <p:spPr>
              <a:xfrm>
                <a:off x="3152493" y="4410085"/>
                <a:ext cx="26396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3</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sup>
                      </m:sSup>
                      <m:r>
                        <a:rPr lang="en-US" altLang="zh-CN" b="0" i="1" smtClean="0">
                          <a:latin typeface="Cambria Math" panose="02040503050406030204" pitchFamily="18" charset="0"/>
                        </a:rPr>
                        <m:t>]</m:t>
                      </m:r>
                    </m:oMath>
                  </m:oMathPara>
                </a14:m>
                <a:endParaRPr lang="zh-CN" altLang="en-US" dirty="0"/>
              </a:p>
            </p:txBody>
          </p:sp>
        </mc:Choice>
        <mc:Fallback xmlns="">
          <p:sp>
            <p:nvSpPr>
              <p:cNvPr id="5" name="文本框 4">
                <a:extLst>
                  <a:ext uri="{FF2B5EF4-FFF2-40B4-BE49-F238E27FC236}">
                    <a16:creationId xmlns:a16="http://schemas.microsoft.com/office/drawing/2014/main" id="{3F94E20E-E402-4E78-890A-7EAA46A0CB8F}"/>
                  </a:ext>
                </a:extLst>
              </p:cNvPr>
              <p:cNvSpPr txBox="1">
                <a:spLocks noRot="1" noChangeAspect="1" noMove="1" noResize="1" noEditPoints="1" noAdjustHandles="1" noChangeArrowheads="1" noChangeShapeType="1" noTextEdit="1"/>
              </p:cNvSpPr>
              <p:nvPr/>
            </p:nvSpPr>
            <p:spPr>
              <a:xfrm>
                <a:off x="3152493" y="4410085"/>
                <a:ext cx="2639697" cy="369332"/>
              </a:xfrm>
              <a:prstGeom prst="rect">
                <a:avLst/>
              </a:prstGeom>
              <a:blipFill>
                <a:blip r:embed="rId6"/>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8DDA0350-365A-4680-A3C5-62BD49A89536}"/>
                  </a:ext>
                </a:extLst>
              </p:cNvPr>
              <p:cNvSpPr txBox="1"/>
              <p:nvPr/>
            </p:nvSpPr>
            <p:spPr>
              <a:xfrm>
                <a:off x="3477741" y="5063849"/>
                <a:ext cx="1989198" cy="3745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𝑧</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𝑧</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𝑧</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𝑧</m:t>
                          </m:r>
                        </m:e>
                        <m:sup>
                          <m:r>
                            <a:rPr lang="en-US" altLang="zh-CN" b="0" i="1" smtClean="0">
                              <a:latin typeface="Cambria Math" panose="02040503050406030204" pitchFamily="18" charset="0"/>
                            </a:rPr>
                            <m:t>𝑑</m:t>
                          </m:r>
                        </m:sup>
                      </m:sSup>
                      <m:r>
                        <a:rPr lang="en-US" altLang="zh-CN" b="0" i="1" smtClean="0">
                          <a:latin typeface="Cambria Math" panose="02040503050406030204" pitchFamily="18" charset="0"/>
                        </a:rPr>
                        <m:t>]</m:t>
                      </m:r>
                    </m:oMath>
                  </m:oMathPara>
                </a14:m>
                <a:endParaRPr lang="zh-CN" altLang="en-US" dirty="0"/>
              </a:p>
            </p:txBody>
          </p:sp>
        </mc:Choice>
        <mc:Fallback xmlns="">
          <p:sp>
            <p:nvSpPr>
              <p:cNvPr id="40" name="文本框 39">
                <a:extLst>
                  <a:ext uri="{FF2B5EF4-FFF2-40B4-BE49-F238E27FC236}">
                    <a16:creationId xmlns:a16="http://schemas.microsoft.com/office/drawing/2014/main" id="{8DDA0350-365A-4680-A3C5-62BD49A89536}"/>
                  </a:ext>
                </a:extLst>
              </p:cNvPr>
              <p:cNvSpPr txBox="1">
                <a:spLocks noRot="1" noChangeAspect="1" noMove="1" noResize="1" noEditPoints="1" noAdjustHandles="1" noChangeArrowheads="1" noChangeShapeType="1" noTextEdit="1"/>
              </p:cNvSpPr>
              <p:nvPr/>
            </p:nvSpPr>
            <p:spPr>
              <a:xfrm>
                <a:off x="3477741" y="5063849"/>
                <a:ext cx="1989198" cy="374590"/>
              </a:xfrm>
              <a:prstGeom prst="rect">
                <a:avLst/>
              </a:prstGeom>
              <a:blipFill>
                <a:blip r:embed="rId7"/>
                <a:stretch>
                  <a:fillRect b="-16393"/>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C932E686-E451-40A3-9283-47847834B65F}"/>
              </a:ext>
            </a:extLst>
          </p:cNvPr>
          <p:cNvCxnSpPr>
            <a:stCxn id="5" idx="2"/>
            <a:endCxn id="40" idx="0"/>
          </p:cNvCxnSpPr>
          <p:nvPr/>
        </p:nvCxnSpPr>
        <p:spPr>
          <a:xfrm flipH="1">
            <a:off x="4472340" y="4779417"/>
            <a:ext cx="2" cy="2844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文本框 16">
            <a:extLst>
              <a:ext uri="{FF2B5EF4-FFF2-40B4-BE49-F238E27FC236}">
                <a16:creationId xmlns:a16="http://schemas.microsoft.com/office/drawing/2014/main" id="{B7D1E117-14A1-432E-9AD4-73E250E558E9}"/>
              </a:ext>
            </a:extLst>
          </p:cNvPr>
          <p:cNvSpPr txBox="1"/>
          <p:nvPr/>
        </p:nvSpPr>
        <p:spPr>
          <a:xfrm>
            <a:off x="5792189" y="4410085"/>
            <a:ext cx="1569660" cy="369332"/>
          </a:xfrm>
          <a:prstGeom prst="rect">
            <a:avLst/>
          </a:prstGeom>
          <a:noFill/>
        </p:spPr>
        <p:txBody>
          <a:bodyPr wrap="none" rtlCol="0">
            <a:spAutoFit/>
          </a:bodyPr>
          <a:lstStyle/>
          <a:p>
            <a:r>
              <a:rPr lang="zh-CN" altLang="en-US" dirty="0"/>
              <a:t>高维图像分布</a:t>
            </a:r>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61C78CF-7279-441F-BA5E-59329A680FE9}"/>
                  </a:ext>
                </a:extLst>
              </p:cNvPr>
              <p:cNvSpPr txBox="1"/>
              <p:nvPr/>
            </p:nvSpPr>
            <p:spPr>
              <a:xfrm>
                <a:off x="5792189" y="5063849"/>
                <a:ext cx="1710020" cy="369332"/>
              </a:xfrm>
              <a:prstGeom prst="rect">
                <a:avLst/>
              </a:prstGeom>
              <a:noFill/>
            </p:spPr>
            <p:txBody>
              <a:bodyPr wrap="none" rtlCol="0">
                <a:spAutoFit/>
              </a:bodyPr>
              <a:lstStyle/>
              <a:p>
                <a14:m>
                  <m:oMath xmlns:m="http://schemas.openxmlformats.org/officeDocument/2006/math">
                    <m:r>
                      <a:rPr lang="en-US" altLang="zh-CN" i="1" dirty="0" smtClean="0">
                        <a:latin typeface="Cambria Math" panose="02040503050406030204" pitchFamily="18" charset="0"/>
                      </a:rPr>
                      <m:t>𝑑</m:t>
                    </m:r>
                  </m:oMath>
                </a14:m>
                <a:r>
                  <a:rPr lang="zh-CN" altLang="en-US" dirty="0"/>
                  <a:t>维隐向量分布</a:t>
                </a:r>
              </a:p>
            </p:txBody>
          </p:sp>
        </mc:Choice>
        <mc:Fallback xmlns="">
          <p:sp>
            <p:nvSpPr>
              <p:cNvPr id="42" name="文本框 41">
                <a:extLst>
                  <a:ext uri="{FF2B5EF4-FFF2-40B4-BE49-F238E27FC236}">
                    <a16:creationId xmlns:a16="http://schemas.microsoft.com/office/drawing/2014/main" id="{E61C78CF-7279-441F-BA5E-59329A680FE9}"/>
                  </a:ext>
                </a:extLst>
              </p:cNvPr>
              <p:cNvSpPr txBox="1">
                <a:spLocks noRot="1" noChangeAspect="1" noMove="1" noResize="1" noEditPoints="1" noAdjustHandles="1" noChangeArrowheads="1" noChangeShapeType="1" noTextEdit="1"/>
              </p:cNvSpPr>
              <p:nvPr/>
            </p:nvSpPr>
            <p:spPr>
              <a:xfrm>
                <a:off x="5792189" y="5063849"/>
                <a:ext cx="1710020" cy="369332"/>
              </a:xfrm>
              <a:prstGeom prst="rect">
                <a:avLst/>
              </a:prstGeom>
              <a:blipFill>
                <a:blip r:embed="rId8"/>
                <a:stretch>
                  <a:fillRect t="-15000" r="-3203" b="-21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175864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04470"/>
            <a:ext cx="8925560" cy="708025"/>
            <a:chOff x="-9" y="165"/>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165"/>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647020" y="1084757"/>
            <a:ext cx="3737352" cy="2660748"/>
          </a:xfrm>
          <a:prstGeom prst="rect">
            <a:avLst/>
          </a:prstGeom>
        </p:spPr>
      </p:pic>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98C2430E-2A36-4904-B180-8495FCBF3AEB}"/>
                  </a:ext>
                </a:extLst>
              </p:cNvPr>
              <p:cNvSpPr txBox="1"/>
              <p:nvPr/>
            </p:nvSpPr>
            <p:spPr>
              <a:xfrm>
                <a:off x="1936784" y="3886079"/>
                <a:ext cx="11059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𝑤</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32" name="文本框 31">
                <a:extLst>
                  <a:ext uri="{FF2B5EF4-FFF2-40B4-BE49-F238E27FC236}">
                    <a16:creationId xmlns:a16="http://schemas.microsoft.com/office/drawing/2014/main" id="{98C2430E-2A36-4904-B180-8495FCBF3AEB}"/>
                  </a:ext>
                </a:extLst>
              </p:cNvPr>
              <p:cNvSpPr txBox="1">
                <a:spLocks noRot="1" noChangeAspect="1" noMove="1" noResize="1" noEditPoints="1" noAdjustHandles="1" noChangeArrowheads="1" noChangeShapeType="1" noTextEdit="1"/>
              </p:cNvSpPr>
              <p:nvPr/>
            </p:nvSpPr>
            <p:spPr>
              <a:xfrm>
                <a:off x="1936784" y="3886079"/>
                <a:ext cx="1105944" cy="369332"/>
              </a:xfrm>
              <a:prstGeom prst="rect">
                <a:avLst/>
              </a:prstGeom>
              <a:blipFill>
                <a:blip r:embed="rId6"/>
                <a:stretch>
                  <a:fillRect b="-6557"/>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C7B666C7-B9C6-4577-8DBE-84D26B3E9AEC}"/>
              </a:ext>
            </a:extLst>
          </p:cNvPr>
          <p:cNvCxnSpPr>
            <a:cxnSpLocks/>
            <a:stCxn id="32" idx="3"/>
          </p:cNvCxnSpPr>
          <p:nvPr/>
        </p:nvCxnSpPr>
        <p:spPr>
          <a:xfrm>
            <a:off x="3042728" y="4070745"/>
            <a:ext cx="985573"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3B00ACD-A48B-4D32-85AD-D88251609B8A}"/>
                  </a:ext>
                </a:extLst>
              </p:cNvPr>
              <p:cNvSpPr txBox="1"/>
              <p:nvPr/>
            </p:nvSpPr>
            <p:spPr>
              <a:xfrm>
                <a:off x="4028301" y="3886079"/>
                <a:ext cx="3891643" cy="372859"/>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e>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1</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𝑥</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2</m:t>
                        </m:r>
                      </m:sup>
                    </m:sSub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m:t>
                    </m:r>
                  </m:oMath>
                </a14:m>
                <a:r>
                  <a:rPr lang="en-US" altLang="zh-CN" dirty="0"/>
                  <a:t>)</a:t>
                </a:r>
                <a:endParaRPr lang="zh-CN" altLang="en-US" dirty="0"/>
              </a:p>
            </p:txBody>
          </p:sp>
        </mc:Choice>
        <mc:Fallback xmlns="">
          <p:sp>
            <p:nvSpPr>
              <p:cNvPr id="22" name="文本框 21">
                <a:extLst>
                  <a:ext uri="{FF2B5EF4-FFF2-40B4-BE49-F238E27FC236}">
                    <a16:creationId xmlns:a16="http://schemas.microsoft.com/office/drawing/2014/main" id="{43B00ACD-A48B-4D32-85AD-D88251609B8A}"/>
                  </a:ext>
                </a:extLst>
              </p:cNvPr>
              <p:cNvSpPr txBox="1">
                <a:spLocks noRot="1" noChangeAspect="1" noMove="1" noResize="1" noEditPoints="1" noAdjustHandles="1" noChangeArrowheads="1" noChangeShapeType="1" noTextEdit="1"/>
              </p:cNvSpPr>
              <p:nvPr/>
            </p:nvSpPr>
            <p:spPr>
              <a:xfrm>
                <a:off x="4028301" y="3886079"/>
                <a:ext cx="3891643" cy="372859"/>
              </a:xfrm>
              <a:prstGeom prst="rect">
                <a:avLst/>
              </a:prstGeom>
              <a:blipFill>
                <a:blip r:embed="rId7"/>
                <a:stretch>
                  <a:fillRect t="-6452" r="-940" b="-2419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1629A48-9B06-411A-BCB1-CE60246406BC}"/>
              </a:ext>
            </a:extLst>
          </p:cNvPr>
          <p:cNvSpPr txBox="1"/>
          <p:nvPr/>
        </p:nvSpPr>
        <p:spPr>
          <a:xfrm>
            <a:off x="3133048" y="3774868"/>
            <a:ext cx="723275" cy="307777"/>
          </a:xfrm>
          <a:prstGeom prst="rect">
            <a:avLst/>
          </a:prstGeom>
          <a:noFill/>
        </p:spPr>
        <p:txBody>
          <a:bodyPr wrap="none" rtlCol="0">
            <a:spAutoFit/>
          </a:bodyPr>
          <a:lstStyle/>
          <a:p>
            <a:r>
              <a:rPr lang="zh-CN" altLang="en-US" sz="1400" dirty="0"/>
              <a:t>等价于</a:t>
            </a: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B12C50B-E2C3-4EE6-9FFA-5AEA59140495}"/>
                  </a:ext>
                </a:extLst>
              </p:cNvPr>
              <p:cNvSpPr txBox="1"/>
              <p:nvPr/>
            </p:nvSpPr>
            <p:spPr>
              <a:xfrm>
                <a:off x="4699145" y="1692252"/>
                <a:ext cx="3797835" cy="341760"/>
              </a:xfrm>
              <a:prstGeom prst="rect">
                <a:avLst/>
              </a:prstGeom>
              <a:noFill/>
            </p:spPr>
            <p:txBody>
              <a:bodyPr wrap="none" rtlCol="0">
                <a:spAutoFit/>
              </a:bodyPr>
              <a:lstStyle/>
              <a:p>
                <a14:m>
                  <m:oMath xmlns:m="http://schemas.openxmlformats.org/officeDocument/2006/math">
                    <m:r>
                      <a:rPr lang="en-US" altLang="zh-CN" sz="1600" b="0" i="1" smtClean="0">
                        <a:latin typeface="Cambria Math" panose="02040503050406030204" pitchFamily="18" charset="0"/>
                      </a:rPr>
                      <m:t>𝑥</m:t>
                    </m:r>
                    <m:r>
                      <a:rPr lang="en-US" altLang="zh-CN" sz="1600" b="0" i="1" smtClean="0">
                        <a:latin typeface="Cambria Math" panose="02040503050406030204" pitchFamily="18" charset="0"/>
                      </a:rPr>
                      <m:t>:</m:t>
                    </m:r>
                  </m:oMath>
                </a14:m>
                <a:r>
                  <a:rPr lang="zh-CN" altLang="en-US" sz="1600" dirty="0"/>
                  <a:t>输入词向量的拼接</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up>
                        <m:r>
                          <a:rPr lang="en-US" altLang="zh-CN" sz="1600" b="0" i="1" smtClean="0">
                            <a:latin typeface="Cambria Math" panose="02040503050406030204" pitchFamily="18" charset="0"/>
                          </a:rPr>
                          <m:t>1</m:t>
                        </m:r>
                      </m:sup>
                    </m:sSubSup>
                    <m:r>
                      <a:rPr lang="en-US" altLang="zh-CN" sz="1600" b="0" i="1" smtClean="0">
                        <a:latin typeface="Cambria Math" panose="02040503050406030204" pitchFamily="18" charset="0"/>
                        <a:ea typeface="Cambria Math" panose="02040503050406030204" pitchFamily="18" charset="0"/>
                      </a:rPr>
                      <m:t>⨁</m:t>
                    </m:r>
                    <m:sSubSup>
                      <m:sSubSupPr>
                        <m:ctrlPr>
                          <a:rPr lang="en-US" altLang="zh-CN" sz="1600" b="0" i="1" smtClean="0">
                            <a:latin typeface="Cambria Math" panose="02040503050406030204" pitchFamily="18" charset="0"/>
                            <a:ea typeface="Cambria Math" panose="02040503050406030204" pitchFamily="18" charset="0"/>
                          </a:rPr>
                        </m:ctrlPr>
                      </m:sSubSupPr>
                      <m:e>
                        <m:r>
                          <a:rPr lang="en-US" altLang="zh-CN" sz="1600" b="0" i="1" smtClean="0">
                            <a:latin typeface="Cambria Math" panose="02040503050406030204" pitchFamily="18" charset="0"/>
                            <a:ea typeface="Cambria Math" panose="02040503050406030204" pitchFamily="18" charset="0"/>
                          </a:rPr>
                          <m:t>𝑥</m:t>
                        </m:r>
                      </m:e>
                      <m:sub>
                        <m:r>
                          <a:rPr lang="en-US" altLang="zh-CN" sz="1600" b="0" i="1" smtClean="0">
                            <a:latin typeface="Cambria Math" panose="02040503050406030204" pitchFamily="18" charset="0"/>
                            <a:ea typeface="Cambria Math" panose="02040503050406030204" pitchFamily="18" charset="0"/>
                          </a:rPr>
                          <m:t>1</m:t>
                        </m:r>
                      </m:sub>
                      <m:sup>
                        <m:r>
                          <a:rPr lang="en-US" altLang="zh-CN" sz="1600" b="0" i="1" smtClean="0">
                            <a:latin typeface="Cambria Math" panose="02040503050406030204" pitchFamily="18" charset="0"/>
                            <a:ea typeface="Cambria Math" panose="02040503050406030204" pitchFamily="18" charset="0"/>
                          </a:rPr>
                          <m:t>2</m:t>
                        </m:r>
                      </m:sup>
                    </m:sSubSup>
                    <m:r>
                      <a:rPr lang="en-US" altLang="zh-CN" sz="1600" b="0" i="1" smtClean="0">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m:t>
                    </m:r>
                  </m:oMath>
                </a14:m>
                <a:endParaRPr lang="zh-CN" altLang="en-US" sz="1600" dirty="0"/>
              </a:p>
            </p:txBody>
          </p:sp>
        </mc:Choice>
        <mc:Fallback xmlns="">
          <p:sp>
            <p:nvSpPr>
              <p:cNvPr id="25" name="文本框 24">
                <a:extLst>
                  <a:ext uri="{FF2B5EF4-FFF2-40B4-BE49-F238E27FC236}">
                    <a16:creationId xmlns:a16="http://schemas.microsoft.com/office/drawing/2014/main" id="{7B12C50B-E2C3-4EE6-9FFA-5AEA59140495}"/>
                  </a:ext>
                </a:extLst>
              </p:cNvPr>
              <p:cNvSpPr txBox="1">
                <a:spLocks noRot="1" noChangeAspect="1" noMove="1" noResize="1" noEditPoints="1" noAdjustHandles="1" noChangeArrowheads="1" noChangeShapeType="1" noTextEdit="1"/>
              </p:cNvSpPr>
              <p:nvPr/>
            </p:nvSpPr>
            <p:spPr>
              <a:xfrm>
                <a:off x="4699145" y="1692252"/>
                <a:ext cx="3797835" cy="341760"/>
              </a:xfrm>
              <a:prstGeom prst="rect">
                <a:avLst/>
              </a:prstGeom>
              <a:blipFill>
                <a:blip r:embed="rId8"/>
                <a:stretch>
                  <a:fillRect t="-8929" b="-178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F87F645-F662-458A-A7D2-85D24A229D60}"/>
                  </a:ext>
                </a:extLst>
              </p:cNvPr>
              <p:cNvSpPr txBox="1"/>
              <p:nvPr/>
            </p:nvSpPr>
            <p:spPr>
              <a:xfrm>
                <a:off x="4699145" y="2357458"/>
                <a:ext cx="3447535" cy="788806"/>
              </a:xfrm>
              <a:prstGeom prst="rect">
                <a:avLst/>
              </a:prstGeom>
              <a:noFill/>
            </p:spPr>
            <p:txBody>
              <a:bodyPr wrap="square" rtlCol="0">
                <a:spAutoFit/>
              </a:bodyPr>
              <a:lstStyle/>
              <a:p>
                <a:pPr>
                  <a:lnSpc>
                    <a:spcPct val="150000"/>
                  </a:lnSpc>
                </a:pPr>
                <a14:m>
                  <m:oMath xmlns:m="http://schemas.openxmlformats.org/officeDocument/2006/math">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 </m:t>
                    </m:r>
                  </m:oMath>
                </a14:m>
                <a:r>
                  <a:rPr lang="zh-CN" altLang="en-US" sz="1600" dirty="0"/>
                  <a:t>标签值为</a:t>
                </a:r>
                <a:r>
                  <a:rPr lang="en-US" altLang="zh-CN" sz="1600" dirty="0"/>
                  <a:t>0</a:t>
                </a:r>
                <a:r>
                  <a:rPr lang="zh-CN" altLang="en-US" sz="1600" dirty="0"/>
                  <a:t>表示“不是体育运动”，标签值为</a:t>
                </a:r>
                <a:r>
                  <a:rPr lang="en-US" altLang="zh-CN" sz="1600" dirty="0"/>
                  <a:t>1</a:t>
                </a:r>
                <a:r>
                  <a:rPr lang="zh-CN" altLang="en-US" sz="1600" dirty="0"/>
                  <a:t>表示“体育运动”</a:t>
                </a:r>
              </a:p>
            </p:txBody>
          </p:sp>
        </mc:Choice>
        <mc:Fallback xmlns="">
          <p:sp>
            <p:nvSpPr>
              <p:cNvPr id="26" name="文本框 25">
                <a:extLst>
                  <a:ext uri="{FF2B5EF4-FFF2-40B4-BE49-F238E27FC236}">
                    <a16:creationId xmlns:a16="http://schemas.microsoft.com/office/drawing/2014/main" id="{0F87F645-F662-458A-A7D2-85D24A229D60}"/>
                  </a:ext>
                </a:extLst>
              </p:cNvPr>
              <p:cNvSpPr txBox="1">
                <a:spLocks noRot="1" noChangeAspect="1" noMove="1" noResize="1" noEditPoints="1" noAdjustHandles="1" noChangeArrowheads="1" noChangeShapeType="1" noTextEdit="1"/>
              </p:cNvSpPr>
              <p:nvPr/>
            </p:nvSpPr>
            <p:spPr>
              <a:xfrm>
                <a:off x="4699145" y="2357458"/>
                <a:ext cx="3447535" cy="788806"/>
              </a:xfrm>
              <a:prstGeom prst="rect">
                <a:avLst/>
              </a:prstGeom>
              <a:blipFill>
                <a:blip r:embed="rId9"/>
                <a:stretch>
                  <a:fillRect l="-1062" r="-6903" b="-10078"/>
                </a:stretch>
              </a:blipFill>
            </p:spPr>
            <p:txBody>
              <a:bodyPr/>
              <a:lstStyle/>
              <a:p>
                <a:r>
                  <a:rPr lang="zh-CN" altLang="en-US">
                    <a:noFill/>
                  </a:rPr>
                  <a:t> </a:t>
                </a:r>
              </a:p>
            </p:txBody>
          </p:sp>
        </mc:Fallback>
      </mc:AlternateContent>
      <p:sp>
        <p:nvSpPr>
          <p:cNvPr id="6" name="梯形 5">
            <a:extLst>
              <a:ext uri="{FF2B5EF4-FFF2-40B4-BE49-F238E27FC236}">
                <a16:creationId xmlns:a16="http://schemas.microsoft.com/office/drawing/2014/main" id="{9F01C74E-9C0A-48F1-8F2B-3D79CFBDF173}"/>
              </a:ext>
            </a:extLst>
          </p:cNvPr>
          <p:cNvSpPr/>
          <p:nvPr/>
        </p:nvSpPr>
        <p:spPr>
          <a:xfrm rot="5400000">
            <a:off x="4205343" y="4619106"/>
            <a:ext cx="994719" cy="636662"/>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8062B6F-6878-4983-BD59-EBCC45206CCA}"/>
                  </a:ext>
                </a:extLst>
              </p:cNvPr>
              <p:cNvSpPr/>
              <p:nvPr/>
            </p:nvSpPr>
            <p:spPr>
              <a:xfrm>
                <a:off x="2175946" y="4827081"/>
                <a:ext cx="1393587" cy="3104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m:t>
                      </m:r>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𝑥</m:t>
                          </m:r>
                        </m:e>
                        <m:sub>
                          <m:r>
                            <a:rPr lang="en-US" altLang="zh-CN" sz="1400" i="1">
                              <a:latin typeface="Cambria Math" panose="02040503050406030204" pitchFamily="18" charset="0"/>
                            </a:rPr>
                            <m:t>1</m:t>
                          </m:r>
                        </m:sub>
                        <m:sup>
                          <m:r>
                            <a:rPr lang="en-US" altLang="zh-CN" sz="1400" i="1">
                              <a:latin typeface="Cambria Math" panose="02040503050406030204" pitchFamily="18" charset="0"/>
                            </a:rPr>
                            <m:t>1</m:t>
                          </m:r>
                        </m:sup>
                      </m:sSubSup>
                      <m:r>
                        <a:rPr lang="en-US" altLang="zh-CN" sz="1400" i="1">
                          <a:latin typeface="Cambria Math" panose="02040503050406030204" pitchFamily="18" charset="0"/>
                          <a:ea typeface="Cambria Math" panose="02040503050406030204" pitchFamily="18" charset="0"/>
                        </a:rPr>
                        <m:t>⨁</m:t>
                      </m:r>
                      <m:sSubSup>
                        <m:sSubSupPr>
                          <m:ctrlPr>
                            <a:rPr lang="en-US" altLang="zh-CN" sz="1400" i="1">
                              <a:latin typeface="Cambria Math" panose="02040503050406030204" pitchFamily="18" charset="0"/>
                              <a:ea typeface="Cambria Math" panose="02040503050406030204" pitchFamily="18" charset="0"/>
                            </a:rPr>
                          </m:ctrlPr>
                        </m:sSubSupPr>
                        <m:e>
                          <m:r>
                            <a:rPr lang="en-US" altLang="zh-CN" sz="1400" i="1">
                              <a:latin typeface="Cambria Math" panose="02040503050406030204" pitchFamily="18" charset="0"/>
                              <a:ea typeface="Cambria Math" panose="02040503050406030204" pitchFamily="18" charset="0"/>
                            </a:rPr>
                            <m:t>𝑥</m:t>
                          </m:r>
                        </m:e>
                        <m:sub>
                          <m:r>
                            <a:rPr lang="en-US" altLang="zh-CN" sz="1400" i="1">
                              <a:latin typeface="Cambria Math" panose="02040503050406030204" pitchFamily="18" charset="0"/>
                              <a:ea typeface="Cambria Math" panose="02040503050406030204" pitchFamily="18" charset="0"/>
                            </a:rPr>
                            <m:t>1</m:t>
                          </m:r>
                        </m:sub>
                        <m:sup>
                          <m:r>
                            <a:rPr lang="en-US" altLang="zh-CN" sz="1400" i="1">
                              <a:latin typeface="Cambria Math" panose="02040503050406030204" pitchFamily="18" charset="0"/>
                              <a:ea typeface="Cambria Math" panose="02040503050406030204" pitchFamily="18" charset="0"/>
                            </a:rPr>
                            <m:t>2</m:t>
                          </m:r>
                        </m:sup>
                      </m:sSubSup>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m:t>
                      </m:r>
                    </m:oMath>
                  </m:oMathPara>
                </a14:m>
                <a:endParaRPr lang="zh-CN" altLang="en-US" sz="1400" dirty="0"/>
              </a:p>
            </p:txBody>
          </p:sp>
        </mc:Choice>
        <mc:Fallback xmlns="">
          <p:sp>
            <p:nvSpPr>
              <p:cNvPr id="7" name="矩形 6">
                <a:extLst>
                  <a:ext uri="{FF2B5EF4-FFF2-40B4-BE49-F238E27FC236}">
                    <a16:creationId xmlns:a16="http://schemas.microsoft.com/office/drawing/2014/main" id="{68062B6F-6878-4983-BD59-EBCC45206CCA}"/>
                  </a:ext>
                </a:extLst>
              </p:cNvPr>
              <p:cNvSpPr>
                <a:spLocks noRot="1" noChangeAspect="1" noMove="1" noResize="1" noEditPoints="1" noAdjustHandles="1" noChangeArrowheads="1" noChangeShapeType="1" noTextEdit="1"/>
              </p:cNvSpPr>
              <p:nvPr/>
            </p:nvSpPr>
            <p:spPr>
              <a:xfrm>
                <a:off x="2175946" y="4827081"/>
                <a:ext cx="1393587" cy="310470"/>
              </a:xfrm>
              <a:prstGeom prst="rect">
                <a:avLst/>
              </a:prstGeom>
              <a:blipFill>
                <a:blip r:embed="rId10"/>
                <a:stretch>
                  <a:fillRect b="-7843"/>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93714A2E-9025-411B-8495-97A7E91FBF44}"/>
              </a:ext>
            </a:extLst>
          </p:cNvPr>
          <p:cNvGrpSpPr/>
          <p:nvPr/>
        </p:nvGrpSpPr>
        <p:grpSpPr>
          <a:xfrm>
            <a:off x="3645416" y="4460944"/>
            <a:ext cx="141006" cy="952987"/>
            <a:chOff x="2515697" y="5369011"/>
            <a:chExt cx="141006" cy="952987"/>
          </a:xfrm>
        </p:grpSpPr>
        <p:sp>
          <p:nvSpPr>
            <p:cNvPr id="8" name="矩形 7">
              <a:extLst>
                <a:ext uri="{FF2B5EF4-FFF2-40B4-BE49-F238E27FC236}">
                  <a16:creationId xmlns:a16="http://schemas.microsoft.com/office/drawing/2014/main" id="{141A84AE-67C7-462F-B0F6-0A4956479158}"/>
                </a:ext>
              </a:extLst>
            </p:cNvPr>
            <p:cNvSpPr/>
            <p:nvPr/>
          </p:nvSpPr>
          <p:spPr>
            <a:xfrm>
              <a:off x="2515697" y="5369011"/>
              <a:ext cx="141006" cy="31509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41E58DF0-CA46-4C30-B5EE-1CFCA6021696}"/>
                </a:ext>
              </a:extLst>
            </p:cNvPr>
            <p:cNvSpPr/>
            <p:nvPr/>
          </p:nvSpPr>
          <p:spPr>
            <a:xfrm>
              <a:off x="2515697" y="5692583"/>
              <a:ext cx="141006" cy="31047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3E4444A-BF12-484A-AFE7-8468FDCC4914}"/>
                </a:ext>
              </a:extLst>
            </p:cNvPr>
            <p:cNvSpPr/>
            <p:nvPr/>
          </p:nvSpPr>
          <p:spPr>
            <a:xfrm>
              <a:off x="2515697" y="6011528"/>
              <a:ext cx="141006" cy="31047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cxnSp>
        <p:nvCxnSpPr>
          <p:cNvPr id="12" name="直接箭头连接符 11">
            <a:extLst>
              <a:ext uri="{FF2B5EF4-FFF2-40B4-BE49-F238E27FC236}">
                <a16:creationId xmlns:a16="http://schemas.microsoft.com/office/drawing/2014/main" id="{2E358FE0-E159-4EB9-AC9B-0ABB9CFD7389}"/>
              </a:ext>
            </a:extLst>
          </p:cNvPr>
          <p:cNvCxnSpPr>
            <a:stCxn id="31" idx="3"/>
            <a:endCxn id="6" idx="2"/>
          </p:cNvCxnSpPr>
          <p:nvPr/>
        </p:nvCxnSpPr>
        <p:spPr>
          <a:xfrm flipV="1">
            <a:off x="3786422" y="4937438"/>
            <a:ext cx="597950" cy="23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B2FE4F81-7880-45B4-A72F-CC74EEE0E981}"/>
              </a:ext>
            </a:extLst>
          </p:cNvPr>
          <p:cNvCxnSpPr>
            <a:cxnSpLocks/>
          </p:cNvCxnSpPr>
          <p:nvPr/>
        </p:nvCxnSpPr>
        <p:spPr>
          <a:xfrm>
            <a:off x="5021034" y="4935089"/>
            <a:ext cx="758982" cy="2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DD9748BE-4181-480F-A9FD-34E092199E92}"/>
              </a:ext>
            </a:extLst>
          </p:cNvPr>
          <p:cNvSpPr txBox="1"/>
          <p:nvPr/>
        </p:nvSpPr>
        <p:spPr>
          <a:xfrm>
            <a:off x="5085424" y="4679296"/>
            <a:ext cx="643125" cy="261610"/>
          </a:xfrm>
          <a:prstGeom prst="rect">
            <a:avLst/>
          </a:prstGeom>
          <a:noFill/>
        </p:spPr>
        <p:txBody>
          <a:bodyPr wrap="none" rtlCol="0">
            <a:spAutoFit/>
          </a:bodyPr>
          <a:lstStyle/>
          <a:p>
            <a:r>
              <a:rPr lang="en-US" altLang="zh-CN" sz="1100" dirty="0" err="1"/>
              <a:t>softmax</a:t>
            </a:r>
            <a:endParaRPr lang="zh-CN" altLang="en-US" sz="1100"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08FCBDC-6508-4A66-9E83-9C593C5E0E0F}"/>
                  </a:ext>
                </a:extLst>
              </p:cNvPr>
              <p:cNvSpPr txBox="1"/>
              <p:nvPr/>
            </p:nvSpPr>
            <p:spPr>
              <a:xfrm>
                <a:off x="5722086" y="4750423"/>
                <a:ext cx="13115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[0.01,0.99]</m:t>
                      </m:r>
                    </m:oMath>
                  </m:oMathPara>
                </a14:m>
                <a:endParaRPr lang="zh-CN" altLang="en-US" dirty="0"/>
              </a:p>
            </p:txBody>
          </p:sp>
        </mc:Choice>
        <mc:Fallback xmlns="">
          <p:sp>
            <p:nvSpPr>
              <p:cNvPr id="16" name="文本框 15">
                <a:extLst>
                  <a:ext uri="{FF2B5EF4-FFF2-40B4-BE49-F238E27FC236}">
                    <a16:creationId xmlns:a16="http://schemas.microsoft.com/office/drawing/2014/main" id="{D08FCBDC-6508-4A66-9E83-9C593C5E0E0F}"/>
                  </a:ext>
                </a:extLst>
              </p:cNvPr>
              <p:cNvSpPr txBox="1">
                <a:spLocks noRot="1" noChangeAspect="1" noMove="1" noResize="1" noEditPoints="1" noAdjustHandles="1" noChangeArrowheads="1" noChangeShapeType="1" noTextEdit="1"/>
              </p:cNvSpPr>
              <p:nvPr/>
            </p:nvSpPr>
            <p:spPr>
              <a:xfrm>
                <a:off x="5722086" y="4750423"/>
                <a:ext cx="1311578" cy="369332"/>
              </a:xfrm>
              <a:prstGeom prst="rect">
                <a:avLst/>
              </a:prstGeom>
              <a:blipFill>
                <a:blip r:embed="rId11"/>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45CAB5E9-8902-430D-810C-6188FE30E3AE}"/>
                  </a:ext>
                </a:extLst>
              </p:cNvPr>
              <p:cNvSpPr/>
              <p:nvPr/>
            </p:nvSpPr>
            <p:spPr>
              <a:xfrm>
                <a:off x="5776685" y="4444997"/>
                <a:ext cx="120238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18" name="矩形 17">
                <a:extLst>
                  <a:ext uri="{FF2B5EF4-FFF2-40B4-BE49-F238E27FC236}">
                    <a16:creationId xmlns:a16="http://schemas.microsoft.com/office/drawing/2014/main" id="{45CAB5E9-8902-430D-810C-6188FE30E3AE}"/>
                  </a:ext>
                </a:extLst>
              </p:cNvPr>
              <p:cNvSpPr>
                <a:spLocks noRot="1" noChangeAspect="1" noMove="1" noResize="1" noEditPoints="1" noAdjustHandles="1" noChangeArrowheads="1" noChangeShapeType="1" noTextEdit="1"/>
              </p:cNvSpPr>
              <p:nvPr/>
            </p:nvSpPr>
            <p:spPr>
              <a:xfrm>
                <a:off x="5776685" y="4444997"/>
                <a:ext cx="1202380" cy="369332"/>
              </a:xfrm>
              <a:prstGeom prst="rect">
                <a:avLst/>
              </a:prstGeom>
              <a:blipFill>
                <a:blip r:embed="rId12"/>
                <a:stretch>
                  <a:fillRect t="-6557" r="-13198" b="-65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6709099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480060" y="1652958"/>
            <a:ext cx="3737352" cy="2660748"/>
          </a:xfrm>
          <a:prstGeom prst="rect">
            <a:avLst/>
          </a:prstGeom>
        </p:spPr>
      </p:pic>
      <p:sp>
        <p:nvSpPr>
          <p:cNvPr id="25" name="文本框 24">
            <a:extLst>
              <a:ext uri="{FF2B5EF4-FFF2-40B4-BE49-F238E27FC236}">
                <a16:creationId xmlns:a16="http://schemas.microsoft.com/office/drawing/2014/main" id="{75D436D9-A217-41B6-9088-D8B5FBC348AD}"/>
              </a:ext>
            </a:extLst>
          </p:cNvPr>
          <p:cNvSpPr txBox="1"/>
          <p:nvPr/>
        </p:nvSpPr>
        <p:spPr>
          <a:xfrm>
            <a:off x="425353" y="1222082"/>
            <a:ext cx="2552686" cy="369332"/>
          </a:xfrm>
          <a:prstGeom prst="rect">
            <a:avLst/>
          </a:prstGeom>
          <a:noFill/>
        </p:spPr>
        <p:txBody>
          <a:bodyPr wrap="none" rtlCol="0">
            <a:spAutoFit/>
          </a:bodyPr>
          <a:lstStyle/>
          <a:p>
            <a:r>
              <a:rPr lang="zh-CN" altLang="en-US" dirty="0"/>
              <a:t>导入例子：朴素贝叶斯</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97423EF-918C-4738-B2A6-420802C4E9E8}"/>
                  </a:ext>
                </a:extLst>
              </p:cNvPr>
              <p:cNvSpPr txBox="1"/>
              <p:nvPr/>
            </p:nvSpPr>
            <p:spPr>
              <a:xfrm>
                <a:off x="6474940" y="2762246"/>
                <a:ext cx="191180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oMath>
                  </m:oMathPara>
                </a14:m>
                <a:endParaRPr lang="zh-CN" altLang="en-US" sz="2000" dirty="0"/>
              </a:p>
            </p:txBody>
          </p:sp>
        </mc:Choice>
        <mc:Fallback xmlns="">
          <p:sp>
            <p:nvSpPr>
              <p:cNvPr id="26" name="文本框 25">
                <a:extLst>
                  <a:ext uri="{FF2B5EF4-FFF2-40B4-BE49-F238E27FC236}">
                    <a16:creationId xmlns:a16="http://schemas.microsoft.com/office/drawing/2014/main" id="{097423EF-918C-4738-B2A6-420802C4E9E8}"/>
                  </a:ext>
                </a:extLst>
              </p:cNvPr>
              <p:cNvSpPr txBox="1">
                <a:spLocks noRot="1" noChangeAspect="1" noMove="1" noResize="1" noEditPoints="1" noAdjustHandles="1" noChangeArrowheads="1" noChangeShapeType="1" noTextEdit="1"/>
              </p:cNvSpPr>
              <p:nvPr/>
            </p:nvSpPr>
            <p:spPr>
              <a:xfrm>
                <a:off x="6474940" y="2762246"/>
                <a:ext cx="1911805" cy="400110"/>
              </a:xfrm>
              <a:prstGeom prst="rect">
                <a:avLst/>
              </a:prstGeom>
              <a:blipFill>
                <a:blip r:embed="rId6"/>
                <a:stretch>
                  <a:fillRect b="-15152"/>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6BB8F4B4-2B90-4ABB-9588-7F58B9B12908}"/>
              </a:ext>
            </a:extLst>
          </p:cNvPr>
          <p:cNvCxnSpPr/>
          <p:nvPr/>
        </p:nvCxnSpPr>
        <p:spPr>
          <a:xfrm>
            <a:off x="4809533" y="3032759"/>
            <a:ext cx="10873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D4C1B536-C379-41A5-B14A-83537F941FFE}"/>
              </a:ext>
            </a:extLst>
          </p:cNvPr>
          <p:cNvSpPr txBox="1"/>
          <p:nvPr/>
        </p:nvSpPr>
        <p:spPr>
          <a:xfrm>
            <a:off x="4263081" y="2528839"/>
            <a:ext cx="2262158" cy="369332"/>
          </a:xfrm>
          <a:prstGeom prst="rect">
            <a:avLst/>
          </a:prstGeom>
          <a:noFill/>
        </p:spPr>
        <p:txBody>
          <a:bodyPr wrap="none" rtlCol="0">
            <a:spAutoFit/>
          </a:bodyPr>
          <a:lstStyle/>
          <a:p>
            <a:r>
              <a:rPr lang="zh-CN" altLang="en-US" dirty="0"/>
              <a:t>如何基于概率建模？</a:t>
            </a:r>
          </a:p>
        </p:txBody>
      </p:sp>
      <mc:AlternateContent xmlns:mc="http://schemas.openxmlformats.org/markup-compatibility/2006" xmlns:a14="http://schemas.microsoft.com/office/drawing/2010/main">
        <mc:Choice Requires="a14">
          <p:sp>
            <p:nvSpPr>
              <p:cNvPr id="31" name="椭圆 30">
                <a:extLst>
                  <a:ext uri="{FF2B5EF4-FFF2-40B4-BE49-F238E27FC236}">
                    <a16:creationId xmlns:a16="http://schemas.microsoft.com/office/drawing/2014/main" id="{6FBC07D6-381D-4B27-B2B4-1AF0B0A5918E}"/>
                  </a:ext>
                </a:extLst>
              </p:cNvPr>
              <p:cNvSpPr/>
              <p:nvPr/>
            </p:nvSpPr>
            <p:spPr>
              <a:xfrm>
                <a:off x="2466442" y="44848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𝑌</m:t>
                      </m:r>
                    </m:oMath>
                  </m:oMathPara>
                </a14:m>
                <a:endParaRPr lang="zh-CN" altLang="en-US" dirty="0"/>
              </a:p>
            </p:txBody>
          </p:sp>
        </mc:Choice>
        <mc:Fallback xmlns="">
          <p:sp>
            <p:nvSpPr>
              <p:cNvPr id="31" name="椭圆 30">
                <a:extLst>
                  <a:ext uri="{FF2B5EF4-FFF2-40B4-BE49-F238E27FC236}">
                    <a16:creationId xmlns:a16="http://schemas.microsoft.com/office/drawing/2014/main" id="{6FBC07D6-381D-4B27-B2B4-1AF0B0A5918E}"/>
                  </a:ext>
                </a:extLst>
              </p:cNvPr>
              <p:cNvSpPr>
                <a:spLocks noRot="1" noChangeAspect="1" noMove="1" noResize="1" noEditPoints="1" noAdjustHandles="1" noChangeArrowheads="1" noChangeShapeType="1" noTextEdit="1"/>
              </p:cNvSpPr>
              <p:nvPr/>
            </p:nvSpPr>
            <p:spPr>
              <a:xfrm>
                <a:off x="2466442" y="4484849"/>
                <a:ext cx="537519" cy="512805"/>
              </a:xfrm>
              <a:prstGeom prst="ellipse">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椭圆 40">
                <a:extLst>
                  <a:ext uri="{FF2B5EF4-FFF2-40B4-BE49-F238E27FC236}">
                    <a16:creationId xmlns:a16="http://schemas.microsoft.com/office/drawing/2014/main" id="{B93FB33C-7674-408B-8A87-12C4C3E21B0B}"/>
                  </a:ext>
                </a:extLst>
              </p:cNvPr>
              <p:cNvSpPr/>
              <p:nvPr/>
            </p:nvSpPr>
            <p:spPr>
              <a:xfrm>
                <a:off x="1334116" y="539718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41" name="椭圆 40">
                <a:extLst>
                  <a:ext uri="{FF2B5EF4-FFF2-40B4-BE49-F238E27FC236}">
                    <a16:creationId xmlns:a16="http://schemas.microsoft.com/office/drawing/2014/main" id="{B93FB33C-7674-408B-8A87-12C4C3E21B0B}"/>
                  </a:ext>
                </a:extLst>
              </p:cNvPr>
              <p:cNvSpPr>
                <a:spLocks noRot="1" noChangeAspect="1" noMove="1" noResize="1" noEditPoints="1" noAdjustHandles="1" noChangeArrowheads="1" noChangeShapeType="1" noTextEdit="1"/>
              </p:cNvSpPr>
              <p:nvPr/>
            </p:nvSpPr>
            <p:spPr>
              <a:xfrm>
                <a:off x="1334116" y="5397189"/>
                <a:ext cx="537519" cy="512805"/>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椭圆 45">
                <a:extLst>
                  <a:ext uri="{FF2B5EF4-FFF2-40B4-BE49-F238E27FC236}">
                    <a16:creationId xmlns:a16="http://schemas.microsoft.com/office/drawing/2014/main" id="{6502CC5B-DD85-4286-9D5B-1844786658B0}"/>
                  </a:ext>
                </a:extLst>
              </p:cNvPr>
              <p:cNvSpPr/>
              <p:nvPr/>
            </p:nvSpPr>
            <p:spPr>
              <a:xfrm>
                <a:off x="2466442" y="539718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46" name="椭圆 45">
                <a:extLst>
                  <a:ext uri="{FF2B5EF4-FFF2-40B4-BE49-F238E27FC236}">
                    <a16:creationId xmlns:a16="http://schemas.microsoft.com/office/drawing/2014/main" id="{6502CC5B-DD85-4286-9D5B-1844786658B0}"/>
                  </a:ext>
                </a:extLst>
              </p:cNvPr>
              <p:cNvSpPr>
                <a:spLocks noRot="1" noChangeAspect="1" noMove="1" noResize="1" noEditPoints="1" noAdjustHandles="1" noChangeArrowheads="1" noChangeShapeType="1" noTextEdit="1"/>
              </p:cNvSpPr>
              <p:nvPr/>
            </p:nvSpPr>
            <p:spPr>
              <a:xfrm>
                <a:off x="2466442" y="5397189"/>
                <a:ext cx="537519" cy="512805"/>
              </a:xfrm>
              <a:prstGeom prst="ellipse">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椭圆 46">
                <a:extLst>
                  <a:ext uri="{FF2B5EF4-FFF2-40B4-BE49-F238E27FC236}">
                    <a16:creationId xmlns:a16="http://schemas.microsoft.com/office/drawing/2014/main" id="{67744131-E5FA-4D75-8699-3056024C66B6}"/>
                  </a:ext>
                </a:extLst>
              </p:cNvPr>
              <p:cNvSpPr/>
              <p:nvPr/>
            </p:nvSpPr>
            <p:spPr>
              <a:xfrm>
                <a:off x="3598768" y="539718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47" name="椭圆 46">
                <a:extLst>
                  <a:ext uri="{FF2B5EF4-FFF2-40B4-BE49-F238E27FC236}">
                    <a16:creationId xmlns:a16="http://schemas.microsoft.com/office/drawing/2014/main" id="{67744131-E5FA-4D75-8699-3056024C66B6}"/>
                  </a:ext>
                </a:extLst>
              </p:cNvPr>
              <p:cNvSpPr>
                <a:spLocks noRot="1" noChangeAspect="1" noMove="1" noResize="1" noEditPoints="1" noAdjustHandles="1" noChangeArrowheads="1" noChangeShapeType="1" noTextEdit="1"/>
              </p:cNvSpPr>
              <p:nvPr/>
            </p:nvSpPr>
            <p:spPr>
              <a:xfrm>
                <a:off x="3598768" y="5397189"/>
                <a:ext cx="537519" cy="512805"/>
              </a:xfrm>
              <a:prstGeom prst="ellipse">
                <a:avLst/>
              </a:prstGeom>
              <a:blipFill>
                <a:blip r:embed="rId10"/>
                <a:stretch>
                  <a:fillRect/>
                </a:stretch>
              </a:blipFill>
            </p:spPr>
            <p:txBody>
              <a:bodyPr/>
              <a:lstStyle/>
              <a:p>
                <a:r>
                  <a:rPr lang="zh-CN" altLang="en-US">
                    <a:noFill/>
                  </a:rPr>
                  <a:t> </a:t>
                </a:r>
              </a:p>
            </p:txBody>
          </p:sp>
        </mc:Fallback>
      </mc:AlternateContent>
      <p:cxnSp>
        <p:nvCxnSpPr>
          <p:cNvPr id="10" name="直接箭头连接符 9">
            <a:extLst>
              <a:ext uri="{FF2B5EF4-FFF2-40B4-BE49-F238E27FC236}">
                <a16:creationId xmlns:a16="http://schemas.microsoft.com/office/drawing/2014/main" id="{4710713F-570C-44AA-A663-4E0D152009A5}"/>
              </a:ext>
            </a:extLst>
          </p:cNvPr>
          <p:cNvCxnSpPr>
            <a:stCxn id="31" idx="4"/>
            <a:endCxn id="41" idx="0"/>
          </p:cNvCxnSpPr>
          <p:nvPr/>
        </p:nvCxnSpPr>
        <p:spPr>
          <a:xfrm flipH="1">
            <a:off x="1602876" y="4997654"/>
            <a:ext cx="1132326" cy="3995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8" name="直接箭头连接符 47">
            <a:extLst>
              <a:ext uri="{FF2B5EF4-FFF2-40B4-BE49-F238E27FC236}">
                <a16:creationId xmlns:a16="http://schemas.microsoft.com/office/drawing/2014/main" id="{6A09E9B3-0192-40CC-A928-0448AF6DDD2E}"/>
              </a:ext>
            </a:extLst>
          </p:cNvPr>
          <p:cNvCxnSpPr>
            <a:cxnSpLocks/>
            <a:stCxn id="31" idx="4"/>
            <a:endCxn id="46" idx="0"/>
          </p:cNvCxnSpPr>
          <p:nvPr/>
        </p:nvCxnSpPr>
        <p:spPr>
          <a:xfrm>
            <a:off x="2735202" y="4997654"/>
            <a:ext cx="0" cy="3995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9" name="直接箭头连接符 48">
            <a:extLst>
              <a:ext uri="{FF2B5EF4-FFF2-40B4-BE49-F238E27FC236}">
                <a16:creationId xmlns:a16="http://schemas.microsoft.com/office/drawing/2014/main" id="{25E48E0E-F7B8-4000-A892-F667313200C4}"/>
              </a:ext>
            </a:extLst>
          </p:cNvPr>
          <p:cNvCxnSpPr>
            <a:cxnSpLocks/>
            <a:stCxn id="31" idx="4"/>
            <a:endCxn id="47" idx="0"/>
          </p:cNvCxnSpPr>
          <p:nvPr/>
        </p:nvCxnSpPr>
        <p:spPr>
          <a:xfrm>
            <a:off x="2735202" y="4997654"/>
            <a:ext cx="1132326" cy="3995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右大括号 15">
            <a:extLst>
              <a:ext uri="{FF2B5EF4-FFF2-40B4-BE49-F238E27FC236}">
                <a16:creationId xmlns:a16="http://schemas.microsoft.com/office/drawing/2014/main" id="{15F93F43-143E-4E9B-B4CD-B1080BB79230}"/>
              </a:ext>
            </a:extLst>
          </p:cNvPr>
          <p:cNvSpPr/>
          <p:nvPr/>
        </p:nvSpPr>
        <p:spPr>
          <a:xfrm rot="5400000">
            <a:off x="2642615" y="4722380"/>
            <a:ext cx="284205" cy="270313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A342FAF5-D665-49B1-8479-B991E1800A6A}"/>
              </a:ext>
            </a:extLst>
          </p:cNvPr>
          <p:cNvSpPr txBox="1"/>
          <p:nvPr/>
        </p:nvSpPr>
        <p:spPr>
          <a:xfrm>
            <a:off x="1256093" y="6266044"/>
            <a:ext cx="3057247" cy="338554"/>
          </a:xfrm>
          <a:prstGeom prst="rect">
            <a:avLst/>
          </a:prstGeom>
          <a:noFill/>
        </p:spPr>
        <p:txBody>
          <a:bodyPr wrap="none" rtlCol="0">
            <a:spAutoFit/>
          </a:bodyPr>
          <a:lstStyle/>
          <a:p>
            <a:r>
              <a:rPr lang="zh-CN" altLang="en-US" sz="1600" dirty="0"/>
              <a:t>强假设：输入变量之间相互独立</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923BBF0-2BFF-4DDE-8E2B-1A9880292BDF}"/>
                  </a:ext>
                </a:extLst>
              </p:cNvPr>
              <p:cNvSpPr txBox="1"/>
              <p:nvPr/>
            </p:nvSpPr>
            <p:spPr>
              <a:xfrm>
                <a:off x="5020214" y="4387803"/>
                <a:ext cx="2909451" cy="956031"/>
              </a:xfrm>
              <a:prstGeom prst="rect">
                <a:avLst/>
              </a:prstGeom>
              <a:noFill/>
            </p:spPr>
            <p:txBody>
              <a:bodyPr wrap="none" rtlCol="0">
                <a:spAutoFit/>
              </a:bodyPr>
              <a:lstStyle/>
              <a:p>
                <a:r>
                  <a:rPr lang="en-US" altLang="zh-CN" dirty="0"/>
                  <a:t>Bayes Rule:</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𝑃</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𝑌</m:t>
                          </m:r>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den>
                      </m:f>
                    </m:oMath>
                  </m:oMathPara>
                </a14:m>
                <a:endParaRPr lang="zh-CN" altLang="en-US" dirty="0"/>
              </a:p>
            </p:txBody>
          </p:sp>
        </mc:Choice>
        <mc:Fallback xmlns="">
          <p:sp>
            <p:nvSpPr>
              <p:cNvPr id="19" name="文本框 18">
                <a:extLst>
                  <a:ext uri="{FF2B5EF4-FFF2-40B4-BE49-F238E27FC236}">
                    <a16:creationId xmlns:a16="http://schemas.microsoft.com/office/drawing/2014/main" id="{7923BBF0-2BFF-4DDE-8E2B-1A9880292BDF}"/>
                  </a:ext>
                </a:extLst>
              </p:cNvPr>
              <p:cNvSpPr txBox="1">
                <a:spLocks noRot="1" noChangeAspect="1" noMove="1" noResize="1" noEditPoints="1" noAdjustHandles="1" noChangeArrowheads="1" noChangeShapeType="1" noTextEdit="1"/>
              </p:cNvSpPr>
              <p:nvPr/>
            </p:nvSpPr>
            <p:spPr>
              <a:xfrm>
                <a:off x="5020214" y="4387803"/>
                <a:ext cx="2909451" cy="956031"/>
              </a:xfrm>
              <a:prstGeom prst="rect">
                <a:avLst/>
              </a:prstGeom>
              <a:blipFill>
                <a:blip r:embed="rId11"/>
                <a:stretch>
                  <a:fillRect l="-1887" t="-38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91477903-AB95-4D91-A6CC-8B88922D0A58}"/>
                  </a:ext>
                </a:extLst>
              </p:cNvPr>
              <p:cNvSpPr txBox="1"/>
              <p:nvPr/>
            </p:nvSpPr>
            <p:spPr>
              <a:xfrm>
                <a:off x="5020214" y="5460884"/>
                <a:ext cx="2719591" cy="646331"/>
              </a:xfrm>
              <a:prstGeom prst="rect">
                <a:avLst/>
              </a:prstGeom>
              <a:noFill/>
            </p:spPr>
            <p:txBody>
              <a:bodyPr wrap="none" rtlCol="0">
                <a:spAutoFit/>
              </a:bodyPr>
              <a:lstStyle/>
              <a:p>
                <a:r>
                  <a:rPr lang="zh-CN" altLang="en-US" dirty="0"/>
                  <a:t>独立性假设</a:t>
                </a:r>
                <a:r>
                  <a:rPr lang="en-US" altLang="zh-CN" dirty="0"/>
                  <a:t>:</a:t>
                </a: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𝑃</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i="1">
                              <a:latin typeface="Cambria Math" panose="02040503050406030204" pitchFamily="18" charset="0"/>
                            </a:rPr>
                            <m:t>X</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m:oMathPara>
                </a14:m>
                <a:endParaRPr lang="zh-CN" altLang="en-US" dirty="0"/>
              </a:p>
            </p:txBody>
          </p:sp>
        </mc:Choice>
        <mc:Fallback xmlns="">
          <p:sp>
            <p:nvSpPr>
              <p:cNvPr id="50" name="文本框 49">
                <a:extLst>
                  <a:ext uri="{FF2B5EF4-FFF2-40B4-BE49-F238E27FC236}">
                    <a16:creationId xmlns:a16="http://schemas.microsoft.com/office/drawing/2014/main" id="{91477903-AB95-4D91-A6CC-8B88922D0A58}"/>
                  </a:ext>
                </a:extLst>
              </p:cNvPr>
              <p:cNvSpPr txBox="1">
                <a:spLocks noRot="1" noChangeAspect="1" noMove="1" noResize="1" noEditPoints="1" noAdjustHandles="1" noChangeArrowheads="1" noChangeShapeType="1" noTextEdit="1"/>
              </p:cNvSpPr>
              <p:nvPr/>
            </p:nvSpPr>
            <p:spPr>
              <a:xfrm>
                <a:off x="5020214" y="5460884"/>
                <a:ext cx="2719591" cy="646331"/>
              </a:xfrm>
              <a:prstGeom prst="rect">
                <a:avLst/>
              </a:prstGeom>
              <a:blipFill>
                <a:blip r:embed="rId12"/>
                <a:stretch>
                  <a:fillRect l="-2018" t="-8491" b="-6604"/>
                </a:stretch>
              </a:blipFill>
            </p:spPr>
            <p:txBody>
              <a:bodyPr/>
              <a:lstStyle/>
              <a:p>
                <a:r>
                  <a:rPr lang="zh-CN" altLang="en-US">
                    <a:noFill/>
                  </a:rPr>
                  <a:t> </a:t>
                </a:r>
              </a:p>
            </p:txBody>
          </p:sp>
        </mc:Fallback>
      </mc:AlternateContent>
      <p:cxnSp>
        <p:nvCxnSpPr>
          <p:cNvPr id="4" name="直接箭头连接符 3">
            <a:extLst>
              <a:ext uri="{FF2B5EF4-FFF2-40B4-BE49-F238E27FC236}">
                <a16:creationId xmlns:a16="http://schemas.microsoft.com/office/drawing/2014/main" id="{2FE52BF8-BA13-465E-93C8-9670A78B0D2D}"/>
              </a:ext>
            </a:extLst>
          </p:cNvPr>
          <p:cNvCxnSpPr/>
          <p:nvPr/>
        </p:nvCxnSpPr>
        <p:spPr>
          <a:xfrm>
            <a:off x="1178216" y="4548805"/>
            <a:ext cx="0" cy="1652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文本框 4">
            <a:extLst>
              <a:ext uri="{FF2B5EF4-FFF2-40B4-BE49-F238E27FC236}">
                <a16:creationId xmlns:a16="http://schemas.microsoft.com/office/drawing/2014/main" id="{28D51897-2381-4B60-8E71-ADA1AC6BE467}"/>
              </a:ext>
            </a:extLst>
          </p:cNvPr>
          <p:cNvSpPr txBox="1"/>
          <p:nvPr/>
        </p:nvSpPr>
        <p:spPr>
          <a:xfrm>
            <a:off x="263831" y="4759058"/>
            <a:ext cx="1008244" cy="1169551"/>
          </a:xfrm>
          <a:prstGeom prst="rect">
            <a:avLst/>
          </a:prstGeom>
          <a:noFill/>
        </p:spPr>
        <p:txBody>
          <a:bodyPr wrap="square" rtlCol="0">
            <a:spAutoFit/>
          </a:bodyPr>
          <a:lstStyle/>
          <a:p>
            <a:r>
              <a:rPr lang="zh-CN" altLang="en-US" sz="1400" dirty="0"/>
              <a:t>对目标和可观测变量之间的关系进行表示</a:t>
            </a:r>
          </a:p>
        </p:txBody>
      </p:sp>
    </p:spTree>
    <p:extLst>
      <p:ext uri="{BB962C8B-B14F-4D97-AF65-F5344CB8AC3E}">
        <p14:creationId xmlns:p14="http://schemas.microsoft.com/office/powerpoint/2010/main" val="38887881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480060" y="1652958"/>
            <a:ext cx="3737352" cy="2660748"/>
          </a:xfrm>
          <a:prstGeom prst="rect">
            <a:avLst/>
          </a:prstGeom>
        </p:spPr>
      </p:pic>
      <p:sp>
        <p:nvSpPr>
          <p:cNvPr id="25" name="文本框 24">
            <a:extLst>
              <a:ext uri="{FF2B5EF4-FFF2-40B4-BE49-F238E27FC236}">
                <a16:creationId xmlns:a16="http://schemas.microsoft.com/office/drawing/2014/main" id="{75D436D9-A217-41B6-9088-D8B5FBC348AD}"/>
              </a:ext>
            </a:extLst>
          </p:cNvPr>
          <p:cNvSpPr txBox="1"/>
          <p:nvPr/>
        </p:nvSpPr>
        <p:spPr>
          <a:xfrm>
            <a:off x="425353" y="1222082"/>
            <a:ext cx="2552686" cy="369332"/>
          </a:xfrm>
          <a:prstGeom prst="rect">
            <a:avLst/>
          </a:prstGeom>
          <a:noFill/>
        </p:spPr>
        <p:txBody>
          <a:bodyPr wrap="none" rtlCol="0">
            <a:spAutoFit/>
          </a:bodyPr>
          <a:lstStyle/>
          <a:p>
            <a:r>
              <a:rPr lang="zh-CN" altLang="en-US" dirty="0"/>
              <a:t>导入例子：朴素贝叶斯</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097423EF-918C-4738-B2A6-420802C4E9E8}"/>
                  </a:ext>
                </a:extLst>
              </p:cNvPr>
              <p:cNvSpPr txBox="1"/>
              <p:nvPr/>
            </p:nvSpPr>
            <p:spPr>
              <a:xfrm>
                <a:off x="6474940" y="2762246"/>
                <a:ext cx="191180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oMath>
                  </m:oMathPara>
                </a14:m>
                <a:endParaRPr lang="zh-CN" altLang="en-US" sz="2000" dirty="0"/>
              </a:p>
            </p:txBody>
          </p:sp>
        </mc:Choice>
        <mc:Fallback xmlns="">
          <p:sp>
            <p:nvSpPr>
              <p:cNvPr id="26" name="文本框 25">
                <a:extLst>
                  <a:ext uri="{FF2B5EF4-FFF2-40B4-BE49-F238E27FC236}">
                    <a16:creationId xmlns:a16="http://schemas.microsoft.com/office/drawing/2014/main" id="{097423EF-918C-4738-B2A6-420802C4E9E8}"/>
                  </a:ext>
                </a:extLst>
              </p:cNvPr>
              <p:cNvSpPr txBox="1">
                <a:spLocks noRot="1" noChangeAspect="1" noMove="1" noResize="1" noEditPoints="1" noAdjustHandles="1" noChangeArrowheads="1" noChangeShapeType="1" noTextEdit="1"/>
              </p:cNvSpPr>
              <p:nvPr/>
            </p:nvSpPr>
            <p:spPr>
              <a:xfrm>
                <a:off x="6474940" y="2762246"/>
                <a:ext cx="1911805" cy="400110"/>
              </a:xfrm>
              <a:prstGeom prst="rect">
                <a:avLst/>
              </a:prstGeom>
              <a:blipFill>
                <a:blip r:embed="rId6"/>
                <a:stretch>
                  <a:fillRect b="-15152"/>
                </a:stretch>
              </a:blipFill>
            </p:spPr>
            <p:txBody>
              <a:bodyPr/>
              <a:lstStyle/>
              <a:p>
                <a:r>
                  <a:rPr lang="zh-CN" altLang="en-US">
                    <a:noFill/>
                  </a:rPr>
                  <a:t> </a:t>
                </a:r>
              </a:p>
            </p:txBody>
          </p:sp>
        </mc:Fallback>
      </mc:AlternateContent>
      <p:cxnSp>
        <p:nvCxnSpPr>
          <p:cNvPr id="6" name="直接箭头连接符 5">
            <a:extLst>
              <a:ext uri="{FF2B5EF4-FFF2-40B4-BE49-F238E27FC236}">
                <a16:creationId xmlns:a16="http://schemas.microsoft.com/office/drawing/2014/main" id="{6BB8F4B4-2B90-4ABB-9588-7F58B9B12908}"/>
              </a:ext>
            </a:extLst>
          </p:cNvPr>
          <p:cNvCxnSpPr/>
          <p:nvPr/>
        </p:nvCxnSpPr>
        <p:spPr>
          <a:xfrm>
            <a:off x="4809533" y="3032759"/>
            <a:ext cx="10873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D4C1B536-C379-41A5-B14A-83537F941FFE}"/>
              </a:ext>
            </a:extLst>
          </p:cNvPr>
          <p:cNvSpPr txBox="1"/>
          <p:nvPr/>
        </p:nvSpPr>
        <p:spPr>
          <a:xfrm>
            <a:off x="4676762" y="2577580"/>
            <a:ext cx="1338828" cy="369332"/>
          </a:xfrm>
          <a:prstGeom prst="rect">
            <a:avLst/>
          </a:prstGeom>
          <a:noFill/>
        </p:spPr>
        <p:txBody>
          <a:bodyPr wrap="none" rtlCol="0">
            <a:spAutoFit/>
          </a:bodyPr>
          <a:lstStyle/>
          <a:p>
            <a:r>
              <a:rPr lang="zh-CN" altLang="en-US" dirty="0"/>
              <a:t>如何导出？</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DA8BD27-2592-48DA-AEAC-6526C6403B86}"/>
                  </a:ext>
                </a:extLst>
              </p:cNvPr>
              <p:cNvSpPr txBox="1"/>
              <p:nvPr/>
            </p:nvSpPr>
            <p:spPr>
              <a:xfrm>
                <a:off x="425353" y="4493773"/>
                <a:ext cx="6586803" cy="7442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𝑝</m:t>
                      </m:r>
                      <m:d>
                        <m:dPr>
                          <m:sep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𝑦</m:t>
                          </m:r>
                        </m:e>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3</m:t>
                              </m:r>
                            </m:sub>
                          </m:sSub>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𝑝</m:t>
                          </m:r>
                          <m:d>
                            <m:dPr>
                              <m:sepChr m:val="∣"/>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3</m:t>
                                  </m:r>
                                </m:sub>
                              </m:sSub>
                            </m:e>
                            <m:e>
                              <m:r>
                                <a:rPr lang="en-US" altLang="zh-CN" sz="2000" b="0" i="1" smtClean="0">
                                  <a:latin typeface="Cambria Math" panose="02040503050406030204" pitchFamily="18" charset="0"/>
                                </a:rPr>
                                <m:t>𝑦</m:t>
                              </m:r>
                            </m:e>
                          </m:d>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𝑦</m:t>
                          </m:r>
                          <m:r>
                            <a:rPr lang="en-US" altLang="zh-CN" sz="2000" b="0" i="1" smtClean="0">
                              <a:latin typeface="Cambria Math" panose="02040503050406030204" pitchFamily="18" charset="0"/>
                            </a:rPr>
                            <m:t>)</m:t>
                          </m:r>
                        </m:num>
                        <m:den>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𝑥</m:t>
                              </m:r>
                            </m:e>
                            <m:sub>
                              <m:r>
                                <a:rPr lang="en-US" altLang="zh-CN" sz="2000" b="0" i="1" smtClean="0">
                                  <a:latin typeface="Cambria Math" panose="02040503050406030204" pitchFamily="18" charset="0"/>
                                </a:rPr>
                                <m:t>3</m:t>
                              </m:r>
                            </m:sub>
                          </m:sSub>
                          <m:r>
                            <a:rPr lang="en-US" altLang="zh-CN" sz="2000" b="0" i="1" smtClean="0">
                              <a:latin typeface="Cambria Math" panose="02040503050406030204" pitchFamily="18" charset="0"/>
                            </a:rPr>
                            <m:t>)</m:t>
                          </m:r>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𝑝</m:t>
                      </m:r>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1</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2</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3</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𝑦</m:t>
                      </m:r>
                      <m:r>
                        <a:rPr lang="en-US" altLang="zh-CN" sz="2000" b="0" i="1" smtClean="0">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24" name="文本框 23">
                <a:extLst>
                  <a:ext uri="{FF2B5EF4-FFF2-40B4-BE49-F238E27FC236}">
                    <a16:creationId xmlns:a16="http://schemas.microsoft.com/office/drawing/2014/main" id="{BDA8BD27-2592-48DA-AEAC-6526C6403B86}"/>
                  </a:ext>
                </a:extLst>
              </p:cNvPr>
              <p:cNvSpPr txBox="1">
                <a:spLocks noRot="1" noChangeAspect="1" noMove="1" noResize="1" noEditPoints="1" noAdjustHandles="1" noChangeArrowheads="1" noChangeShapeType="1" noTextEdit="1"/>
              </p:cNvSpPr>
              <p:nvPr/>
            </p:nvSpPr>
            <p:spPr>
              <a:xfrm>
                <a:off x="425353" y="4493773"/>
                <a:ext cx="6586803" cy="744243"/>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4C91484-9615-4375-B064-A0AE972BBCFE}"/>
                  </a:ext>
                </a:extLst>
              </p:cNvPr>
              <p:cNvSpPr txBox="1"/>
              <p:nvPr/>
            </p:nvSpPr>
            <p:spPr>
              <a:xfrm>
                <a:off x="464606" y="5418083"/>
                <a:ext cx="543232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𝑝</m:t>
                      </m:r>
                      <m:d>
                        <m:dPr>
                          <m:sepChr m:val="∣"/>
                          <m:ctrlPr>
                            <a:rPr lang="en-US" altLang="zh-CN" sz="2000" b="0" i="1" smtClean="0">
                              <a:latin typeface="Cambria Math" panose="02040503050406030204" pitchFamily="18" charset="0"/>
                              <a:ea typeface="Cambria Math" panose="02040503050406030204" pitchFamily="18" charset="0"/>
                            </a:rPr>
                          </m:ctrlPr>
                        </m:dPr>
                        <m:e>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1</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2</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3</m:t>
                              </m:r>
                            </m:sub>
                          </m:sSub>
                        </m:e>
                        <m:e>
                          <m:r>
                            <a:rPr lang="en-US" altLang="zh-CN" sz="2000" b="0" i="1" smtClean="0">
                              <a:latin typeface="Cambria Math" panose="02040503050406030204" pitchFamily="18" charset="0"/>
                              <a:ea typeface="Cambria Math" panose="02040503050406030204" pitchFamily="18" charset="0"/>
                            </a:rPr>
                            <m:t>𝑦</m:t>
                          </m:r>
                        </m:e>
                      </m:d>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𝑝</m:t>
                      </m:r>
                      <m:d>
                        <m:dPr>
                          <m:sepChr m:val="∣"/>
                          <m:ctrlPr>
                            <a:rPr lang="en-US" altLang="zh-CN" sz="2000" b="0" i="1" smtClean="0">
                              <a:latin typeface="Cambria Math" panose="02040503050406030204" pitchFamily="18" charset="0"/>
                              <a:ea typeface="Cambria Math" panose="02040503050406030204" pitchFamily="18" charset="0"/>
                            </a:rPr>
                          </m:ctrlPr>
                        </m:dPr>
                        <m:e>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1</m:t>
                              </m:r>
                            </m:sub>
                          </m:sSub>
                        </m:e>
                        <m:e>
                          <m:r>
                            <a:rPr lang="en-US" altLang="zh-CN" sz="2000" b="0" i="1" smtClean="0">
                              <a:latin typeface="Cambria Math" panose="02040503050406030204" pitchFamily="18" charset="0"/>
                              <a:ea typeface="Cambria Math" panose="02040503050406030204" pitchFamily="18" charset="0"/>
                            </a:rPr>
                            <m:t>𝑦</m:t>
                          </m:r>
                        </m:e>
                      </m:d>
                      <m:r>
                        <a:rPr lang="en-US" altLang="zh-CN" sz="2000" b="0" i="1" smtClean="0">
                          <a:latin typeface="Cambria Math" panose="02040503050406030204" pitchFamily="18" charset="0"/>
                          <a:ea typeface="Cambria Math" panose="02040503050406030204" pitchFamily="18" charset="0"/>
                        </a:rPr>
                        <m:t>𝑝</m:t>
                      </m:r>
                      <m:d>
                        <m:dPr>
                          <m:sepChr m:val="∣"/>
                          <m:ctrlPr>
                            <a:rPr lang="en-US" altLang="zh-CN" sz="2000" b="0" i="1" smtClean="0">
                              <a:latin typeface="Cambria Math" panose="02040503050406030204" pitchFamily="18" charset="0"/>
                              <a:ea typeface="Cambria Math" panose="02040503050406030204" pitchFamily="18" charset="0"/>
                            </a:rPr>
                          </m:ctrlPr>
                        </m:dPr>
                        <m:e>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2</m:t>
                              </m:r>
                            </m:sub>
                          </m:sSub>
                        </m:e>
                        <m:e>
                          <m:r>
                            <a:rPr lang="en-US" altLang="zh-CN" sz="2000" b="0" i="1" smtClean="0">
                              <a:latin typeface="Cambria Math" panose="02040503050406030204" pitchFamily="18" charset="0"/>
                              <a:ea typeface="Cambria Math" panose="02040503050406030204" pitchFamily="18" charset="0"/>
                            </a:rPr>
                            <m:t>𝑦</m:t>
                          </m:r>
                        </m:e>
                      </m:d>
                      <m:r>
                        <a:rPr lang="en-US" altLang="zh-CN" sz="2000" b="0" i="1" smtClean="0">
                          <a:latin typeface="Cambria Math" panose="02040503050406030204" pitchFamily="18" charset="0"/>
                          <a:ea typeface="Cambria Math" panose="02040503050406030204" pitchFamily="18" charset="0"/>
                        </a:rPr>
                        <m:t>𝑝</m:t>
                      </m:r>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3</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𝑦</m:t>
                      </m:r>
                      <m:r>
                        <a:rPr lang="en-US" altLang="zh-CN" sz="2000" b="0" i="1" smtClean="0">
                          <a:latin typeface="Cambria Math" panose="02040503050406030204" pitchFamily="18" charset="0"/>
                          <a:ea typeface="Cambria Math" panose="02040503050406030204" pitchFamily="18" charset="0"/>
                        </a:rPr>
                        <m:t>)</m:t>
                      </m:r>
                    </m:oMath>
                  </m:oMathPara>
                </a14:m>
                <a:endParaRPr lang="zh-CN" altLang="en-US" sz="2000" dirty="0"/>
              </a:p>
            </p:txBody>
          </p:sp>
        </mc:Choice>
        <mc:Fallback xmlns="">
          <p:sp>
            <p:nvSpPr>
              <p:cNvPr id="27" name="文本框 26">
                <a:extLst>
                  <a:ext uri="{FF2B5EF4-FFF2-40B4-BE49-F238E27FC236}">
                    <a16:creationId xmlns:a16="http://schemas.microsoft.com/office/drawing/2014/main" id="{A4C91484-9615-4375-B064-A0AE972BBCFE}"/>
                  </a:ext>
                </a:extLst>
              </p:cNvPr>
              <p:cNvSpPr txBox="1">
                <a:spLocks noRot="1" noChangeAspect="1" noMove="1" noResize="1" noEditPoints="1" noAdjustHandles="1" noChangeArrowheads="1" noChangeShapeType="1" noTextEdit="1"/>
              </p:cNvSpPr>
              <p:nvPr/>
            </p:nvSpPr>
            <p:spPr>
              <a:xfrm>
                <a:off x="464606" y="5418083"/>
                <a:ext cx="5432321" cy="400110"/>
              </a:xfrm>
              <a:prstGeom prst="rect">
                <a:avLst/>
              </a:prstGeom>
              <a:blipFill>
                <a:blip r:embed="rId8"/>
                <a:stretch>
                  <a:fillRect b="-15385"/>
                </a:stretch>
              </a:blipFill>
            </p:spPr>
            <p:txBody>
              <a:bodyPr/>
              <a:lstStyle/>
              <a:p>
                <a:r>
                  <a:rPr lang="zh-CN" altLang="en-US">
                    <a:noFill/>
                  </a:rPr>
                  <a:t> </a:t>
                </a:r>
              </a:p>
            </p:txBody>
          </p:sp>
        </mc:Fallback>
      </mc:AlternateContent>
      <p:sp>
        <p:nvSpPr>
          <p:cNvPr id="3" name="矩形: 圆角 2">
            <a:extLst>
              <a:ext uri="{FF2B5EF4-FFF2-40B4-BE49-F238E27FC236}">
                <a16:creationId xmlns:a16="http://schemas.microsoft.com/office/drawing/2014/main" id="{4A2DBABE-111F-41CB-B995-7CE096B5AAD3}"/>
              </a:ext>
            </a:extLst>
          </p:cNvPr>
          <p:cNvSpPr/>
          <p:nvPr/>
        </p:nvSpPr>
        <p:spPr>
          <a:xfrm>
            <a:off x="2699951" y="5369011"/>
            <a:ext cx="1037968" cy="491556"/>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5BBAA432-4B04-4D8B-86AC-A5179A87073C}"/>
              </a:ext>
            </a:extLst>
          </p:cNvPr>
          <p:cNvSpPr txBox="1"/>
          <p:nvPr/>
        </p:nvSpPr>
        <p:spPr>
          <a:xfrm>
            <a:off x="2162432" y="5921741"/>
            <a:ext cx="3386825" cy="369332"/>
          </a:xfrm>
          <a:prstGeom prst="rect">
            <a:avLst/>
          </a:prstGeom>
          <a:noFill/>
        </p:spPr>
        <p:txBody>
          <a:bodyPr wrap="none" rtlCol="0">
            <a:spAutoFit/>
          </a:bodyPr>
          <a:lstStyle/>
          <a:p>
            <a:r>
              <a:rPr lang="zh-CN" altLang="en-US" dirty="0"/>
              <a:t>在简单数据集中可以直接统计</a:t>
            </a:r>
            <a:r>
              <a:rPr lang="en-US" altLang="zh-CN" dirty="0"/>
              <a:t>!</a:t>
            </a:r>
            <a:endParaRPr lang="zh-CN" altLang="en-US" dirty="0"/>
          </a:p>
        </p:txBody>
      </p:sp>
      <p:pic>
        <p:nvPicPr>
          <p:cNvPr id="5" name="图片 4">
            <a:extLst>
              <a:ext uri="{FF2B5EF4-FFF2-40B4-BE49-F238E27FC236}">
                <a16:creationId xmlns:a16="http://schemas.microsoft.com/office/drawing/2014/main" id="{C7D3D821-91C4-4061-A348-748087AE3862}"/>
              </a:ext>
            </a:extLst>
          </p:cNvPr>
          <p:cNvPicPr>
            <a:picLocks noChangeAspect="1"/>
          </p:cNvPicPr>
          <p:nvPr/>
        </p:nvPicPr>
        <p:blipFill>
          <a:blip r:embed="rId9"/>
          <a:stretch>
            <a:fillRect/>
          </a:stretch>
        </p:blipFill>
        <p:spPr>
          <a:xfrm>
            <a:off x="5006196" y="1950304"/>
            <a:ext cx="3657744" cy="2164909"/>
          </a:xfrm>
          <a:prstGeom prst="rect">
            <a:avLst/>
          </a:prstGeom>
        </p:spPr>
      </p:pic>
    </p:spTree>
    <p:extLst>
      <p:ext uri="{BB962C8B-B14F-4D97-AF65-F5344CB8AC3E}">
        <p14:creationId xmlns:p14="http://schemas.microsoft.com/office/powerpoint/2010/main" val="92706376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5026" y="429"/>
              <a:ext cx="90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480060" y="1655419"/>
            <a:ext cx="4547973" cy="3237857"/>
          </a:xfrm>
          <a:prstGeom prst="rect">
            <a:avLst/>
          </a:prstGeom>
        </p:spPr>
      </p:pic>
      <p:sp>
        <p:nvSpPr>
          <p:cNvPr id="20" name="文本框 19">
            <a:extLst>
              <a:ext uri="{FF2B5EF4-FFF2-40B4-BE49-F238E27FC236}">
                <a16:creationId xmlns:a16="http://schemas.microsoft.com/office/drawing/2014/main" id="{F0E9110F-2719-4A71-99E4-D59EBB72B78A}"/>
              </a:ext>
            </a:extLst>
          </p:cNvPr>
          <p:cNvSpPr txBox="1"/>
          <p:nvPr/>
        </p:nvSpPr>
        <p:spPr>
          <a:xfrm>
            <a:off x="388282" y="1157182"/>
            <a:ext cx="4801314" cy="369332"/>
          </a:xfrm>
          <a:prstGeom prst="rect">
            <a:avLst/>
          </a:prstGeom>
          <a:noFill/>
        </p:spPr>
        <p:txBody>
          <a:bodyPr wrap="none" rtlCol="0">
            <a:spAutoFit/>
          </a:bodyPr>
          <a:lstStyle/>
          <a:p>
            <a:r>
              <a:rPr lang="zh-CN" altLang="en-US" dirty="0"/>
              <a:t>例子：基于文本分类是否属于体育运动类新闻</a:t>
            </a:r>
          </a:p>
        </p:txBody>
      </p:sp>
      <p:sp>
        <p:nvSpPr>
          <p:cNvPr id="29" name="椭圆 28">
            <a:extLst>
              <a:ext uri="{FF2B5EF4-FFF2-40B4-BE49-F238E27FC236}">
                <a16:creationId xmlns:a16="http://schemas.microsoft.com/office/drawing/2014/main" id="{8FD39C6B-C5FE-4B2D-81FE-6011A5A2B452}"/>
              </a:ext>
            </a:extLst>
          </p:cNvPr>
          <p:cNvSpPr/>
          <p:nvPr/>
        </p:nvSpPr>
        <p:spPr>
          <a:xfrm>
            <a:off x="3645947" y="5067067"/>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31" name="椭圆 30">
            <a:extLst>
              <a:ext uri="{FF2B5EF4-FFF2-40B4-BE49-F238E27FC236}">
                <a16:creationId xmlns:a16="http://schemas.microsoft.com/office/drawing/2014/main" id="{54178F48-211B-46EB-90CA-CFE8232EB81B}"/>
              </a:ext>
            </a:extLst>
          </p:cNvPr>
          <p:cNvSpPr/>
          <p:nvPr/>
        </p:nvSpPr>
        <p:spPr>
          <a:xfrm>
            <a:off x="1353193" y="5067067"/>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9" name="直接箭头连接符 8">
            <a:extLst>
              <a:ext uri="{FF2B5EF4-FFF2-40B4-BE49-F238E27FC236}">
                <a16:creationId xmlns:a16="http://schemas.microsoft.com/office/drawing/2014/main" id="{2DA296D0-6161-4287-B066-8507E6763070}"/>
              </a:ext>
            </a:extLst>
          </p:cNvPr>
          <p:cNvCxnSpPr>
            <a:endCxn id="31" idx="0"/>
          </p:cNvCxnSpPr>
          <p:nvPr/>
        </p:nvCxnSpPr>
        <p:spPr>
          <a:xfrm>
            <a:off x="1621952" y="4893276"/>
            <a:ext cx="1" cy="1737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8BD59BC3-65C1-4BFC-B5EF-C5F51A862C5B}"/>
              </a:ext>
            </a:extLst>
          </p:cNvPr>
          <p:cNvCxnSpPr/>
          <p:nvPr/>
        </p:nvCxnSpPr>
        <p:spPr>
          <a:xfrm>
            <a:off x="3914706" y="4893275"/>
            <a:ext cx="1" cy="1737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640C475-5220-4959-9A9E-3D9BB76C94CF}"/>
                  </a:ext>
                </a:extLst>
              </p:cNvPr>
              <p:cNvSpPr txBox="1"/>
              <p:nvPr/>
            </p:nvSpPr>
            <p:spPr>
              <a:xfrm>
                <a:off x="1188777" y="5813854"/>
                <a:ext cx="3130537" cy="369332"/>
              </a:xfrm>
              <a:prstGeom prst="rect">
                <a:avLst/>
              </a:prstGeom>
              <a:noFill/>
            </p:spPr>
            <p:txBody>
              <a:bodyPr wrap="none" rtlCol="0">
                <a:spAutoFit/>
              </a:bodyPr>
              <a:lstStyle/>
              <a:p>
                <a:r>
                  <a:rPr lang="zh-CN" altLang="en-US" dirty="0"/>
                  <a:t>最简单的建模方式：</a:t>
                </a:r>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𝑤</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a14:m>
                <a:endParaRPr lang="zh-CN" altLang="en-US" dirty="0"/>
              </a:p>
            </p:txBody>
          </p:sp>
        </mc:Choice>
        <mc:Fallback xmlns="">
          <p:sp>
            <p:nvSpPr>
              <p:cNvPr id="10" name="文本框 9">
                <a:extLst>
                  <a:ext uri="{FF2B5EF4-FFF2-40B4-BE49-F238E27FC236}">
                    <a16:creationId xmlns:a16="http://schemas.microsoft.com/office/drawing/2014/main" id="{6640C475-5220-4959-9A9E-3D9BB76C94CF}"/>
                  </a:ext>
                </a:extLst>
              </p:cNvPr>
              <p:cNvSpPr txBox="1">
                <a:spLocks noRot="1" noChangeAspect="1" noMove="1" noResize="1" noEditPoints="1" noAdjustHandles="1" noChangeArrowheads="1" noChangeShapeType="1" noTextEdit="1"/>
              </p:cNvSpPr>
              <p:nvPr/>
            </p:nvSpPr>
            <p:spPr>
              <a:xfrm>
                <a:off x="1188777" y="5813854"/>
                <a:ext cx="3130537" cy="369332"/>
              </a:xfrm>
              <a:prstGeom prst="rect">
                <a:avLst/>
              </a:prstGeom>
              <a:blipFill>
                <a:blip r:embed="rId6"/>
                <a:stretch>
                  <a:fillRect l="-1556" t="-15000" b="-21667"/>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00C05BDB-373E-4B15-83A6-944BF2177885}"/>
              </a:ext>
            </a:extLst>
          </p:cNvPr>
          <p:cNvSpPr txBox="1"/>
          <p:nvPr/>
        </p:nvSpPr>
        <p:spPr>
          <a:xfrm>
            <a:off x="5609950" y="1711410"/>
            <a:ext cx="3416661" cy="1896801"/>
          </a:xfrm>
          <a:prstGeom prst="rect">
            <a:avLst/>
          </a:prstGeom>
          <a:noFill/>
        </p:spPr>
        <p:txBody>
          <a:bodyPr wrap="square" rtlCol="0">
            <a:spAutoFit/>
          </a:bodyPr>
          <a:lstStyle/>
          <a:p>
            <a:pPr>
              <a:lnSpc>
                <a:spcPct val="150000"/>
              </a:lnSpc>
            </a:pPr>
            <a:r>
              <a:rPr lang="zh-CN" altLang="en-US" sz="1600" dirty="0"/>
              <a:t>如何回答下面的问题？</a:t>
            </a:r>
            <a:endParaRPr lang="en-US" altLang="zh-CN" sz="1600" dirty="0"/>
          </a:p>
          <a:p>
            <a:pPr marL="285750" indent="-285750">
              <a:lnSpc>
                <a:spcPct val="150000"/>
              </a:lnSpc>
              <a:buFont typeface="Arial" panose="020B0604020202020204" pitchFamily="34" charset="0"/>
              <a:buChar char="•"/>
            </a:pPr>
            <a:r>
              <a:rPr lang="zh-CN" altLang="en-US" sz="1600" dirty="0"/>
              <a:t>包含“</a:t>
            </a:r>
            <a:r>
              <a:rPr lang="en-US" altLang="zh-CN" sz="1600" dirty="0"/>
              <a:t>game</a:t>
            </a:r>
            <a:r>
              <a:rPr lang="zh-CN" altLang="en-US" sz="1600" dirty="0"/>
              <a:t>”这个词的新闻有多少概率属于体育运动类新闻？</a:t>
            </a:r>
            <a:endParaRPr lang="en-US" altLang="zh-CN" sz="1600" dirty="0"/>
          </a:p>
          <a:p>
            <a:pPr marL="285750" indent="-285750">
              <a:lnSpc>
                <a:spcPct val="150000"/>
              </a:lnSpc>
              <a:buFont typeface="Arial" panose="020B0604020202020204" pitchFamily="34" charset="0"/>
              <a:buChar char="•"/>
            </a:pPr>
            <a:r>
              <a:rPr lang="zh-CN" altLang="en-US" sz="1600" dirty="0"/>
              <a:t>怎么生成一段属于体育运动类新闻？</a:t>
            </a:r>
          </a:p>
        </p:txBody>
      </p:sp>
    </p:spTree>
    <p:extLst>
      <p:ext uri="{BB962C8B-B14F-4D97-AF65-F5344CB8AC3E}">
        <p14:creationId xmlns:p14="http://schemas.microsoft.com/office/powerpoint/2010/main" val="88382443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概率建模</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5"/>
          <a:stretch>
            <a:fillRect/>
          </a:stretch>
        </p:blipFill>
        <p:spPr>
          <a:xfrm>
            <a:off x="293829" y="1368752"/>
            <a:ext cx="3737352" cy="2660748"/>
          </a:xfrm>
          <a:prstGeom prst="rect">
            <a:avLst/>
          </a:prstGeom>
        </p:spPr>
      </p:pic>
      <p:sp>
        <p:nvSpPr>
          <p:cNvPr id="11" name="文本框 10">
            <a:extLst>
              <a:ext uri="{FF2B5EF4-FFF2-40B4-BE49-F238E27FC236}">
                <a16:creationId xmlns:a16="http://schemas.microsoft.com/office/drawing/2014/main" id="{00C05BDB-373E-4B15-83A6-944BF2177885}"/>
              </a:ext>
            </a:extLst>
          </p:cNvPr>
          <p:cNvSpPr txBox="1"/>
          <p:nvPr/>
        </p:nvSpPr>
        <p:spPr>
          <a:xfrm>
            <a:off x="4528751" y="1269934"/>
            <a:ext cx="3750277" cy="2266133"/>
          </a:xfrm>
          <a:prstGeom prst="rect">
            <a:avLst/>
          </a:prstGeom>
          <a:noFill/>
        </p:spPr>
        <p:txBody>
          <a:bodyPr wrap="square" rtlCol="0">
            <a:spAutoFit/>
          </a:bodyPr>
          <a:lstStyle/>
          <a:p>
            <a:pPr>
              <a:lnSpc>
                <a:spcPct val="150000"/>
              </a:lnSpc>
            </a:pPr>
            <a:r>
              <a:rPr lang="zh-CN" altLang="en-US" sz="1600" dirty="0"/>
              <a:t>如何回答下面的问题？</a:t>
            </a:r>
            <a:endParaRPr lang="en-US" altLang="zh-CN" sz="1600" dirty="0"/>
          </a:p>
          <a:p>
            <a:pPr marL="285750" indent="-285750">
              <a:lnSpc>
                <a:spcPct val="150000"/>
              </a:lnSpc>
              <a:buFont typeface="Arial" panose="020B0604020202020204" pitchFamily="34" charset="0"/>
              <a:buChar char="•"/>
            </a:pPr>
            <a:r>
              <a:rPr lang="zh-CN" altLang="en-US" sz="1600" dirty="0"/>
              <a:t>包含“</a:t>
            </a:r>
            <a:r>
              <a:rPr lang="en-US" altLang="zh-CN" sz="1600" dirty="0"/>
              <a:t>game</a:t>
            </a:r>
            <a:r>
              <a:rPr lang="zh-CN" altLang="en-US" sz="1600" dirty="0"/>
              <a:t>”这个词的新闻有多少概率属于体育运动类新闻？</a:t>
            </a:r>
            <a:endParaRPr lang="en-US" altLang="zh-CN" sz="1600" dirty="0"/>
          </a:p>
          <a:p>
            <a:pPr marL="285750" indent="-285750">
              <a:lnSpc>
                <a:spcPct val="150000"/>
              </a:lnSpc>
              <a:buFont typeface="Arial" panose="020B0604020202020204" pitchFamily="34" charset="0"/>
              <a:buChar char="•"/>
            </a:pPr>
            <a:endParaRPr lang="en-US" altLang="zh-CN" sz="1600" dirty="0"/>
          </a:p>
          <a:p>
            <a:pPr marL="285750" indent="-285750">
              <a:lnSpc>
                <a:spcPct val="150000"/>
              </a:lnSpc>
              <a:buFont typeface="Arial" panose="020B0604020202020204" pitchFamily="34" charset="0"/>
              <a:buChar char="•"/>
            </a:pPr>
            <a:endParaRPr lang="en-US" altLang="zh-CN" sz="1600" dirty="0"/>
          </a:p>
          <a:p>
            <a:pPr marL="285750" indent="-285750">
              <a:lnSpc>
                <a:spcPct val="150000"/>
              </a:lnSpc>
              <a:buFont typeface="Arial" panose="020B0604020202020204" pitchFamily="34" charset="0"/>
              <a:buChar char="•"/>
            </a:pPr>
            <a:r>
              <a:rPr lang="zh-CN" altLang="en-US" sz="1600" dirty="0"/>
              <a:t>怎么生成一段属于体育运动类新闻？</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8013C4C-7753-47B3-97E8-0BCE49BC42A4}"/>
                  </a:ext>
                </a:extLst>
              </p:cNvPr>
              <p:cNvSpPr txBox="1"/>
              <p:nvPr/>
            </p:nvSpPr>
            <p:spPr>
              <a:xfrm>
                <a:off x="5319584" y="2578136"/>
                <a:ext cx="25354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m:rPr>
                          <m:nor/>
                        </m:rPr>
                        <a:rPr lang="en-US" altLang="zh-CN" b="0" i="0" smtClean="0">
                          <a:latin typeface="Cambria Math" panose="02040503050406030204" pitchFamily="18" charset="0"/>
                        </a:rPr>
                        <m:t>′</m:t>
                      </m:r>
                      <m:r>
                        <a:rPr lang="en-US" altLang="zh-CN" b="0" i="1" smtClean="0">
                          <a:latin typeface="Cambria Math" panose="02040503050406030204" pitchFamily="18" charset="0"/>
                        </a:rPr>
                        <m:t>𝑔𝑎𝑚𝑒</m:t>
                      </m:r>
                      <m:r>
                        <a:rPr lang="en-US" altLang="zh-CN" b="0" i="1" smtClean="0">
                          <a:latin typeface="Cambria Math" panose="02040503050406030204" pitchFamily="18" charset="0"/>
                        </a:rPr>
                        <m:t>′)</m:t>
                      </m:r>
                    </m:oMath>
                  </m:oMathPara>
                </a14:m>
                <a:endParaRPr lang="zh-CN" altLang="en-US" dirty="0"/>
              </a:p>
            </p:txBody>
          </p:sp>
        </mc:Choice>
        <mc:Fallback xmlns="">
          <p:sp>
            <p:nvSpPr>
              <p:cNvPr id="3" name="文本框 2">
                <a:extLst>
                  <a:ext uri="{FF2B5EF4-FFF2-40B4-BE49-F238E27FC236}">
                    <a16:creationId xmlns:a16="http://schemas.microsoft.com/office/drawing/2014/main" id="{08013C4C-7753-47B3-97E8-0BCE49BC42A4}"/>
                  </a:ext>
                </a:extLst>
              </p:cNvPr>
              <p:cNvSpPr txBox="1">
                <a:spLocks noRot="1" noChangeAspect="1" noMove="1" noResize="1" noEditPoints="1" noAdjustHandles="1" noChangeArrowheads="1" noChangeShapeType="1" noTextEdit="1"/>
              </p:cNvSpPr>
              <p:nvPr/>
            </p:nvSpPr>
            <p:spPr>
              <a:xfrm>
                <a:off x="5319584" y="2578136"/>
                <a:ext cx="2535438" cy="369332"/>
              </a:xfrm>
              <a:prstGeom prst="rect">
                <a:avLst/>
              </a:prstGeom>
              <a:blipFill>
                <a:blip r:embed="rId6"/>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9D7B5AB-CB0F-4C70-BC92-1726E2E5AD3B}"/>
                  </a:ext>
                </a:extLst>
              </p:cNvPr>
              <p:cNvSpPr txBox="1"/>
              <p:nvPr/>
            </p:nvSpPr>
            <p:spPr>
              <a:xfrm>
                <a:off x="5498758" y="3580054"/>
                <a:ext cx="21733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=1)</m:t>
                      </m:r>
                    </m:oMath>
                  </m:oMathPara>
                </a14:m>
                <a:endParaRPr lang="zh-CN" altLang="en-US" dirty="0"/>
              </a:p>
            </p:txBody>
          </p:sp>
        </mc:Choice>
        <mc:Fallback xmlns="">
          <p:sp>
            <p:nvSpPr>
              <p:cNvPr id="17" name="文本框 16">
                <a:extLst>
                  <a:ext uri="{FF2B5EF4-FFF2-40B4-BE49-F238E27FC236}">
                    <a16:creationId xmlns:a16="http://schemas.microsoft.com/office/drawing/2014/main" id="{C9D7B5AB-CB0F-4C70-BC92-1726E2E5AD3B}"/>
                  </a:ext>
                </a:extLst>
              </p:cNvPr>
              <p:cNvSpPr txBox="1">
                <a:spLocks noRot="1" noChangeAspect="1" noMove="1" noResize="1" noEditPoints="1" noAdjustHandles="1" noChangeArrowheads="1" noChangeShapeType="1" noTextEdit="1"/>
              </p:cNvSpPr>
              <p:nvPr/>
            </p:nvSpPr>
            <p:spPr>
              <a:xfrm>
                <a:off x="5498758" y="3580054"/>
                <a:ext cx="2173352" cy="369332"/>
              </a:xfrm>
              <a:prstGeom prst="rect">
                <a:avLst/>
              </a:prstGeom>
              <a:blipFill>
                <a:blip r:embed="rId7"/>
                <a:stretch>
                  <a:fillRect b="-13115"/>
                </a:stretch>
              </a:blipFill>
            </p:spPr>
            <p:txBody>
              <a:bodyPr/>
              <a:lstStyle/>
              <a:p>
                <a:r>
                  <a:rPr lang="zh-CN" altLang="en-US">
                    <a:noFill/>
                  </a:rPr>
                  <a:t> </a:t>
                </a:r>
              </a:p>
            </p:txBody>
          </p:sp>
        </mc:Fallback>
      </mc:AlternateContent>
      <p:cxnSp>
        <p:nvCxnSpPr>
          <p:cNvPr id="5" name="直接箭头连接符 4">
            <a:extLst>
              <a:ext uri="{FF2B5EF4-FFF2-40B4-BE49-F238E27FC236}">
                <a16:creationId xmlns:a16="http://schemas.microsoft.com/office/drawing/2014/main" id="{4CCC0A22-551A-43BF-A24E-46EF1C1351C9}"/>
              </a:ext>
            </a:extLst>
          </p:cNvPr>
          <p:cNvCxnSpPr>
            <a:cxnSpLocks/>
            <a:stCxn id="2" idx="2"/>
          </p:cNvCxnSpPr>
          <p:nvPr/>
        </p:nvCxnSpPr>
        <p:spPr>
          <a:xfrm>
            <a:off x="2162505" y="4029500"/>
            <a:ext cx="1216939" cy="6717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B815E3FB-37AE-4D02-8C59-B18BB99E69BF}"/>
              </a:ext>
            </a:extLst>
          </p:cNvPr>
          <p:cNvCxnSpPr>
            <a:cxnSpLocks/>
            <a:stCxn id="17" idx="2"/>
          </p:cNvCxnSpPr>
          <p:nvPr/>
        </p:nvCxnSpPr>
        <p:spPr>
          <a:xfrm flipH="1">
            <a:off x="5381368" y="3949386"/>
            <a:ext cx="1204066" cy="7214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98C2430E-2A36-4904-B180-8495FCBF3AEB}"/>
                  </a:ext>
                </a:extLst>
              </p:cNvPr>
              <p:cNvSpPr txBox="1"/>
              <p:nvPr/>
            </p:nvSpPr>
            <p:spPr>
              <a:xfrm>
                <a:off x="2826472" y="4782065"/>
                <a:ext cx="110594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𝑤</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𝑥</m:t>
                      </m:r>
                    </m:oMath>
                  </m:oMathPara>
                </a14:m>
                <a:endParaRPr lang="zh-CN" altLang="en-US" dirty="0"/>
              </a:p>
            </p:txBody>
          </p:sp>
        </mc:Choice>
        <mc:Fallback xmlns="">
          <p:sp>
            <p:nvSpPr>
              <p:cNvPr id="32" name="文本框 31">
                <a:extLst>
                  <a:ext uri="{FF2B5EF4-FFF2-40B4-BE49-F238E27FC236}">
                    <a16:creationId xmlns:a16="http://schemas.microsoft.com/office/drawing/2014/main" id="{98C2430E-2A36-4904-B180-8495FCBF3AEB}"/>
                  </a:ext>
                </a:extLst>
              </p:cNvPr>
              <p:cNvSpPr txBox="1">
                <a:spLocks noRot="1" noChangeAspect="1" noMove="1" noResize="1" noEditPoints="1" noAdjustHandles="1" noChangeArrowheads="1" noChangeShapeType="1" noTextEdit="1"/>
              </p:cNvSpPr>
              <p:nvPr/>
            </p:nvSpPr>
            <p:spPr>
              <a:xfrm>
                <a:off x="2826472" y="4782065"/>
                <a:ext cx="1105944" cy="369332"/>
              </a:xfrm>
              <a:prstGeom prst="rect">
                <a:avLst/>
              </a:prstGeom>
              <a:blipFill>
                <a:blip r:embed="rId8"/>
                <a:stretch>
                  <a:fillRect b="-6557"/>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C7B666C7-B9C6-4577-8DBE-84D26B3E9AEC}"/>
              </a:ext>
            </a:extLst>
          </p:cNvPr>
          <p:cNvCxnSpPr>
            <a:cxnSpLocks/>
            <a:stCxn id="32" idx="3"/>
          </p:cNvCxnSpPr>
          <p:nvPr/>
        </p:nvCxnSpPr>
        <p:spPr>
          <a:xfrm>
            <a:off x="3932416" y="4966731"/>
            <a:ext cx="985573"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3B00ACD-A48B-4D32-85AD-D88251609B8A}"/>
                  </a:ext>
                </a:extLst>
              </p:cNvPr>
              <p:cNvSpPr txBox="1"/>
              <p:nvPr/>
            </p:nvSpPr>
            <p:spPr>
              <a:xfrm>
                <a:off x="4917989" y="4782065"/>
                <a:ext cx="17437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oMath>
                  </m:oMathPara>
                </a14:m>
                <a:endParaRPr lang="zh-CN" altLang="en-US" dirty="0"/>
              </a:p>
            </p:txBody>
          </p:sp>
        </mc:Choice>
        <mc:Fallback xmlns="">
          <p:sp>
            <p:nvSpPr>
              <p:cNvPr id="22" name="文本框 21">
                <a:extLst>
                  <a:ext uri="{FF2B5EF4-FFF2-40B4-BE49-F238E27FC236}">
                    <a16:creationId xmlns:a16="http://schemas.microsoft.com/office/drawing/2014/main" id="{43B00ACD-A48B-4D32-85AD-D88251609B8A}"/>
                  </a:ext>
                </a:extLst>
              </p:cNvPr>
              <p:cNvSpPr txBox="1">
                <a:spLocks noRot="1" noChangeAspect="1" noMove="1" noResize="1" noEditPoints="1" noAdjustHandles="1" noChangeArrowheads="1" noChangeShapeType="1" noTextEdit="1"/>
              </p:cNvSpPr>
              <p:nvPr/>
            </p:nvSpPr>
            <p:spPr>
              <a:xfrm>
                <a:off x="4917989" y="4782065"/>
                <a:ext cx="1743747" cy="369332"/>
              </a:xfrm>
              <a:prstGeom prst="rect">
                <a:avLst/>
              </a:prstGeom>
              <a:blipFill>
                <a:blip r:embed="rId9"/>
                <a:stretch>
                  <a:fillRect b="-13115"/>
                </a:stretch>
              </a:blipFill>
            </p:spPr>
            <p:txBody>
              <a:bodyPr/>
              <a:lstStyle/>
              <a:p>
                <a:r>
                  <a:rPr lang="zh-CN" altLang="en-US">
                    <a:noFill/>
                  </a:rPr>
                  <a:t> </a:t>
                </a:r>
              </a:p>
            </p:txBody>
          </p:sp>
        </mc:Fallback>
      </mc:AlternateContent>
      <p:cxnSp>
        <p:nvCxnSpPr>
          <p:cNvPr id="24" name="连接符: 肘形 23">
            <a:extLst>
              <a:ext uri="{FF2B5EF4-FFF2-40B4-BE49-F238E27FC236}">
                <a16:creationId xmlns:a16="http://schemas.microsoft.com/office/drawing/2014/main" id="{7A3862E0-2CF9-4833-BEB7-87B56E61B4CD}"/>
              </a:ext>
            </a:extLst>
          </p:cNvPr>
          <p:cNvCxnSpPr>
            <a:stCxn id="22" idx="3"/>
            <a:endCxn id="17" idx="3"/>
          </p:cNvCxnSpPr>
          <p:nvPr/>
        </p:nvCxnSpPr>
        <p:spPr>
          <a:xfrm flipV="1">
            <a:off x="6661736" y="3764720"/>
            <a:ext cx="1010374" cy="1202011"/>
          </a:xfrm>
          <a:prstGeom prst="bentConnector3">
            <a:avLst>
              <a:gd name="adj1" fmla="val 122625"/>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0" name="连接符: 肘形 39">
            <a:extLst>
              <a:ext uri="{FF2B5EF4-FFF2-40B4-BE49-F238E27FC236}">
                <a16:creationId xmlns:a16="http://schemas.microsoft.com/office/drawing/2014/main" id="{170B9BE7-29AC-4105-9BDF-C6110272AA24}"/>
              </a:ext>
            </a:extLst>
          </p:cNvPr>
          <p:cNvCxnSpPr>
            <a:cxnSpLocks/>
            <a:stCxn id="22" idx="3"/>
            <a:endCxn id="3" idx="3"/>
          </p:cNvCxnSpPr>
          <p:nvPr/>
        </p:nvCxnSpPr>
        <p:spPr>
          <a:xfrm flipV="1">
            <a:off x="6661736" y="2762802"/>
            <a:ext cx="1193286" cy="2203929"/>
          </a:xfrm>
          <a:prstGeom prst="bentConnector3">
            <a:avLst>
              <a:gd name="adj1" fmla="val 119157"/>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7FC5DA22-F122-4730-9F8E-219B7FD0FD4A}"/>
              </a:ext>
            </a:extLst>
          </p:cNvPr>
          <p:cNvSpPr txBox="1"/>
          <p:nvPr/>
        </p:nvSpPr>
        <p:spPr>
          <a:xfrm>
            <a:off x="7672110" y="3461034"/>
            <a:ext cx="263511" cy="369332"/>
          </a:xfrm>
          <a:prstGeom prst="rect">
            <a:avLst/>
          </a:prstGeom>
          <a:noFill/>
        </p:spPr>
        <p:txBody>
          <a:bodyPr wrap="square" rtlCol="0">
            <a:spAutoFit/>
          </a:bodyPr>
          <a:lstStyle/>
          <a:p>
            <a:r>
              <a:rPr lang="en-US" altLang="zh-CN" dirty="0"/>
              <a:t>?</a:t>
            </a:r>
            <a:endParaRPr lang="zh-CN" altLang="en-US" dirty="0"/>
          </a:p>
        </p:txBody>
      </p:sp>
      <p:sp>
        <p:nvSpPr>
          <p:cNvPr id="42" name="文本框 41">
            <a:extLst>
              <a:ext uri="{FF2B5EF4-FFF2-40B4-BE49-F238E27FC236}">
                <a16:creationId xmlns:a16="http://schemas.microsoft.com/office/drawing/2014/main" id="{E71DD388-44F0-41AC-B431-9104C47B9566}"/>
              </a:ext>
            </a:extLst>
          </p:cNvPr>
          <p:cNvSpPr txBox="1"/>
          <p:nvPr/>
        </p:nvSpPr>
        <p:spPr>
          <a:xfrm>
            <a:off x="7895504" y="2467588"/>
            <a:ext cx="292068" cy="369332"/>
          </a:xfrm>
          <a:prstGeom prst="rect">
            <a:avLst/>
          </a:prstGeom>
          <a:noFill/>
        </p:spPr>
        <p:txBody>
          <a:bodyPr wrap="none" rtlCol="0">
            <a:spAutoFit/>
          </a:bodyPr>
          <a:lstStyle/>
          <a:p>
            <a:r>
              <a:rPr lang="en-US" altLang="zh-CN" dirty="0"/>
              <a:t>?</a:t>
            </a:r>
            <a:endParaRPr lang="zh-CN" altLang="en-US" dirty="0"/>
          </a:p>
        </p:txBody>
      </p:sp>
      <p:sp>
        <p:nvSpPr>
          <p:cNvPr id="43" name="文本框 42">
            <a:extLst>
              <a:ext uri="{FF2B5EF4-FFF2-40B4-BE49-F238E27FC236}">
                <a16:creationId xmlns:a16="http://schemas.microsoft.com/office/drawing/2014/main" id="{20FE6D77-1D1A-47DC-BAAF-24A08C9699C2}"/>
              </a:ext>
            </a:extLst>
          </p:cNvPr>
          <p:cNvSpPr txBox="1"/>
          <p:nvPr/>
        </p:nvSpPr>
        <p:spPr>
          <a:xfrm>
            <a:off x="341911" y="5496466"/>
            <a:ext cx="1627369" cy="875881"/>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dirty="0"/>
              <a:t>计算难点：</a:t>
            </a:r>
            <a:endParaRPr lang="en-US" altLang="zh-CN" dirty="0"/>
          </a:p>
          <a:p>
            <a:pPr marL="285750" indent="-285750">
              <a:lnSpc>
                <a:spcPct val="150000"/>
              </a:lnSpc>
              <a:buFont typeface="Arial" panose="020B0604020202020204" pitchFamily="34" charset="0"/>
              <a:buChar char="•"/>
            </a:pPr>
            <a:r>
              <a:rPr lang="zh-CN" altLang="en-US" dirty="0"/>
              <a:t>采样难点：</a:t>
            </a:r>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67F93F22-1CF2-4340-B084-CD591E30B750}"/>
                  </a:ext>
                </a:extLst>
              </p:cNvPr>
              <p:cNvSpPr txBox="1"/>
              <p:nvPr/>
            </p:nvSpPr>
            <p:spPr>
              <a:xfrm>
                <a:off x="1875973" y="5466794"/>
                <a:ext cx="5392053" cy="521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𝑝</m:t>
                      </m:r>
                      <m:d>
                        <m:dPr>
                          <m:sep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=1</m:t>
                          </m:r>
                        </m:e>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𝑔𝑎𝑚</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𝑒</m:t>
                              </m:r>
                            </m:e>
                            <m:sup>
                              <m:r>
                                <a:rPr lang="en-US" altLang="zh-CN" sz="1600" b="0" i="1" smtClean="0">
                                  <a:latin typeface="Cambria Math" panose="02040503050406030204" pitchFamily="18" charset="0"/>
                                </a:rPr>
                                <m:t>′</m:t>
                              </m:r>
                            </m:sup>
                          </m:sSup>
                        </m:e>
                      </m:d>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solidFill>
                                <a:srgbClr val="FF0000"/>
                              </a:solidFill>
                              <a:latin typeface="Cambria Math" panose="02040503050406030204" pitchFamily="18" charset="0"/>
                            </a:rPr>
                            <m:t>𝑝</m:t>
                          </m:r>
                          <m:d>
                            <m:dPr>
                              <m:sepChr m:val="∣"/>
                              <m:ctrlPr>
                                <a:rPr lang="en-US" altLang="zh-CN" sz="1600" b="0" i="1" smtClean="0">
                                  <a:solidFill>
                                    <a:srgbClr val="FF0000"/>
                                  </a:solidFill>
                                  <a:latin typeface="Cambria Math" panose="02040503050406030204" pitchFamily="18" charset="0"/>
                                </a:rPr>
                              </m:ctrlPr>
                            </m:dPr>
                            <m:e>
                              <m:sSub>
                                <m:sSubPr>
                                  <m:ctrlPr>
                                    <a:rPr lang="en-US" altLang="zh-CN" sz="1600" b="0" i="1" smtClean="0">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𝑥</m:t>
                                  </m:r>
                                </m:e>
                                <m:sub>
                                  <m:r>
                                    <a:rPr lang="en-US" altLang="zh-CN" sz="1600" b="0" i="1" smtClean="0">
                                      <a:solidFill>
                                        <a:srgbClr val="FF0000"/>
                                      </a:solidFill>
                                      <a:latin typeface="Cambria Math" panose="02040503050406030204" pitchFamily="18" charset="0"/>
                                    </a:rPr>
                                    <m:t>1</m:t>
                                  </m:r>
                                </m:sub>
                              </m:sSub>
                              <m:sSup>
                                <m:sSupPr>
                                  <m:ctrlPr>
                                    <a:rPr lang="en-US" altLang="zh-CN" sz="1600" b="0" i="1" smtClean="0">
                                      <a:solidFill>
                                        <a:srgbClr val="FF0000"/>
                                      </a:solidFill>
                                      <a:latin typeface="Cambria Math" panose="02040503050406030204" pitchFamily="18" charset="0"/>
                                    </a:rPr>
                                  </m:ctrlPr>
                                </m:sSupPr>
                                <m:e>
                                  <m:r>
                                    <a:rPr lang="en-US" altLang="zh-CN" sz="1600" b="0" i="1" smtClean="0">
                                      <a:solidFill>
                                        <a:srgbClr val="FF0000"/>
                                      </a:solidFill>
                                      <a:latin typeface="Cambria Math" panose="02040503050406030204" pitchFamily="18" charset="0"/>
                                    </a:rPr>
                                    <m:t>=</m:t>
                                  </m:r>
                                </m:e>
                                <m:sup>
                                  <m:r>
                                    <a:rPr lang="en-US" altLang="zh-CN" sz="1600" b="0" i="1" smtClean="0">
                                      <a:solidFill>
                                        <a:srgbClr val="FF0000"/>
                                      </a:solidFill>
                                      <a:latin typeface="Cambria Math" panose="02040503050406030204" pitchFamily="18" charset="0"/>
                                    </a:rPr>
                                    <m:t>′</m:t>
                                  </m:r>
                                </m:sup>
                              </m:sSup>
                              <m:r>
                                <a:rPr lang="en-US" altLang="zh-CN" sz="1600" b="0" i="1" smtClean="0">
                                  <a:solidFill>
                                    <a:srgbClr val="FF0000"/>
                                  </a:solidFill>
                                  <a:latin typeface="Cambria Math" panose="02040503050406030204" pitchFamily="18" charset="0"/>
                                </a:rPr>
                                <m:t>𝑔𝑎𝑚</m:t>
                              </m:r>
                              <m:sSup>
                                <m:sSupPr>
                                  <m:ctrlPr>
                                    <a:rPr lang="en-US" altLang="zh-CN" sz="1600" b="0" i="1" smtClean="0">
                                      <a:solidFill>
                                        <a:srgbClr val="FF0000"/>
                                      </a:solidFill>
                                      <a:latin typeface="Cambria Math" panose="02040503050406030204" pitchFamily="18" charset="0"/>
                                    </a:rPr>
                                  </m:ctrlPr>
                                </m:sSupPr>
                                <m:e>
                                  <m:r>
                                    <a:rPr lang="en-US" altLang="zh-CN" sz="1600" b="0" i="1" smtClean="0">
                                      <a:solidFill>
                                        <a:srgbClr val="FF0000"/>
                                      </a:solidFill>
                                      <a:latin typeface="Cambria Math" panose="02040503050406030204" pitchFamily="18" charset="0"/>
                                    </a:rPr>
                                    <m:t>𝑒</m:t>
                                  </m:r>
                                </m:e>
                                <m:sup>
                                  <m:r>
                                    <a:rPr lang="en-US" altLang="zh-CN" sz="1600" b="0" i="1" smtClean="0">
                                      <a:solidFill>
                                        <a:srgbClr val="FF0000"/>
                                      </a:solidFill>
                                      <a:latin typeface="Cambria Math" panose="02040503050406030204" pitchFamily="18" charset="0"/>
                                    </a:rPr>
                                    <m:t>′</m:t>
                                  </m:r>
                                </m:sup>
                              </m:sSup>
                            </m:e>
                            <m:e>
                              <m:r>
                                <a:rPr lang="en-US" altLang="zh-CN" sz="1600" b="0" i="1" smtClean="0">
                                  <a:solidFill>
                                    <a:srgbClr val="FF0000"/>
                                  </a:solidFill>
                                  <a:latin typeface="Cambria Math" panose="02040503050406030204" pitchFamily="18" charset="0"/>
                                </a:rPr>
                                <m:t>𝑦</m:t>
                              </m:r>
                              <m:r>
                                <a:rPr lang="en-US" altLang="zh-CN" sz="1600" b="0" i="1" smtClean="0">
                                  <a:solidFill>
                                    <a:srgbClr val="FF0000"/>
                                  </a:solidFill>
                                  <a:latin typeface="Cambria Math" panose="02040503050406030204" pitchFamily="18" charset="0"/>
                                </a:rPr>
                                <m:t>=1</m:t>
                              </m:r>
                            </m:e>
                          </m:d>
                          <m:r>
                            <a:rPr lang="en-US" altLang="zh-CN" sz="1600" b="0" i="1" smtClean="0">
                              <a:latin typeface="Cambria Math" panose="02040503050406030204" pitchFamily="18" charset="0"/>
                            </a:rPr>
                            <m:t>𝑝</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=1)</m:t>
                          </m:r>
                        </m:num>
                        <m:den>
                          <m:r>
                            <a:rPr lang="en-US" altLang="zh-CN" sz="1600" b="0" i="1" smtClean="0">
                              <a:latin typeface="Cambria Math" panose="02040503050406030204" pitchFamily="18" charset="0"/>
                            </a:rPr>
                            <m:t>𝑝</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𝑔𝑎𝑚𝑒</m:t>
                          </m:r>
                          <m:r>
                            <a:rPr lang="en-US" altLang="zh-CN" sz="1600" b="0" i="1" smtClean="0">
                              <a:latin typeface="Cambria Math" panose="02040503050406030204" pitchFamily="18" charset="0"/>
                            </a:rPr>
                            <m:t>′)</m:t>
                          </m:r>
                        </m:den>
                      </m:f>
                    </m:oMath>
                  </m:oMathPara>
                </a14:m>
                <a:endParaRPr lang="zh-CN" altLang="en-US" sz="1600" dirty="0"/>
              </a:p>
            </p:txBody>
          </p:sp>
        </mc:Choice>
        <mc:Fallback xmlns="">
          <p:sp>
            <p:nvSpPr>
              <p:cNvPr id="44" name="文本框 43">
                <a:extLst>
                  <a:ext uri="{FF2B5EF4-FFF2-40B4-BE49-F238E27FC236}">
                    <a16:creationId xmlns:a16="http://schemas.microsoft.com/office/drawing/2014/main" id="{67F93F22-1CF2-4340-B084-CD591E30B750}"/>
                  </a:ext>
                </a:extLst>
              </p:cNvPr>
              <p:cNvSpPr txBox="1">
                <a:spLocks noRot="1" noChangeAspect="1" noMove="1" noResize="1" noEditPoints="1" noAdjustHandles="1" noChangeArrowheads="1" noChangeShapeType="1" noTextEdit="1"/>
              </p:cNvSpPr>
              <p:nvPr/>
            </p:nvSpPr>
            <p:spPr>
              <a:xfrm>
                <a:off x="1875973" y="5466794"/>
                <a:ext cx="5392053" cy="521553"/>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B35DA433-780B-4372-9523-51D46A5C4D2C}"/>
                  </a:ext>
                </a:extLst>
              </p:cNvPr>
              <p:cNvSpPr txBox="1"/>
              <p:nvPr/>
            </p:nvSpPr>
            <p:spPr>
              <a:xfrm>
                <a:off x="1783005" y="5995692"/>
                <a:ext cx="6631687" cy="369332"/>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e>
                      <m:e>
                        <m:r>
                          <a:rPr lang="en-US" altLang="zh-CN" b="0" i="1" smtClean="0">
                            <a:latin typeface="Cambria Math" panose="02040503050406030204" pitchFamily="18" charset="0"/>
                          </a:rPr>
                          <m:t>𝑦</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e>
                      <m:e>
                        <m:r>
                          <a:rPr lang="en-US" altLang="zh-CN" b="0" i="1" smtClean="0">
                            <a:latin typeface="Cambria Math" panose="02040503050406030204" pitchFamily="18" charset="0"/>
                          </a:rPr>
                          <m:t>𝑦</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e>
                      <m:e>
                        <m:r>
                          <a:rPr lang="en-US" altLang="zh-CN" b="0" i="1" smtClean="0">
                            <a:latin typeface="Cambria Math" panose="02040503050406030204" pitchFamily="18" charset="0"/>
                          </a:rPr>
                          <m:t>𝑦</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𝑝</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=1)</m:t>
                    </m:r>
                  </m:oMath>
                </a14:m>
                <a:r>
                  <a:rPr lang="en-US" altLang="zh-CN" dirty="0">
                    <a:solidFill>
                      <a:srgbClr val="FF0000"/>
                    </a:solidFill>
                  </a:rPr>
                  <a:t>?</a:t>
                </a:r>
                <a:endParaRPr lang="zh-CN" altLang="en-US" dirty="0">
                  <a:solidFill>
                    <a:srgbClr val="FF0000"/>
                  </a:solidFill>
                </a:endParaRPr>
              </a:p>
            </p:txBody>
          </p:sp>
        </mc:Choice>
        <mc:Fallback xmlns="">
          <p:sp>
            <p:nvSpPr>
              <p:cNvPr id="45" name="文本框 44">
                <a:extLst>
                  <a:ext uri="{FF2B5EF4-FFF2-40B4-BE49-F238E27FC236}">
                    <a16:creationId xmlns:a16="http://schemas.microsoft.com/office/drawing/2014/main" id="{B35DA433-780B-4372-9523-51D46A5C4D2C}"/>
                  </a:ext>
                </a:extLst>
              </p:cNvPr>
              <p:cNvSpPr txBox="1">
                <a:spLocks noRot="1" noChangeAspect="1" noMove="1" noResize="1" noEditPoints="1" noAdjustHandles="1" noChangeArrowheads="1" noChangeShapeType="1" noTextEdit="1"/>
              </p:cNvSpPr>
              <p:nvPr/>
            </p:nvSpPr>
            <p:spPr>
              <a:xfrm>
                <a:off x="1783005" y="5995692"/>
                <a:ext cx="6631687" cy="369332"/>
              </a:xfrm>
              <a:prstGeom prst="rect">
                <a:avLst/>
              </a:prstGeom>
              <a:blipFill>
                <a:blip r:embed="rId11"/>
                <a:stretch>
                  <a:fillRect t="-10000" r="-735" b="-26667"/>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1629A48-9B06-411A-BCB1-CE60246406BC}"/>
              </a:ext>
            </a:extLst>
          </p:cNvPr>
          <p:cNvSpPr txBox="1"/>
          <p:nvPr/>
        </p:nvSpPr>
        <p:spPr>
          <a:xfrm>
            <a:off x="4022736" y="4670854"/>
            <a:ext cx="723275" cy="307777"/>
          </a:xfrm>
          <a:prstGeom prst="rect">
            <a:avLst/>
          </a:prstGeom>
          <a:noFill/>
        </p:spPr>
        <p:txBody>
          <a:bodyPr wrap="none" rtlCol="0">
            <a:spAutoFit/>
          </a:bodyPr>
          <a:lstStyle/>
          <a:p>
            <a:r>
              <a:rPr lang="zh-CN" altLang="en-US" sz="1400" dirty="0"/>
              <a:t>等价于</a:t>
            </a:r>
          </a:p>
        </p:txBody>
      </p:sp>
    </p:spTree>
    <p:extLst>
      <p:ext uri="{BB962C8B-B14F-4D97-AF65-F5344CB8AC3E}">
        <p14:creationId xmlns:p14="http://schemas.microsoft.com/office/powerpoint/2010/main" val="315936991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5026" y="429"/>
              <a:ext cx="90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概率图模型</a:t>
              </a:r>
            </a:p>
          </p:txBody>
        </p:sp>
      </p:grpSp>
      <p:pic>
        <p:nvPicPr>
          <p:cNvPr id="3" name="图片 2">
            <a:extLst>
              <a:ext uri="{FF2B5EF4-FFF2-40B4-BE49-F238E27FC236}">
                <a16:creationId xmlns:a16="http://schemas.microsoft.com/office/drawing/2014/main" id="{1174887C-2C57-4978-9C22-B564909631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4849" y="976943"/>
            <a:ext cx="6016133" cy="2805503"/>
          </a:xfrm>
          <a:prstGeom prst="rect">
            <a:avLst/>
          </a:prstGeom>
        </p:spPr>
      </p:pic>
      <p:sp>
        <p:nvSpPr>
          <p:cNvPr id="4" name="文本框 3">
            <a:extLst>
              <a:ext uri="{FF2B5EF4-FFF2-40B4-BE49-F238E27FC236}">
                <a16:creationId xmlns:a16="http://schemas.microsoft.com/office/drawing/2014/main" id="{A55FC99E-26C3-46AA-88C9-6D403E47C6AD}"/>
              </a:ext>
            </a:extLst>
          </p:cNvPr>
          <p:cNvSpPr txBox="1"/>
          <p:nvPr/>
        </p:nvSpPr>
        <p:spPr>
          <a:xfrm>
            <a:off x="2748423" y="3841302"/>
            <a:ext cx="3647152" cy="369332"/>
          </a:xfrm>
          <a:prstGeom prst="rect">
            <a:avLst/>
          </a:prstGeom>
          <a:noFill/>
        </p:spPr>
        <p:txBody>
          <a:bodyPr wrap="none" rtlCol="0">
            <a:spAutoFit/>
          </a:bodyPr>
          <a:lstStyle/>
          <a:p>
            <a:r>
              <a:rPr lang="zh-CN" altLang="en-US" dirty="0"/>
              <a:t>前馈神经网络为什么长这个样子？</a:t>
            </a:r>
          </a:p>
        </p:txBody>
      </p:sp>
      <p:grpSp>
        <p:nvGrpSpPr>
          <p:cNvPr id="24" name="组合 23">
            <a:extLst>
              <a:ext uri="{FF2B5EF4-FFF2-40B4-BE49-F238E27FC236}">
                <a16:creationId xmlns:a16="http://schemas.microsoft.com/office/drawing/2014/main" id="{DC36C587-306D-449E-B7C1-3F4C865A35EF}"/>
              </a:ext>
            </a:extLst>
          </p:cNvPr>
          <p:cNvGrpSpPr/>
          <p:nvPr/>
        </p:nvGrpSpPr>
        <p:grpSpPr>
          <a:xfrm>
            <a:off x="1707267" y="4269490"/>
            <a:ext cx="5929637" cy="1217141"/>
            <a:chOff x="1707267" y="4269490"/>
            <a:chExt cx="5929637" cy="1217141"/>
          </a:xfrm>
        </p:grpSpPr>
        <p:sp>
          <p:nvSpPr>
            <p:cNvPr id="15" name="矩形 14">
              <a:extLst>
                <a:ext uri="{FF2B5EF4-FFF2-40B4-BE49-F238E27FC236}">
                  <a16:creationId xmlns:a16="http://schemas.microsoft.com/office/drawing/2014/main" id="{73B4FC73-FF0F-40BF-8DB6-A34A3CDD0D87}"/>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5980B935-8DFE-4F87-A460-BD6B9E9976A8}"/>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22" name="椭圆 21">
              <a:extLst>
                <a:ext uri="{FF2B5EF4-FFF2-40B4-BE49-F238E27FC236}">
                  <a16:creationId xmlns:a16="http://schemas.microsoft.com/office/drawing/2014/main" id="{6D17D04E-147D-4A47-BE4B-341D6CFB57E0}"/>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7" name="直接箭头连接符 6">
              <a:extLst>
                <a:ext uri="{FF2B5EF4-FFF2-40B4-BE49-F238E27FC236}">
                  <a16:creationId xmlns:a16="http://schemas.microsoft.com/office/drawing/2014/main" id="{A6D69185-B645-45D2-9280-BD8A3260ADFA}"/>
                </a:ext>
              </a:extLst>
            </p:cNvPr>
            <p:cNvCxnSpPr>
              <a:cxnSpLocks/>
              <a:stCxn id="5" idx="6"/>
              <a:endCxn id="26"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椭圆 25">
              <a:extLst>
                <a:ext uri="{FF2B5EF4-FFF2-40B4-BE49-F238E27FC236}">
                  <a16:creationId xmlns:a16="http://schemas.microsoft.com/office/drawing/2014/main" id="{71033FA9-AA41-4968-A093-34F5B8123E9D}"/>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8" name="直接箭头连接符 27">
              <a:extLst>
                <a:ext uri="{FF2B5EF4-FFF2-40B4-BE49-F238E27FC236}">
                  <a16:creationId xmlns:a16="http://schemas.microsoft.com/office/drawing/2014/main" id="{2783F708-C219-41C1-BF96-47C9FE1C3D6A}"/>
                </a:ext>
              </a:extLst>
            </p:cNvPr>
            <p:cNvCxnSpPr>
              <a:cxnSpLocks/>
              <a:stCxn id="26" idx="6"/>
              <a:endCxn id="22"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32" name="文本框 31">
            <a:extLst>
              <a:ext uri="{FF2B5EF4-FFF2-40B4-BE49-F238E27FC236}">
                <a16:creationId xmlns:a16="http://schemas.microsoft.com/office/drawing/2014/main" id="{0BE92F6A-F4A5-47C7-9217-2A9EE5DA5720}"/>
              </a:ext>
            </a:extLst>
          </p:cNvPr>
          <p:cNvSpPr txBox="1"/>
          <p:nvPr/>
        </p:nvSpPr>
        <p:spPr>
          <a:xfrm>
            <a:off x="3902585" y="5120546"/>
            <a:ext cx="1338828" cy="369332"/>
          </a:xfrm>
          <a:prstGeom prst="rect">
            <a:avLst/>
          </a:prstGeom>
          <a:noFill/>
        </p:spPr>
        <p:txBody>
          <a:bodyPr wrap="none" rtlCol="0">
            <a:spAutoFit/>
          </a:bodyPr>
          <a:lstStyle/>
          <a:p>
            <a:r>
              <a:rPr lang="zh-CN" altLang="en-US" dirty="0"/>
              <a:t>贝叶斯网络</a:t>
            </a:r>
          </a:p>
        </p:txBody>
      </p:sp>
      <p:pic>
        <p:nvPicPr>
          <p:cNvPr id="23" name="图片 22">
            <a:extLst>
              <a:ext uri="{FF2B5EF4-FFF2-40B4-BE49-F238E27FC236}">
                <a16:creationId xmlns:a16="http://schemas.microsoft.com/office/drawing/2014/main" id="{6E312855-92EB-41F2-878C-A745C53DEFDD}"/>
              </a:ext>
            </a:extLst>
          </p:cNvPr>
          <p:cNvPicPr>
            <a:picLocks noChangeAspect="1"/>
          </p:cNvPicPr>
          <p:nvPr/>
        </p:nvPicPr>
        <p:blipFill>
          <a:blip r:embed="rId6"/>
          <a:stretch>
            <a:fillRect/>
          </a:stretch>
        </p:blipFill>
        <p:spPr>
          <a:xfrm>
            <a:off x="837459" y="5849074"/>
            <a:ext cx="7170912" cy="61918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5026" y="429"/>
              <a:ext cx="90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概率图模型</a:t>
              </a:r>
            </a:p>
          </p:txBody>
        </p:sp>
      </p:grpSp>
      <p:pic>
        <p:nvPicPr>
          <p:cNvPr id="12" name="图片 11"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1465" y="2565400"/>
            <a:ext cx="6176645" cy="2112010"/>
          </a:xfrm>
          <a:prstGeom prst="rect">
            <a:avLst/>
          </a:prstGeom>
        </p:spPr>
      </p:pic>
      <p:grpSp>
        <p:nvGrpSpPr>
          <p:cNvPr id="13" name="组合 12"/>
          <p:cNvGrpSpPr/>
          <p:nvPr/>
        </p:nvGrpSpPr>
        <p:grpSpPr>
          <a:xfrm>
            <a:off x="495935" y="1226820"/>
            <a:ext cx="8424545" cy="911225"/>
            <a:chOff x="1639" y="1742"/>
            <a:chExt cx="9231" cy="984"/>
          </a:xfrm>
        </p:grpSpPr>
        <p:sp>
          <p:nvSpPr>
            <p:cNvPr id="93" name="圆角矩形 92"/>
            <p:cNvSpPr/>
            <p:nvPr/>
          </p:nvSpPr>
          <p:spPr>
            <a:xfrm>
              <a:off x="1639" y="1742"/>
              <a:ext cx="9104" cy="984"/>
            </a:xfrm>
            <a:prstGeom prst="roundRect">
              <a:avLst/>
            </a:prstGeom>
            <a:gradFill>
              <a:gsLst>
                <a:gs pos="0">
                  <a:schemeClr val="bg1"/>
                </a:gs>
                <a:gs pos="100000">
                  <a:schemeClr val="bg1">
                    <a:lumMod val="95000"/>
                  </a:schemeClr>
                </a:gs>
              </a:gsLst>
              <a:lin ang="18900000" scaled="0"/>
            </a:gradFill>
            <a:ln>
              <a:noFill/>
            </a:ln>
            <a:effectLst>
              <a:outerShdw blurRad="127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rgbClr val="18478F"/>
                </a:solidFill>
                <a:latin typeface="微软雅黑" panose="020B0503020204020204" pitchFamily="34" charset="-122"/>
                <a:ea typeface="微软雅黑" panose="020B0503020204020204" pitchFamily="34" charset="-122"/>
                <a:cs typeface="+mn-ea"/>
                <a:sym typeface="+mn-lt"/>
              </a:endParaRPr>
            </a:p>
          </p:txBody>
        </p:sp>
        <p:sp>
          <p:nvSpPr>
            <p:cNvPr id="14" name="矩形 13"/>
            <p:cNvSpPr/>
            <p:nvPr/>
          </p:nvSpPr>
          <p:spPr>
            <a:xfrm>
              <a:off x="1700" y="1792"/>
              <a:ext cx="9170" cy="896"/>
            </a:xfrm>
            <a:prstGeom prst="rect">
              <a:avLst/>
            </a:prstGeom>
          </p:spPr>
          <p:txBody>
            <a:bodyPr wrap="square">
              <a:spAutoFit/>
            </a:bodyPr>
            <a:lstStyle/>
            <a:p>
              <a:r>
                <a:rPr lang="zh-CN" altLang="en-US" sz="2400" b="1" dirty="0">
                  <a:sym typeface="+mn-ea"/>
                </a:rPr>
                <a:t>概率图模型</a:t>
              </a:r>
              <a:r>
                <a:rPr lang="zh-CN" altLang="en-US" sz="2400" dirty="0">
                  <a:sym typeface="+mn-ea"/>
                </a:rPr>
                <a:t>是指一种用图结构来描述多元随机变量之间条件独立关系的概率模型。</a:t>
              </a:r>
            </a:p>
          </p:txBody>
        </p:sp>
      </p:grpSp>
      <p:grpSp>
        <p:nvGrpSpPr>
          <p:cNvPr id="16" name="组合 15"/>
          <p:cNvGrpSpPr/>
          <p:nvPr/>
        </p:nvGrpSpPr>
        <p:grpSpPr>
          <a:xfrm>
            <a:off x="550545" y="4979035"/>
            <a:ext cx="8497471" cy="398780"/>
            <a:chOff x="652" y="2017"/>
            <a:chExt cx="13382" cy="628"/>
          </a:xfrm>
        </p:grpSpPr>
        <p:sp>
          <p:nvSpPr>
            <p:cNvPr id="17" name="椭圆 16"/>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8" name="文本框 17"/>
            <p:cNvSpPr txBox="1"/>
            <p:nvPr/>
          </p:nvSpPr>
          <p:spPr>
            <a:xfrm>
              <a:off x="902" y="2017"/>
              <a:ext cx="13132" cy="628"/>
            </a:xfrm>
            <a:prstGeom prst="rect">
              <a:avLst/>
            </a:prstGeom>
            <a:noFill/>
          </p:spPr>
          <p:txBody>
            <a:bodyPr wrap="square" rtlCol="0" anchor="t">
              <a:spAutoFit/>
            </a:bodyPr>
            <a:lstStyle/>
            <a:p>
              <a:r>
                <a:rPr lang="zh-CN" altLang="en-US" sz="2000" dirty="0">
                  <a:solidFill>
                    <a:srgbClr val="FF0000"/>
                  </a:solidFill>
                  <a:sym typeface="+mn-ea"/>
                </a:rPr>
                <a:t>每个节点</a:t>
              </a:r>
              <a:r>
                <a:rPr lang="zh-CN" altLang="en-US" sz="2000" dirty="0">
                  <a:sym typeface="+mn-ea"/>
                </a:rPr>
                <a:t>都对应一个随机变量，可以是观察变量、隐变量或未知参数等</a:t>
              </a:r>
              <a:endParaRPr lang="zh-CN" altLang="en-US" sz="2000" dirty="0">
                <a:latin typeface="宋体" panose="02010600030101010101" pitchFamily="2" charset="-122"/>
                <a:ea typeface="宋体" panose="02010600030101010101" pitchFamily="2" charset="-122"/>
                <a:sym typeface="+mn-ea"/>
              </a:endParaRPr>
            </a:p>
          </p:txBody>
        </p:sp>
      </p:grpSp>
      <p:grpSp>
        <p:nvGrpSpPr>
          <p:cNvPr id="19" name="组合 18"/>
          <p:cNvGrpSpPr/>
          <p:nvPr/>
        </p:nvGrpSpPr>
        <p:grpSpPr>
          <a:xfrm>
            <a:off x="550545" y="5377815"/>
            <a:ext cx="8497471" cy="398780"/>
            <a:chOff x="652" y="2017"/>
            <a:chExt cx="13382" cy="628"/>
          </a:xfrm>
        </p:grpSpPr>
        <p:sp>
          <p:nvSpPr>
            <p:cNvPr id="20" name="椭圆 19"/>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nvSpPr>
          <p:spPr>
            <a:xfrm>
              <a:off x="902" y="2017"/>
              <a:ext cx="13132" cy="628"/>
            </a:xfrm>
            <a:prstGeom prst="rect">
              <a:avLst/>
            </a:prstGeom>
            <a:noFill/>
          </p:spPr>
          <p:txBody>
            <a:bodyPr wrap="square" rtlCol="0" anchor="t">
              <a:spAutoFit/>
            </a:bodyPr>
            <a:lstStyle/>
            <a:p>
              <a:r>
                <a:rPr lang="zh-CN" altLang="en-US" sz="2000" dirty="0">
                  <a:solidFill>
                    <a:srgbClr val="FF0000"/>
                  </a:solidFill>
                  <a:sym typeface="+mn-ea"/>
                </a:rPr>
                <a:t>每个连接</a:t>
              </a:r>
              <a:r>
                <a:rPr lang="zh-CN" altLang="en-US" sz="2000" dirty="0">
                  <a:sym typeface="+mn-ea"/>
                </a:rPr>
                <a:t>表示两个随机变量之间具有依赖关系</a:t>
              </a:r>
              <a:endParaRPr lang="zh-CN" altLang="en-US" sz="2000" dirty="0">
                <a:latin typeface="宋体" panose="02010600030101010101" pitchFamily="2" charset="-122"/>
                <a:ea typeface="宋体" panose="02010600030101010101" pitchFamily="2" charset="-122"/>
                <a:sym typeface="+mn-ea"/>
              </a:endParaRPr>
            </a:p>
          </p:txBody>
        </p:sp>
      </p:grpSp>
      <p:sp>
        <p:nvSpPr>
          <p:cNvPr id="2" name="文本框 1">
            <a:extLst>
              <a:ext uri="{FF2B5EF4-FFF2-40B4-BE49-F238E27FC236}">
                <a16:creationId xmlns:a16="http://schemas.microsoft.com/office/drawing/2014/main" id="{370DE5DA-24B1-4A50-AD1E-605C8AE41CD6}"/>
              </a:ext>
            </a:extLst>
          </p:cNvPr>
          <p:cNvSpPr txBox="1"/>
          <p:nvPr/>
        </p:nvSpPr>
        <p:spPr>
          <a:xfrm>
            <a:off x="3440921" y="6075799"/>
            <a:ext cx="2492990" cy="400110"/>
          </a:xfrm>
          <a:prstGeom prst="rect">
            <a:avLst/>
          </a:prstGeom>
          <a:solidFill>
            <a:schemeClr val="bg1"/>
          </a:solidFill>
          <a:effectLst>
            <a:outerShdw blurRad="50800" dist="38100" dir="2700000" algn="tl" rotWithShape="0">
              <a:prstClr val="black">
                <a:alpha val="40000"/>
              </a:prstClr>
            </a:outerShdw>
          </a:effectLst>
        </p:spPr>
        <p:txBody>
          <a:bodyPr wrap="none" rtlCol="0">
            <a:spAutoFit/>
          </a:bodyPr>
          <a:lstStyle/>
          <a:p>
            <a:r>
              <a:rPr lang="zh-CN" altLang="en-US" sz="2000" i="1" dirty="0">
                <a:solidFill>
                  <a:srgbClr val="FF0000"/>
                </a:solidFill>
              </a:rPr>
              <a:t>我们先只关注有向图</a:t>
            </a:r>
          </a:p>
        </p:txBody>
      </p:sp>
      <p:pic>
        <p:nvPicPr>
          <p:cNvPr id="22" name="图片 21">
            <a:extLst>
              <a:ext uri="{FF2B5EF4-FFF2-40B4-BE49-F238E27FC236}">
                <a16:creationId xmlns:a16="http://schemas.microsoft.com/office/drawing/2014/main" id="{22B0115C-454D-4C15-A869-99B9E2C8A1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2854" y="1052830"/>
            <a:ext cx="6016133" cy="2805503"/>
          </a:xfrm>
          <a:prstGeom prst="rect">
            <a:avLst/>
          </a:prstGeom>
        </p:spPr>
      </p:pic>
      <p:grpSp>
        <p:nvGrpSpPr>
          <p:cNvPr id="23" name="组合 22">
            <a:extLst>
              <a:ext uri="{FF2B5EF4-FFF2-40B4-BE49-F238E27FC236}">
                <a16:creationId xmlns:a16="http://schemas.microsoft.com/office/drawing/2014/main" id="{CDD559CA-B7B6-4D96-9D12-53086104D710}"/>
              </a:ext>
            </a:extLst>
          </p:cNvPr>
          <p:cNvGrpSpPr/>
          <p:nvPr/>
        </p:nvGrpSpPr>
        <p:grpSpPr>
          <a:xfrm>
            <a:off x="1707267" y="4269490"/>
            <a:ext cx="5929637" cy="1217141"/>
            <a:chOff x="1707267" y="4269490"/>
            <a:chExt cx="5929637" cy="1217141"/>
          </a:xfrm>
        </p:grpSpPr>
        <p:sp>
          <p:nvSpPr>
            <p:cNvPr id="24" name="矩形 23">
              <a:extLst>
                <a:ext uri="{FF2B5EF4-FFF2-40B4-BE49-F238E27FC236}">
                  <a16:creationId xmlns:a16="http://schemas.microsoft.com/office/drawing/2014/main" id="{F7A43C77-051C-4EC0-9448-6303616B1ED5}"/>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3FF9FDFE-6412-4ED2-B3B8-5B9E4A0ABCC6}"/>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26" name="椭圆 25">
              <a:extLst>
                <a:ext uri="{FF2B5EF4-FFF2-40B4-BE49-F238E27FC236}">
                  <a16:creationId xmlns:a16="http://schemas.microsoft.com/office/drawing/2014/main" id="{3339BE16-5DC2-4AA6-BA79-D22FE685D8A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7" name="直接箭头连接符 26">
              <a:extLst>
                <a:ext uri="{FF2B5EF4-FFF2-40B4-BE49-F238E27FC236}">
                  <a16:creationId xmlns:a16="http://schemas.microsoft.com/office/drawing/2014/main" id="{57A4F3F9-A737-4A7F-AF7C-0ECFC8C27987}"/>
                </a:ext>
              </a:extLst>
            </p:cNvPr>
            <p:cNvCxnSpPr>
              <a:cxnSpLocks/>
              <a:stCxn id="25" idx="6"/>
              <a:endCxn id="28"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椭圆 27">
              <a:extLst>
                <a:ext uri="{FF2B5EF4-FFF2-40B4-BE49-F238E27FC236}">
                  <a16:creationId xmlns:a16="http://schemas.microsoft.com/office/drawing/2014/main" id="{99D412DE-F121-4EBE-AC3A-A731D3D18F92}"/>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9" name="直接箭头连接符 28">
              <a:extLst>
                <a:ext uri="{FF2B5EF4-FFF2-40B4-BE49-F238E27FC236}">
                  <a16:creationId xmlns:a16="http://schemas.microsoft.com/office/drawing/2014/main" id="{5155CA6F-8EEF-4AE3-A088-BB9DB2504111}"/>
                </a:ext>
              </a:extLst>
            </p:cNvPr>
            <p:cNvCxnSpPr>
              <a:cxnSpLocks/>
              <a:stCxn id="28" idx="6"/>
              <a:endCxn id="26"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77693613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8969" y="429"/>
              <a:ext cx="5078"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8429"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概率图模型的关键步骤</a:t>
              </a:r>
            </a:p>
          </p:txBody>
        </p:sp>
      </p:grpSp>
      <p:grpSp>
        <p:nvGrpSpPr>
          <p:cNvPr id="10" name="组合 9"/>
          <p:cNvGrpSpPr/>
          <p:nvPr/>
        </p:nvGrpSpPr>
        <p:grpSpPr>
          <a:xfrm>
            <a:off x="477520" y="1282700"/>
            <a:ext cx="7997190" cy="460375"/>
            <a:chOff x="827" y="3088"/>
            <a:chExt cx="12594" cy="725"/>
          </a:xfrm>
        </p:grpSpPr>
        <p:sp>
          <p:nvSpPr>
            <p:cNvPr id="6" name="文本框 5"/>
            <p:cNvSpPr txBox="1"/>
            <p:nvPr/>
          </p:nvSpPr>
          <p:spPr>
            <a:xfrm>
              <a:off x="1672" y="3088"/>
              <a:ext cx="11749" cy="725"/>
            </a:xfrm>
            <a:prstGeom prst="rect">
              <a:avLst/>
            </a:prstGeom>
            <a:noFill/>
          </p:spPr>
          <p:txBody>
            <a:bodyPr wrap="square" rtlCol="0" anchor="t">
              <a:spAutoFit/>
            </a:bodyPr>
            <a:lstStyle/>
            <a:p>
              <a:r>
                <a:rPr lang="en-US" altLang="zh-CN" sz="2400" dirty="0">
                  <a:sym typeface="+mn-ea"/>
                </a:rPr>
                <a:t>1. </a:t>
              </a:r>
              <a:r>
                <a:rPr lang="zh-CN" altLang="en-US" sz="2400" dirty="0">
                  <a:sym typeface="+mn-ea"/>
                </a:rPr>
                <a:t>表示：模型表示（图结构）</a:t>
              </a:r>
              <a:endParaRPr lang="zh-CN" altLang="en-US" sz="2400" dirty="0">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8" name="Group 98"/>
            <p:cNvGrpSpPr/>
            <p:nvPr/>
          </p:nvGrpSpPr>
          <p:grpSpPr bwMode="auto">
            <a:xfrm rot="420000">
              <a:off x="827" y="3140"/>
              <a:ext cx="809" cy="538"/>
              <a:chOff x="2345" y="1092"/>
              <a:chExt cx="1116" cy="555"/>
            </a:xfrm>
          </p:grpSpPr>
          <p:sp>
            <p:nvSpPr>
              <p:cNvPr id="2" name="AutoShape 99"/>
              <p:cNvSpPr>
                <a:spLocks noChangeArrowheads="1"/>
              </p:cNvSpPr>
              <p:nvPr/>
            </p:nvSpPr>
            <p:spPr bwMode="gray">
              <a:xfrm rot="-5400000">
                <a:off x="2249" y="1222"/>
                <a:ext cx="288" cy="96"/>
              </a:xfrm>
              <a:prstGeom prst="parallelogram">
                <a:avLst>
                  <a:gd name="adj" fmla="val 18736"/>
                </a:avLst>
              </a:prstGeom>
              <a:gradFill rotWithShape="1">
                <a:gsLst>
                  <a:gs pos="0">
                    <a:srgbClr val="EAEAEA">
                      <a:gamma/>
                      <a:shade val="85882"/>
                      <a:invGamma/>
                    </a:srgbClr>
                  </a:gs>
                  <a:gs pos="100000">
                    <a:srgbClr val="EAEAEA"/>
                  </a:gs>
                </a:gsLst>
                <a:lin ang="5400000" scaled="1"/>
              </a:gradFill>
              <a:ln w="9525">
                <a:noFill/>
                <a:miter lim="800000"/>
              </a:ln>
              <a:effectLst/>
              <a:scene3d>
                <a:camera prst="legacyObliqueTopRight"/>
                <a:lightRig rig="legacyFlat3" dir="b"/>
              </a:scene3d>
              <a:sp3d extrusionH="36500" prstMaterial="legacyMatte">
                <a:bevelT w="13500" h="13500" prst="angle"/>
                <a:bevelB w="13500" h="13500" prst="angle"/>
                <a:extrusionClr>
                  <a:srgbClr val="EAEAEA"/>
                </a:extrusionClr>
              </a:sp3d>
            </p:spPr>
            <p:txBody>
              <a:bodyPr wrap="none" anchor="ct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nvGrpSpPr>
              <p:cNvPr id="9" name="Group 100"/>
              <p:cNvGrpSpPr/>
              <p:nvPr/>
            </p:nvGrpSpPr>
            <p:grpSpPr bwMode="auto">
              <a:xfrm>
                <a:off x="2414" y="1092"/>
                <a:ext cx="1047" cy="555"/>
                <a:chOff x="2414" y="1104"/>
                <a:chExt cx="975" cy="555"/>
              </a:xfrm>
            </p:grpSpPr>
            <p:sp>
              <p:nvSpPr>
                <p:cNvPr id="3" name="Freeform 101"/>
                <p:cNvSpPr/>
                <p:nvPr/>
              </p:nvSpPr>
              <p:spPr bwMode="gray">
                <a:xfrm flipH="1">
                  <a:off x="2414" y="1104"/>
                  <a:ext cx="975" cy="555"/>
                </a:xfrm>
                <a:custGeom>
                  <a:avLst/>
                  <a:gdLst/>
                  <a:ahLst/>
                  <a:cxnLst>
                    <a:cxn ang="0">
                      <a:pos x="837" y="0"/>
                    </a:cxn>
                    <a:cxn ang="0">
                      <a:pos x="837" y="317"/>
                    </a:cxn>
                    <a:cxn ang="0">
                      <a:pos x="116" y="476"/>
                    </a:cxn>
                    <a:cxn ang="0">
                      <a:pos x="0" y="304"/>
                    </a:cxn>
                    <a:cxn ang="0">
                      <a:pos x="110" y="100"/>
                    </a:cxn>
                    <a:cxn ang="0">
                      <a:pos x="837" y="0"/>
                    </a:cxn>
                  </a:cxnLst>
                  <a:rect l="0" t="0" r="r" b="b"/>
                  <a:pathLst>
                    <a:path w="837" h="476">
                      <a:moveTo>
                        <a:pt x="837" y="0"/>
                      </a:moveTo>
                      <a:lnTo>
                        <a:pt x="837" y="317"/>
                      </a:lnTo>
                      <a:lnTo>
                        <a:pt x="116" y="476"/>
                      </a:lnTo>
                      <a:lnTo>
                        <a:pt x="0" y="304"/>
                      </a:lnTo>
                      <a:lnTo>
                        <a:pt x="110" y="100"/>
                      </a:lnTo>
                      <a:lnTo>
                        <a:pt x="837" y="0"/>
                      </a:lnTo>
                      <a:close/>
                    </a:path>
                  </a:pathLst>
                </a:custGeom>
                <a:gradFill rotWithShape="1">
                  <a:gsLst>
                    <a:gs pos="0">
                      <a:srgbClr val="FFFFFF"/>
                    </a:gs>
                    <a:gs pos="100000">
                      <a:srgbClr val="FFFFFF">
                        <a:gamma/>
                        <a:shade val="85882"/>
                        <a:invGamma/>
                      </a:srgbClr>
                    </a:gs>
                  </a:gsLst>
                  <a:lin ang="0" scaled="1"/>
                </a:gradFill>
                <a:ln w="9525"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b">
                    <a:rot lat="0" lon="0" rev="8700000"/>
                  </a:lightRig>
                </a:scene3d>
                <a:sp3d>
                  <a:bevelT w="190500" h="38100"/>
                </a:sp3d>
              </p:spPr>
              <p:txBody>
                <a:bodyP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5" name="Freeform 102"/>
                <p:cNvSpPr/>
                <p:nvPr/>
              </p:nvSpPr>
              <p:spPr bwMode="gray">
                <a:xfrm flipH="1">
                  <a:off x="2447" y="1143"/>
                  <a:ext cx="905" cy="461"/>
                </a:xfrm>
                <a:custGeom>
                  <a:avLst/>
                  <a:gdLst/>
                  <a:ahLst/>
                  <a:cxnLst>
                    <a:cxn ang="0">
                      <a:pos x="786" y="0"/>
                    </a:cxn>
                    <a:cxn ang="0">
                      <a:pos x="786" y="252"/>
                    </a:cxn>
                    <a:cxn ang="0">
                      <a:pos x="92" y="396"/>
                    </a:cxn>
                    <a:cxn ang="0">
                      <a:pos x="0" y="266"/>
                    </a:cxn>
                    <a:cxn ang="0">
                      <a:pos x="88" y="112"/>
                    </a:cxn>
                    <a:cxn ang="0">
                      <a:pos x="786" y="0"/>
                    </a:cxn>
                  </a:cxnLst>
                  <a:rect l="0" t="0" r="r" b="b"/>
                  <a:pathLst>
                    <a:path w="786" h="396">
                      <a:moveTo>
                        <a:pt x="786" y="0"/>
                      </a:moveTo>
                      <a:lnTo>
                        <a:pt x="786" y="252"/>
                      </a:lnTo>
                      <a:lnTo>
                        <a:pt x="92" y="396"/>
                      </a:lnTo>
                      <a:lnTo>
                        <a:pt x="0" y="266"/>
                      </a:lnTo>
                      <a:lnTo>
                        <a:pt x="88" y="112"/>
                      </a:lnTo>
                      <a:lnTo>
                        <a:pt x="786" y="0"/>
                      </a:lnTo>
                      <a:close/>
                    </a:path>
                  </a:pathLst>
                </a:custGeom>
                <a:solidFill>
                  <a:srgbClr val="18478F"/>
                </a:solidFill>
                <a:ln w="9525" cap="flat" cmpd="sng">
                  <a:noFill/>
                  <a:prstDash val="solid"/>
                  <a:round/>
                  <a:headEnd type="none" w="med" len="med"/>
                  <a:tailEnd type="none" w="med" len="med"/>
                </a:ln>
                <a:effectLst/>
              </p:spPr>
              <p:txBody>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grpSp>
      </p:grpSp>
      <p:grpSp>
        <p:nvGrpSpPr>
          <p:cNvPr id="45" name="组合 44"/>
          <p:cNvGrpSpPr/>
          <p:nvPr/>
        </p:nvGrpSpPr>
        <p:grpSpPr>
          <a:xfrm>
            <a:off x="358118" y="5155971"/>
            <a:ext cx="7997190" cy="803275"/>
            <a:chOff x="756" y="6799"/>
            <a:chExt cx="12594" cy="1265"/>
          </a:xfrm>
        </p:grpSpPr>
        <p:grpSp>
          <p:nvGrpSpPr>
            <p:cNvPr id="7" name="组合 6"/>
            <p:cNvGrpSpPr/>
            <p:nvPr/>
          </p:nvGrpSpPr>
          <p:grpSpPr>
            <a:xfrm>
              <a:off x="756" y="6799"/>
              <a:ext cx="12594" cy="725"/>
              <a:chOff x="827" y="3088"/>
              <a:chExt cx="12594" cy="725"/>
            </a:xfrm>
          </p:grpSpPr>
          <p:sp>
            <p:nvSpPr>
              <p:cNvPr id="11" name="文本框 10"/>
              <p:cNvSpPr txBox="1"/>
              <p:nvPr/>
            </p:nvSpPr>
            <p:spPr>
              <a:xfrm>
                <a:off x="1672" y="3088"/>
                <a:ext cx="11749" cy="725"/>
              </a:xfrm>
              <a:prstGeom prst="rect">
                <a:avLst/>
              </a:prstGeom>
              <a:noFill/>
            </p:spPr>
            <p:txBody>
              <a:bodyPr wrap="square" rtlCol="0" anchor="t">
                <a:spAutoFit/>
              </a:bodyPr>
              <a:lstStyle/>
              <a:p>
                <a:r>
                  <a:rPr lang="en-US" altLang="zh-CN" sz="2400" dirty="0">
                    <a:sym typeface="+mn-ea"/>
                  </a:rPr>
                  <a:t>3. </a:t>
                </a:r>
                <a:r>
                  <a:rPr lang="zh-CN" altLang="en-US" sz="2400" dirty="0">
                    <a:sym typeface="+mn-ea"/>
                  </a:rPr>
                  <a:t>推断：</a:t>
                </a:r>
                <a:r>
                  <a:rPr lang="en-GB" altLang="zh-CN" sz="2400" dirty="0">
                    <a:latin typeface="Times New Roman" panose="02020603050405020304" charset="0"/>
                    <a:cs typeface="Times New Roman" panose="02020603050405020304" charset="0"/>
                    <a:sym typeface="+mn-ea"/>
                  </a:rPr>
                  <a:t>Inference</a:t>
                </a:r>
                <a:endParaRPr lang="zh-CN" altLang="en-US" sz="2400" dirty="0">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15" name="Group 98"/>
              <p:cNvGrpSpPr/>
              <p:nvPr/>
            </p:nvGrpSpPr>
            <p:grpSpPr bwMode="auto">
              <a:xfrm rot="420000">
                <a:off x="827" y="3140"/>
                <a:ext cx="809" cy="538"/>
                <a:chOff x="2345" y="1092"/>
                <a:chExt cx="1116" cy="555"/>
              </a:xfrm>
            </p:grpSpPr>
            <p:sp>
              <p:nvSpPr>
                <p:cNvPr id="22" name="AutoShape 99"/>
                <p:cNvSpPr>
                  <a:spLocks noChangeArrowheads="1"/>
                </p:cNvSpPr>
                <p:nvPr/>
              </p:nvSpPr>
              <p:spPr bwMode="gray">
                <a:xfrm rot="-5400000">
                  <a:off x="2249" y="1222"/>
                  <a:ext cx="288" cy="96"/>
                </a:xfrm>
                <a:prstGeom prst="parallelogram">
                  <a:avLst>
                    <a:gd name="adj" fmla="val 18736"/>
                  </a:avLst>
                </a:prstGeom>
                <a:gradFill rotWithShape="1">
                  <a:gsLst>
                    <a:gs pos="0">
                      <a:srgbClr val="EAEAEA">
                        <a:gamma/>
                        <a:shade val="85882"/>
                        <a:invGamma/>
                      </a:srgbClr>
                    </a:gs>
                    <a:gs pos="100000">
                      <a:srgbClr val="EAEAEA"/>
                    </a:gs>
                  </a:gsLst>
                  <a:lin ang="5400000" scaled="1"/>
                </a:gradFill>
                <a:ln w="9525">
                  <a:noFill/>
                  <a:miter lim="800000"/>
                </a:ln>
                <a:effectLst/>
                <a:scene3d>
                  <a:camera prst="legacyObliqueTopRight"/>
                  <a:lightRig rig="legacyFlat3" dir="b"/>
                </a:scene3d>
                <a:sp3d extrusionH="36500" prstMaterial="legacyMatte">
                  <a:bevelT w="13500" h="13500" prst="angle"/>
                  <a:bevelB w="13500" h="13500" prst="angle"/>
                  <a:extrusionClr>
                    <a:srgbClr val="EAEAEA"/>
                  </a:extrusionClr>
                </a:sp3d>
              </p:spPr>
              <p:txBody>
                <a:bodyPr wrap="none" anchor="ct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nvGrpSpPr>
                <p:cNvPr id="23" name="Group 100"/>
                <p:cNvGrpSpPr/>
                <p:nvPr/>
              </p:nvGrpSpPr>
              <p:grpSpPr bwMode="auto">
                <a:xfrm>
                  <a:off x="2414" y="1092"/>
                  <a:ext cx="1047" cy="555"/>
                  <a:chOff x="2414" y="1104"/>
                  <a:chExt cx="975" cy="555"/>
                </a:xfrm>
              </p:grpSpPr>
              <p:sp>
                <p:nvSpPr>
                  <p:cNvPr id="24" name="Freeform 101"/>
                  <p:cNvSpPr/>
                  <p:nvPr/>
                </p:nvSpPr>
                <p:spPr bwMode="gray">
                  <a:xfrm flipH="1">
                    <a:off x="2414" y="1104"/>
                    <a:ext cx="975" cy="555"/>
                  </a:xfrm>
                  <a:custGeom>
                    <a:avLst/>
                    <a:gdLst/>
                    <a:ahLst/>
                    <a:cxnLst>
                      <a:cxn ang="0">
                        <a:pos x="837" y="0"/>
                      </a:cxn>
                      <a:cxn ang="0">
                        <a:pos x="837" y="317"/>
                      </a:cxn>
                      <a:cxn ang="0">
                        <a:pos x="116" y="476"/>
                      </a:cxn>
                      <a:cxn ang="0">
                        <a:pos x="0" y="304"/>
                      </a:cxn>
                      <a:cxn ang="0">
                        <a:pos x="110" y="100"/>
                      </a:cxn>
                      <a:cxn ang="0">
                        <a:pos x="837" y="0"/>
                      </a:cxn>
                    </a:cxnLst>
                    <a:rect l="0" t="0" r="r" b="b"/>
                    <a:pathLst>
                      <a:path w="837" h="476">
                        <a:moveTo>
                          <a:pt x="837" y="0"/>
                        </a:moveTo>
                        <a:lnTo>
                          <a:pt x="837" y="317"/>
                        </a:lnTo>
                        <a:lnTo>
                          <a:pt x="116" y="476"/>
                        </a:lnTo>
                        <a:lnTo>
                          <a:pt x="0" y="304"/>
                        </a:lnTo>
                        <a:lnTo>
                          <a:pt x="110" y="100"/>
                        </a:lnTo>
                        <a:lnTo>
                          <a:pt x="837" y="0"/>
                        </a:lnTo>
                        <a:close/>
                      </a:path>
                    </a:pathLst>
                  </a:custGeom>
                  <a:gradFill rotWithShape="1">
                    <a:gsLst>
                      <a:gs pos="0">
                        <a:srgbClr val="FFFFFF"/>
                      </a:gs>
                      <a:gs pos="100000">
                        <a:srgbClr val="FFFFFF">
                          <a:gamma/>
                          <a:shade val="85882"/>
                          <a:invGamma/>
                        </a:srgbClr>
                      </a:gs>
                    </a:gsLst>
                    <a:lin ang="0" scaled="1"/>
                  </a:gradFill>
                  <a:ln w="9525"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b">
                      <a:rot lat="0" lon="0" rev="8700000"/>
                    </a:lightRig>
                  </a:scene3d>
                  <a:sp3d>
                    <a:bevelT w="190500" h="38100"/>
                  </a:sp3d>
                </p:spPr>
                <p:txBody>
                  <a:bodyP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25" name="Freeform 102"/>
                  <p:cNvSpPr/>
                  <p:nvPr/>
                </p:nvSpPr>
                <p:spPr bwMode="gray">
                  <a:xfrm flipH="1">
                    <a:off x="2447" y="1143"/>
                    <a:ext cx="905" cy="461"/>
                  </a:xfrm>
                  <a:custGeom>
                    <a:avLst/>
                    <a:gdLst/>
                    <a:ahLst/>
                    <a:cxnLst>
                      <a:cxn ang="0">
                        <a:pos x="786" y="0"/>
                      </a:cxn>
                      <a:cxn ang="0">
                        <a:pos x="786" y="252"/>
                      </a:cxn>
                      <a:cxn ang="0">
                        <a:pos x="92" y="396"/>
                      </a:cxn>
                      <a:cxn ang="0">
                        <a:pos x="0" y="266"/>
                      </a:cxn>
                      <a:cxn ang="0">
                        <a:pos x="88" y="112"/>
                      </a:cxn>
                      <a:cxn ang="0">
                        <a:pos x="786" y="0"/>
                      </a:cxn>
                    </a:cxnLst>
                    <a:rect l="0" t="0" r="r" b="b"/>
                    <a:pathLst>
                      <a:path w="786" h="396">
                        <a:moveTo>
                          <a:pt x="786" y="0"/>
                        </a:moveTo>
                        <a:lnTo>
                          <a:pt x="786" y="252"/>
                        </a:lnTo>
                        <a:lnTo>
                          <a:pt x="92" y="396"/>
                        </a:lnTo>
                        <a:lnTo>
                          <a:pt x="0" y="266"/>
                        </a:lnTo>
                        <a:lnTo>
                          <a:pt x="88" y="112"/>
                        </a:lnTo>
                        <a:lnTo>
                          <a:pt x="786" y="0"/>
                        </a:lnTo>
                        <a:close/>
                      </a:path>
                    </a:pathLst>
                  </a:custGeom>
                  <a:solidFill>
                    <a:srgbClr val="18478F"/>
                  </a:solidFill>
                  <a:ln w="9525" cap="flat" cmpd="sng">
                    <a:noFill/>
                    <a:prstDash val="solid"/>
                    <a:round/>
                    <a:headEnd type="none" w="med" len="med"/>
                    <a:tailEnd type="none" w="med" len="med"/>
                  </a:ln>
                  <a:effectLst/>
                </p:spPr>
                <p:txBody>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grpSp>
        </p:grpSp>
        <p:sp>
          <p:nvSpPr>
            <p:cNvPr id="41" name="文本框 40"/>
            <p:cNvSpPr txBox="1"/>
            <p:nvPr/>
          </p:nvSpPr>
          <p:spPr>
            <a:xfrm>
              <a:off x="1601" y="7436"/>
              <a:ext cx="10269" cy="628"/>
            </a:xfrm>
            <a:prstGeom prst="rect">
              <a:avLst/>
            </a:prstGeom>
            <a:noFill/>
          </p:spPr>
          <p:txBody>
            <a:bodyPr wrap="square" rtlCol="0" anchor="t">
              <a:spAutoFit/>
            </a:bodyPr>
            <a:lstStyle/>
            <a:p>
              <a:pPr marL="0" lvl="1"/>
              <a:r>
                <a:rPr lang="zh-CN" altLang="en-US" sz="2000" dirty="0">
                  <a:latin typeface="宋体" panose="02010600030101010101" pitchFamily="2" charset="-122"/>
                  <a:ea typeface="宋体" panose="02010600030101010101" pitchFamily="2" charset="-122"/>
                  <a:sym typeface="+mn-ea"/>
                </a:rPr>
                <a:t>给定可观测变量，推断目标变量的后验概率。</a:t>
              </a:r>
              <a:endParaRPr lang="zh-CN" altLang="en-US" sz="2000" dirty="0">
                <a:latin typeface="宋体" panose="02010600030101010101" pitchFamily="2" charset="-122"/>
                <a:ea typeface="宋体" panose="02010600030101010101" pitchFamily="2" charset="-122"/>
              </a:endParaRPr>
            </a:p>
          </p:txBody>
        </p:sp>
      </p:grpSp>
      <p:grpSp>
        <p:nvGrpSpPr>
          <p:cNvPr id="44" name="组合 43"/>
          <p:cNvGrpSpPr/>
          <p:nvPr/>
        </p:nvGrpSpPr>
        <p:grpSpPr>
          <a:xfrm>
            <a:off x="359543" y="3803498"/>
            <a:ext cx="7997190" cy="860425"/>
            <a:chOff x="754" y="7988"/>
            <a:chExt cx="12594" cy="1355"/>
          </a:xfrm>
        </p:grpSpPr>
        <p:grpSp>
          <p:nvGrpSpPr>
            <p:cNvPr id="26" name="组合 25"/>
            <p:cNvGrpSpPr/>
            <p:nvPr/>
          </p:nvGrpSpPr>
          <p:grpSpPr>
            <a:xfrm>
              <a:off x="754" y="7988"/>
              <a:ext cx="12594" cy="725"/>
              <a:chOff x="827" y="3088"/>
              <a:chExt cx="12594" cy="725"/>
            </a:xfrm>
          </p:grpSpPr>
          <p:sp>
            <p:nvSpPr>
              <p:cNvPr id="27" name="文本框 26"/>
              <p:cNvSpPr txBox="1"/>
              <p:nvPr/>
            </p:nvSpPr>
            <p:spPr>
              <a:xfrm>
                <a:off x="1672" y="3088"/>
                <a:ext cx="11749" cy="725"/>
              </a:xfrm>
              <a:prstGeom prst="rect">
                <a:avLst/>
              </a:prstGeom>
              <a:noFill/>
            </p:spPr>
            <p:txBody>
              <a:bodyPr wrap="square" rtlCol="0" anchor="t">
                <a:spAutoFit/>
              </a:bodyPr>
              <a:lstStyle/>
              <a:p>
                <a:r>
                  <a:rPr lang="en-US" altLang="zh-CN" sz="2400" dirty="0">
                    <a:sym typeface="+mn-ea"/>
                  </a:rPr>
                  <a:t>2. </a:t>
                </a:r>
                <a:r>
                  <a:rPr lang="zh-CN" altLang="en-US" sz="2400" dirty="0">
                    <a:sym typeface="+mn-ea"/>
                  </a:rPr>
                  <a:t>学习：</a:t>
                </a:r>
                <a:r>
                  <a:rPr lang="en-US" altLang="zh-CN" sz="2400" dirty="0">
                    <a:latin typeface="Times New Roman" panose="02020603050405020304" charset="0"/>
                    <a:cs typeface="Times New Roman" panose="02020603050405020304" charset="0"/>
                    <a:sym typeface="+mn-ea"/>
                  </a:rPr>
                  <a:t>Learning</a:t>
                </a:r>
                <a:endParaRPr lang="zh-CN" altLang="en-US" sz="2400" dirty="0">
                  <a:latin typeface="宋体" panose="02010600030101010101" pitchFamily="2" charset="-122"/>
                  <a:ea typeface="宋体" panose="02010600030101010101" pitchFamily="2" charset="-122"/>
                  <a:cs typeface="宋体" panose="02010600030101010101" pitchFamily="2" charset="-122"/>
                  <a:sym typeface="+mn-ea"/>
                </a:endParaRPr>
              </a:p>
            </p:txBody>
          </p:sp>
          <p:grpSp>
            <p:nvGrpSpPr>
              <p:cNvPr id="28" name="Group 98"/>
              <p:cNvGrpSpPr/>
              <p:nvPr/>
            </p:nvGrpSpPr>
            <p:grpSpPr bwMode="auto">
              <a:xfrm rot="420000">
                <a:off x="827" y="3140"/>
                <a:ext cx="809" cy="538"/>
                <a:chOff x="2345" y="1092"/>
                <a:chExt cx="1116" cy="555"/>
              </a:xfrm>
            </p:grpSpPr>
            <p:sp>
              <p:nvSpPr>
                <p:cNvPr id="29" name="AutoShape 99"/>
                <p:cNvSpPr>
                  <a:spLocks noChangeArrowheads="1"/>
                </p:cNvSpPr>
                <p:nvPr/>
              </p:nvSpPr>
              <p:spPr bwMode="gray">
                <a:xfrm rot="-5400000">
                  <a:off x="2249" y="1222"/>
                  <a:ext cx="288" cy="96"/>
                </a:xfrm>
                <a:prstGeom prst="parallelogram">
                  <a:avLst>
                    <a:gd name="adj" fmla="val 18736"/>
                  </a:avLst>
                </a:prstGeom>
                <a:gradFill rotWithShape="1">
                  <a:gsLst>
                    <a:gs pos="0">
                      <a:srgbClr val="EAEAEA">
                        <a:gamma/>
                        <a:shade val="85882"/>
                        <a:invGamma/>
                      </a:srgbClr>
                    </a:gs>
                    <a:gs pos="100000">
                      <a:srgbClr val="EAEAEA"/>
                    </a:gs>
                  </a:gsLst>
                  <a:lin ang="5400000" scaled="1"/>
                </a:gradFill>
                <a:ln w="9525">
                  <a:noFill/>
                  <a:miter lim="800000"/>
                </a:ln>
                <a:effectLst/>
                <a:scene3d>
                  <a:camera prst="legacyObliqueTopRight"/>
                  <a:lightRig rig="legacyFlat3" dir="b"/>
                </a:scene3d>
                <a:sp3d extrusionH="36500" prstMaterial="legacyMatte">
                  <a:bevelT w="13500" h="13500" prst="angle"/>
                  <a:bevelB w="13500" h="13500" prst="angle"/>
                  <a:extrusionClr>
                    <a:srgbClr val="EAEAEA"/>
                  </a:extrusionClr>
                </a:sp3d>
              </p:spPr>
              <p:txBody>
                <a:bodyPr wrap="none" anchor="ct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nvGrpSpPr>
                <p:cNvPr id="31" name="Group 100"/>
                <p:cNvGrpSpPr/>
                <p:nvPr/>
              </p:nvGrpSpPr>
              <p:grpSpPr bwMode="auto">
                <a:xfrm>
                  <a:off x="2414" y="1092"/>
                  <a:ext cx="1047" cy="555"/>
                  <a:chOff x="2414" y="1104"/>
                  <a:chExt cx="975" cy="555"/>
                </a:xfrm>
              </p:grpSpPr>
              <p:sp>
                <p:nvSpPr>
                  <p:cNvPr id="32" name="Freeform 101"/>
                  <p:cNvSpPr/>
                  <p:nvPr/>
                </p:nvSpPr>
                <p:spPr bwMode="gray">
                  <a:xfrm flipH="1">
                    <a:off x="2414" y="1104"/>
                    <a:ext cx="975" cy="555"/>
                  </a:xfrm>
                  <a:custGeom>
                    <a:avLst/>
                    <a:gdLst/>
                    <a:ahLst/>
                    <a:cxnLst>
                      <a:cxn ang="0">
                        <a:pos x="837" y="0"/>
                      </a:cxn>
                      <a:cxn ang="0">
                        <a:pos x="837" y="317"/>
                      </a:cxn>
                      <a:cxn ang="0">
                        <a:pos x="116" y="476"/>
                      </a:cxn>
                      <a:cxn ang="0">
                        <a:pos x="0" y="304"/>
                      </a:cxn>
                      <a:cxn ang="0">
                        <a:pos x="110" y="100"/>
                      </a:cxn>
                      <a:cxn ang="0">
                        <a:pos x="837" y="0"/>
                      </a:cxn>
                    </a:cxnLst>
                    <a:rect l="0" t="0" r="r" b="b"/>
                    <a:pathLst>
                      <a:path w="837" h="476">
                        <a:moveTo>
                          <a:pt x="837" y="0"/>
                        </a:moveTo>
                        <a:lnTo>
                          <a:pt x="837" y="317"/>
                        </a:lnTo>
                        <a:lnTo>
                          <a:pt x="116" y="476"/>
                        </a:lnTo>
                        <a:lnTo>
                          <a:pt x="0" y="304"/>
                        </a:lnTo>
                        <a:lnTo>
                          <a:pt x="110" y="100"/>
                        </a:lnTo>
                        <a:lnTo>
                          <a:pt x="837" y="0"/>
                        </a:lnTo>
                        <a:close/>
                      </a:path>
                    </a:pathLst>
                  </a:custGeom>
                  <a:gradFill rotWithShape="1">
                    <a:gsLst>
                      <a:gs pos="0">
                        <a:srgbClr val="FFFFFF"/>
                      </a:gs>
                      <a:gs pos="100000">
                        <a:srgbClr val="FFFFFF">
                          <a:gamma/>
                          <a:shade val="85882"/>
                          <a:invGamma/>
                        </a:srgbClr>
                      </a:gs>
                    </a:gsLst>
                    <a:lin ang="0" scaled="1"/>
                  </a:gradFill>
                  <a:ln w="9525"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b">
                      <a:rot lat="0" lon="0" rev="8700000"/>
                    </a:lightRig>
                  </a:scene3d>
                  <a:sp3d>
                    <a:bevelT w="190500" h="38100"/>
                  </a:sp3d>
                </p:spPr>
                <p:txBody>
                  <a:bodyP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33" name="Freeform 102"/>
                  <p:cNvSpPr/>
                  <p:nvPr/>
                </p:nvSpPr>
                <p:spPr bwMode="gray">
                  <a:xfrm flipH="1">
                    <a:off x="2447" y="1143"/>
                    <a:ext cx="905" cy="461"/>
                  </a:xfrm>
                  <a:custGeom>
                    <a:avLst/>
                    <a:gdLst/>
                    <a:ahLst/>
                    <a:cxnLst>
                      <a:cxn ang="0">
                        <a:pos x="786" y="0"/>
                      </a:cxn>
                      <a:cxn ang="0">
                        <a:pos x="786" y="252"/>
                      </a:cxn>
                      <a:cxn ang="0">
                        <a:pos x="92" y="396"/>
                      </a:cxn>
                      <a:cxn ang="0">
                        <a:pos x="0" y="266"/>
                      </a:cxn>
                      <a:cxn ang="0">
                        <a:pos x="88" y="112"/>
                      </a:cxn>
                      <a:cxn ang="0">
                        <a:pos x="786" y="0"/>
                      </a:cxn>
                    </a:cxnLst>
                    <a:rect l="0" t="0" r="r" b="b"/>
                    <a:pathLst>
                      <a:path w="786" h="396">
                        <a:moveTo>
                          <a:pt x="786" y="0"/>
                        </a:moveTo>
                        <a:lnTo>
                          <a:pt x="786" y="252"/>
                        </a:lnTo>
                        <a:lnTo>
                          <a:pt x="92" y="396"/>
                        </a:lnTo>
                        <a:lnTo>
                          <a:pt x="0" y="266"/>
                        </a:lnTo>
                        <a:lnTo>
                          <a:pt x="88" y="112"/>
                        </a:lnTo>
                        <a:lnTo>
                          <a:pt x="786" y="0"/>
                        </a:lnTo>
                        <a:close/>
                      </a:path>
                    </a:pathLst>
                  </a:custGeom>
                  <a:solidFill>
                    <a:srgbClr val="18478F"/>
                  </a:solidFill>
                  <a:ln w="9525" cap="flat" cmpd="sng">
                    <a:noFill/>
                    <a:prstDash val="solid"/>
                    <a:round/>
                    <a:headEnd type="none" w="med" len="med"/>
                    <a:tailEnd type="none" w="med" len="med"/>
                  </a:ln>
                  <a:effectLst/>
                </p:spPr>
                <p:txBody>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grpSp>
        </p:grpSp>
        <p:sp>
          <p:nvSpPr>
            <p:cNvPr id="43" name="文本框 42"/>
            <p:cNvSpPr txBox="1"/>
            <p:nvPr/>
          </p:nvSpPr>
          <p:spPr>
            <a:xfrm>
              <a:off x="1601" y="8713"/>
              <a:ext cx="11148" cy="630"/>
            </a:xfrm>
            <a:prstGeom prst="rect">
              <a:avLst/>
            </a:prstGeom>
            <a:noFill/>
          </p:spPr>
          <p:txBody>
            <a:bodyPr wrap="square" rtlCol="0" anchor="t">
              <a:spAutoFit/>
            </a:bodyPr>
            <a:lstStyle/>
            <a:p>
              <a:pPr marL="0" lvl="1"/>
              <a:r>
                <a:rPr lang="zh-CN" altLang="en-US" sz="2000" dirty="0">
                  <a:latin typeface="宋体" panose="02010600030101010101" pitchFamily="2" charset="-122"/>
                  <a:ea typeface="宋体" panose="02010600030101010101" pitchFamily="2" charset="-122"/>
                  <a:sym typeface="+mn-ea"/>
                </a:rPr>
                <a:t>参数学习：给定一组训练样本，求解可观测变量参数</a:t>
              </a:r>
              <a:endParaRPr lang="zh-CN" altLang="en-US" sz="2000" dirty="0">
                <a:latin typeface="宋体" panose="02010600030101010101" pitchFamily="2" charset="-122"/>
                <a:ea typeface="宋体" panose="02010600030101010101" pitchFamily="2" charset="-122"/>
              </a:endParaRPr>
            </a:p>
          </p:txBody>
        </p:sp>
      </p:grpSp>
      <p:pic>
        <p:nvPicPr>
          <p:cNvPr id="50" name="图片 49">
            <a:extLst>
              <a:ext uri="{FF2B5EF4-FFF2-40B4-BE49-F238E27FC236}">
                <a16:creationId xmlns:a16="http://schemas.microsoft.com/office/drawing/2014/main" id="{8E3B804A-DE4F-4237-8FEE-7D277CC3022F}"/>
              </a:ext>
            </a:extLst>
          </p:cNvPr>
          <p:cNvPicPr>
            <a:picLocks noChangeAspect="1"/>
          </p:cNvPicPr>
          <p:nvPr/>
        </p:nvPicPr>
        <p:blipFill>
          <a:blip r:embed="rId5"/>
          <a:stretch>
            <a:fillRect/>
          </a:stretch>
        </p:blipFill>
        <p:spPr>
          <a:xfrm>
            <a:off x="897388" y="1845646"/>
            <a:ext cx="2621486" cy="1866325"/>
          </a:xfrm>
          <a:prstGeom prst="rect">
            <a:avLst/>
          </a:prstGeom>
        </p:spPr>
      </p:pic>
      <p:sp>
        <p:nvSpPr>
          <p:cNvPr id="4" name="箭头: 右 3">
            <a:extLst>
              <a:ext uri="{FF2B5EF4-FFF2-40B4-BE49-F238E27FC236}">
                <a16:creationId xmlns:a16="http://schemas.microsoft.com/office/drawing/2014/main" id="{2A0F797B-2041-425C-AE94-75ACC9F4675B}"/>
              </a:ext>
            </a:extLst>
          </p:cNvPr>
          <p:cNvSpPr/>
          <p:nvPr/>
        </p:nvSpPr>
        <p:spPr>
          <a:xfrm>
            <a:off x="3803009" y="2599341"/>
            <a:ext cx="492490" cy="3120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椭圆 50">
                <a:extLst>
                  <a:ext uri="{FF2B5EF4-FFF2-40B4-BE49-F238E27FC236}">
                    <a16:creationId xmlns:a16="http://schemas.microsoft.com/office/drawing/2014/main" id="{D822AB2B-1F75-4E0E-B561-DC1668EF5386}"/>
                  </a:ext>
                </a:extLst>
              </p:cNvPr>
              <p:cNvSpPr/>
              <p:nvPr/>
            </p:nvSpPr>
            <p:spPr>
              <a:xfrm>
                <a:off x="5427825" y="2148165"/>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𝑌</m:t>
                      </m:r>
                    </m:oMath>
                  </m:oMathPara>
                </a14:m>
                <a:endParaRPr lang="zh-CN" altLang="en-US" dirty="0"/>
              </a:p>
            </p:txBody>
          </p:sp>
        </mc:Choice>
        <mc:Fallback xmlns="">
          <p:sp>
            <p:nvSpPr>
              <p:cNvPr id="51" name="椭圆 50">
                <a:extLst>
                  <a:ext uri="{FF2B5EF4-FFF2-40B4-BE49-F238E27FC236}">
                    <a16:creationId xmlns:a16="http://schemas.microsoft.com/office/drawing/2014/main" id="{D822AB2B-1F75-4E0E-B561-DC1668EF5386}"/>
                  </a:ext>
                </a:extLst>
              </p:cNvPr>
              <p:cNvSpPr>
                <a:spLocks noRot="1" noChangeAspect="1" noMove="1" noResize="1" noEditPoints="1" noAdjustHandles="1" noChangeArrowheads="1" noChangeShapeType="1" noTextEdit="1"/>
              </p:cNvSpPr>
              <p:nvPr/>
            </p:nvSpPr>
            <p:spPr>
              <a:xfrm>
                <a:off x="5427825" y="2148165"/>
                <a:ext cx="537519" cy="512805"/>
              </a:xfrm>
              <a:prstGeom prst="ellipse">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椭圆 51">
                <a:extLst>
                  <a:ext uri="{FF2B5EF4-FFF2-40B4-BE49-F238E27FC236}">
                    <a16:creationId xmlns:a16="http://schemas.microsoft.com/office/drawing/2014/main" id="{1C546DBD-6B9E-42F4-9E50-BEFA96058085}"/>
                  </a:ext>
                </a:extLst>
              </p:cNvPr>
              <p:cNvSpPr/>
              <p:nvPr/>
            </p:nvSpPr>
            <p:spPr>
              <a:xfrm>
                <a:off x="4295499" y="3060505"/>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52" name="椭圆 51">
                <a:extLst>
                  <a:ext uri="{FF2B5EF4-FFF2-40B4-BE49-F238E27FC236}">
                    <a16:creationId xmlns:a16="http://schemas.microsoft.com/office/drawing/2014/main" id="{1C546DBD-6B9E-42F4-9E50-BEFA96058085}"/>
                  </a:ext>
                </a:extLst>
              </p:cNvPr>
              <p:cNvSpPr>
                <a:spLocks noRot="1" noChangeAspect="1" noMove="1" noResize="1" noEditPoints="1" noAdjustHandles="1" noChangeArrowheads="1" noChangeShapeType="1" noTextEdit="1"/>
              </p:cNvSpPr>
              <p:nvPr/>
            </p:nvSpPr>
            <p:spPr>
              <a:xfrm>
                <a:off x="4295499" y="3060505"/>
                <a:ext cx="537519" cy="512805"/>
              </a:xfrm>
              <a:prstGeom prst="ellipse">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椭圆 52">
                <a:extLst>
                  <a:ext uri="{FF2B5EF4-FFF2-40B4-BE49-F238E27FC236}">
                    <a16:creationId xmlns:a16="http://schemas.microsoft.com/office/drawing/2014/main" id="{A8A150D7-54F7-4279-ABBD-FFF9D7F8E50A}"/>
                  </a:ext>
                </a:extLst>
              </p:cNvPr>
              <p:cNvSpPr/>
              <p:nvPr/>
            </p:nvSpPr>
            <p:spPr>
              <a:xfrm>
                <a:off x="5427825" y="3060505"/>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53" name="椭圆 52">
                <a:extLst>
                  <a:ext uri="{FF2B5EF4-FFF2-40B4-BE49-F238E27FC236}">
                    <a16:creationId xmlns:a16="http://schemas.microsoft.com/office/drawing/2014/main" id="{A8A150D7-54F7-4279-ABBD-FFF9D7F8E50A}"/>
                  </a:ext>
                </a:extLst>
              </p:cNvPr>
              <p:cNvSpPr>
                <a:spLocks noRot="1" noChangeAspect="1" noMove="1" noResize="1" noEditPoints="1" noAdjustHandles="1" noChangeArrowheads="1" noChangeShapeType="1" noTextEdit="1"/>
              </p:cNvSpPr>
              <p:nvPr/>
            </p:nvSpPr>
            <p:spPr>
              <a:xfrm>
                <a:off x="5427825" y="3060505"/>
                <a:ext cx="537519" cy="512805"/>
              </a:xfrm>
              <a:prstGeom prst="ellipse">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椭圆 53">
                <a:extLst>
                  <a:ext uri="{FF2B5EF4-FFF2-40B4-BE49-F238E27FC236}">
                    <a16:creationId xmlns:a16="http://schemas.microsoft.com/office/drawing/2014/main" id="{81ECC9CD-7ACB-44BD-A05A-8C9F9CED6FA3}"/>
                  </a:ext>
                </a:extLst>
              </p:cNvPr>
              <p:cNvSpPr/>
              <p:nvPr/>
            </p:nvSpPr>
            <p:spPr>
              <a:xfrm>
                <a:off x="6560151" y="3060505"/>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54" name="椭圆 53">
                <a:extLst>
                  <a:ext uri="{FF2B5EF4-FFF2-40B4-BE49-F238E27FC236}">
                    <a16:creationId xmlns:a16="http://schemas.microsoft.com/office/drawing/2014/main" id="{81ECC9CD-7ACB-44BD-A05A-8C9F9CED6FA3}"/>
                  </a:ext>
                </a:extLst>
              </p:cNvPr>
              <p:cNvSpPr>
                <a:spLocks noRot="1" noChangeAspect="1" noMove="1" noResize="1" noEditPoints="1" noAdjustHandles="1" noChangeArrowheads="1" noChangeShapeType="1" noTextEdit="1"/>
              </p:cNvSpPr>
              <p:nvPr/>
            </p:nvSpPr>
            <p:spPr>
              <a:xfrm>
                <a:off x="6560151" y="3060505"/>
                <a:ext cx="537519" cy="512805"/>
              </a:xfrm>
              <a:prstGeom prst="ellipse">
                <a:avLst/>
              </a:prstGeom>
              <a:blipFill>
                <a:blip r:embed="rId9"/>
                <a:stretch>
                  <a:fillRect/>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E10A0730-3E78-4A05-9B95-AE88B615B1B2}"/>
              </a:ext>
            </a:extLst>
          </p:cNvPr>
          <p:cNvCxnSpPr>
            <a:stCxn id="51" idx="4"/>
            <a:endCxn id="52" idx="0"/>
          </p:cNvCxnSpPr>
          <p:nvPr/>
        </p:nvCxnSpPr>
        <p:spPr>
          <a:xfrm flipH="1">
            <a:off x="4564259" y="2660970"/>
            <a:ext cx="1132326" cy="3995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6" name="直接箭头连接符 55">
            <a:extLst>
              <a:ext uri="{FF2B5EF4-FFF2-40B4-BE49-F238E27FC236}">
                <a16:creationId xmlns:a16="http://schemas.microsoft.com/office/drawing/2014/main" id="{896283CE-C0AB-4BE1-A83E-F61310851FAA}"/>
              </a:ext>
            </a:extLst>
          </p:cNvPr>
          <p:cNvCxnSpPr>
            <a:cxnSpLocks/>
            <a:stCxn id="51" idx="4"/>
            <a:endCxn id="53" idx="0"/>
          </p:cNvCxnSpPr>
          <p:nvPr/>
        </p:nvCxnSpPr>
        <p:spPr>
          <a:xfrm>
            <a:off x="5696585" y="2660970"/>
            <a:ext cx="0" cy="3995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57" name="直接箭头连接符 56">
            <a:extLst>
              <a:ext uri="{FF2B5EF4-FFF2-40B4-BE49-F238E27FC236}">
                <a16:creationId xmlns:a16="http://schemas.microsoft.com/office/drawing/2014/main" id="{B038AB65-4B10-4E61-97CB-3EE51FABAED8}"/>
              </a:ext>
            </a:extLst>
          </p:cNvPr>
          <p:cNvCxnSpPr>
            <a:cxnSpLocks/>
            <a:stCxn id="51" idx="4"/>
            <a:endCxn id="54" idx="0"/>
          </p:cNvCxnSpPr>
          <p:nvPr/>
        </p:nvCxnSpPr>
        <p:spPr>
          <a:xfrm>
            <a:off x="5696585" y="2660970"/>
            <a:ext cx="1132326" cy="39953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713F64CD-18A8-416B-AFE2-8D3899C53B4F}"/>
                  </a:ext>
                </a:extLst>
              </p:cNvPr>
              <p:cNvSpPr txBox="1"/>
              <p:nvPr/>
            </p:nvSpPr>
            <p:spPr>
              <a:xfrm>
                <a:off x="1333093" y="4708945"/>
                <a:ext cx="49132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F0000"/>
                          </a:solidFill>
                          <a:latin typeface="Cambria Math" panose="02040503050406030204" pitchFamily="18" charset="0"/>
                          <a:ea typeface="Cambria Math" panose="02040503050406030204" pitchFamily="18" charset="0"/>
                        </a:rPr>
                        <m:t>𝑝</m:t>
                      </m:r>
                      <m:d>
                        <m:dPr>
                          <m:sepChr m:val="∣"/>
                          <m:ctrlPr>
                            <a:rPr lang="en-US" altLang="zh-CN" b="0" i="1" smtClean="0">
                              <a:solidFill>
                                <a:srgbClr val="FF0000"/>
                              </a:solidFill>
                              <a:latin typeface="Cambria Math" panose="02040503050406030204" pitchFamily="18" charset="0"/>
                              <a:ea typeface="Cambria Math" panose="02040503050406030204" pitchFamily="18" charset="0"/>
                            </a:rPr>
                          </m:ctrlPr>
                        </m:dPr>
                        <m:e>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1</m:t>
                              </m:r>
                            </m:sub>
                          </m:sSub>
                          <m:r>
                            <a:rPr lang="en-US" altLang="zh-CN" b="0" i="1" smtClean="0">
                              <a:solidFill>
                                <a:srgbClr val="FF0000"/>
                              </a:solidFill>
                              <a:latin typeface="Cambria Math" panose="02040503050406030204" pitchFamily="18" charset="0"/>
                              <a:ea typeface="Cambria Math" panose="02040503050406030204" pitchFamily="18" charset="0"/>
                            </a:rPr>
                            <m:t>,</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2</m:t>
                              </m:r>
                            </m:sub>
                          </m:sSub>
                          <m:r>
                            <a:rPr lang="en-US" altLang="zh-CN" b="0" i="1" smtClean="0">
                              <a:solidFill>
                                <a:srgbClr val="FF0000"/>
                              </a:solidFill>
                              <a:latin typeface="Cambria Math" panose="02040503050406030204" pitchFamily="18" charset="0"/>
                              <a:ea typeface="Cambria Math" panose="02040503050406030204" pitchFamily="18" charset="0"/>
                            </a:rPr>
                            <m:t>,</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3</m:t>
                              </m:r>
                            </m:sub>
                          </m:sSub>
                        </m:e>
                        <m:e>
                          <m:r>
                            <a:rPr lang="en-US" altLang="zh-CN" b="0" i="1" smtClean="0">
                              <a:solidFill>
                                <a:srgbClr val="FF0000"/>
                              </a:solidFill>
                              <a:latin typeface="Cambria Math" panose="02040503050406030204" pitchFamily="18" charset="0"/>
                              <a:ea typeface="Cambria Math" panose="02040503050406030204" pitchFamily="18" charset="0"/>
                            </a:rPr>
                            <m:t>𝑦</m:t>
                          </m:r>
                        </m:e>
                      </m:d>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𝑝</m:t>
                      </m:r>
                      <m:d>
                        <m:dPr>
                          <m:sepChr m:val="∣"/>
                          <m:ctrlPr>
                            <a:rPr lang="en-US" altLang="zh-CN" b="0" i="1" smtClean="0">
                              <a:solidFill>
                                <a:srgbClr val="FF0000"/>
                              </a:solidFill>
                              <a:latin typeface="Cambria Math" panose="02040503050406030204" pitchFamily="18" charset="0"/>
                              <a:ea typeface="Cambria Math" panose="02040503050406030204" pitchFamily="18" charset="0"/>
                            </a:rPr>
                          </m:ctrlPr>
                        </m:dPr>
                        <m:e>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1</m:t>
                              </m:r>
                            </m:sub>
                          </m:sSub>
                        </m:e>
                        <m:e>
                          <m:r>
                            <a:rPr lang="en-US" altLang="zh-CN" b="0" i="1" smtClean="0">
                              <a:solidFill>
                                <a:srgbClr val="FF0000"/>
                              </a:solidFill>
                              <a:latin typeface="Cambria Math" panose="02040503050406030204" pitchFamily="18" charset="0"/>
                              <a:ea typeface="Cambria Math" panose="02040503050406030204" pitchFamily="18" charset="0"/>
                            </a:rPr>
                            <m:t>𝑦</m:t>
                          </m:r>
                        </m:e>
                      </m:d>
                      <m:r>
                        <a:rPr lang="en-US" altLang="zh-CN" b="0" i="1" smtClean="0">
                          <a:solidFill>
                            <a:srgbClr val="FF0000"/>
                          </a:solidFill>
                          <a:latin typeface="Cambria Math" panose="02040503050406030204" pitchFamily="18" charset="0"/>
                          <a:ea typeface="Cambria Math" panose="02040503050406030204" pitchFamily="18" charset="0"/>
                        </a:rPr>
                        <m:t>𝑝</m:t>
                      </m:r>
                      <m:d>
                        <m:dPr>
                          <m:sepChr m:val="∣"/>
                          <m:ctrlPr>
                            <a:rPr lang="en-US" altLang="zh-CN" b="0" i="1" smtClean="0">
                              <a:solidFill>
                                <a:srgbClr val="FF0000"/>
                              </a:solidFill>
                              <a:latin typeface="Cambria Math" panose="02040503050406030204" pitchFamily="18" charset="0"/>
                              <a:ea typeface="Cambria Math" panose="02040503050406030204" pitchFamily="18" charset="0"/>
                            </a:rPr>
                          </m:ctrlPr>
                        </m:dPr>
                        <m:e>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2</m:t>
                              </m:r>
                            </m:sub>
                          </m:sSub>
                        </m:e>
                        <m:e>
                          <m:r>
                            <a:rPr lang="en-US" altLang="zh-CN" b="0" i="1" smtClean="0">
                              <a:solidFill>
                                <a:srgbClr val="FF0000"/>
                              </a:solidFill>
                              <a:latin typeface="Cambria Math" panose="02040503050406030204" pitchFamily="18" charset="0"/>
                              <a:ea typeface="Cambria Math" panose="02040503050406030204" pitchFamily="18" charset="0"/>
                            </a:rPr>
                            <m:t>𝑦</m:t>
                          </m:r>
                        </m:e>
                      </m:d>
                      <m:r>
                        <a:rPr lang="en-US" altLang="zh-CN" b="0" i="1" smtClean="0">
                          <a:solidFill>
                            <a:srgbClr val="FF0000"/>
                          </a:solidFill>
                          <a:latin typeface="Cambria Math" panose="02040503050406030204" pitchFamily="18" charset="0"/>
                          <a:ea typeface="Cambria Math" panose="02040503050406030204" pitchFamily="18" charset="0"/>
                        </a:rPr>
                        <m:t>𝑝</m:t>
                      </m:r>
                      <m:r>
                        <a:rPr lang="en-US" altLang="zh-CN" b="0" i="1" smtClean="0">
                          <a:solidFill>
                            <a:srgbClr val="FF0000"/>
                          </a:solidFill>
                          <a:latin typeface="Cambria Math" panose="02040503050406030204" pitchFamily="18" charset="0"/>
                          <a:ea typeface="Cambria Math" panose="02040503050406030204" pitchFamily="18" charset="0"/>
                        </a:rPr>
                        <m:t>(</m:t>
                      </m:r>
                      <m:sSub>
                        <m:sSubPr>
                          <m:ctrlPr>
                            <a:rPr lang="en-US" altLang="zh-CN" b="0" i="1" smtClean="0">
                              <a:solidFill>
                                <a:srgbClr val="FF0000"/>
                              </a:solidFill>
                              <a:latin typeface="Cambria Math" panose="02040503050406030204" pitchFamily="18" charset="0"/>
                              <a:ea typeface="Cambria Math" panose="02040503050406030204" pitchFamily="18" charset="0"/>
                            </a:rPr>
                          </m:ctrlPr>
                        </m:sSubPr>
                        <m:e>
                          <m:r>
                            <a:rPr lang="en-US" altLang="zh-CN" b="0" i="1" smtClean="0">
                              <a:solidFill>
                                <a:srgbClr val="FF0000"/>
                              </a:solidFill>
                              <a:latin typeface="Cambria Math" panose="02040503050406030204" pitchFamily="18" charset="0"/>
                              <a:ea typeface="Cambria Math" panose="02040503050406030204" pitchFamily="18" charset="0"/>
                            </a:rPr>
                            <m:t>𝑥</m:t>
                          </m:r>
                        </m:e>
                        <m:sub>
                          <m:r>
                            <a:rPr lang="en-US" altLang="zh-CN" b="0" i="1" smtClean="0">
                              <a:solidFill>
                                <a:srgbClr val="FF0000"/>
                              </a:solidFill>
                              <a:latin typeface="Cambria Math" panose="02040503050406030204" pitchFamily="18" charset="0"/>
                              <a:ea typeface="Cambria Math" panose="02040503050406030204" pitchFamily="18" charset="0"/>
                            </a:rPr>
                            <m:t>3</m:t>
                          </m:r>
                        </m:sub>
                      </m:sSub>
                      <m:r>
                        <a:rPr lang="en-US" altLang="zh-CN" b="0" i="1" smtClean="0">
                          <a:solidFill>
                            <a:srgbClr val="FF0000"/>
                          </a:solidFill>
                          <a:latin typeface="Cambria Math" panose="02040503050406030204" pitchFamily="18" charset="0"/>
                          <a:ea typeface="Cambria Math" panose="02040503050406030204" pitchFamily="18" charset="0"/>
                        </a:rPr>
                        <m:t>∣</m:t>
                      </m:r>
                      <m:r>
                        <a:rPr lang="en-US" altLang="zh-CN" b="0" i="1" smtClean="0">
                          <a:solidFill>
                            <a:srgbClr val="FF0000"/>
                          </a:solidFill>
                          <a:latin typeface="Cambria Math" panose="02040503050406030204" pitchFamily="18" charset="0"/>
                          <a:ea typeface="Cambria Math" panose="02040503050406030204" pitchFamily="18" charset="0"/>
                        </a:rPr>
                        <m:t>𝑦</m:t>
                      </m:r>
                      <m:r>
                        <a:rPr lang="en-US" altLang="zh-CN" b="0" i="1" smtClean="0">
                          <a:solidFill>
                            <a:srgbClr val="FF0000"/>
                          </a:solidFill>
                          <a:latin typeface="Cambria Math" panose="02040503050406030204" pitchFamily="18" charset="0"/>
                          <a:ea typeface="Cambria Math" panose="02040503050406030204" pitchFamily="18" charset="0"/>
                        </a:rPr>
                        <m:t>)</m:t>
                      </m:r>
                    </m:oMath>
                  </m:oMathPara>
                </a14:m>
                <a:endParaRPr lang="zh-CN" altLang="en-US" dirty="0">
                  <a:solidFill>
                    <a:srgbClr val="FF0000"/>
                  </a:solidFill>
                </a:endParaRPr>
              </a:p>
            </p:txBody>
          </p:sp>
        </mc:Choice>
        <mc:Fallback xmlns="">
          <p:sp>
            <p:nvSpPr>
              <p:cNvPr id="58" name="文本框 57">
                <a:extLst>
                  <a:ext uri="{FF2B5EF4-FFF2-40B4-BE49-F238E27FC236}">
                    <a16:creationId xmlns:a16="http://schemas.microsoft.com/office/drawing/2014/main" id="{713F64CD-18A8-416B-AFE2-8D3899C53B4F}"/>
                  </a:ext>
                </a:extLst>
              </p:cNvPr>
              <p:cNvSpPr txBox="1">
                <a:spLocks noRot="1" noChangeAspect="1" noMove="1" noResize="1" noEditPoints="1" noAdjustHandles="1" noChangeArrowheads="1" noChangeShapeType="1" noTextEdit="1"/>
              </p:cNvSpPr>
              <p:nvPr/>
            </p:nvSpPr>
            <p:spPr>
              <a:xfrm>
                <a:off x="1333093" y="4708945"/>
                <a:ext cx="4913268" cy="369332"/>
              </a:xfrm>
              <a:prstGeom prst="rect">
                <a:avLst/>
              </a:prstGeom>
              <a:blipFill>
                <a:blip r:embed="rId10"/>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901BC4B9-86C9-4F9D-97BF-EF63863ADBB6}"/>
                  </a:ext>
                </a:extLst>
              </p:cNvPr>
              <p:cNvSpPr txBox="1"/>
              <p:nvPr/>
            </p:nvSpPr>
            <p:spPr>
              <a:xfrm>
                <a:off x="1298605" y="5952174"/>
                <a:ext cx="4595361" cy="7442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rgbClr val="FF0000"/>
                          </a:solidFill>
                          <a:latin typeface="Cambria Math" panose="02040503050406030204" pitchFamily="18" charset="0"/>
                        </a:rPr>
                        <m:t>𝑝</m:t>
                      </m:r>
                      <m:d>
                        <m:dPr>
                          <m:sepChr m:val="∣"/>
                          <m:ctrlPr>
                            <a:rPr lang="en-US" altLang="zh-CN" sz="2000" b="0" i="1" smtClean="0">
                              <a:solidFill>
                                <a:srgbClr val="FF0000"/>
                              </a:solidFill>
                              <a:latin typeface="Cambria Math" panose="02040503050406030204" pitchFamily="18" charset="0"/>
                            </a:rPr>
                          </m:ctrlPr>
                        </m:dPr>
                        <m:e>
                          <m:r>
                            <a:rPr lang="en-US" altLang="zh-CN" sz="2000" b="0" i="1" smtClean="0">
                              <a:solidFill>
                                <a:srgbClr val="FF0000"/>
                              </a:solidFill>
                              <a:latin typeface="Cambria Math" panose="02040503050406030204" pitchFamily="18" charset="0"/>
                            </a:rPr>
                            <m:t>𝑦</m:t>
                          </m:r>
                        </m:e>
                        <m:e>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1</m:t>
                              </m:r>
                            </m:sub>
                          </m:sSub>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2</m:t>
                              </m:r>
                            </m:sub>
                          </m:sSub>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3</m:t>
                              </m:r>
                            </m:sub>
                          </m:sSub>
                        </m:e>
                      </m:d>
                      <m:r>
                        <a:rPr lang="en-US" altLang="zh-CN" sz="2000" b="0" i="1" smtClean="0">
                          <a:solidFill>
                            <a:srgbClr val="FF0000"/>
                          </a:solidFill>
                          <a:latin typeface="Cambria Math" panose="02040503050406030204" pitchFamily="18" charset="0"/>
                        </a:rPr>
                        <m:t>=</m:t>
                      </m:r>
                      <m:f>
                        <m:fPr>
                          <m:ctrlPr>
                            <a:rPr lang="en-US" altLang="zh-CN" sz="2000" b="0" i="1" smtClean="0">
                              <a:solidFill>
                                <a:srgbClr val="FF0000"/>
                              </a:solidFill>
                              <a:latin typeface="Cambria Math" panose="02040503050406030204" pitchFamily="18" charset="0"/>
                            </a:rPr>
                          </m:ctrlPr>
                        </m:fPr>
                        <m:num>
                          <m:r>
                            <a:rPr lang="en-US" altLang="zh-CN" sz="2000" b="0" i="1" smtClean="0">
                              <a:solidFill>
                                <a:srgbClr val="FF0000"/>
                              </a:solidFill>
                              <a:latin typeface="Cambria Math" panose="02040503050406030204" pitchFamily="18" charset="0"/>
                            </a:rPr>
                            <m:t>𝑝</m:t>
                          </m:r>
                          <m:d>
                            <m:dPr>
                              <m:sepChr m:val="∣"/>
                              <m:ctrlPr>
                                <a:rPr lang="en-US" altLang="zh-CN" sz="2000" b="0" i="1" smtClean="0">
                                  <a:solidFill>
                                    <a:srgbClr val="FF0000"/>
                                  </a:solidFill>
                                  <a:latin typeface="Cambria Math" panose="02040503050406030204" pitchFamily="18" charset="0"/>
                                </a:rPr>
                              </m:ctrlPr>
                            </m:dPr>
                            <m:e>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1</m:t>
                                  </m:r>
                                </m:sub>
                              </m:sSub>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2</m:t>
                                  </m:r>
                                </m:sub>
                              </m:sSub>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3</m:t>
                                  </m:r>
                                </m:sub>
                              </m:sSub>
                            </m:e>
                            <m:e>
                              <m:r>
                                <a:rPr lang="en-US" altLang="zh-CN" sz="2000" b="0" i="1" smtClean="0">
                                  <a:solidFill>
                                    <a:srgbClr val="FF0000"/>
                                  </a:solidFill>
                                  <a:latin typeface="Cambria Math" panose="02040503050406030204" pitchFamily="18" charset="0"/>
                                </a:rPr>
                                <m:t>𝑦</m:t>
                              </m:r>
                            </m:e>
                          </m:d>
                          <m:r>
                            <a:rPr lang="en-US" altLang="zh-CN" sz="2000" b="0" i="1" smtClean="0">
                              <a:solidFill>
                                <a:srgbClr val="FF0000"/>
                              </a:solidFill>
                              <a:latin typeface="Cambria Math" panose="02040503050406030204" pitchFamily="18" charset="0"/>
                            </a:rPr>
                            <m:t>𝑝</m:t>
                          </m:r>
                          <m:r>
                            <a:rPr lang="en-US" altLang="zh-CN" sz="2000" b="0" i="1" smtClean="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𝑦</m:t>
                          </m:r>
                          <m:r>
                            <a:rPr lang="en-US" altLang="zh-CN" sz="2000" b="0" i="1" smtClean="0">
                              <a:solidFill>
                                <a:srgbClr val="FF0000"/>
                              </a:solidFill>
                              <a:latin typeface="Cambria Math" panose="02040503050406030204" pitchFamily="18" charset="0"/>
                            </a:rPr>
                            <m:t>)</m:t>
                          </m:r>
                        </m:num>
                        <m:den>
                          <m:r>
                            <a:rPr lang="en-US" altLang="zh-CN" sz="2000" b="0" i="1" smtClean="0">
                              <a:solidFill>
                                <a:srgbClr val="FF0000"/>
                              </a:solidFill>
                              <a:latin typeface="Cambria Math" panose="02040503050406030204" pitchFamily="18" charset="0"/>
                            </a:rPr>
                            <m:t>𝑝</m:t>
                          </m:r>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1</m:t>
                              </m:r>
                            </m:sub>
                          </m:sSub>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2</m:t>
                              </m:r>
                            </m:sub>
                          </m:sSub>
                          <m:r>
                            <a:rPr lang="en-US" altLang="zh-CN" sz="2000" b="0" i="1" smtClean="0">
                              <a:solidFill>
                                <a:srgbClr val="FF0000"/>
                              </a:solidFill>
                              <a:latin typeface="Cambria Math" panose="02040503050406030204" pitchFamily="18" charset="0"/>
                            </a:rPr>
                            <m:t>,</m:t>
                          </m:r>
                          <m:sSub>
                            <m:sSubPr>
                              <m:ctrlPr>
                                <a:rPr lang="en-US" altLang="zh-CN" sz="2000" b="0" i="1" smtClean="0">
                                  <a:solidFill>
                                    <a:srgbClr val="FF0000"/>
                                  </a:solidFill>
                                  <a:latin typeface="Cambria Math" panose="02040503050406030204" pitchFamily="18" charset="0"/>
                                </a:rPr>
                              </m:ctrlPr>
                            </m:sSubPr>
                            <m:e>
                              <m:r>
                                <a:rPr lang="en-US" altLang="zh-CN" sz="2000" b="0" i="1" smtClean="0">
                                  <a:solidFill>
                                    <a:srgbClr val="FF0000"/>
                                  </a:solidFill>
                                  <a:latin typeface="Cambria Math" panose="02040503050406030204" pitchFamily="18" charset="0"/>
                                </a:rPr>
                                <m:t>𝑥</m:t>
                              </m:r>
                            </m:e>
                            <m:sub>
                              <m:r>
                                <a:rPr lang="en-US" altLang="zh-CN" sz="2000" b="0" i="1" smtClean="0">
                                  <a:solidFill>
                                    <a:srgbClr val="FF0000"/>
                                  </a:solidFill>
                                  <a:latin typeface="Cambria Math" panose="02040503050406030204" pitchFamily="18" charset="0"/>
                                </a:rPr>
                                <m:t>3</m:t>
                              </m:r>
                            </m:sub>
                          </m:sSub>
                          <m:r>
                            <a:rPr lang="en-US" altLang="zh-CN" sz="2000" b="0" i="1" smtClean="0">
                              <a:solidFill>
                                <a:srgbClr val="FF0000"/>
                              </a:solidFill>
                              <a:latin typeface="Cambria Math" panose="02040503050406030204" pitchFamily="18" charset="0"/>
                            </a:rPr>
                            <m:t>)</m:t>
                          </m:r>
                        </m:den>
                      </m:f>
                    </m:oMath>
                  </m:oMathPara>
                </a14:m>
                <a:endParaRPr lang="zh-CN" altLang="en-US" sz="2000" dirty="0">
                  <a:solidFill>
                    <a:srgbClr val="FF0000"/>
                  </a:solidFill>
                </a:endParaRPr>
              </a:p>
            </p:txBody>
          </p:sp>
        </mc:Choice>
        <mc:Fallback xmlns="">
          <p:sp>
            <p:nvSpPr>
              <p:cNvPr id="59" name="文本框 58">
                <a:extLst>
                  <a:ext uri="{FF2B5EF4-FFF2-40B4-BE49-F238E27FC236}">
                    <a16:creationId xmlns:a16="http://schemas.microsoft.com/office/drawing/2014/main" id="{901BC4B9-86C9-4F9D-97BF-EF63863ADBB6}"/>
                  </a:ext>
                </a:extLst>
              </p:cNvPr>
              <p:cNvSpPr txBox="1">
                <a:spLocks noRot="1" noChangeAspect="1" noMove="1" noResize="1" noEditPoints="1" noAdjustHandles="1" noChangeArrowheads="1" noChangeShapeType="1" noTextEdit="1"/>
              </p:cNvSpPr>
              <p:nvPr/>
            </p:nvSpPr>
            <p:spPr>
              <a:xfrm>
                <a:off x="1298605" y="5952174"/>
                <a:ext cx="4595361" cy="744243"/>
              </a:xfrm>
              <a:prstGeom prst="rect">
                <a:avLst/>
              </a:prstGeom>
              <a:blipFill>
                <a:blip r:embed="rId11"/>
                <a:stretch>
                  <a:fillRect/>
                </a:stretch>
              </a:blipFill>
            </p:spPr>
            <p:txBody>
              <a:bodyPr/>
              <a:lstStyle/>
              <a:p>
                <a:r>
                  <a:rPr lang="zh-CN" altLang="en-US">
                    <a:noFill/>
                  </a:rPr>
                  <a:t> </a:t>
                </a:r>
              </a:p>
            </p:txBody>
          </p:sp>
        </mc:Fallback>
      </mc:AlternateContent>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5026" y="429"/>
              <a:ext cx="90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概率图模型</a:t>
              </a:r>
            </a:p>
          </p:txBody>
        </p:sp>
      </p:grpSp>
      <p:pic>
        <p:nvPicPr>
          <p:cNvPr id="4" name="图片 3"/>
          <p:cNvPicPr>
            <a:picLocks noChangeAspect="1"/>
          </p:cNvPicPr>
          <p:nvPr>
            <p:custDataLst>
              <p:tags r:id="rId2"/>
            </p:custDataLst>
          </p:nvPr>
        </p:nvPicPr>
        <p:blipFill>
          <a:blip r:embed="rId6"/>
          <a:stretch>
            <a:fillRect/>
          </a:stretch>
        </p:blipFill>
        <p:spPr>
          <a:xfrm>
            <a:off x="0" y="1798320"/>
            <a:ext cx="9203055" cy="3261360"/>
          </a:xfrm>
          <a:prstGeom prst="rect">
            <a:avLst/>
          </a:prstGeom>
        </p:spPr>
      </p:pic>
      <p:sp>
        <p:nvSpPr>
          <p:cNvPr id="2" name="矩形: 圆角 1">
            <a:extLst>
              <a:ext uri="{FF2B5EF4-FFF2-40B4-BE49-F238E27FC236}">
                <a16:creationId xmlns:a16="http://schemas.microsoft.com/office/drawing/2014/main" id="{41085C68-E9D4-40B6-B1AF-63AA2A30C39A}"/>
              </a:ext>
            </a:extLst>
          </p:cNvPr>
          <p:cNvSpPr/>
          <p:nvPr/>
        </p:nvSpPr>
        <p:spPr>
          <a:xfrm>
            <a:off x="234778" y="4015946"/>
            <a:ext cx="1322173" cy="383059"/>
          </a:xfrm>
          <a:prstGeom prst="round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E02F1C62-1230-494B-9229-5302C12E8C6D}"/>
              </a:ext>
            </a:extLst>
          </p:cNvPr>
          <p:cNvSpPr/>
          <p:nvPr/>
        </p:nvSpPr>
        <p:spPr>
          <a:xfrm>
            <a:off x="3454408" y="4015946"/>
            <a:ext cx="1322173" cy="1043734"/>
          </a:xfrm>
          <a:prstGeom prst="round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F97A741D-6DDA-4745-8100-F59A42F21F1E}"/>
              </a:ext>
            </a:extLst>
          </p:cNvPr>
          <p:cNvSpPr/>
          <p:nvPr/>
        </p:nvSpPr>
        <p:spPr>
          <a:xfrm>
            <a:off x="7672181" y="4343400"/>
            <a:ext cx="1322173" cy="716280"/>
          </a:xfrm>
          <a:prstGeom prst="round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5496" y="1883306"/>
            <a:ext cx="9073008" cy="1014730"/>
          </a:xfrm>
          <a:prstGeom prst="rect">
            <a:avLst/>
          </a:prstGeom>
          <a:noFill/>
        </p:spPr>
        <p:txBody>
          <a:bodyPr wrap="square" rtlCol="0">
            <a:spAutoFit/>
          </a:bodyPr>
          <a:lstStyle/>
          <a:p>
            <a:pPr algn="ctr">
              <a:buClrTx/>
              <a:buSzTx/>
              <a:buFontTx/>
            </a:pPr>
            <a:r>
              <a:rPr lang="zh-CN" altLang="en-US" sz="6000" b="1" dirty="0">
                <a:solidFill>
                  <a:srgbClr val="18478F"/>
                </a:solidFill>
                <a:latin typeface="+mn-ea"/>
                <a:cs typeface="+mn-ea"/>
                <a:sym typeface="+mn-ea"/>
              </a:rPr>
              <a:t>概率图构建与表示</a:t>
            </a:r>
            <a:endParaRPr lang="zh-CN" altLang="en-US" sz="6000" b="1" dirty="0">
              <a:solidFill>
                <a:srgbClr val="18478F"/>
              </a:solidFill>
              <a:latin typeface="+mn-ea"/>
              <a:cs typeface="+mn-ea"/>
            </a:endParaRPr>
          </a:p>
        </p:txBody>
      </p:sp>
      <p:pic>
        <p:nvPicPr>
          <p:cNvPr id="6" name="Picture 7" descr="校园-大门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97095"/>
            <a:ext cx="9144000" cy="214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未标题-1"/>
          <p:cNvPicPr>
            <a:picLocks noChangeAspect="1"/>
          </p:cNvPicPr>
          <p:nvPr/>
        </p:nvPicPr>
        <p:blipFill>
          <a:blip r:embed="rId4"/>
          <a:stretch>
            <a:fillRect/>
          </a:stretch>
        </p:blipFill>
        <p:spPr>
          <a:xfrm>
            <a:off x="63500" y="63500"/>
            <a:ext cx="1228090" cy="1256030"/>
          </a:xfrm>
          <a:prstGeom prst="rect">
            <a:avLst/>
          </a:prstGeom>
        </p:spPr>
      </p:pic>
    </p:spTree>
    <p:extLst>
      <p:ext uri="{BB962C8B-B14F-4D97-AF65-F5344CB8AC3E}">
        <p14:creationId xmlns:p14="http://schemas.microsoft.com/office/powerpoint/2010/main" val="3201648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5026" y="429"/>
              <a:ext cx="90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贝叶斯网络</a:t>
              </a:r>
              <a:endParaRPr lang="en-US" altLang="zh-CN" sz="4000" b="1" dirty="0">
                <a:solidFill>
                  <a:srgbClr val="18478F"/>
                </a:solidFill>
                <a:latin typeface="+mn-ea"/>
                <a:cs typeface="+mn-ea"/>
                <a:sym typeface="+mn-ea"/>
              </a:endParaRPr>
            </a:p>
          </p:txBody>
        </p:sp>
      </p:grpSp>
      <p:pic>
        <p:nvPicPr>
          <p:cNvPr id="4" name="图片 3"/>
          <p:cNvPicPr>
            <a:picLocks noChangeAspect="1"/>
          </p:cNvPicPr>
          <p:nvPr/>
        </p:nvPicPr>
        <p:blipFill>
          <a:blip r:embed="rId5"/>
          <a:stretch>
            <a:fillRect/>
          </a:stretch>
        </p:blipFill>
        <p:spPr>
          <a:xfrm>
            <a:off x="321945" y="2566035"/>
            <a:ext cx="7196977" cy="3886200"/>
          </a:xfrm>
          <a:prstGeom prst="rect">
            <a:avLst/>
          </a:prstGeom>
        </p:spPr>
      </p:pic>
      <p:pic>
        <p:nvPicPr>
          <p:cNvPr id="16" name="图片 15"/>
          <p:cNvPicPr>
            <a:picLocks noChangeAspect="1"/>
          </p:cNvPicPr>
          <p:nvPr/>
        </p:nvPicPr>
        <p:blipFill>
          <a:blip r:embed="rId6"/>
          <a:stretch>
            <a:fillRect/>
          </a:stretch>
        </p:blipFill>
        <p:spPr>
          <a:xfrm>
            <a:off x="6442075" y="1184910"/>
            <a:ext cx="2479040" cy="1217930"/>
          </a:xfrm>
          <a:prstGeom prst="rect">
            <a:avLst/>
          </a:prstGeom>
        </p:spPr>
      </p:pic>
      <p:sp>
        <p:nvSpPr>
          <p:cNvPr id="5" name="文本框 4"/>
          <p:cNvSpPr txBox="1"/>
          <p:nvPr/>
        </p:nvSpPr>
        <p:spPr>
          <a:xfrm>
            <a:off x="321945" y="1203960"/>
            <a:ext cx="6104890" cy="1198880"/>
          </a:xfrm>
          <a:prstGeom prst="rect">
            <a:avLst/>
          </a:prstGeom>
          <a:noFill/>
        </p:spPr>
        <p:txBody>
          <a:bodyPr wrap="square" rtlCol="0" anchor="t">
            <a:spAutoFit/>
          </a:bodyPr>
          <a:lstStyle/>
          <a:p>
            <a:r>
              <a:rPr lang="en-US" altLang="zh-CN" sz="2400" dirty="0">
                <a:latin typeface="Times New Roman" panose="02020603050405020304" charset="0"/>
                <a:cs typeface="Times New Roman" panose="02020603050405020304" charset="0"/>
                <a:sym typeface="+mn-ea"/>
              </a:rPr>
              <a:t>       </a:t>
            </a:r>
            <a:r>
              <a:rPr lang="zh-CN" altLang="en-US" sz="2400" dirty="0">
                <a:latin typeface="Times New Roman" panose="02020603050405020304" charset="0"/>
                <a:cs typeface="Times New Roman" panose="02020603050405020304" charset="0"/>
                <a:sym typeface="+mn-ea"/>
              </a:rPr>
              <a:t>有向图模型（Directed Graphical model），也称为贝叶斯网络（Bayesian Network），或信念网络（Belief Network，BN）。</a:t>
            </a:r>
            <a:endParaRPr lang="zh-CN" altLang="en-US" sz="2400" dirty="0">
              <a:latin typeface="Times New Roman" panose="02020603050405020304" charset="0"/>
              <a:cs typeface="Times New Roman" panose="02020603050405020304" charset="0"/>
            </a:endParaRPr>
          </a:p>
        </p:txBody>
      </p:sp>
      <p:grpSp>
        <p:nvGrpSpPr>
          <p:cNvPr id="11" name="组合 10">
            <a:extLst>
              <a:ext uri="{FF2B5EF4-FFF2-40B4-BE49-F238E27FC236}">
                <a16:creationId xmlns:a16="http://schemas.microsoft.com/office/drawing/2014/main" id="{66C3BD9C-6F92-4723-84D1-872B0CD8D0F7}"/>
              </a:ext>
            </a:extLst>
          </p:cNvPr>
          <p:cNvGrpSpPr/>
          <p:nvPr/>
        </p:nvGrpSpPr>
        <p:grpSpPr>
          <a:xfrm>
            <a:off x="1511396" y="2068589"/>
            <a:ext cx="5929637" cy="1217141"/>
            <a:chOff x="1707267" y="4269490"/>
            <a:chExt cx="5929637" cy="1217141"/>
          </a:xfrm>
        </p:grpSpPr>
        <p:sp>
          <p:nvSpPr>
            <p:cNvPr id="12" name="矩形 11">
              <a:extLst>
                <a:ext uri="{FF2B5EF4-FFF2-40B4-BE49-F238E27FC236}">
                  <a16:creationId xmlns:a16="http://schemas.microsoft.com/office/drawing/2014/main" id="{B386E537-3755-4C45-B2E2-C299EA988798}"/>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04E38C2C-6B05-4E2F-A4AE-F763855BEE76}"/>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14" name="椭圆 13">
              <a:extLst>
                <a:ext uri="{FF2B5EF4-FFF2-40B4-BE49-F238E27FC236}">
                  <a16:creationId xmlns:a16="http://schemas.microsoft.com/office/drawing/2014/main" id="{3E9988DC-626F-44C8-8D86-44A4CF4B8E01}"/>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15" name="直接箭头连接符 14">
              <a:extLst>
                <a:ext uri="{FF2B5EF4-FFF2-40B4-BE49-F238E27FC236}">
                  <a16:creationId xmlns:a16="http://schemas.microsoft.com/office/drawing/2014/main" id="{5B2F0D8C-14AA-4759-8391-9A8235B53029}"/>
                </a:ext>
              </a:extLst>
            </p:cNvPr>
            <p:cNvCxnSpPr>
              <a:cxnSpLocks/>
              <a:stCxn id="13" idx="6"/>
              <a:endCxn id="17"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7" name="椭圆 16">
              <a:extLst>
                <a:ext uri="{FF2B5EF4-FFF2-40B4-BE49-F238E27FC236}">
                  <a16:creationId xmlns:a16="http://schemas.microsoft.com/office/drawing/2014/main" id="{1ED7DB14-6D0E-481C-8AF5-54E2C5477CD7}"/>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18" name="直接箭头连接符 17">
              <a:extLst>
                <a:ext uri="{FF2B5EF4-FFF2-40B4-BE49-F238E27FC236}">
                  <a16:creationId xmlns:a16="http://schemas.microsoft.com/office/drawing/2014/main" id="{7B520DCB-781B-4B65-8E2C-557E4530FE30}"/>
                </a:ext>
              </a:extLst>
            </p:cNvPr>
            <p:cNvCxnSpPr>
              <a:cxnSpLocks/>
              <a:stCxn id="17" idx="6"/>
              <a:endCxn id="14"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681D570-4F06-4201-ABA4-06F54B8BBF16}"/>
                  </a:ext>
                </a:extLst>
              </p:cNvPr>
              <p:cNvSpPr txBox="1"/>
              <p:nvPr/>
            </p:nvSpPr>
            <p:spPr>
              <a:xfrm>
                <a:off x="426436" y="3614814"/>
                <a:ext cx="7721537" cy="43088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𝑝</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𝑝</m:t>
                      </m:r>
                      <m:d>
                        <m:dPr>
                          <m:sep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e>
                          <m:r>
                            <a:rPr lang="en-US" altLang="zh-CN" sz="2800" b="0" i="1" smtClean="0">
                              <a:latin typeface="Cambria Math" panose="02040503050406030204" pitchFamily="18" charset="0"/>
                            </a:rPr>
                            <m:t>𝑧</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𝑝</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𝑧</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𝑝</m:t>
                      </m:r>
                      <m:d>
                        <m:dPr>
                          <m:sep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e>
                          <m:r>
                            <a:rPr lang="en-US" altLang="zh-CN" sz="2800" b="0" i="1" smtClean="0">
                              <a:latin typeface="Cambria Math" panose="02040503050406030204" pitchFamily="18" charset="0"/>
                            </a:rPr>
                            <m:t>𝑧</m:t>
                          </m:r>
                        </m:e>
                      </m:d>
                      <m:r>
                        <a:rPr lang="en-US" altLang="zh-CN" sz="2800" b="0" i="1" smtClean="0">
                          <a:latin typeface="Cambria Math" panose="02040503050406030204" pitchFamily="18" charset="0"/>
                        </a:rPr>
                        <m:t>𝑝</m:t>
                      </m:r>
                      <m:d>
                        <m:dPr>
                          <m:sep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𝑧</m:t>
                          </m:r>
                        </m:e>
                        <m:e>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𝑝</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2" name="文本框 1">
                <a:extLst>
                  <a:ext uri="{FF2B5EF4-FFF2-40B4-BE49-F238E27FC236}">
                    <a16:creationId xmlns:a16="http://schemas.microsoft.com/office/drawing/2014/main" id="{3681D570-4F06-4201-ABA4-06F54B8BBF16}"/>
                  </a:ext>
                </a:extLst>
              </p:cNvPr>
              <p:cNvSpPr txBox="1">
                <a:spLocks noRot="1" noChangeAspect="1" noMove="1" noResize="1" noEditPoints="1" noAdjustHandles="1" noChangeArrowheads="1" noChangeShapeType="1" noTextEdit="1"/>
              </p:cNvSpPr>
              <p:nvPr/>
            </p:nvSpPr>
            <p:spPr>
              <a:xfrm>
                <a:off x="426436" y="3614814"/>
                <a:ext cx="7721537" cy="430887"/>
              </a:xfrm>
              <a:prstGeom prst="rect">
                <a:avLst/>
              </a:prstGeom>
              <a:blipFill>
                <a:blip r:embed="rId7"/>
                <a:stretch>
                  <a:fillRect/>
                </a:stretch>
              </a:blipFill>
            </p:spPr>
            <p:txBody>
              <a:bodyPr/>
              <a:lstStyle/>
              <a:p>
                <a:r>
                  <a:rPr lang="zh-CN" altLang="en-US">
                    <a:noFill/>
                  </a:rPr>
                  <a:t> </a:t>
                </a:r>
              </a:p>
            </p:txBody>
          </p:sp>
        </mc:Fallback>
      </mc:AlternateContent>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7576" y="429"/>
              <a:ext cx="64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682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局部马尔可夫性质</a:t>
              </a:r>
            </a:p>
          </p:txBody>
        </p:sp>
      </p:grpSp>
      <p:grpSp>
        <p:nvGrpSpPr>
          <p:cNvPr id="19" name="组合 18"/>
          <p:cNvGrpSpPr/>
          <p:nvPr/>
        </p:nvGrpSpPr>
        <p:grpSpPr>
          <a:xfrm>
            <a:off x="321310" y="1108075"/>
            <a:ext cx="8497471" cy="706755"/>
            <a:chOff x="652" y="2017"/>
            <a:chExt cx="13382" cy="1113"/>
          </a:xfrm>
        </p:grpSpPr>
        <p:sp>
          <p:nvSpPr>
            <p:cNvPr id="20" name="椭圆 19"/>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nvSpPr>
          <p:spPr>
            <a:xfrm>
              <a:off x="902" y="2017"/>
              <a:ext cx="13132" cy="1113"/>
            </a:xfrm>
            <a:prstGeom prst="rect">
              <a:avLst/>
            </a:prstGeom>
            <a:noFill/>
          </p:spPr>
          <p:txBody>
            <a:bodyPr wrap="square" rtlCol="0" anchor="t">
              <a:spAutoFit/>
            </a:bodyPr>
            <a:lstStyle/>
            <a:p>
              <a:r>
                <a:rPr lang="zh-CN" altLang="en-US" sz="2000" dirty="0">
                  <a:sym typeface="+mn-ea"/>
                </a:rPr>
                <a:t>贝叶斯网络的局部马尔可夫性质：每个随机变量在给定父节点的情况下，条件独立于它的非后代节点。</a:t>
              </a:r>
              <a:endParaRPr lang="zh-CN" altLang="en-US" sz="2000" dirty="0">
                <a:latin typeface="宋体" panose="02010600030101010101" pitchFamily="2" charset="-122"/>
                <a:ea typeface="宋体" panose="02010600030101010101" pitchFamily="2" charset="-122"/>
                <a:sym typeface="+mn-ea"/>
              </a:endParaRPr>
            </a:p>
          </p:txBody>
        </p:sp>
      </p:grpSp>
      <p:pic>
        <p:nvPicPr>
          <p:cNvPr id="12" name="图片 11"/>
          <p:cNvPicPr>
            <a:picLocks noChangeAspect="1"/>
          </p:cNvPicPr>
          <p:nvPr/>
        </p:nvPicPr>
        <p:blipFill>
          <a:blip r:embed="rId5"/>
          <a:stretch>
            <a:fillRect/>
          </a:stretch>
        </p:blipFill>
        <p:spPr>
          <a:xfrm>
            <a:off x="3372485" y="1788053"/>
            <a:ext cx="1603223" cy="721830"/>
          </a:xfrm>
          <a:prstGeom prst="rect">
            <a:avLst/>
          </a:prstGeom>
        </p:spPr>
      </p:pic>
      <p:grpSp>
        <p:nvGrpSpPr>
          <p:cNvPr id="16" name="组合 15"/>
          <p:cNvGrpSpPr/>
          <p:nvPr/>
        </p:nvGrpSpPr>
        <p:grpSpPr>
          <a:xfrm>
            <a:off x="658495" y="2523490"/>
            <a:ext cx="7827010" cy="3998595"/>
            <a:chOff x="756" y="3659"/>
            <a:chExt cx="12326" cy="6297"/>
          </a:xfrm>
        </p:grpSpPr>
        <p:sp>
          <p:nvSpPr>
            <p:cNvPr id="8" name="矩形 7"/>
            <p:cNvSpPr/>
            <p:nvPr/>
          </p:nvSpPr>
          <p:spPr>
            <a:xfrm>
              <a:off x="756" y="3659"/>
              <a:ext cx="12326" cy="6297"/>
            </a:xfrm>
            <a:prstGeom prst="rect">
              <a:avLst/>
            </a:prstGeom>
            <a:solidFill>
              <a:schemeClr val="accent1">
                <a:lumMod val="20000"/>
                <a:lumOff val="80000"/>
              </a:schemeClr>
            </a:solidFill>
            <a:ln w="25400">
              <a:solidFill>
                <a:srgbClr val="2F547D"/>
              </a:solidFill>
            </a:ln>
            <a:effectLst>
              <a:outerShdw blurRad="50800" dist="38100" dir="2700000" algn="tl" rotWithShape="0">
                <a:schemeClr val="tx1">
                  <a:alpha val="50000"/>
                </a:scheme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pic>
          <p:nvPicPr>
            <p:cNvPr id="9" name="图片 8"/>
            <p:cNvPicPr>
              <a:picLocks noChangeAspect="1"/>
            </p:cNvPicPr>
            <p:nvPr/>
          </p:nvPicPr>
          <p:blipFill>
            <a:blip r:embed="rId6"/>
            <a:stretch>
              <a:fillRect/>
            </a:stretch>
          </p:blipFill>
          <p:spPr>
            <a:xfrm>
              <a:off x="2309" y="5140"/>
              <a:ext cx="10187" cy="1920"/>
            </a:xfrm>
            <a:prstGeom prst="rect">
              <a:avLst/>
            </a:prstGeom>
          </p:spPr>
        </p:pic>
        <p:pic>
          <p:nvPicPr>
            <p:cNvPr id="10" name="图片 9"/>
            <p:cNvPicPr>
              <a:picLocks noChangeAspect="1"/>
            </p:cNvPicPr>
            <p:nvPr/>
          </p:nvPicPr>
          <p:blipFill>
            <a:blip r:embed="rId7"/>
            <a:stretch>
              <a:fillRect/>
            </a:stretch>
          </p:blipFill>
          <p:spPr>
            <a:xfrm>
              <a:off x="7992" y="7652"/>
              <a:ext cx="4504" cy="1964"/>
            </a:xfrm>
            <a:prstGeom prst="rect">
              <a:avLst/>
            </a:prstGeom>
          </p:spPr>
        </p:pic>
        <p:sp>
          <p:nvSpPr>
            <p:cNvPr id="13" name="文本框 12"/>
            <p:cNvSpPr txBox="1"/>
            <p:nvPr/>
          </p:nvSpPr>
          <p:spPr>
            <a:xfrm>
              <a:off x="916" y="5086"/>
              <a:ext cx="1393" cy="628"/>
            </a:xfrm>
            <a:prstGeom prst="rect">
              <a:avLst/>
            </a:prstGeom>
            <a:noFill/>
          </p:spPr>
          <p:txBody>
            <a:bodyPr wrap="square" rtlCol="0">
              <a:spAutoFit/>
            </a:bodyPr>
            <a:lstStyle/>
            <a:p>
              <a:r>
                <a:rPr lang="zh-CN" altLang="en-US" sz="2000" b="1" dirty="0"/>
                <a:t>例子</a:t>
              </a:r>
              <a:r>
                <a:rPr lang="zh-CN" altLang="en-US" sz="2000" dirty="0"/>
                <a:t>：</a:t>
              </a:r>
            </a:p>
          </p:txBody>
        </p:sp>
        <p:sp>
          <p:nvSpPr>
            <p:cNvPr id="15" name="文本框 14"/>
            <p:cNvSpPr txBox="1"/>
            <p:nvPr/>
          </p:nvSpPr>
          <p:spPr>
            <a:xfrm>
              <a:off x="2309" y="7652"/>
              <a:ext cx="5817" cy="1598"/>
            </a:xfrm>
            <a:prstGeom prst="rect">
              <a:avLst/>
            </a:prstGeom>
            <a:noFill/>
          </p:spPr>
          <p:txBody>
            <a:bodyPr wrap="square" rtlCol="0" anchor="t">
              <a:spAutoFit/>
            </a:bodyPr>
            <a:lstStyle/>
            <a:p>
              <a:pPr marL="0" lvl="1"/>
              <a:r>
                <a:rPr lang="en-US" altLang="zh-CN" sz="2000" dirty="0">
                  <a:sym typeface="+mn-ea"/>
                </a:rPr>
                <a:t>P(x)</a:t>
              </a:r>
              <a:r>
                <a:rPr lang="zh-CN" altLang="en-US" sz="2000" dirty="0">
                  <a:sym typeface="+mn-ea"/>
                </a:rPr>
                <a:t>是</a:t>
              </a:r>
              <a:r>
                <a:rPr lang="en-US" altLang="zh-CN" sz="2000" dirty="0">
                  <a:sym typeface="+mn-ea"/>
                </a:rPr>
                <a:t>4</a:t>
              </a:r>
              <a:r>
                <a:rPr lang="zh-CN" altLang="en-US" sz="2000" dirty="0">
                  <a:sym typeface="+mn-ea"/>
                </a:rPr>
                <a:t>个局部条件概率的乘积，这样只需要</a:t>
              </a:r>
              <a:r>
                <a:rPr lang="en-US" altLang="zh-CN" sz="2000" dirty="0">
                  <a:sym typeface="+mn-ea"/>
                </a:rPr>
                <a:t>1 + 2 + 2 + 4 = 9</a:t>
              </a:r>
              <a:r>
                <a:rPr lang="zh-CN" altLang="en-US" sz="2000" dirty="0">
                  <a:sym typeface="+mn-ea"/>
                </a:rPr>
                <a:t>个独立参数。</a:t>
              </a:r>
              <a:endParaRPr lang="zh-CN" altLang="en-US" sz="2000" dirty="0">
                <a:latin typeface="宋体" panose="02010600030101010101" pitchFamily="2" charset="-122"/>
                <a:ea typeface="宋体" panose="02010600030101010101" pitchFamily="2" charset="-122"/>
                <a:sym typeface="+mn-ea"/>
              </a:endParaRPr>
            </a:p>
          </p:txBody>
        </p:sp>
      </p:grpSp>
      <p:sp>
        <p:nvSpPr>
          <p:cNvPr id="23" name="矩形 22"/>
          <p:cNvSpPr/>
          <p:nvPr/>
        </p:nvSpPr>
        <p:spPr>
          <a:xfrm>
            <a:off x="760095" y="2666365"/>
            <a:ext cx="7670165" cy="706755"/>
          </a:xfrm>
          <a:prstGeom prst="rect">
            <a:avLst/>
          </a:prstGeom>
        </p:spPr>
        <p:txBody>
          <a:bodyPr wrap="square">
            <a:spAutoFit/>
          </a:bodyPr>
          <a:lstStyle/>
          <a:p>
            <a:pPr marL="0" lvl="1"/>
            <a:r>
              <a:rPr lang="en-US" altLang="zh-CN" sz="2000" dirty="0">
                <a:latin typeface="宋体" panose="02010600030101010101" pitchFamily="2" charset="-122"/>
                <a:ea typeface="宋体" panose="02010600030101010101" pitchFamily="2" charset="-122"/>
                <a:sym typeface="+mn-ea"/>
              </a:rPr>
              <a:t>    </a:t>
            </a:r>
            <a:r>
              <a:rPr lang="zh-CN" altLang="en-US" sz="2000" dirty="0">
                <a:latin typeface="宋体" panose="02010600030101010101" pitchFamily="2" charset="-122"/>
                <a:ea typeface="宋体" panose="02010600030101010101" pitchFamily="2" charset="-122"/>
                <a:sym typeface="+mn-ea"/>
              </a:rPr>
              <a:t>利用局部马尔可夫性，可以对多元变量的联合概率进行简化，从而降低建模的复杂度。</a:t>
            </a:r>
            <a:endParaRPr lang="zh-CN" altLang="en-US" sz="2000" dirty="0">
              <a:solidFill>
                <a:srgbClr val="FF0000"/>
              </a:solidFill>
              <a:latin typeface="宋体" panose="02010600030101010101" pitchFamily="2" charset="-122"/>
              <a:ea typeface="宋体" panose="02010600030101010101" pitchFamily="2" charset="-122"/>
              <a:sym typeface="+mn-ea"/>
            </a:endParaRPr>
          </a:p>
        </p:txBody>
      </p:sp>
      <p:grpSp>
        <p:nvGrpSpPr>
          <p:cNvPr id="32" name="组合 31">
            <a:extLst>
              <a:ext uri="{FF2B5EF4-FFF2-40B4-BE49-F238E27FC236}">
                <a16:creationId xmlns:a16="http://schemas.microsoft.com/office/drawing/2014/main" id="{4C6BDF1B-55F1-4BF8-A0DF-CC842DBB371A}"/>
              </a:ext>
            </a:extLst>
          </p:cNvPr>
          <p:cNvGrpSpPr/>
          <p:nvPr/>
        </p:nvGrpSpPr>
        <p:grpSpPr>
          <a:xfrm>
            <a:off x="1511396" y="2068589"/>
            <a:ext cx="5929637" cy="1217141"/>
            <a:chOff x="1707267" y="4269490"/>
            <a:chExt cx="5929637" cy="1217141"/>
          </a:xfrm>
        </p:grpSpPr>
        <p:sp>
          <p:nvSpPr>
            <p:cNvPr id="33" name="矩形 32">
              <a:extLst>
                <a:ext uri="{FF2B5EF4-FFF2-40B4-BE49-F238E27FC236}">
                  <a16:creationId xmlns:a16="http://schemas.microsoft.com/office/drawing/2014/main" id="{CF7DF273-D8B8-4670-AE6E-1769CF26F6AB}"/>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a16="http://schemas.microsoft.com/office/drawing/2014/main" id="{AB954F1B-F8D7-4050-93B4-AFCD2727CE47}"/>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40" name="椭圆 39">
              <a:extLst>
                <a:ext uri="{FF2B5EF4-FFF2-40B4-BE49-F238E27FC236}">
                  <a16:creationId xmlns:a16="http://schemas.microsoft.com/office/drawing/2014/main" id="{75D4B488-906A-4EEE-B070-B07796A0A68A}"/>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41" name="直接箭头连接符 40">
              <a:extLst>
                <a:ext uri="{FF2B5EF4-FFF2-40B4-BE49-F238E27FC236}">
                  <a16:creationId xmlns:a16="http://schemas.microsoft.com/office/drawing/2014/main" id="{53B48531-85B1-43E9-9D84-045D8A280121}"/>
                </a:ext>
              </a:extLst>
            </p:cNvPr>
            <p:cNvCxnSpPr>
              <a:cxnSpLocks/>
              <a:stCxn id="35" idx="6"/>
              <a:endCxn id="42"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2" name="椭圆 41">
              <a:extLst>
                <a:ext uri="{FF2B5EF4-FFF2-40B4-BE49-F238E27FC236}">
                  <a16:creationId xmlns:a16="http://schemas.microsoft.com/office/drawing/2014/main" id="{3873F50C-8373-4C72-9F94-4A8165357857}"/>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43" name="直接箭头连接符 42">
              <a:extLst>
                <a:ext uri="{FF2B5EF4-FFF2-40B4-BE49-F238E27FC236}">
                  <a16:creationId xmlns:a16="http://schemas.microsoft.com/office/drawing/2014/main" id="{C4862340-F608-463B-AC6F-5971E5B01946}"/>
                </a:ext>
              </a:extLst>
            </p:cNvPr>
            <p:cNvCxnSpPr>
              <a:cxnSpLocks/>
              <a:stCxn id="42" idx="6"/>
              <a:endCxn id="40"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F43DEFE-07E7-4460-A733-80351BAA6253}"/>
                  </a:ext>
                </a:extLst>
              </p:cNvPr>
              <p:cNvSpPr txBox="1"/>
              <p:nvPr/>
            </p:nvSpPr>
            <p:spPr>
              <a:xfrm>
                <a:off x="426436" y="3614814"/>
                <a:ext cx="7721537" cy="43088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𝑝</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𝑝</m:t>
                      </m:r>
                      <m:d>
                        <m:dPr>
                          <m:sep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e>
                          <m:r>
                            <a:rPr lang="en-US" altLang="zh-CN" sz="2800" b="0" i="1" smtClean="0">
                              <a:latin typeface="Cambria Math" panose="02040503050406030204" pitchFamily="18" charset="0"/>
                            </a:rPr>
                            <m:t>𝑧</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𝑝</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𝑧</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𝑝</m:t>
                      </m:r>
                      <m:d>
                        <m:dPr>
                          <m:sep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𝑥</m:t>
                          </m:r>
                        </m:e>
                        <m:e>
                          <m:r>
                            <a:rPr lang="en-US" altLang="zh-CN" sz="2800" b="0" i="1" smtClean="0">
                              <a:latin typeface="Cambria Math" panose="02040503050406030204" pitchFamily="18" charset="0"/>
                            </a:rPr>
                            <m:t>𝑧</m:t>
                          </m:r>
                        </m:e>
                      </m:d>
                      <m:r>
                        <a:rPr lang="en-US" altLang="zh-CN" sz="2800" b="0" i="1" smtClean="0">
                          <a:latin typeface="Cambria Math" panose="02040503050406030204" pitchFamily="18" charset="0"/>
                        </a:rPr>
                        <m:t>𝑝</m:t>
                      </m:r>
                      <m:d>
                        <m:dPr>
                          <m:sep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𝑧</m:t>
                          </m:r>
                        </m:e>
                        <m:e>
                          <m:r>
                            <a:rPr lang="en-US" altLang="zh-CN" sz="2800" b="0" i="1" smtClean="0">
                              <a:latin typeface="Cambria Math" panose="02040503050406030204" pitchFamily="18" charset="0"/>
                            </a:rPr>
                            <m:t>𝑦</m:t>
                          </m:r>
                        </m:e>
                      </m:d>
                      <m:r>
                        <a:rPr lang="en-US" altLang="zh-CN" sz="2800" b="0" i="1" smtClean="0">
                          <a:latin typeface="Cambria Math" panose="02040503050406030204" pitchFamily="18" charset="0"/>
                        </a:rPr>
                        <m:t>𝑝</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𝑦</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44" name="文本框 43">
                <a:extLst>
                  <a:ext uri="{FF2B5EF4-FFF2-40B4-BE49-F238E27FC236}">
                    <a16:creationId xmlns:a16="http://schemas.microsoft.com/office/drawing/2014/main" id="{EF43DEFE-07E7-4460-A733-80351BAA6253}"/>
                  </a:ext>
                </a:extLst>
              </p:cNvPr>
              <p:cNvSpPr txBox="1">
                <a:spLocks noRot="1" noChangeAspect="1" noMove="1" noResize="1" noEditPoints="1" noAdjustHandles="1" noChangeArrowheads="1" noChangeShapeType="1" noTextEdit="1"/>
              </p:cNvSpPr>
              <p:nvPr/>
            </p:nvSpPr>
            <p:spPr>
              <a:xfrm>
                <a:off x="426436" y="3614814"/>
                <a:ext cx="7721537" cy="430887"/>
              </a:xfrm>
              <a:prstGeom prst="rect">
                <a:avLst/>
              </a:prstGeom>
              <a:blipFill>
                <a:blip r:embed="rId8"/>
                <a:stretch>
                  <a:fillRect/>
                </a:stretch>
              </a:blipFill>
            </p:spPr>
            <p:txBody>
              <a:bodyPr/>
              <a:lstStyle/>
              <a:p>
                <a:r>
                  <a:rPr lang="zh-CN" altLang="en-US">
                    <a:noFill/>
                  </a:rPr>
                  <a:t> </a:t>
                </a:r>
              </a:p>
            </p:txBody>
          </p:sp>
        </mc:Fallback>
      </mc:AlternateContent>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5026" y="429"/>
              <a:ext cx="90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条件独立性</a:t>
              </a:r>
            </a:p>
          </p:txBody>
        </p:sp>
      </p:grpSp>
      <p:grpSp>
        <p:nvGrpSpPr>
          <p:cNvPr id="19" name="组合 18"/>
          <p:cNvGrpSpPr/>
          <p:nvPr/>
        </p:nvGrpSpPr>
        <p:grpSpPr>
          <a:xfrm>
            <a:off x="480060" y="1210310"/>
            <a:ext cx="8235854" cy="706755"/>
            <a:chOff x="652" y="2101"/>
            <a:chExt cx="12970" cy="1113"/>
          </a:xfrm>
        </p:grpSpPr>
        <p:sp>
          <p:nvSpPr>
            <p:cNvPr id="20" name="椭圆 19"/>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nvSpPr>
          <p:spPr>
            <a:xfrm>
              <a:off x="902" y="2101"/>
              <a:ext cx="12720" cy="1113"/>
            </a:xfrm>
            <a:prstGeom prst="rect">
              <a:avLst/>
            </a:prstGeom>
            <a:noFill/>
          </p:spPr>
          <p:txBody>
            <a:bodyPr wrap="square" rtlCol="0" anchor="t">
              <a:spAutoFit/>
            </a:bodyPr>
            <a:lstStyle/>
            <a:p>
              <a:pPr algn="just"/>
              <a:r>
                <a:rPr lang="zh-CN" altLang="en-US" sz="2000" dirty="0">
                  <a:sym typeface="+mn-ea"/>
                </a:rPr>
                <a:t>在贝叶斯网络中，</a:t>
              </a:r>
              <a:r>
                <a:rPr lang="zh-CN" altLang="en-US" sz="2000" b="1" dirty="0">
                  <a:sym typeface="+mn-ea"/>
                </a:rPr>
                <a:t>如果两个节点是直接连接的，它们肯定是非条件独立的，是直接因果关系</a:t>
              </a:r>
              <a:r>
                <a:rPr lang="zh-CN" altLang="en-US" sz="2000" dirty="0">
                  <a:sym typeface="+mn-ea"/>
                </a:rPr>
                <a:t>。</a:t>
              </a:r>
              <a:endParaRPr lang="zh-CN" altLang="en-US" sz="2000" dirty="0">
                <a:latin typeface="宋体" panose="02010600030101010101" pitchFamily="2" charset="-122"/>
                <a:ea typeface="宋体" panose="02010600030101010101" pitchFamily="2" charset="-122"/>
                <a:sym typeface="+mn-ea"/>
              </a:endParaRPr>
            </a:p>
          </p:txBody>
        </p:sp>
      </p:grpSp>
      <p:pic>
        <p:nvPicPr>
          <p:cNvPr id="6" name="图片 5"/>
          <p:cNvPicPr>
            <a:picLocks noChangeAspect="1"/>
          </p:cNvPicPr>
          <p:nvPr/>
        </p:nvPicPr>
        <p:blipFill>
          <a:blip r:embed="rId5"/>
          <a:stretch>
            <a:fillRect/>
          </a:stretch>
        </p:blipFill>
        <p:spPr>
          <a:xfrm>
            <a:off x="1698625" y="3284855"/>
            <a:ext cx="5502078" cy="2547257"/>
          </a:xfrm>
          <a:prstGeom prst="rect">
            <a:avLst/>
          </a:prstGeom>
        </p:spPr>
      </p:pic>
      <p:grpSp>
        <p:nvGrpSpPr>
          <p:cNvPr id="3" name="组合 2"/>
          <p:cNvGrpSpPr/>
          <p:nvPr/>
        </p:nvGrpSpPr>
        <p:grpSpPr>
          <a:xfrm>
            <a:off x="480060" y="1917065"/>
            <a:ext cx="8497471" cy="398780"/>
            <a:chOff x="652" y="2059"/>
            <a:chExt cx="13382" cy="628"/>
          </a:xfrm>
        </p:grpSpPr>
        <p:sp>
          <p:nvSpPr>
            <p:cNvPr id="4" name="椭圆 3"/>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5" name="文本框 4"/>
            <p:cNvSpPr txBox="1"/>
            <p:nvPr/>
          </p:nvSpPr>
          <p:spPr>
            <a:xfrm>
              <a:off x="902" y="2059"/>
              <a:ext cx="13132" cy="628"/>
            </a:xfrm>
            <a:prstGeom prst="rect">
              <a:avLst/>
            </a:prstGeom>
            <a:noFill/>
          </p:spPr>
          <p:txBody>
            <a:bodyPr wrap="square" rtlCol="0" anchor="t">
              <a:spAutoFit/>
            </a:bodyPr>
            <a:lstStyle/>
            <a:p>
              <a:r>
                <a:rPr lang="zh-CN" altLang="en-US" sz="2000" dirty="0">
                  <a:sym typeface="+mn-ea"/>
                </a:rPr>
                <a:t>父节点是“因”，子节点是“果”。</a:t>
              </a:r>
              <a:endParaRPr lang="zh-CN" altLang="en-US" sz="2000" dirty="0">
                <a:latin typeface="宋体" panose="02010600030101010101" pitchFamily="2" charset="-122"/>
                <a:ea typeface="宋体" panose="02010600030101010101" pitchFamily="2" charset="-122"/>
                <a:sym typeface="+mn-ea"/>
              </a:endParaRPr>
            </a:p>
          </p:txBody>
        </p:sp>
      </p:grpSp>
      <p:grpSp>
        <p:nvGrpSpPr>
          <p:cNvPr id="7" name="组合 6"/>
          <p:cNvGrpSpPr/>
          <p:nvPr/>
        </p:nvGrpSpPr>
        <p:grpSpPr>
          <a:xfrm>
            <a:off x="480060" y="2315845"/>
            <a:ext cx="8235219" cy="706755"/>
            <a:chOff x="652" y="2080"/>
            <a:chExt cx="12969" cy="1113"/>
          </a:xfrm>
        </p:grpSpPr>
        <p:sp>
          <p:nvSpPr>
            <p:cNvPr id="8" name="椭圆 7"/>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902" y="2080"/>
              <a:ext cx="12719" cy="1113"/>
            </a:xfrm>
            <a:prstGeom prst="rect">
              <a:avLst/>
            </a:prstGeom>
            <a:noFill/>
          </p:spPr>
          <p:txBody>
            <a:bodyPr wrap="square" rtlCol="0" anchor="t">
              <a:spAutoFit/>
            </a:bodyPr>
            <a:lstStyle/>
            <a:p>
              <a:pPr algn="just"/>
              <a:r>
                <a:rPr lang="zh-CN" altLang="en-US" sz="2000" dirty="0">
                  <a:sym typeface="+mn-ea"/>
                </a:rPr>
                <a:t>如果两个节点不是直接连接的，但是它们之间有一条经过其他节点的路径连接互连接，它们之间的条件独立性就比较复杂。</a:t>
              </a:r>
              <a:endParaRPr lang="zh-CN" altLang="en-US" sz="2000" dirty="0">
                <a:latin typeface="宋体" panose="02010600030101010101" pitchFamily="2" charset="-122"/>
                <a:ea typeface="宋体" panose="02010600030101010101" pitchFamily="2" charset="-122"/>
                <a:sym typeface="+mn-ea"/>
              </a:endParaRPr>
            </a:p>
          </p:txBody>
        </p:sp>
      </p:grpSp>
    </p:spTree>
    <p:extLst>
      <p:ext uri="{BB962C8B-B14F-4D97-AF65-F5344CB8AC3E}">
        <p14:creationId xmlns:p14="http://schemas.microsoft.com/office/powerpoint/2010/main" val="288670536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2797" y="429"/>
              <a:ext cx="11250"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2044"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练习</a:t>
              </a:r>
            </a:p>
          </p:txBody>
        </p:sp>
      </p:grpSp>
      <p:pic>
        <p:nvPicPr>
          <p:cNvPr id="4" name="Picture 4" descr="Figure8.1.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02640" y="1321435"/>
            <a:ext cx="2054225"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Figure8.2.jp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10210" y="3399155"/>
            <a:ext cx="2446655" cy="301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descr="TP_tmp.png"/>
          <p:cNvPicPr>
            <a:picLocks noChangeAspect="1"/>
          </p:cNvPicPr>
          <p:nvPr>
            <p:custDataLst>
              <p:tags r:id="rId2"/>
            </p:custDataLst>
          </p:nvPr>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96895" y="4394200"/>
            <a:ext cx="5586095"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TP_tmp.png"/>
          <p:cNvPicPr>
            <a:picLocks noChangeAspect="1"/>
          </p:cNvPicPr>
          <p:nvPr>
            <p:custDataLst>
              <p:tags r:id="rId3"/>
            </p:custDataLst>
          </p:nvPr>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96895" y="2108200"/>
            <a:ext cx="5080000" cy="280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3608" y="429"/>
              <a:ext cx="10439"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图构建</a:t>
              </a:r>
            </a:p>
          </p:txBody>
        </p:sp>
      </p:grpSp>
      <p:grpSp>
        <p:nvGrpSpPr>
          <p:cNvPr id="19" name="组合 18"/>
          <p:cNvGrpSpPr/>
          <p:nvPr/>
        </p:nvGrpSpPr>
        <p:grpSpPr>
          <a:xfrm>
            <a:off x="480060" y="1210310"/>
            <a:ext cx="8235854" cy="400050"/>
            <a:chOff x="652" y="2101"/>
            <a:chExt cx="12970" cy="630"/>
          </a:xfrm>
        </p:grpSpPr>
        <p:sp>
          <p:nvSpPr>
            <p:cNvPr id="20" name="椭圆 19"/>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1" name="文本框 20"/>
            <p:cNvSpPr txBox="1"/>
            <p:nvPr/>
          </p:nvSpPr>
          <p:spPr>
            <a:xfrm>
              <a:off x="902" y="2101"/>
              <a:ext cx="12720" cy="630"/>
            </a:xfrm>
            <a:prstGeom prst="rect">
              <a:avLst/>
            </a:prstGeom>
            <a:noFill/>
          </p:spPr>
          <p:txBody>
            <a:bodyPr wrap="square" rtlCol="0" anchor="t">
              <a:spAutoFit/>
            </a:bodyPr>
            <a:lstStyle/>
            <a:p>
              <a:pPr algn="just"/>
              <a:r>
                <a:rPr lang="zh-CN" altLang="en-US" sz="2000" dirty="0">
                  <a:latin typeface="宋体" panose="02010600030101010101" pitchFamily="2" charset="-122"/>
                  <a:ea typeface="宋体" panose="02010600030101010101" pitchFamily="2" charset="-122"/>
                  <a:sym typeface="+mn-ea"/>
                </a:rPr>
                <a:t>如何为一个给定的任务构建概率图？</a:t>
              </a:r>
            </a:p>
          </p:txBody>
        </p:sp>
      </p:grpSp>
      <p:pic>
        <p:nvPicPr>
          <p:cNvPr id="18" name="图片 17">
            <a:extLst>
              <a:ext uri="{FF2B5EF4-FFF2-40B4-BE49-F238E27FC236}">
                <a16:creationId xmlns:a16="http://schemas.microsoft.com/office/drawing/2014/main" id="{932BA91D-EF71-48E9-ADAF-04A942950F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0060" y="1711960"/>
            <a:ext cx="4425701" cy="2063837"/>
          </a:xfrm>
          <a:prstGeom prst="rect">
            <a:avLst/>
          </a:prstGeom>
        </p:spPr>
      </p:pic>
      <p:grpSp>
        <p:nvGrpSpPr>
          <p:cNvPr id="22" name="组合 21">
            <a:extLst>
              <a:ext uri="{FF2B5EF4-FFF2-40B4-BE49-F238E27FC236}">
                <a16:creationId xmlns:a16="http://schemas.microsoft.com/office/drawing/2014/main" id="{EE0ED7D5-FD7D-4183-929D-FE9B270463D3}"/>
              </a:ext>
            </a:extLst>
          </p:cNvPr>
          <p:cNvGrpSpPr/>
          <p:nvPr/>
        </p:nvGrpSpPr>
        <p:grpSpPr>
          <a:xfrm>
            <a:off x="5216123" y="2212091"/>
            <a:ext cx="3704992" cy="815316"/>
            <a:chOff x="1707267" y="4269490"/>
            <a:chExt cx="5929637" cy="1217141"/>
          </a:xfrm>
        </p:grpSpPr>
        <p:sp>
          <p:nvSpPr>
            <p:cNvPr id="23" name="矩形 22">
              <a:extLst>
                <a:ext uri="{FF2B5EF4-FFF2-40B4-BE49-F238E27FC236}">
                  <a16:creationId xmlns:a16="http://schemas.microsoft.com/office/drawing/2014/main" id="{9FD24994-C730-4EC6-A6A0-31165C3DE54E}"/>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6544203-1ACC-4526-8D18-079E7CA1F467}"/>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 </a:t>
              </a:r>
              <a:endParaRPr lang="zh-CN" altLang="en-US" dirty="0"/>
            </a:p>
          </p:txBody>
        </p:sp>
        <p:sp>
          <p:nvSpPr>
            <p:cNvPr id="25" name="椭圆 24">
              <a:extLst>
                <a:ext uri="{FF2B5EF4-FFF2-40B4-BE49-F238E27FC236}">
                  <a16:creationId xmlns:a16="http://schemas.microsoft.com/office/drawing/2014/main" id="{9440851B-C576-4D41-9DBD-5C9E3737AE1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6" name="直接箭头连接符 25">
              <a:extLst>
                <a:ext uri="{FF2B5EF4-FFF2-40B4-BE49-F238E27FC236}">
                  <a16:creationId xmlns:a16="http://schemas.microsoft.com/office/drawing/2014/main" id="{C516BB17-BE9E-4FF7-935C-948C069BA9F0}"/>
                </a:ext>
              </a:extLst>
            </p:cNvPr>
            <p:cNvCxnSpPr>
              <a:cxnSpLocks/>
              <a:stCxn id="24" idx="6"/>
              <a:endCxn id="27"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椭圆 26">
              <a:extLst>
                <a:ext uri="{FF2B5EF4-FFF2-40B4-BE49-F238E27FC236}">
                  <a16:creationId xmlns:a16="http://schemas.microsoft.com/office/drawing/2014/main" id="{B13E8350-B9DF-442D-BE40-1FCB49912C05}"/>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8" name="直接箭头连接符 27">
              <a:extLst>
                <a:ext uri="{FF2B5EF4-FFF2-40B4-BE49-F238E27FC236}">
                  <a16:creationId xmlns:a16="http://schemas.microsoft.com/office/drawing/2014/main" id="{52D061E0-62D8-4728-843E-7976A2CD8FC3}"/>
                </a:ext>
              </a:extLst>
            </p:cNvPr>
            <p:cNvCxnSpPr>
              <a:cxnSpLocks/>
              <a:stCxn id="27" idx="6"/>
              <a:endCxn id="25"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grpSp>
        <p:nvGrpSpPr>
          <p:cNvPr id="29" name="组合 28">
            <a:extLst>
              <a:ext uri="{FF2B5EF4-FFF2-40B4-BE49-F238E27FC236}">
                <a16:creationId xmlns:a16="http://schemas.microsoft.com/office/drawing/2014/main" id="{1A00489A-3FE4-48C3-B772-A84A5F64B89E}"/>
              </a:ext>
            </a:extLst>
          </p:cNvPr>
          <p:cNvGrpSpPr/>
          <p:nvPr/>
        </p:nvGrpSpPr>
        <p:grpSpPr>
          <a:xfrm>
            <a:off x="480060" y="4017097"/>
            <a:ext cx="8235854" cy="400050"/>
            <a:chOff x="652" y="2101"/>
            <a:chExt cx="12970" cy="630"/>
          </a:xfrm>
        </p:grpSpPr>
        <p:sp>
          <p:nvSpPr>
            <p:cNvPr id="31" name="椭圆 30">
              <a:extLst>
                <a:ext uri="{FF2B5EF4-FFF2-40B4-BE49-F238E27FC236}">
                  <a16:creationId xmlns:a16="http://schemas.microsoft.com/office/drawing/2014/main" id="{C26493B9-484A-4D95-B871-E88B99CAF358}"/>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2" name="文本框 31">
              <a:extLst>
                <a:ext uri="{FF2B5EF4-FFF2-40B4-BE49-F238E27FC236}">
                  <a16:creationId xmlns:a16="http://schemas.microsoft.com/office/drawing/2014/main" id="{CFEB394E-A44C-4DB2-BC7E-0E9BCED9E529}"/>
                </a:ext>
              </a:extLst>
            </p:cNvPr>
            <p:cNvSpPr txBox="1"/>
            <p:nvPr/>
          </p:nvSpPr>
          <p:spPr>
            <a:xfrm>
              <a:off x="902" y="2101"/>
              <a:ext cx="12720" cy="630"/>
            </a:xfrm>
            <a:prstGeom prst="rect">
              <a:avLst/>
            </a:prstGeom>
            <a:noFill/>
          </p:spPr>
          <p:txBody>
            <a:bodyPr wrap="square" rtlCol="0" anchor="t">
              <a:spAutoFit/>
            </a:bodyPr>
            <a:lstStyle/>
            <a:p>
              <a:pPr algn="just"/>
              <a:r>
                <a:rPr lang="zh-CN" altLang="en-US" sz="2000" dirty="0">
                  <a:latin typeface="宋体" panose="02010600030101010101" pitchFamily="2" charset="-122"/>
                  <a:ea typeface="宋体" panose="02010600030101010101" pitchFamily="2" charset="-122"/>
                  <a:sym typeface="+mn-ea"/>
                </a:rPr>
                <a:t>人工经验转换为概率图</a:t>
              </a:r>
            </a:p>
          </p:txBody>
        </p:sp>
      </p:grpSp>
      <p:grpSp>
        <p:nvGrpSpPr>
          <p:cNvPr id="33" name="组合 32">
            <a:extLst>
              <a:ext uri="{FF2B5EF4-FFF2-40B4-BE49-F238E27FC236}">
                <a16:creationId xmlns:a16="http://schemas.microsoft.com/office/drawing/2014/main" id="{8A478F5A-410A-4630-9A0F-521950693328}"/>
              </a:ext>
            </a:extLst>
          </p:cNvPr>
          <p:cNvGrpSpPr/>
          <p:nvPr/>
        </p:nvGrpSpPr>
        <p:grpSpPr>
          <a:xfrm>
            <a:off x="5484546" y="4017097"/>
            <a:ext cx="3390116" cy="708025"/>
            <a:chOff x="652" y="2101"/>
            <a:chExt cx="4790" cy="1115"/>
          </a:xfrm>
        </p:grpSpPr>
        <p:sp>
          <p:nvSpPr>
            <p:cNvPr id="35" name="椭圆 34">
              <a:extLst>
                <a:ext uri="{FF2B5EF4-FFF2-40B4-BE49-F238E27FC236}">
                  <a16:creationId xmlns:a16="http://schemas.microsoft.com/office/drawing/2014/main" id="{C49EE701-EA1B-495A-AD97-5996F908F062}"/>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40" name="文本框 39">
              <a:extLst>
                <a:ext uri="{FF2B5EF4-FFF2-40B4-BE49-F238E27FC236}">
                  <a16:creationId xmlns:a16="http://schemas.microsoft.com/office/drawing/2014/main" id="{4C7AE875-3F29-4167-88B0-B2917D219322}"/>
                </a:ext>
              </a:extLst>
            </p:cNvPr>
            <p:cNvSpPr txBox="1"/>
            <p:nvPr/>
          </p:nvSpPr>
          <p:spPr>
            <a:xfrm>
              <a:off x="902" y="2101"/>
              <a:ext cx="4540" cy="1115"/>
            </a:xfrm>
            <a:prstGeom prst="rect">
              <a:avLst/>
            </a:prstGeom>
            <a:noFill/>
          </p:spPr>
          <p:txBody>
            <a:bodyPr wrap="square" rtlCol="0" anchor="t">
              <a:spAutoFit/>
            </a:bodyPr>
            <a:lstStyle/>
            <a:p>
              <a:pPr algn="just"/>
              <a:r>
                <a:rPr lang="zh-CN" altLang="en-US" sz="2000" dirty="0">
                  <a:latin typeface="宋体" panose="02010600030101010101" pitchFamily="2" charset="-122"/>
                  <a:ea typeface="宋体" panose="02010600030101010101" pitchFamily="2" charset="-122"/>
                  <a:sym typeface="+mn-ea"/>
                </a:rPr>
                <a:t>因果挖掘</a:t>
              </a:r>
              <a:r>
                <a:rPr lang="en-US" altLang="zh-CN" sz="2000" dirty="0">
                  <a:latin typeface="宋体" panose="02010600030101010101" pitchFamily="2" charset="-122"/>
                  <a:ea typeface="宋体" panose="02010600030101010101" pitchFamily="2" charset="-122"/>
                  <a:sym typeface="+mn-ea"/>
                </a:rPr>
                <a:t>/</a:t>
              </a:r>
              <a:r>
                <a:rPr lang="zh-CN" altLang="en-US" sz="2000" dirty="0">
                  <a:latin typeface="宋体" panose="02010600030101010101" pitchFamily="2" charset="-122"/>
                  <a:ea typeface="宋体" panose="02010600030101010101" pitchFamily="2" charset="-122"/>
                  <a:sym typeface="+mn-ea"/>
                </a:rPr>
                <a:t>概率图结构建模</a:t>
              </a:r>
            </a:p>
          </p:txBody>
        </p:sp>
      </p:grpSp>
      <p:pic>
        <p:nvPicPr>
          <p:cNvPr id="41" name="图片 40">
            <a:extLst>
              <a:ext uri="{FF2B5EF4-FFF2-40B4-BE49-F238E27FC236}">
                <a16:creationId xmlns:a16="http://schemas.microsoft.com/office/drawing/2014/main" id="{76523A66-EDFE-42A3-8D88-E10ED401F231}"/>
              </a:ext>
            </a:extLst>
          </p:cNvPr>
          <p:cNvPicPr>
            <a:picLocks noChangeAspect="1"/>
          </p:cNvPicPr>
          <p:nvPr/>
        </p:nvPicPr>
        <p:blipFill>
          <a:blip r:embed="rId6"/>
          <a:stretch>
            <a:fillRect/>
          </a:stretch>
        </p:blipFill>
        <p:spPr>
          <a:xfrm>
            <a:off x="719031" y="4417147"/>
            <a:ext cx="2495826" cy="1776864"/>
          </a:xfrm>
          <a:prstGeom prst="rect">
            <a:avLst/>
          </a:prstGeom>
        </p:spPr>
      </p:pic>
      <p:sp>
        <p:nvSpPr>
          <p:cNvPr id="42" name="椭圆 41">
            <a:extLst>
              <a:ext uri="{FF2B5EF4-FFF2-40B4-BE49-F238E27FC236}">
                <a16:creationId xmlns:a16="http://schemas.microsoft.com/office/drawing/2014/main" id="{E4F55548-9698-4A6B-AF44-B8ED70221E82}"/>
              </a:ext>
            </a:extLst>
          </p:cNvPr>
          <p:cNvSpPr/>
          <p:nvPr/>
        </p:nvSpPr>
        <p:spPr>
          <a:xfrm>
            <a:off x="2404204" y="6367803"/>
            <a:ext cx="405554" cy="36045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43" name="椭圆 42">
            <a:extLst>
              <a:ext uri="{FF2B5EF4-FFF2-40B4-BE49-F238E27FC236}">
                <a16:creationId xmlns:a16="http://schemas.microsoft.com/office/drawing/2014/main" id="{E9B993E5-C101-4575-91BB-96C0955E8A72}"/>
              </a:ext>
            </a:extLst>
          </p:cNvPr>
          <p:cNvSpPr/>
          <p:nvPr/>
        </p:nvSpPr>
        <p:spPr>
          <a:xfrm>
            <a:off x="1120506" y="6367803"/>
            <a:ext cx="405553" cy="36045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44" name="直接箭头连接符 43">
            <a:extLst>
              <a:ext uri="{FF2B5EF4-FFF2-40B4-BE49-F238E27FC236}">
                <a16:creationId xmlns:a16="http://schemas.microsoft.com/office/drawing/2014/main" id="{85325230-A451-4F89-9353-C0FCDBE8D30E}"/>
              </a:ext>
            </a:extLst>
          </p:cNvPr>
          <p:cNvCxnSpPr>
            <a:cxnSpLocks/>
            <a:endCxn id="43" idx="0"/>
          </p:cNvCxnSpPr>
          <p:nvPr/>
        </p:nvCxnSpPr>
        <p:spPr>
          <a:xfrm>
            <a:off x="1323283" y="6182534"/>
            <a:ext cx="0" cy="1852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17FBB6BA-90C4-4FB0-9D69-454D65C3AEC2}"/>
              </a:ext>
            </a:extLst>
          </p:cNvPr>
          <p:cNvCxnSpPr/>
          <p:nvPr/>
        </p:nvCxnSpPr>
        <p:spPr>
          <a:xfrm>
            <a:off x="2606981" y="6182534"/>
            <a:ext cx="1" cy="1737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050" name="Picture 2" descr="https://miro.medium.com/v2/resize:fit:875/1*6-G3RxXT4RdNu5v4h6Y8lQ.png">
            <a:extLst>
              <a:ext uri="{FF2B5EF4-FFF2-40B4-BE49-F238E27FC236}">
                <a16:creationId xmlns:a16="http://schemas.microsoft.com/office/drawing/2014/main" id="{1D838812-0EAD-4A2B-AC35-867441B5762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16123" y="4539341"/>
            <a:ext cx="3536423" cy="2008688"/>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箭头连接符 2">
            <a:extLst>
              <a:ext uri="{FF2B5EF4-FFF2-40B4-BE49-F238E27FC236}">
                <a16:creationId xmlns:a16="http://schemas.microsoft.com/office/drawing/2014/main" id="{81FF6FF3-1DAF-4AE1-8E8C-B0F88B6AB3FC}"/>
              </a:ext>
            </a:extLst>
          </p:cNvPr>
          <p:cNvCxnSpPr>
            <a:stCxn id="42" idx="2"/>
            <a:endCxn id="43" idx="6"/>
          </p:cNvCxnSpPr>
          <p:nvPr/>
        </p:nvCxnSpPr>
        <p:spPr>
          <a:xfrm flipH="1" flipV="1">
            <a:off x="1526059" y="6548029"/>
            <a:ext cx="87814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8814376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7554" y="429"/>
              <a:ext cx="6493"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6801"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常见的有向图模型</a:t>
              </a:r>
            </a:p>
          </p:txBody>
        </p:sp>
      </p:grpSp>
      <p:grpSp>
        <p:nvGrpSpPr>
          <p:cNvPr id="12" name="组合 11"/>
          <p:cNvGrpSpPr/>
          <p:nvPr/>
        </p:nvGrpSpPr>
        <p:grpSpPr>
          <a:xfrm>
            <a:off x="478155" y="1300480"/>
            <a:ext cx="3126105" cy="459740"/>
            <a:chOff x="926" y="2425"/>
            <a:chExt cx="4923" cy="724"/>
          </a:xfrm>
        </p:grpSpPr>
        <p:cxnSp>
          <p:nvCxnSpPr>
            <p:cNvPr id="26" name="直接连接符 25"/>
            <p:cNvCxnSpPr/>
            <p:nvPr/>
          </p:nvCxnSpPr>
          <p:spPr>
            <a:xfrm>
              <a:off x="926" y="3128"/>
              <a:ext cx="4616" cy="0"/>
            </a:xfrm>
            <a:prstGeom prst="line">
              <a:avLst/>
            </a:prstGeom>
            <a:ln w="38100">
              <a:solidFill>
                <a:srgbClr val="385C98"/>
              </a:solidFill>
            </a:ln>
          </p:spPr>
          <p:style>
            <a:lnRef idx="1">
              <a:schemeClr val="accent1"/>
            </a:lnRef>
            <a:fillRef idx="0">
              <a:schemeClr val="accent1"/>
            </a:fillRef>
            <a:effectRef idx="0">
              <a:schemeClr val="accent1"/>
            </a:effectRef>
            <a:fontRef idx="minor">
              <a:schemeClr val="tx1"/>
            </a:fontRef>
          </p:style>
        </p:cxnSp>
        <p:sp>
          <p:nvSpPr>
            <p:cNvPr id="35" name="燕尾形 34"/>
            <p:cNvSpPr/>
            <p:nvPr/>
          </p:nvSpPr>
          <p:spPr>
            <a:xfrm>
              <a:off x="954" y="2534"/>
              <a:ext cx="280" cy="53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燕尾形 1"/>
            <p:cNvSpPr/>
            <p:nvPr/>
          </p:nvSpPr>
          <p:spPr>
            <a:xfrm>
              <a:off x="1194" y="2534"/>
              <a:ext cx="280" cy="532"/>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燕尾形 2"/>
            <p:cNvSpPr/>
            <p:nvPr/>
          </p:nvSpPr>
          <p:spPr>
            <a:xfrm>
              <a:off x="1434" y="2534"/>
              <a:ext cx="280" cy="532"/>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p:cNvSpPr txBox="1"/>
            <p:nvPr/>
          </p:nvSpPr>
          <p:spPr>
            <a:xfrm>
              <a:off x="1567" y="2425"/>
              <a:ext cx="4282" cy="725"/>
            </a:xfrm>
            <a:prstGeom prst="rect">
              <a:avLst/>
            </a:prstGeom>
            <a:noFill/>
          </p:spPr>
          <p:txBody>
            <a:bodyPr wrap="square" rtlCol="0">
              <a:spAutoFit/>
            </a:bodyPr>
            <a:lstStyle/>
            <a:p>
              <a:r>
                <a:rPr lang="zh-CN" altLang="en-US" sz="2400" dirty="0">
                  <a:latin typeface="Times New Roman" panose="02020603050405020304" charset="0"/>
                  <a:cs typeface="Times New Roman" panose="02020603050405020304" charset="0"/>
                </a:rPr>
                <a:t>朴素贝叶斯分类器</a:t>
              </a:r>
            </a:p>
          </p:txBody>
        </p:sp>
      </p:grpSp>
      <p:sp>
        <p:nvSpPr>
          <p:cNvPr id="11" name="文本框 10"/>
          <p:cNvSpPr txBox="1"/>
          <p:nvPr/>
        </p:nvSpPr>
        <p:spPr>
          <a:xfrm>
            <a:off x="478155" y="1913890"/>
            <a:ext cx="3462655" cy="706755"/>
          </a:xfrm>
          <a:prstGeom prst="rect">
            <a:avLst/>
          </a:prstGeom>
          <a:noFill/>
        </p:spPr>
        <p:txBody>
          <a:bodyPr wrap="square" rtlCol="0">
            <a:spAutoFit/>
          </a:bodyPr>
          <a:lstStyle/>
          <a:p>
            <a:r>
              <a:rPr lang="zh-CN" altLang="en-US" sz="2000" dirty="0"/>
              <a:t>给定一个有</a:t>
            </a:r>
            <a:r>
              <a:rPr lang="en-US" altLang="zh-CN" sz="2000" dirty="0"/>
              <a:t>M</a:t>
            </a:r>
            <a:r>
              <a:rPr lang="zh-CN" altLang="en-US" sz="2000" dirty="0"/>
              <a:t>维特征的样本</a:t>
            </a:r>
            <a:r>
              <a:rPr lang="en-US" altLang="zh-CN" sz="2000" dirty="0"/>
              <a:t>x</a:t>
            </a:r>
            <a:r>
              <a:rPr lang="zh-CN" altLang="en-US" sz="2000" dirty="0"/>
              <a:t>和类别</a:t>
            </a:r>
            <a:r>
              <a:rPr lang="en-US" altLang="zh-CN" sz="2000" dirty="0"/>
              <a:t>y</a:t>
            </a:r>
            <a:r>
              <a:rPr lang="zh-CN" altLang="en-US" sz="2000" dirty="0"/>
              <a:t>，类别的后验概率为：</a:t>
            </a:r>
          </a:p>
        </p:txBody>
      </p:sp>
      <p:pic>
        <p:nvPicPr>
          <p:cNvPr id="14" name="图片 13"/>
          <p:cNvPicPr>
            <a:picLocks noChangeAspect="1"/>
          </p:cNvPicPr>
          <p:nvPr/>
        </p:nvPicPr>
        <p:blipFill>
          <a:blip r:embed="rId3"/>
          <a:stretch>
            <a:fillRect/>
          </a:stretch>
        </p:blipFill>
        <p:spPr>
          <a:xfrm>
            <a:off x="495935" y="2886710"/>
            <a:ext cx="3670300" cy="862965"/>
          </a:xfrm>
          <a:prstGeom prst="rect">
            <a:avLst/>
          </a:prstGeom>
        </p:spPr>
      </p:pic>
      <p:pic>
        <p:nvPicPr>
          <p:cNvPr id="15" name="图片 14"/>
          <p:cNvPicPr>
            <a:picLocks noChangeAspect="1"/>
          </p:cNvPicPr>
          <p:nvPr/>
        </p:nvPicPr>
        <p:blipFill>
          <a:blip r:embed="rId4"/>
          <a:stretch>
            <a:fillRect/>
          </a:stretch>
        </p:blipFill>
        <p:spPr>
          <a:xfrm>
            <a:off x="495935" y="4053205"/>
            <a:ext cx="2286000" cy="1597660"/>
          </a:xfrm>
          <a:prstGeom prst="rect">
            <a:avLst/>
          </a:prstGeom>
        </p:spPr>
      </p:pic>
      <p:pic>
        <p:nvPicPr>
          <p:cNvPr id="17" name="图片 16"/>
          <p:cNvPicPr>
            <a:picLocks noChangeAspect="1"/>
          </p:cNvPicPr>
          <p:nvPr/>
        </p:nvPicPr>
        <p:blipFill>
          <a:blip r:embed="rId5"/>
          <a:srcRect l="4005" r="6119"/>
          <a:stretch>
            <a:fillRect/>
          </a:stretch>
        </p:blipFill>
        <p:spPr>
          <a:xfrm>
            <a:off x="4553585" y="3948430"/>
            <a:ext cx="4588510" cy="1807845"/>
          </a:xfrm>
          <a:prstGeom prst="rect">
            <a:avLst/>
          </a:prstGeom>
        </p:spPr>
      </p:pic>
      <p:pic>
        <p:nvPicPr>
          <p:cNvPr id="18" name="图片 17"/>
          <p:cNvPicPr>
            <a:picLocks noChangeAspect="1"/>
          </p:cNvPicPr>
          <p:nvPr/>
        </p:nvPicPr>
        <p:blipFill>
          <a:blip r:embed="rId6"/>
          <a:stretch>
            <a:fillRect/>
          </a:stretch>
        </p:blipFill>
        <p:spPr>
          <a:xfrm>
            <a:off x="4576445" y="2886710"/>
            <a:ext cx="3429000" cy="752475"/>
          </a:xfrm>
          <a:prstGeom prst="rect">
            <a:avLst/>
          </a:prstGeom>
        </p:spPr>
      </p:pic>
      <p:grpSp>
        <p:nvGrpSpPr>
          <p:cNvPr id="23" name="组合 22"/>
          <p:cNvGrpSpPr/>
          <p:nvPr/>
        </p:nvGrpSpPr>
        <p:grpSpPr>
          <a:xfrm>
            <a:off x="4576445" y="1308735"/>
            <a:ext cx="3126105" cy="460375"/>
            <a:chOff x="926" y="2425"/>
            <a:chExt cx="4923" cy="725"/>
          </a:xfrm>
        </p:grpSpPr>
        <p:cxnSp>
          <p:nvCxnSpPr>
            <p:cNvPr id="24" name="直接连接符 23"/>
            <p:cNvCxnSpPr/>
            <p:nvPr/>
          </p:nvCxnSpPr>
          <p:spPr>
            <a:xfrm>
              <a:off x="926" y="3128"/>
              <a:ext cx="4616" cy="0"/>
            </a:xfrm>
            <a:prstGeom prst="line">
              <a:avLst/>
            </a:prstGeom>
            <a:ln w="38100">
              <a:solidFill>
                <a:srgbClr val="385C98"/>
              </a:solidFill>
            </a:ln>
          </p:spPr>
          <p:style>
            <a:lnRef idx="1">
              <a:schemeClr val="accent1"/>
            </a:lnRef>
            <a:fillRef idx="0">
              <a:schemeClr val="accent1"/>
            </a:fillRef>
            <a:effectRef idx="0">
              <a:schemeClr val="accent1"/>
            </a:effectRef>
            <a:fontRef idx="minor">
              <a:schemeClr val="tx1"/>
            </a:fontRef>
          </p:style>
        </p:cxnSp>
        <p:sp>
          <p:nvSpPr>
            <p:cNvPr id="25" name="燕尾形 24"/>
            <p:cNvSpPr/>
            <p:nvPr/>
          </p:nvSpPr>
          <p:spPr>
            <a:xfrm>
              <a:off x="954" y="2534"/>
              <a:ext cx="280" cy="53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194" y="2534"/>
              <a:ext cx="280" cy="532"/>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燕尾形 27"/>
            <p:cNvSpPr/>
            <p:nvPr/>
          </p:nvSpPr>
          <p:spPr>
            <a:xfrm>
              <a:off x="1434" y="2534"/>
              <a:ext cx="280" cy="532"/>
            </a:xfrm>
            <a:prstGeom prst="chevron">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文本框 28"/>
            <p:cNvSpPr txBox="1"/>
            <p:nvPr/>
          </p:nvSpPr>
          <p:spPr>
            <a:xfrm>
              <a:off x="1845" y="2425"/>
              <a:ext cx="4004" cy="725"/>
            </a:xfrm>
            <a:prstGeom prst="rect">
              <a:avLst/>
            </a:prstGeom>
            <a:noFill/>
          </p:spPr>
          <p:txBody>
            <a:bodyPr wrap="square" rtlCol="0">
              <a:spAutoFit/>
            </a:bodyPr>
            <a:lstStyle/>
            <a:p>
              <a:r>
                <a:rPr lang="zh-CN" altLang="en-US" sz="2400" dirty="0">
                  <a:latin typeface="Times New Roman" panose="02020603050405020304" charset="0"/>
                  <a:cs typeface="Times New Roman" panose="02020603050405020304" charset="0"/>
                </a:rPr>
                <a:t>Sigmoid信念网络</a:t>
              </a:r>
            </a:p>
          </p:txBody>
        </p:sp>
      </p:grpSp>
      <p:sp>
        <p:nvSpPr>
          <p:cNvPr id="31" name="文本框 30"/>
          <p:cNvSpPr txBox="1"/>
          <p:nvPr/>
        </p:nvSpPr>
        <p:spPr>
          <a:xfrm>
            <a:off x="4553585" y="1913890"/>
            <a:ext cx="3663655" cy="707886"/>
          </a:xfrm>
          <a:prstGeom prst="rect">
            <a:avLst/>
          </a:prstGeom>
          <a:noFill/>
        </p:spPr>
        <p:txBody>
          <a:bodyPr wrap="square" rtlCol="0">
            <a:spAutoFit/>
          </a:bodyPr>
          <a:lstStyle/>
          <a:p>
            <a:r>
              <a:rPr sz="2000" dirty="0" err="1">
                <a:latin typeface="+mn-ea"/>
              </a:rPr>
              <a:t>Sigmoid信念网络网络中的变量为二值变量，取值为</a:t>
            </a:r>
            <a:r>
              <a:rPr sz="2000" dirty="0">
                <a:latin typeface="+mn-ea"/>
              </a:rPr>
              <a:t> {0,1}。</a:t>
            </a:r>
          </a:p>
        </p:txBody>
      </p:sp>
      <p:cxnSp>
        <p:nvCxnSpPr>
          <p:cNvPr id="32" name="直接连接符 31"/>
          <p:cNvCxnSpPr/>
          <p:nvPr/>
        </p:nvCxnSpPr>
        <p:spPr>
          <a:xfrm>
            <a:off x="4362450" y="1332865"/>
            <a:ext cx="0" cy="4735195"/>
          </a:xfrm>
          <a:prstGeom prst="line">
            <a:avLst/>
          </a:prstGeom>
          <a:ln w="12700"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 name="矩形: 圆角 3">
            <a:extLst>
              <a:ext uri="{FF2B5EF4-FFF2-40B4-BE49-F238E27FC236}">
                <a16:creationId xmlns:a16="http://schemas.microsoft.com/office/drawing/2014/main" id="{D9DEB4C1-8E60-4C01-B1FB-DFF5121E9DF2}"/>
              </a:ext>
            </a:extLst>
          </p:cNvPr>
          <p:cNvSpPr/>
          <p:nvPr/>
        </p:nvSpPr>
        <p:spPr>
          <a:xfrm>
            <a:off x="2150076" y="3138616"/>
            <a:ext cx="259492" cy="42817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a:extLst>
              <a:ext uri="{FF2B5EF4-FFF2-40B4-BE49-F238E27FC236}">
                <a16:creationId xmlns:a16="http://schemas.microsoft.com/office/drawing/2014/main" id="{25B62F4F-9504-4283-AE69-D37EAE071BB1}"/>
              </a:ext>
            </a:extLst>
          </p:cNvPr>
          <p:cNvSpPr/>
          <p:nvPr/>
        </p:nvSpPr>
        <p:spPr>
          <a:xfrm>
            <a:off x="3772690" y="3138616"/>
            <a:ext cx="259492" cy="42817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5357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5496" y="1883306"/>
            <a:ext cx="9073008" cy="1938992"/>
          </a:xfrm>
          <a:prstGeom prst="rect">
            <a:avLst/>
          </a:prstGeom>
          <a:noFill/>
        </p:spPr>
        <p:txBody>
          <a:bodyPr wrap="square" rtlCol="0">
            <a:spAutoFit/>
          </a:bodyPr>
          <a:lstStyle/>
          <a:p>
            <a:pPr algn="ctr">
              <a:buClrTx/>
              <a:buSzTx/>
              <a:buFontTx/>
            </a:pPr>
            <a:r>
              <a:rPr lang="zh-CN" altLang="en-US" sz="6000" b="1" dirty="0">
                <a:solidFill>
                  <a:srgbClr val="18478F"/>
                </a:solidFill>
                <a:latin typeface="+mn-ea"/>
                <a:cs typeface="+mn-ea"/>
                <a:sym typeface="+mn-ea"/>
              </a:rPr>
              <a:t>基于概率图的参数学习与模型推断</a:t>
            </a:r>
            <a:endParaRPr lang="zh-CN" altLang="en-US" sz="6000" b="1" dirty="0">
              <a:solidFill>
                <a:srgbClr val="18478F"/>
              </a:solidFill>
              <a:latin typeface="+mn-ea"/>
              <a:cs typeface="+mn-ea"/>
            </a:endParaRPr>
          </a:p>
        </p:txBody>
      </p:sp>
      <p:pic>
        <p:nvPicPr>
          <p:cNvPr id="6" name="Picture 7" descr="校园-大门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97095"/>
            <a:ext cx="9144000" cy="214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未标题-1"/>
          <p:cNvPicPr>
            <a:picLocks noChangeAspect="1"/>
          </p:cNvPicPr>
          <p:nvPr/>
        </p:nvPicPr>
        <p:blipFill>
          <a:blip r:embed="rId4"/>
          <a:stretch>
            <a:fillRect/>
          </a:stretch>
        </p:blipFill>
        <p:spPr>
          <a:xfrm>
            <a:off x="63500" y="63500"/>
            <a:ext cx="1228090" cy="1256030"/>
          </a:xfrm>
          <a:prstGeom prst="rect">
            <a:avLst/>
          </a:prstGeom>
        </p:spPr>
      </p:pic>
    </p:spTree>
    <p:extLst>
      <p:ext uri="{BB962C8B-B14F-4D97-AF65-F5344CB8AC3E}">
        <p14:creationId xmlns:p14="http://schemas.microsoft.com/office/powerpoint/2010/main" val="3880083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p:pic>
        <p:nvPicPr>
          <p:cNvPr id="2" name="图片 1">
            <a:extLst>
              <a:ext uri="{FF2B5EF4-FFF2-40B4-BE49-F238E27FC236}">
                <a16:creationId xmlns:a16="http://schemas.microsoft.com/office/drawing/2014/main" id="{DF6D2DB0-59E2-46E9-9F7A-3B0D7CEBDC59}"/>
              </a:ext>
            </a:extLst>
          </p:cNvPr>
          <p:cNvPicPr>
            <a:picLocks noChangeAspect="1"/>
          </p:cNvPicPr>
          <p:nvPr/>
        </p:nvPicPr>
        <p:blipFill>
          <a:blip r:embed="rId3"/>
          <a:stretch>
            <a:fillRect/>
          </a:stretch>
        </p:blipFill>
        <p:spPr>
          <a:xfrm>
            <a:off x="578285" y="1615598"/>
            <a:ext cx="3116029" cy="2218407"/>
          </a:xfrm>
          <a:prstGeom prst="rect">
            <a:avLst/>
          </a:prstGeom>
        </p:spPr>
      </p:pic>
      <p:sp>
        <p:nvSpPr>
          <p:cNvPr id="25" name="文本框 24">
            <a:extLst>
              <a:ext uri="{FF2B5EF4-FFF2-40B4-BE49-F238E27FC236}">
                <a16:creationId xmlns:a16="http://schemas.microsoft.com/office/drawing/2014/main" id="{75D436D9-A217-41B6-9088-D8B5FBC348AD}"/>
              </a:ext>
            </a:extLst>
          </p:cNvPr>
          <p:cNvSpPr txBox="1"/>
          <p:nvPr/>
        </p:nvSpPr>
        <p:spPr>
          <a:xfrm>
            <a:off x="425353" y="1222082"/>
            <a:ext cx="2552686" cy="369332"/>
          </a:xfrm>
          <a:prstGeom prst="rect">
            <a:avLst/>
          </a:prstGeom>
          <a:noFill/>
        </p:spPr>
        <p:txBody>
          <a:bodyPr wrap="none" rtlCol="0">
            <a:spAutoFit/>
          </a:bodyPr>
          <a:lstStyle/>
          <a:p>
            <a:r>
              <a:rPr lang="zh-CN" altLang="en-US" dirty="0"/>
              <a:t>导入例子：朴素贝叶斯</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DA8BD27-2592-48DA-AEAC-6526C6403B86}"/>
                  </a:ext>
                </a:extLst>
              </p:cNvPr>
              <p:cNvSpPr txBox="1"/>
              <p:nvPr/>
            </p:nvSpPr>
            <p:spPr>
              <a:xfrm>
                <a:off x="3864484" y="1591414"/>
                <a:ext cx="4661661" cy="5486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e>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d>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e>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um>
                        <m:den>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r>
                            <a:rPr lang="en-US" altLang="zh-CN" sz="1400" b="0" i="1" smtClean="0">
                              <a:latin typeface="Cambria Math" panose="02040503050406030204" pitchFamily="18" charset="0"/>
                            </a:rPr>
                            <m:t>)</m:t>
                          </m:r>
                        </m:den>
                      </m:f>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4" name="文本框 23">
                <a:extLst>
                  <a:ext uri="{FF2B5EF4-FFF2-40B4-BE49-F238E27FC236}">
                    <a16:creationId xmlns:a16="http://schemas.microsoft.com/office/drawing/2014/main" id="{BDA8BD27-2592-48DA-AEAC-6526C6403B86}"/>
                  </a:ext>
                </a:extLst>
              </p:cNvPr>
              <p:cNvSpPr txBox="1">
                <a:spLocks noRot="1" noChangeAspect="1" noMove="1" noResize="1" noEditPoints="1" noAdjustHandles="1" noChangeArrowheads="1" noChangeShapeType="1" noTextEdit="1"/>
              </p:cNvSpPr>
              <p:nvPr/>
            </p:nvSpPr>
            <p:spPr>
              <a:xfrm>
                <a:off x="3864484" y="1591414"/>
                <a:ext cx="4661661" cy="548676"/>
              </a:xfrm>
              <a:prstGeom prst="rect">
                <a:avLst/>
              </a:prstGeom>
              <a:blipFill>
                <a:blip r:embed="rId4"/>
                <a:stretch>
                  <a:fillRect b="-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4C91484-9615-4375-B064-A0AE972BBCFE}"/>
                  </a:ext>
                </a:extLst>
              </p:cNvPr>
              <p:cNvSpPr txBox="1"/>
              <p:nvPr/>
            </p:nvSpPr>
            <p:spPr>
              <a:xfrm>
                <a:off x="3864484" y="2219316"/>
                <a:ext cx="385426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7" name="文本框 26">
                <a:extLst>
                  <a:ext uri="{FF2B5EF4-FFF2-40B4-BE49-F238E27FC236}">
                    <a16:creationId xmlns:a16="http://schemas.microsoft.com/office/drawing/2014/main" id="{A4C91484-9615-4375-B064-A0AE972BBCFE}"/>
                  </a:ext>
                </a:extLst>
              </p:cNvPr>
              <p:cNvSpPr txBox="1">
                <a:spLocks noRot="1" noChangeAspect="1" noMove="1" noResize="1" noEditPoints="1" noAdjustHandles="1" noChangeArrowheads="1" noChangeShapeType="1" noTextEdit="1"/>
              </p:cNvSpPr>
              <p:nvPr/>
            </p:nvSpPr>
            <p:spPr>
              <a:xfrm>
                <a:off x="3864484" y="2219316"/>
                <a:ext cx="3854260" cy="307777"/>
              </a:xfrm>
              <a:prstGeom prst="rect">
                <a:avLst/>
              </a:prstGeom>
              <a:blipFill>
                <a:blip r:embed="rId5"/>
                <a:stretch>
                  <a:fillRect b="-5882"/>
                </a:stretch>
              </a:blipFill>
            </p:spPr>
            <p:txBody>
              <a:bodyPr/>
              <a:lstStyle/>
              <a:p>
                <a:r>
                  <a:rPr lang="zh-CN" altLang="en-US">
                    <a:noFill/>
                  </a:rPr>
                  <a:t> </a:t>
                </a:r>
              </a:p>
            </p:txBody>
          </p:sp>
        </mc:Fallback>
      </mc:AlternateContent>
      <p:sp>
        <p:nvSpPr>
          <p:cNvPr id="3" name="矩形: 圆角 2">
            <a:extLst>
              <a:ext uri="{FF2B5EF4-FFF2-40B4-BE49-F238E27FC236}">
                <a16:creationId xmlns:a16="http://schemas.microsoft.com/office/drawing/2014/main" id="{4A2DBABE-111F-41CB-B995-7CE096B5AAD3}"/>
              </a:ext>
            </a:extLst>
          </p:cNvPr>
          <p:cNvSpPr/>
          <p:nvPr/>
        </p:nvSpPr>
        <p:spPr>
          <a:xfrm>
            <a:off x="5420566" y="2219316"/>
            <a:ext cx="765762" cy="30777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 name="文本框 3">
            <a:extLst>
              <a:ext uri="{FF2B5EF4-FFF2-40B4-BE49-F238E27FC236}">
                <a16:creationId xmlns:a16="http://schemas.microsoft.com/office/drawing/2014/main" id="{5BBAA432-4B04-4D8B-86AC-A5179A87073C}"/>
              </a:ext>
            </a:extLst>
          </p:cNvPr>
          <p:cNvSpPr txBox="1"/>
          <p:nvPr/>
        </p:nvSpPr>
        <p:spPr>
          <a:xfrm>
            <a:off x="5296639" y="2515004"/>
            <a:ext cx="2349233" cy="276999"/>
          </a:xfrm>
          <a:prstGeom prst="rect">
            <a:avLst/>
          </a:prstGeom>
          <a:noFill/>
        </p:spPr>
        <p:txBody>
          <a:bodyPr wrap="none" rtlCol="0">
            <a:spAutoFit/>
          </a:bodyPr>
          <a:lstStyle/>
          <a:p>
            <a:r>
              <a:rPr lang="zh-CN" altLang="en-US" sz="1200" dirty="0"/>
              <a:t>在简单数据集中可以直接</a:t>
            </a:r>
            <a:r>
              <a:rPr lang="en-US" altLang="zh-CN" sz="1200" dirty="0"/>
              <a:t>count!</a:t>
            </a:r>
            <a:endParaRPr lang="zh-CN" altLang="en-US" sz="1200" dirty="0"/>
          </a:p>
        </p:txBody>
      </p:sp>
      <p:pic>
        <p:nvPicPr>
          <p:cNvPr id="18" name="图片 17">
            <a:extLst>
              <a:ext uri="{FF2B5EF4-FFF2-40B4-BE49-F238E27FC236}">
                <a16:creationId xmlns:a16="http://schemas.microsoft.com/office/drawing/2014/main" id="{A9463138-1315-4AD5-9A30-2120FC5A2F80}"/>
              </a:ext>
            </a:extLst>
          </p:cNvPr>
          <p:cNvPicPr>
            <a:picLocks noChangeAspect="1"/>
          </p:cNvPicPr>
          <p:nvPr/>
        </p:nvPicPr>
        <p:blipFill>
          <a:blip r:embed="rId6"/>
          <a:stretch>
            <a:fillRect/>
          </a:stretch>
        </p:blipFill>
        <p:spPr>
          <a:xfrm>
            <a:off x="4899946" y="2871807"/>
            <a:ext cx="2833252" cy="1676917"/>
          </a:xfrm>
          <a:prstGeom prst="rect">
            <a:avLst/>
          </a:prstGeom>
        </p:spPr>
      </p:pic>
      <p:sp>
        <p:nvSpPr>
          <p:cNvPr id="5" name="文本框 4">
            <a:extLst>
              <a:ext uri="{FF2B5EF4-FFF2-40B4-BE49-F238E27FC236}">
                <a16:creationId xmlns:a16="http://schemas.microsoft.com/office/drawing/2014/main" id="{3F863FCC-2B21-D6B1-0AA4-78102CB10DEA}"/>
              </a:ext>
            </a:extLst>
          </p:cNvPr>
          <p:cNvSpPr txBox="1"/>
          <p:nvPr/>
        </p:nvSpPr>
        <p:spPr>
          <a:xfrm>
            <a:off x="2978039" y="4815749"/>
            <a:ext cx="4303669" cy="523220"/>
          </a:xfrm>
          <a:prstGeom prst="rect">
            <a:avLst/>
          </a:prstGeom>
          <a:noFill/>
        </p:spPr>
        <p:txBody>
          <a:bodyPr wrap="square" rtlCol="0">
            <a:spAutoFit/>
          </a:bodyPr>
          <a:lstStyle/>
          <a:p>
            <a:r>
              <a:rPr lang="zh-CN" altLang="en-US" sz="1400" i="1" dirty="0"/>
              <a:t>能否通过参数估计的形式把上面这张表格估计出来呢？我们在统计的时候实际就是在做最大似然</a:t>
            </a:r>
          </a:p>
        </p:txBody>
      </p:sp>
    </p:spTree>
    <p:extLst>
      <p:ext uri="{BB962C8B-B14F-4D97-AF65-F5344CB8AC3E}">
        <p14:creationId xmlns:p14="http://schemas.microsoft.com/office/powerpoint/2010/main" val="32189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AA544-5115-722C-F7C6-916C9602E272}"/>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6F64047E-B269-4D50-B75E-50DA8E51DD89}"/>
              </a:ext>
            </a:extLst>
          </p:cNvPr>
          <p:cNvGrpSpPr/>
          <p:nvPr/>
        </p:nvGrpSpPr>
        <p:grpSpPr>
          <a:xfrm>
            <a:off x="-4445" y="260985"/>
            <a:ext cx="8925560" cy="708025"/>
            <a:chOff x="-9" y="254"/>
            <a:chExt cx="14056" cy="1115"/>
          </a:xfrm>
        </p:grpSpPr>
        <p:sp>
          <p:nvSpPr>
            <p:cNvPr id="34" name="矩形 33">
              <a:extLst>
                <a:ext uri="{FF2B5EF4-FFF2-40B4-BE49-F238E27FC236}">
                  <a16:creationId xmlns:a16="http://schemas.microsoft.com/office/drawing/2014/main" id="{89CC0821-E571-65A0-AFEE-AC790CD97E14}"/>
                </a:ext>
              </a:extLst>
            </p:cNvPr>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DDE6BDFF-5505-062F-4239-98C2A26F04A1}"/>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59AB69EA-FEAD-376B-017D-5E167DB74F18}"/>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CC4B5BAD-0820-02AA-5D47-B69B4F976044}"/>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F62A59B2-BE4A-00F1-E377-EFCF13699040}"/>
                </a:ext>
              </a:extLst>
            </p:cNvPr>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p:pic>
        <p:nvPicPr>
          <p:cNvPr id="2" name="图片 1">
            <a:extLst>
              <a:ext uri="{FF2B5EF4-FFF2-40B4-BE49-F238E27FC236}">
                <a16:creationId xmlns:a16="http://schemas.microsoft.com/office/drawing/2014/main" id="{71674F13-4095-F3E2-1F1A-51BBE766BCAE}"/>
              </a:ext>
            </a:extLst>
          </p:cNvPr>
          <p:cNvPicPr>
            <a:picLocks noChangeAspect="1"/>
          </p:cNvPicPr>
          <p:nvPr/>
        </p:nvPicPr>
        <p:blipFill>
          <a:blip r:embed="rId3"/>
          <a:stretch>
            <a:fillRect/>
          </a:stretch>
        </p:blipFill>
        <p:spPr>
          <a:xfrm>
            <a:off x="578285" y="1615598"/>
            <a:ext cx="3116029" cy="2218407"/>
          </a:xfrm>
          <a:prstGeom prst="rect">
            <a:avLst/>
          </a:prstGeom>
        </p:spPr>
      </p:pic>
      <p:sp>
        <p:nvSpPr>
          <p:cNvPr id="25" name="文本框 24">
            <a:extLst>
              <a:ext uri="{FF2B5EF4-FFF2-40B4-BE49-F238E27FC236}">
                <a16:creationId xmlns:a16="http://schemas.microsoft.com/office/drawing/2014/main" id="{3EA5382D-A87D-EDD4-F3EE-7076736649FB}"/>
              </a:ext>
            </a:extLst>
          </p:cNvPr>
          <p:cNvSpPr txBox="1"/>
          <p:nvPr/>
        </p:nvSpPr>
        <p:spPr>
          <a:xfrm>
            <a:off x="425353" y="1222082"/>
            <a:ext cx="2552686" cy="369332"/>
          </a:xfrm>
          <a:prstGeom prst="rect">
            <a:avLst/>
          </a:prstGeom>
          <a:noFill/>
        </p:spPr>
        <p:txBody>
          <a:bodyPr wrap="none" rtlCol="0">
            <a:spAutoFit/>
          </a:bodyPr>
          <a:lstStyle/>
          <a:p>
            <a:r>
              <a:rPr lang="zh-CN" altLang="en-US" dirty="0"/>
              <a:t>导入例子：朴素贝叶斯</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3C618304-80D4-E43A-6365-443EABA669F8}"/>
                  </a:ext>
                </a:extLst>
              </p:cNvPr>
              <p:cNvSpPr txBox="1"/>
              <p:nvPr/>
            </p:nvSpPr>
            <p:spPr>
              <a:xfrm>
                <a:off x="3864484" y="1615598"/>
                <a:ext cx="4661661" cy="5486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e>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d>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e>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um>
                        <m:den>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r>
                            <a:rPr lang="en-US" altLang="zh-CN" sz="1400" b="0" i="1" smtClean="0">
                              <a:latin typeface="Cambria Math" panose="02040503050406030204" pitchFamily="18" charset="0"/>
                            </a:rPr>
                            <m:t>)</m:t>
                          </m:r>
                        </m:den>
                      </m:f>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4" name="文本框 23">
                <a:extLst>
                  <a:ext uri="{FF2B5EF4-FFF2-40B4-BE49-F238E27FC236}">
                    <a16:creationId xmlns:a16="http://schemas.microsoft.com/office/drawing/2014/main" id="{3C618304-80D4-E43A-6365-443EABA669F8}"/>
                  </a:ext>
                </a:extLst>
              </p:cNvPr>
              <p:cNvSpPr txBox="1">
                <a:spLocks noRot="1" noChangeAspect="1" noMove="1" noResize="1" noEditPoints="1" noAdjustHandles="1" noChangeArrowheads="1" noChangeShapeType="1" noTextEdit="1"/>
              </p:cNvSpPr>
              <p:nvPr/>
            </p:nvSpPr>
            <p:spPr>
              <a:xfrm>
                <a:off x="3864484" y="1615598"/>
                <a:ext cx="4661661" cy="548676"/>
              </a:xfrm>
              <a:prstGeom prst="rect">
                <a:avLst/>
              </a:prstGeom>
              <a:blipFill>
                <a:blip r:embed="rId4"/>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BD32C2A5-9CD7-995A-582E-1759062930AE}"/>
                  </a:ext>
                </a:extLst>
              </p:cNvPr>
              <p:cNvSpPr txBox="1"/>
              <p:nvPr/>
            </p:nvSpPr>
            <p:spPr>
              <a:xfrm>
                <a:off x="3864484" y="2243500"/>
                <a:ext cx="385426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7" name="文本框 26">
                <a:extLst>
                  <a:ext uri="{FF2B5EF4-FFF2-40B4-BE49-F238E27FC236}">
                    <a16:creationId xmlns:a16="http://schemas.microsoft.com/office/drawing/2014/main" id="{BD32C2A5-9CD7-995A-582E-1759062930AE}"/>
                  </a:ext>
                </a:extLst>
              </p:cNvPr>
              <p:cNvSpPr txBox="1">
                <a:spLocks noRot="1" noChangeAspect="1" noMove="1" noResize="1" noEditPoints="1" noAdjustHandles="1" noChangeArrowheads="1" noChangeShapeType="1" noTextEdit="1"/>
              </p:cNvSpPr>
              <p:nvPr/>
            </p:nvSpPr>
            <p:spPr>
              <a:xfrm>
                <a:off x="3864484" y="2243500"/>
                <a:ext cx="3854260" cy="307777"/>
              </a:xfrm>
              <a:prstGeom prst="rect">
                <a:avLst/>
              </a:prstGeom>
              <a:blipFill>
                <a:blip r:embed="rId5"/>
                <a:stretch>
                  <a:fillRect b="-7692"/>
                </a:stretch>
              </a:blipFill>
            </p:spPr>
            <p:txBody>
              <a:bodyPr/>
              <a:lstStyle/>
              <a:p>
                <a:r>
                  <a:rPr lang="zh-CN" altLang="en-US">
                    <a:noFill/>
                  </a:rPr>
                  <a:t> </a:t>
                </a:r>
              </a:p>
            </p:txBody>
          </p:sp>
        </mc:Fallback>
      </mc:AlternateContent>
      <p:sp>
        <p:nvSpPr>
          <p:cNvPr id="3" name="矩形: 圆角 2">
            <a:extLst>
              <a:ext uri="{FF2B5EF4-FFF2-40B4-BE49-F238E27FC236}">
                <a16:creationId xmlns:a16="http://schemas.microsoft.com/office/drawing/2014/main" id="{183268DA-4919-1B8F-8ABD-BBA80C5EC9A9}"/>
              </a:ext>
            </a:extLst>
          </p:cNvPr>
          <p:cNvSpPr/>
          <p:nvPr/>
        </p:nvSpPr>
        <p:spPr>
          <a:xfrm>
            <a:off x="5429552" y="2243499"/>
            <a:ext cx="765762" cy="30777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6C25221-B7A7-6DA2-A568-4527EB174A1C}"/>
                  </a:ext>
                </a:extLst>
              </p:cNvPr>
              <p:cNvSpPr txBox="1"/>
              <p:nvPr/>
            </p:nvSpPr>
            <p:spPr>
              <a:xfrm>
                <a:off x="575907" y="3950841"/>
                <a:ext cx="4804264" cy="2646174"/>
              </a:xfrm>
              <a:prstGeom prst="rect">
                <a:avLst/>
              </a:prstGeom>
              <a:noFill/>
            </p:spPr>
            <p:txBody>
              <a:bodyPr wrap="none" rtlCol="0">
                <a:spAutoFit/>
              </a:bodyPr>
              <a:lstStyle/>
              <a:p>
                <a:pPr>
                  <a:lnSpc>
                    <a:spcPct val="150000"/>
                  </a:lnSpc>
                </a:pPr>
                <a:r>
                  <a:rPr lang="zh-CN" altLang="en-US" sz="1600" dirty="0"/>
                  <a:t>我们先做如下的参数定义：</a:t>
                </a:r>
                <a:endParaRPr lang="en-US" altLang="zh-CN" sz="1600" dirty="0"/>
              </a:p>
              <a:p>
                <a:pPr>
                  <a:lnSpc>
                    <a:spcPct val="150000"/>
                  </a:lnSpc>
                </a:pPr>
                <a:r>
                  <a:rPr lang="zh-CN" altLang="en-US" sz="1600" dirty="0"/>
                  <a:t>定义</a:t>
                </a:r>
                <a14:m>
                  <m:oMath xmlns:m="http://schemas.openxmlformats.org/officeDocument/2006/math">
                    <m:acc>
                      <m:accPr>
                        <m:chr m:val="̃"/>
                        <m:ctrlPr>
                          <a:rPr lang="zh-CN" altLang="en-US" sz="1600" i="1" smtClean="0">
                            <a:latin typeface="Cambria Math" panose="02040503050406030204" pitchFamily="18" charset="0"/>
                          </a:rPr>
                        </m:ctrlPr>
                      </m:accPr>
                      <m:e>
                        <m:r>
                          <m:rPr>
                            <m:sty m:val="p"/>
                          </m:rPr>
                          <a:rPr lang="en-US" altLang="zh-CN" sz="1600" i="1">
                            <a:latin typeface="Cambria Math" panose="02040503050406030204" pitchFamily="18" charset="0"/>
                          </a:rPr>
                          <m:t>X</m:t>
                        </m:r>
                      </m:e>
                    </m:acc>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𝑁</m:t>
                        </m:r>
                      </m:sub>
                    </m:sSub>
                    <m:r>
                      <a:rPr lang="en-US" altLang="zh-CN" sz="1600" b="0" i="1" smtClean="0">
                        <a:latin typeface="Cambria Math" panose="02040503050406030204" pitchFamily="18" charset="0"/>
                      </a:rPr>
                      <m:t>)</m:t>
                    </m:r>
                  </m:oMath>
                </a14:m>
                <a:r>
                  <a:rPr lang="en-US" altLang="zh-CN" sz="1600" dirty="0"/>
                  <a:t>,N</a:t>
                </a:r>
                <a:r>
                  <a:rPr lang="zh-CN" altLang="en-US" sz="1600" dirty="0"/>
                  <a:t>表示训练样本的数量</a:t>
                </a:r>
                <a:endParaRPr lang="en-US" altLang="zh-CN" sz="1600" dirty="0"/>
              </a:p>
              <a:p>
                <a:pPr>
                  <a:lnSpc>
                    <a:spcPct val="150000"/>
                  </a:lnSpc>
                </a:pPr>
                <a:r>
                  <a:rPr lang="zh-CN" altLang="en-US" sz="1600" dirty="0"/>
                  <a:t>其中，</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𝑖</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𝑖</m:t>
                                </m:r>
                              </m:sub>
                              <m: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sup>
                            </m:sSubSup>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𝑖</m:t>
                                </m:r>
                              </m:sub>
                              <m: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𝑛</m:t>
                                    </m:r>
                                  </m:e>
                                </m:d>
                              </m:sup>
                            </m:sSubSup>
                          </m:e>
                        </m:d>
                      </m:e>
                      <m:sup>
                        <m:r>
                          <a:rPr lang="en-US" altLang="zh-CN" sz="1600" b="0" i="1" smtClean="0">
                            <a:latin typeface="Cambria Math" panose="02040503050406030204" pitchFamily="18" charset="0"/>
                          </a:rPr>
                          <m:t>𝑇</m:t>
                        </m:r>
                      </m:sup>
                    </m:sSup>
                  </m:oMath>
                </a14:m>
                <a:endParaRPr lang="en-US" altLang="zh-CN" sz="1600" dirty="0"/>
              </a:p>
              <a:p>
                <a:pPr>
                  <a:lnSpc>
                    <a:spcPct val="150000"/>
                  </a:lnSpc>
                </a:pPr>
                <a14:m>
                  <m:oMath xmlns:m="http://schemas.openxmlformats.org/officeDocument/2006/math">
                    <m:r>
                      <a:rPr lang="en-US" altLang="zh-CN" sz="1600" b="0" i="1" smtClean="0">
                        <a:latin typeface="Cambria Math" panose="02040503050406030204" pitchFamily="18" charset="0"/>
                      </a:rPr>
                      <m:t>𝑌</m:t>
                    </m:r>
                  </m:oMath>
                </a14:m>
                <a:r>
                  <a:rPr lang="zh-CN" altLang="en-US" sz="1600" dirty="0"/>
                  <a:t>的取值范围为</a:t>
                </a:r>
                <a14:m>
                  <m:oMath xmlns:m="http://schemas.openxmlformats.org/officeDocument/2006/math">
                    <m:r>
                      <a:rPr lang="en-US" altLang="zh-CN" sz="1600" b="0" i="1" smtClean="0">
                        <a:latin typeface="Cambria Math" panose="02040503050406030204" pitchFamily="18" charset="0"/>
                      </a:rPr>
                      <m:t>𝐶</m:t>
                    </m:r>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2</m:t>
                            </m:r>
                          </m:sub>
                        </m:sSub>
                      </m:e>
                    </m:d>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𝑘</m:t>
                        </m:r>
                      </m:sub>
                    </m:sSub>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0,1</m:t>
                        </m:r>
                      </m:e>
                    </m:d>
                  </m:oMath>
                </a14:m>
                <a:endParaRPr lang="en-US" altLang="zh-CN" sz="1600" b="0" dirty="0"/>
              </a:p>
              <a:p>
                <a:pPr>
                  <a:lnSpc>
                    <a:spcPct val="150000"/>
                  </a:lnSpc>
                </a:pPr>
                <a:r>
                  <a:rPr lang="zh-CN" altLang="en-US" sz="1600" b="0" dirty="0"/>
                  <a:t>其中变量</a:t>
                </a:r>
                <a14:m>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𝑋</m:t>
                        </m:r>
                      </m:e>
                      <m: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𝑗</m:t>
                        </m:r>
                        <m:r>
                          <a:rPr lang="en-US" altLang="zh-CN" sz="1600" b="0" i="1" smtClean="0">
                            <a:latin typeface="Cambria Math" panose="02040503050406030204" pitchFamily="18" charset="0"/>
                          </a:rPr>
                          <m:t>)</m:t>
                        </m:r>
                      </m:sup>
                    </m:sSup>
                  </m:oMath>
                </a14:m>
                <a:r>
                  <a:rPr lang="zh-CN" altLang="en-US" sz="1600" b="0" dirty="0"/>
                  <a:t>的取值范围为</a:t>
                </a:r>
                <a14:m>
                  <m:oMath xmlns:m="http://schemas.openxmlformats.org/officeDocument/2006/math">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𝑤</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𝑤</m:t>
                        </m:r>
                      </m:e>
                      <m:sub>
                        <m:r>
                          <a:rPr lang="en-US" altLang="zh-CN" sz="1600" b="0" i="1" smtClean="0">
                            <a:latin typeface="Cambria Math" panose="02040503050406030204" pitchFamily="18" charset="0"/>
                          </a:rPr>
                          <m:t>𝑉</m:t>
                        </m:r>
                      </m:sub>
                    </m:sSub>
                    <m:r>
                      <a:rPr lang="en-US" altLang="zh-CN" sz="1600" b="0" i="1" smtClean="0">
                        <a:latin typeface="Cambria Math" panose="02040503050406030204" pitchFamily="18" charset="0"/>
                      </a:rPr>
                      <m:t>}</m:t>
                    </m:r>
                  </m:oMath>
                </a14:m>
                <a:endParaRPr lang="en-US" altLang="zh-CN" sz="1600" b="0" dirty="0"/>
              </a:p>
              <a:p>
                <a:pPr>
                  <a:lnSpc>
                    <a:spcPct val="150000"/>
                  </a:lnSpc>
                </a:pPr>
                <a:r>
                  <a:rPr lang="zh-CN" altLang="en-US" sz="1600" dirty="0"/>
                  <a:t>定义参数</a:t>
                </a:r>
                <a14:m>
                  <m:oMath xmlns:m="http://schemas.openxmlformats.org/officeDocument/2006/math">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𝜃</m:t>
                        </m:r>
                      </m:e>
                      <m:sub>
                        <m:r>
                          <a:rPr lang="en-US" altLang="zh-CN" sz="1600" b="0" i="1" smtClean="0">
                            <a:latin typeface="Cambria Math" panose="02040503050406030204" pitchFamily="18" charset="0"/>
                          </a:rPr>
                          <m:t>ℓ</m:t>
                        </m:r>
                      </m:sub>
                      <m:sup>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𝑘</m:t>
                            </m:r>
                          </m:sub>
                        </m:sSub>
                      </m:sup>
                    </m:sSubSup>
                  </m:oMath>
                </a14:m>
                <a:r>
                  <a:rPr lang="zh-CN" altLang="en-US" sz="1600" dirty="0"/>
                  <a:t>表示词</a:t>
                </a:r>
                <a14:m>
                  <m:oMath xmlns:m="http://schemas.openxmlformats.org/officeDocument/2006/math">
                    <m:r>
                      <a:rPr lang="en-US" altLang="zh-CN" sz="1600" b="0" i="1" smtClean="0">
                        <a:latin typeface="Cambria Math" panose="02040503050406030204" pitchFamily="18" charset="0"/>
                      </a:rPr>
                      <m:t>𝑝</m:t>
                    </m:r>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𝑋</m:t>
                        </m:r>
                      </m:e>
                      <m: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𝑗</m:t>
                            </m:r>
                          </m:e>
                        </m:d>
                      </m:sup>
                    </m:sSup>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𝑤</m:t>
                        </m:r>
                      </m:e>
                      <m:sub>
                        <m:r>
                          <a:rPr lang="en-US" altLang="zh-CN" sz="1600" b="0" i="1" smtClean="0">
                            <a:latin typeface="Cambria Math" panose="02040503050406030204" pitchFamily="18" charset="0"/>
                          </a:rPr>
                          <m:t>ℓ</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𝑦</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𝑘</m:t>
                        </m:r>
                      </m:sub>
                    </m:sSub>
                    <m:r>
                      <a:rPr lang="en-US" altLang="zh-CN" sz="1600" b="0" i="1" smtClean="0">
                        <a:latin typeface="Cambria Math" panose="02040503050406030204" pitchFamily="18" charset="0"/>
                      </a:rPr>
                      <m:t>)</m:t>
                    </m:r>
                  </m:oMath>
                </a14:m>
                <a:r>
                  <a:rPr lang="zh-CN" altLang="en-US" sz="1600" dirty="0"/>
                  <a:t>这个概率</a:t>
                </a:r>
              </a:p>
            </p:txBody>
          </p:sp>
        </mc:Choice>
        <mc:Fallback xmlns="">
          <p:sp>
            <p:nvSpPr>
              <p:cNvPr id="7" name="文本框 6">
                <a:extLst>
                  <a:ext uri="{FF2B5EF4-FFF2-40B4-BE49-F238E27FC236}">
                    <a16:creationId xmlns:a16="http://schemas.microsoft.com/office/drawing/2014/main" id="{76C25221-B7A7-6DA2-A568-4527EB174A1C}"/>
                  </a:ext>
                </a:extLst>
              </p:cNvPr>
              <p:cNvSpPr txBox="1">
                <a:spLocks noRot="1" noChangeAspect="1" noMove="1" noResize="1" noEditPoints="1" noAdjustHandles="1" noChangeArrowheads="1" noChangeShapeType="1" noTextEdit="1"/>
              </p:cNvSpPr>
              <p:nvPr/>
            </p:nvSpPr>
            <p:spPr>
              <a:xfrm>
                <a:off x="575907" y="3950841"/>
                <a:ext cx="4804264" cy="2646174"/>
              </a:xfrm>
              <a:prstGeom prst="rect">
                <a:avLst/>
              </a:prstGeom>
              <a:blipFill>
                <a:blip r:embed="rId6"/>
                <a:stretch>
                  <a:fillRect l="-792"/>
                </a:stretch>
              </a:blipFill>
            </p:spPr>
            <p:txBody>
              <a:bodyPr/>
              <a:lstStyle/>
              <a:p>
                <a:r>
                  <a:rPr lang="zh-CN" altLang="en-US">
                    <a:noFill/>
                  </a:rPr>
                  <a:t> </a:t>
                </a:r>
              </a:p>
            </p:txBody>
          </p:sp>
        </mc:Fallback>
      </mc:AlternateContent>
      <p:cxnSp>
        <p:nvCxnSpPr>
          <p:cNvPr id="9" name="肘形连接符 8">
            <a:extLst>
              <a:ext uri="{FF2B5EF4-FFF2-40B4-BE49-F238E27FC236}">
                <a16:creationId xmlns:a16="http://schemas.microsoft.com/office/drawing/2014/main" id="{8A5B2C8A-EADA-45E9-D85B-64FB8BE8B36F}"/>
              </a:ext>
            </a:extLst>
          </p:cNvPr>
          <p:cNvCxnSpPr>
            <a:stCxn id="7" idx="3"/>
          </p:cNvCxnSpPr>
          <p:nvPr/>
        </p:nvCxnSpPr>
        <p:spPr>
          <a:xfrm flipV="1">
            <a:off x="5380171" y="5076694"/>
            <a:ext cx="743931" cy="19723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1" name="直线箭头连接符 10">
            <a:extLst>
              <a:ext uri="{FF2B5EF4-FFF2-40B4-BE49-F238E27FC236}">
                <a16:creationId xmlns:a16="http://schemas.microsoft.com/office/drawing/2014/main" id="{F4D0B837-888F-605A-EB15-D705ED5ED05A}"/>
              </a:ext>
            </a:extLst>
          </p:cNvPr>
          <p:cNvCxnSpPr/>
          <p:nvPr/>
        </p:nvCxnSpPr>
        <p:spPr>
          <a:xfrm>
            <a:off x="6560820" y="2551276"/>
            <a:ext cx="0" cy="17006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文本框 11">
            <a:extLst>
              <a:ext uri="{FF2B5EF4-FFF2-40B4-BE49-F238E27FC236}">
                <a16:creationId xmlns:a16="http://schemas.microsoft.com/office/drawing/2014/main" id="{2D45382A-FDD5-AEDF-BB22-E79619269E4C}"/>
              </a:ext>
            </a:extLst>
          </p:cNvPr>
          <p:cNvSpPr txBox="1"/>
          <p:nvPr/>
        </p:nvSpPr>
        <p:spPr>
          <a:xfrm>
            <a:off x="5855115" y="4409117"/>
            <a:ext cx="2575145" cy="615553"/>
          </a:xfrm>
          <a:prstGeom prst="rect">
            <a:avLst/>
          </a:prstGeom>
          <a:noFill/>
        </p:spPr>
        <p:txBody>
          <a:bodyPr wrap="square" rtlCol="0">
            <a:spAutoFit/>
          </a:bodyPr>
          <a:lstStyle/>
          <a:p>
            <a:r>
              <a:rPr lang="zh-CN" altLang="en-US" sz="1600" dirty="0"/>
              <a:t>怎么用这个定义来表示整个数据集的概率表示呢</a:t>
            </a:r>
            <a:r>
              <a:rPr kumimoji="1" lang="zh-CN" altLang="en-US" dirty="0"/>
              <a:t>？</a:t>
            </a:r>
          </a:p>
        </p:txBody>
      </p:sp>
    </p:spTree>
    <p:extLst>
      <p:ext uri="{BB962C8B-B14F-4D97-AF65-F5344CB8AC3E}">
        <p14:creationId xmlns:p14="http://schemas.microsoft.com/office/powerpoint/2010/main" val="2255289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14936-9B7B-2E80-862A-9287919A4692}"/>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A089430B-AF56-AAD9-7C22-5BF82DB3F064}"/>
              </a:ext>
            </a:extLst>
          </p:cNvPr>
          <p:cNvGrpSpPr/>
          <p:nvPr/>
        </p:nvGrpSpPr>
        <p:grpSpPr>
          <a:xfrm>
            <a:off x="-4445" y="260985"/>
            <a:ext cx="8925560" cy="708025"/>
            <a:chOff x="-9" y="254"/>
            <a:chExt cx="14056" cy="1115"/>
          </a:xfrm>
        </p:grpSpPr>
        <p:sp>
          <p:nvSpPr>
            <p:cNvPr id="34" name="矩形 33">
              <a:extLst>
                <a:ext uri="{FF2B5EF4-FFF2-40B4-BE49-F238E27FC236}">
                  <a16:creationId xmlns:a16="http://schemas.microsoft.com/office/drawing/2014/main" id="{B99EA749-BF5A-60F8-46EE-99FFFE7AEDD0}"/>
                </a:ext>
              </a:extLst>
            </p:cNvPr>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3446E5BF-E712-EF64-5949-735ED067FBE1}"/>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951B5094-0BB9-9428-D534-6EE15584EEA6}"/>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9172EE2F-E61D-A47D-F802-73D37065C130}"/>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0F5EF39A-0479-C46F-5D28-BFF091A4B2C7}"/>
                </a:ext>
              </a:extLst>
            </p:cNvPr>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935A6D5-8F99-E5F0-F47B-73A306D230A1}"/>
                  </a:ext>
                </a:extLst>
              </p:cNvPr>
              <p:cNvSpPr txBox="1"/>
              <p:nvPr/>
            </p:nvSpPr>
            <p:spPr>
              <a:xfrm>
                <a:off x="345599" y="1014727"/>
                <a:ext cx="7399974" cy="1967911"/>
              </a:xfrm>
              <a:prstGeom prst="rect">
                <a:avLst/>
              </a:prstGeom>
              <a:noFill/>
            </p:spPr>
            <p:txBody>
              <a:bodyPr wrap="none" rtlCol="0">
                <a:spAutoFit/>
              </a:bodyPr>
              <a:lstStyle/>
              <a:p>
                <a:pPr>
                  <a:lnSpc>
                    <a:spcPct val="150000"/>
                  </a:lnSpc>
                </a:pPr>
                <a:r>
                  <a:rPr lang="zh-CN" altLang="en-US" sz="1400" dirty="0"/>
                  <a:t>定义</a:t>
                </a:r>
                <a14:m>
                  <m:oMath xmlns:m="http://schemas.openxmlformats.org/officeDocument/2006/math">
                    <m:acc>
                      <m:accPr>
                        <m:chr m:val="̃"/>
                        <m:ctrlPr>
                          <a:rPr lang="zh-CN" altLang="en-US" sz="1400" i="1">
                            <a:latin typeface="Cambria Math" panose="02040503050406030204" pitchFamily="18" charset="0"/>
                          </a:rPr>
                        </m:ctrlPr>
                      </m:accPr>
                      <m:e>
                        <m:r>
                          <m:rPr>
                            <m:sty m:val="p"/>
                          </m:rPr>
                          <a:rPr lang="en-US" altLang="zh-CN" sz="1400" i="1">
                            <a:latin typeface="Cambria Math" panose="02040503050406030204" pitchFamily="18" charset="0"/>
                          </a:rPr>
                          <m:t>X</m:t>
                        </m:r>
                      </m:e>
                    </m:acc>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1</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2</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𝑁</m:t>
                        </m:r>
                      </m:sub>
                    </m:sSub>
                    <m:r>
                      <a:rPr lang="en-US" altLang="zh-CN" sz="1400" i="1">
                        <a:latin typeface="Cambria Math" panose="02040503050406030204" pitchFamily="18" charset="0"/>
                      </a:rPr>
                      <m:t>)</m:t>
                    </m:r>
                  </m:oMath>
                </a14:m>
                <a:r>
                  <a:rPr lang="en-US" altLang="zh-CN" sz="1400" dirty="0"/>
                  <a:t>,N</a:t>
                </a:r>
                <a:r>
                  <a:rPr lang="zh-CN" altLang="en-US" sz="1400" dirty="0"/>
                  <a:t>表示训练样本的数量</a:t>
                </a:r>
                <a:endParaRPr lang="en-US" altLang="zh-CN" sz="1400" dirty="0"/>
              </a:p>
              <a:p>
                <a:pPr>
                  <a:lnSpc>
                    <a:spcPct val="150000"/>
                  </a:lnSpc>
                </a:pPr>
                <a:r>
                  <a:rPr lang="zh-CN" altLang="en-US" sz="1400" dirty="0"/>
                  <a:t>其中，</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𝑥</m:t>
                        </m:r>
                      </m:e>
                      <m:sub>
                        <m:r>
                          <a:rPr lang="en-US" altLang="zh-CN" sz="1400" i="1">
                            <a:latin typeface="Cambria Math" panose="02040503050406030204" pitchFamily="18" charset="0"/>
                          </a:rPr>
                          <m:t>𝑖</m:t>
                        </m:r>
                      </m:sub>
                    </m:sSub>
                    <m:r>
                      <a:rPr lang="en-US" altLang="zh-CN" sz="1400" i="1">
                        <a:latin typeface="Cambria Math" panose="02040503050406030204" pitchFamily="18" charset="0"/>
                      </a:rPr>
                      <m:t>=</m:t>
                    </m:r>
                    <m:sSup>
                      <m:sSupPr>
                        <m:ctrlPr>
                          <a:rPr lang="en-US" altLang="zh-CN" sz="1400" i="1">
                            <a:latin typeface="Cambria Math" panose="02040503050406030204" pitchFamily="18" charset="0"/>
                          </a:rPr>
                        </m:ctrlPr>
                      </m:sSupPr>
                      <m:e>
                        <m:d>
                          <m:dPr>
                            <m:ctrlPr>
                              <a:rPr lang="en-US" altLang="zh-CN" sz="1400" i="1">
                                <a:latin typeface="Cambria Math" panose="02040503050406030204" pitchFamily="18" charset="0"/>
                              </a:rPr>
                            </m:ctrlPr>
                          </m:dPr>
                          <m:e>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𝑥</m:t>
                                </m:r>
                              </m:e>
                              <m:sub>
                                <m:r>
                                  <a:rPr lang="en-US" altLang="zh-CN" sz="1400" i="1">
                                    <a:latin typeface="Cambria Math" panose="02040503050406030204" pitchFamily="18" charset="0"/>
                                  </a:rPr>
                                  <m:t>𝑖</m:t>
                                </m:r>
                              </m:sub>
                              <m:sup>
                                <m:d>
                                  <m:dPr>
                                    <m:ctrlPr>
                                      <a:rPr lang="en-US" altLang="zh-CN" sz="1400" i="1">
                                        <a:latin typeface="Cambria Math" panose="02040503050406030204" pitchFamily="18" charset="0"/>
                                      </a:rPr>
                                    </m:ctrlPr>
                                  </m:dPr>
                                  <m:e>
                                    <m:r>
                                      <a:rPr lang="en-US" altLang="zh-CN" sz="1400" i="1">
                                        <a:latin typeface="Cambria Math" panose="02040503050406030204" pitchFamily="18" charset="0"/>
                                      </a:rPr>
                                      <m:t>1</m:t>
                                    </m:r>
                                  </m:e>
                                </m:d>
                              </m:sup>
                            </m:sSubSup>
                            <m:r>
                              <a:rPr lang="en-US" altLang="zh-CN" sz="1400" i="1">
                                <a:latin typeface="Cambria Math" panose="02040503050406030204" pitchFamily="18" charset="0"/>
                              </a:rPr>
                              <m:t>,…,</m:t>
                            </m:r>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𝑥</m:t>
                                </m:r>
                              </m:e>
                              <m:sub>
                                <m:r>
                                  <a:rPr lang="en-US" altLang="zh-CN" sz="1400" i="1">
                                    <a:latin typeface="Cambria Math" panose="02040503050406030204" pitchFamily="18" charset="0"/>
                                  </a:rPr>
                                  <m:t>𝑖</m:t>
                                </m:r>
                              </m:sub>
                              <m:sup>
                                <m:d>
                                  <m:dPr>
                                    <m:ctrlPr>
                                      <a:rPr lang="en-US" altLang="zh-CN" sz="1400" i="1">
                                        <a:latin typeface="Cambria Math" panose="02040503050406030204" pitchFamily="18" charset="0"/>
                                      </a:rPr>
                                    </m:ctrlPr>
                                  </m:dPr>
                                  <m:e>
                                    <m:r>
                                      <a:rPr lang="en-US" altLang="zh-CN" sz="1400" i="1">
                                        <a:latin typeface="Cambria Math" panose="02040503050406030204" pitchFamily="18" charset="0"/>
                                      </a:rPr>
                                      <m:t>𝑛</m:t>
                                    </m:r>
                                  </m:e>
                                </m:d>
                              </m:sup>
                            </m:sSubSup>
                          </m:e>
                        </m:d>
                      </m:e>
                      <m:sup>
                        <m:r>
                          <a:rPr lang="en-US" altLang="zh-CN" sz="1400" i="1">
                            <a:latin typeface="Cambria Math" panose="02040503050406030204" pitchFamily="18" charset="0"/>
                          </a:rPr>
                          <m:t>𝑇</m:t>
                        </m:r>
                      </m:sup>
                    </m:sSup>
                  </m:oMath>
                </a14:m>
                <a:endParaRPr lang="en-US" altLang="zh-CN" sz="1400" dirty="0"/>
              </a:p>
              <a:p>
                <a:pPr>
                  <a:lnSpc>
                    <a:spcPct val="150000"/>
                  </a:lnSpc>
                </a:pPr>
                <a14:m>
                  <m:oMath xmlns:m="http://schemas.openxmlformats.org/officeDocument/2006/math">
                    <m:r>
                      <a:rPr lang="en-US" altLang="zh-CN" sz="1400" i="1">
                        <a:latin typeface="Cambria Math" panose="02040503050406030204" pitchFamily="18" charset="0"/>
                      </a:rPr>
                      <m:t>𝑌</m:t>
                    </m:r>
                  </m:oMath>
                </a14:m>
                <a:r>
                  <a:rPr lang="zh-CN" altLang="en-US" sz="1400" dirty="0"/>
                  <a:t>的取值范围为</a:t>
                </a:r>
                <a14:m>
                  <m:oMath xmlns:m="http://schemas.openxmlformats.org/officeDocument/2006/math">
                    <m:r>
                      <a:rPr lang="en-US" altLang="zh-CN" sz="1400" i="1">
                        <a:latin typeface="Cambria Math" panose="02040503050406030204" pitchFamily="18" charset="0"/>
                      </a:rPr>
                      <m:t>𝐶</m:t>
                    </m:r>
                    <m:r>
                      <a:rPr lang="en-US" altLang="zh-CN" sz="1400" i="1">
                        <a:latin typeface="Cambria Math" panose="02040503050406030204" pitchFamily="18" charset="0"/>
                      </a:rPr>
                      <m:t>=</m:t>
                    </m:r>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𝑐</m:t>
                            </m:r>
                          </m:e>
                          <m:sub>
                            <m:r>
                              <a:rPr lang="en-US" altLang="zh-CN" sz="1400" i="1">
                                <a:latin typeface="Cambria Math" panose="02040503050406030204" pitchFamily="18" charset="0"/>
                              </a:rPr>
                              <m:t>1</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𝑐</m:t>
                            </m:r>
                          </m:e>
                          <m:sub>
                            <m:r>
                              <a:rPr lang="en-US" altLang="zh-CN" sz="1400" i="1">
                                <a:latin typeface="Cambria Math" panose="02040503050406030204" pitchFamily="18" charset="0"/>
                              </a:rPr>
                              <m:t>2</m:t>
                            </m:r>
                          </m:sub>
                        </m:sSub>
                      </m:e>
                    </m:d>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𝑐</m:t>
                        </m:r>
                      </m:e>
                      <m:sub>
                        <m:r>
                          <a:rPr lang="en-US" altLang="zh-CN" sz="1400" i="1">
                            <a:latin typeface="Cambria Math" panose="02040503050406030204" pitchFamily="18" charset="0"/>
                          </a:rPr>
                          <m:t>𝑘</m:t>
                        </m:r>
                      </m:sub>
                    </m:sSub>
                    <m:r>
                      <a:rPr lang="en-US" altLang="zh-CN" sz="1400" i="1">
                        <a:latin typeface="Cambria Math" panose="02040503050406030204" pitchFamily="18" charset="0"/>
                      </a:rPr>
                      <m:t>∈</m:t>
                    </m:r>
                    <m:d>
                      <m:dPr>
                        <m:begChr m:val="{"/>
                        <m:endChr m:val="}"/>
                        <m:ctrlPr>
                          <a:rPr lang="en-US" altLang="zh-CN" sz="1400" i="1">
                            <a:latin typeface="Cambria Math" panose="02040503050406030204" pitchFamily="18" charset="0"/>
                          </a:rPr>
                        </m:ctrlPr>
                      </m:dPr>
                      <m:e>
                        <m:r>
                          <a:rPr lang="en-US" altLang="zh-CN" sz="1400" i="1">
                            <a:latin typeface="Cambria Math" panose="02040503050406030204" pitchFamily="18" charset="0"/>
                          </a:rPr>
                          <m:t>0,1</m:t>
                        </m:r>
                      </m:e>
                    </m:d>
                  </m:oMath>
                </a14:m>
                <a:endParaRPr lang="en-US" altLang="zh-CN" sz="1400" dirty="0"/>
              </a:p>
              <a:p>
                <a:pPr>
                  <a:lnSpc>
                    <a:spcPct val="150000"/>
                  </a:lnSpc>
                </a:pPr>
                <a:r>
                  <a:rPr lang="zh-CN" altLang="en-US" sz="1400" dirty="0"/>
                  <a:t>其中变量</a:t>
                </a:r>
                <a14:m>
                  <m:oMath xmlns:m="http://schemas.openxmlformats.org/officeDocument/2006/math">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𝑋</m:t>
                        </m:r>
                      </m:e>
                      <m:sup>
                        <m:r>
                          <a:rPr lang="en-US" altLang="zh-CN" sz="1400" i="1">
                            <a:latin typeface="Cambria Math" panose="02040503050406030204" pitchFamily="18" charset="0"/>
                          </a:rPr>
                          <m:t>(</m:t>
                        </m:r>
                        <m:r>
                          <a:rPr lang="en-US" altLang="zh-CN" sz="1400" i="1">
                            <a:latin typeface="Cambria Math" panose="02040503050406030204" pitchFamily="18" charset="0"/>
                          </a:rPr>
                          <m:t>𝑗</m:t>
                        </m:r>
                        <m:r>
                          <a:rPr lang="en-US" altLang="zh-CN" sz="1400" i="1">
                            <a:latin typeface="Cambria Math" panose="02040503050406030204" pitchFamily="18" charset="0"/>
                          </a:rPr>
                          <m:t>)</m:t>
                        </m:r>
                      </m:sup>
                    </m:sSup>
                  </m:oMath>
                </a14:m>
                <a:r>
                  <a:rPr lang="zh-CN" altLang="en-US" sz="1400" dirty="0"/>
                  <a:t>的取值范围为</a:t>
                </a:r>
                <a14:m>
                  <m:oMath xmlns:m="http://schemas.openxmlformats.org/officeDocument/2006/math">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𝑤</m:t>
                        </m:r>
                      </m:e>
                      <m:sub>
                        <m:r>
                          <a:rPr lang="en-US" altLang="zh-CN" sz="1400" i="1">
                            <a:latin typeface="Cambria Math" panose="02040503050406030204" pitchFamily="18" charset="0"/>
                          </a:rPr>
                          <m:t>1</m:t>
                        </m:r>
                      </m:sub>
                    </m:sSub>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𝑤</m:t>
                        </m:r>
                      </m:e>
                      <m:sub>
                        <m:r>
                          <a:rPr lang="en-US" altLang="zh-CN" sz="1400" i="1">
                            <a:latin typeface="Cambria Math" panose="02040503050406030204" pitchFamily="18" charset="0"/>
                          </a:rPr>
                          <m:t>𝑉</m:t>
                        </m:r>
                      </m:sub>
                    </m:sSub>
                    <m:r>
                      <a:rPr lang="en-US" altLang="zh-CN" sz="1400" i="1">
                        <a:latin typeface="Cambria Math" panose="02040503050406030204" pitchFamily="18" charset="0"/>
                      </a:rPr>
                      <m:t>}</m:t>
                    </m:r>
                  </m:oMath>
                </a14:m>
                <a:endParaRPr lang="en-US" altLang="zh-CN" sz="1400" dirty="0"/>
              </a:p>
              <a:p>
                <a:pPr>
                  <a:lnSpc>
                    <a:spcPct val="150000"/>
                  </a:lnSpc>
                </a:pPr>
                <a:r>
                  <a:rPr lang="zh-CN" altLang="en-US" sz="1400" dirty="0"/>
                  <a:t>定义参数</a:t>
                </a:r>
                <a14:m>
                  <m:oMath xmlns:m="http://schemas.openxmlformats.org/officeDocument/2006/math">
                    <m:sSubSup>
                      <m:sSubSupPr>
                        <m:ctrlPr>
                          <a:rPr lang="en-US" altLang="zh-CN" sz="1400" i="1">
                            <a:latin typeface="Cambria Math" panose="02040503050406030204" pitchFamily="18" charset="0"/>
                          </a:rPr>
                        </m:ctrlPr>
                      </m:sSubSupPr>
                      <m:e>
                        <m:r>
                          <a:rPr lang="en-US" altLang="zh-CN" sz="1400" i="1">
                            <a:latin typeface="Cambria Math" panose="02040503050406030204" pitchFamily="18" charset="0"/>
                          </a:rPr>
                          <m:t>𝜃</m:t>
                        </m:r>
                      </m:e>
                      <m:sub>
                        <m:r>
                          <a:rPr lang="en-US" altLang="zh-CN" sz="1400" b="0" i="1" smtClean="0">
                            <a:latin typeface="Cambria Math" panose="02040503050406030204" pitchFamily="18" charset="0"/>
                          </a:rPr>
                          <m:t>ℓ</m:t>
                        </m:r>
                      </m:sub>
                      <m:sup>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𝑐</m:t>
                            </m:r>
                          </m:e>
                          <m:sub>
                            <m:r>
                              <a:rPr lang="en-US" altLang="zh-CN" sz="1400" i="1">
                                <a:latin typeface="Cambria Math" panose="02040503050406030204" pitchFamily="18" charset="0"/>
                              </a:rPr>
                              <m:t>𝑘</m:t>
                            </m:r>
                          </m:sub>
                        </m:sSub>
                      </m:sup>
                    </m:sSubSup>
                  </m:oMath>
                </a14:m>
                <a:r>
                  <a:rPr lang="zh-CN" altLang="en-US" sz="1400" dirty="0"/>
                  <a:t>表示词</a:t>
                </a:r>
                <a14:m>
                  <m:oMath xmlns:m="http://schemas.openxmlformats.org/officeDocument/2006/math">
                    <m:r>
                      <a:rPr lang="en-US" altLang="zh-CN" sz="1400" i="1">
                        <a:latin typeface="Cambria Math" panose="02040503050406030204" pitchFamily="18" charset="0"/>
                      </a:rPr>
                      <m:t>𝑝</m:t>
                    </m:r>
                    <m:d>
                      <m:dPr>
                        <m:sepChr m:val="∣"/>
                        <m:ctrlPr>
                          <a:rPr lang="en-US" altLang="zh-CN" sz="1400" i="1">
                            <a:latin typeface="Cambria Math" panose="02040503050406030204" pitchFamily="18" charset="0"/>
                          </a:rPr>
                        </m:ctrlPr>
                      </m:dPr>
                      <m:e>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𝑋</m:t>
                            </m:r>
                          </m:e>
                          <m:sup>
                            <m:d>
                              <m:dPr>
                                <m:ctrlPr>
                                  <a:rPr lang="en-US" altLang="zh-CN" sz="1400" i="1">
                                    <a:latin typeface="Cambria Math" panose="02040503050406030204" pitchFamily="18" charset="0"/>
                                  </a:rPr>
                                </m:ctrlPr>
                              </m:dPr>
                              <m:e>
                                <m:r>
                                  <a:rPr lang="en-US" altLang="zh-CN" sz="1400" i="1">
                                    <a:latin typeface="Cambria Math" panose="02040503050406030204" pitchFamily="18" charset="0"/>
                                  </a:rPr>
                                  <m:t>𝑗</m:t>
                                </m:r>
                              </m:e>
                            </m:d>
                          </m:sup>
                        </m:sSup>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𝑤</m:t>
                            </m:r>
                          </m:e>
                          <m:sub>
                            <m:r>
                              <a:rPr lang="en-US" altLang="zh-CN" sz="1400" i="1">
                                <a:latin typeface="Cambria Math" panose="02040503050406030204" pitchFamily="18" charset="0"/>
                              </a:rPr>
                              <m:t>ℓ</m:t>
                            </m:r>
                          </m:sub>
                        </m:sSub>
                      </m:e>
                      <m:e>
                        <m:r>
                          <a:rPr lang="en-US" altLang="zh-CN" sz="1400" i="1">
                            <a:latin typeface="Cambria Math" panose="02040503050406030204" pitchFamily="18" charset="0"/>
                          </a:rPr>
                          <m:t>𝑦</m:t>
                        </m:r>
                        <m:r>
                          <a:rPr lang="en-US" altLang="zh-CN" sz="1400" i="1">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𝑐</m:t>
                            </m:r>
                          </m:e>
                          <m:sub>
                            <m:r>
                              <a:rPr lang="en-US" altLang="zh-CN" sz="1400" i="1">
                                <a:latin typeface="Cambria Math" panose="02040503050406030204" pitchFamily="18" charset="0"/>
                              </a:rPr>
                              <m:t>𝑘</m:t>
                            </m:r>
                          </m:sub>
                        </m:sSub>
                      </m:e>
                    </m:d>
                    <m:r>
                      <a:rPr lang="zh-CN" altLang="en-US" sz="1400" i="1">
                        <a:latin typeface="Cambria Math" panose="02040503050406030204" pitchFamily="18" charset="0"/>
                      </a:rPr>
                      <m:t>即</m:t>
                    </m:r>
                  </m:oMath>
                </a14:m>
                <a:r>
                  <a:rPr lang="zh-CN" altLang="en-US" sz="1400" dirty="0"/>
                  <a:t>在给定分类的情况下，句子中出现某个词的概率</a:t>
                </a:r>
              </a:p>
            </p:txBody>
          </p:sp>
        </mc:Choice>
        <mc:Fallback xmlns="">
          <p:sp>
            <p:nvSpPr>
              <p:cNvPr id="7" name="文本框 6">
                <a:extLst>
                  <a:ext uri="{FF2B5EF4-FFF2-40B4-BE49-F238E27FC236}">
                    <a16:creationId xmlns:a16="http://schemas.microsoft.com/office/drawing/2014/main" id="{E935A6D5-8F99-E5F0-F47B-73A306D230A1}"/>
                  </a:ext>
                </a:extLst>
              </p:cNvPr>
              <p:cNvSpPr txBox="1">
                <a:spLocks noRot="1" noChangeAspect="1" noMove="1" noResize="1" noEditPoints="1" noAdjustHandles="1" noChangeArrowheads="1" noChangeShapeType="1" noTextEdit="1"/>
              </p:cNvSpPr>
              <p:nvPr/>
            </p:nvSpPr>
            <p:spPr>
              <a:xfrm>
                <a:off x="345599" y="1014727"/>
                <a:ext cx="7399974" cy="1967911"/>
              </a:xfrm>
              <a:prstGeom prst="rect">
                <a:avLst/>
              </a:prstGeom>
              <a:blipFill>
                <a:blip r:embed="rId3"/>
                <a:stretch>
                  <a:fillRect l="-247" b="-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F80769F-0923-F56D-5B04-1A9D9159C47D}"/>
                  </a:ext>
                </a:extLst>
              </p:cNvPr>
              <p:cNvSpPr txBox="1"/>
              <p:nvPr/>
            </p:nvSpPr>
            <p:spPr>
              <a:xfrm>
                <a:off x="374084" y="2916531"/>
                <a:ext cx="5572358"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𝑝</m:t>
                      </m:r>
                      <m:d>
                        <m:dPr>
                          <m:sepChr m:val="∣"/>
                          <m:ctrlPr>
                            <a:rPr kumimoji="1" lang="en-US" altLang="zh-CN" b="0" i="1" smtClean="0">
                              <a:latin typeface="Cambria Math" panose="02040503050406030204" pitchFamily="18" charset="0"/>
                            </a:rPr>
                          </m:ctrlPr>
                        </m:dPr>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e>
                          <m:r>
                            <a:rPr kumimoji="1" lang="en-US" altLang="zh-CN" b="0" i="1" smtClean="0">
                              <a:latin typeface="Cambria Math" panose="02040503050406030204" pitchFamily="18" charset="0"/>
                            </a:rPr>
                            <m:t>𝑌</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𝑝</m:t>
                      </m:r>
                      <m:d>
                        <m:dPr>
                          <m:sepChr m:val="∣"/>
                          <m:ctrlPr>
                            <a:rPr kumimoji="1" lang="en-US" altLang="zh-CN" b="0" i="1" smtClean="0">
                              <a:latin typeface="Cambria Math" panose="02040503050406030204" pitchFamily="18" charset="0"/>
                            </a:rPr>
                          </m:ctrlPr>
                        </m:dPr>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e>
                          <m:r>
                            <m:rPr>
                              <m:sty m:val="p"/>
                            </m:rPr>
                            <a:rPr kumimoji="1" lang="en-US" altLang="zh-CN" b="0" i="0" smtClean="0">
                              <a:latin typeface="Cambria Math" panose="02040503050406030204" pitchFamily="18" charset="0"/>
                            </a:rPr>
                            <m:t>Θ</m:t>
                          </m:r>
                        </m:e>
                      </m:d>
                      <m:r>
                        <a:rPr kumimoji="1" lang="en-US" altLang="zh-CN" b="0" i="1" smtClean="0">
                          <a:latin typeface="Cambria Math" panose="02040503050406030204" pitchFamily="18" charset="0"/>
                        </a:rPr>
                        <m:t>=</m:t>
                      </m:r>
                      <m:nary>
                        <m:naryPr>
                          <m:chr m:val="∏"/>
                          <m:ctrlPr>
                            <a:rPr kumimoji="1" lang="en-US" altLang="zh-CN" b="0"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𝑁</m:t>
                          </m:r>
                        </m:sup>
                        <m:e>
                          <m:r>
                            <a:rPr kumimoji="1" lang="en-US" altLang="zh-CN" b="0" i="1" smtClean="0">
                              <a:latin typeface="Cambria Math" panose="02040503050406030204" pitchFamily="18" charset="0"/>
                            </a:rPr>
                            <m:t>𝑝</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r>
                            <m:rPr>
                              <m:sty m:val="p"/>
                            </m:rPr>
                            <a:rPr kumimoji="1" lang="en-US" altLang="zh-CN" b="0" i="0" smtClean="0">
                              <a:latin typeface="Cambria Math" panose="02040503050406030204" pitchFamily="18" charset="0"/>
                            </a:rPr>
                            <m:t>Θ</m:t>
                          </m:r>
                          <m:r>
                            <a:rPr kumimoji="1" lang="en-US" altLang="zh-CN" b="0" i="1" smtClean="0">
                              <a:latin typeface="Cambria Math" panose="02040503050406030204" pitchFamily="18" charset="0"/>
                            </a:rPr>
                            <m:t>)</m:t>
                          </m:r>
                        </m:e>
                      </m:nary>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𝑖</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𝑁</m:t>
                          </m:r>
                        </m:sup>
                        <m:e>
                          <m:func>
                            <m:funcPr>
                              <m:ctrlPr>
                                <a:rPr kumimoji="1" lang="en-US" altLang="zh-CN" b="0" i="1" smtClean="0">
                                  <a:latin typeface="Cambria Math" panose="02040503050406030204" pitchFamily="18" charset="0"/>
                                  <a:ea typeface="Cambria Math" panose="02040503050406030204" pitchFamily="18" charset="0"/>
                                </a:rPr>
                              </m:ctrlPr>
                            </m:funcPr>
                            <m:fName>
                              <m:r>
                                <m:rPr>
                                  <m:sty m:val="p"/>
                                </m:rPr>
                                <a:rPr kumimoji="1" lang="en-US" altLang="zh-CN" b="0" i="0" smtClean="0">
                                  <a:latin typeface="Cambria Math" panose="02040503050406030204" pitchFamily="18" charset="0"/>
                                  <a:ea typeface="Cambria Math" panose="02040503050406030204" pitchFamily="18" charset="0"/>
                                </a:rPr>
                                <m:t>log</m:t>
                              </m:r>
                            </m:fName>
                            <m:e>
                              <m:r>
                                <a:rPr kumimoji="1" lang="en-US" altLang="zh-CN" b="0" i="1" smtClean="0">
                                  <a:latin typeface="Cambria Math" panose="02040503050406030204" pitchFamily="18" charset="0"/>
                                  <a:ea typeface="Cambria Math" panose="02040503050406030204" pitchFamily="18" charset="0"/>
                                </a:rPr>
                                <m:t>𝑝</m:t>
                              </m:r>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𝑥</m:t>
                                  </m:r>
                                </m:e>
                                <m:sub>
                                  <m:r>
                                    <a:rPr kumimoji="1" lang="en-US" altLang="zh-CN" b="0" i="1" smtClean="0">
                                      <a:latin typeface="Cambria Math" panose="02040503050406030204" pitchFamily="18" charset="0"/>
                                      <a:ea typeface="Cambria Math" panose="02040503050406030204" pitchFamily="18" charset="0"/>
                                    </a:rPr>
                                    <m:t>𝑖</m:t>
                                  </m:r>
                                </m:sub>
                              </m:sSub>
                              <m:r>
                                <a:rPr kumimoji="1" lang="en-US" altLang="zh-CN" b="0" i="1" smtClean="0">
                                  <a:latin typeface="Cambria Math" panose="02040503050406030204" pitchFamily="18" charset="0"/>
                                  <a:ea typeface="Cambria Math" panose="02040503050406030204" pitchFamily="18" charset="0"/>
                                </a:rPr>
                                <m:t>∣</m:t>
                              </m:r>
                              <m:r>
                                <m:rPr>
                                  <m:sty m:val="p"/>
                                </m:rPr>
                                <a:rPr kumimoji="1" lang="en-US" altLang="zh-CN" b="0" i="0" smtClean="0">
                                  <a:latin typeface="Cambria Math" panose="02040503050406030204" pitchFamily="18" charset="0"/>
                                  <a:ea typeface="Cambria Math" panose="02040503050406030204" pitchFamily="18" charset="0"/>
                                </a:rPr>
                                <m:t>Θ</m:t>
                              </m:r>
                              <m:r>
                                <a:rPr kumimoji="1" lang="en-US" altLang="zh-CN" b="0" i="1" smtClean="0">
                                  <a:latin typeface="Cambria Math" panose="02040503050406030204" pitchFamily="18" charset="0"/>
                                  <a:ea typeface="Cambria Math" panose="02040503050406030204" pitchFamily="18" charset="0"/>
                                </a:rPr>
                                <m:t>)</m:t>
                              </m:r>
                            </m:e>
                          </m:func>
                        </m:e>
                      </m:nary>
                    </m:oMath>
                  </m:oMathPara>
                </a14:m>
                <a:endParaRPr kumimoji="1" lang="zh-CN" altLang="en-US" dirty="0"/>
              </a:p>
            </p:txBody>
          </p:sp>
        </mc:Choice>
        <mc:Fallback xmlns="">
          <p:sp>
            <p:nvSpPr>
              <p:cNvPr id="4" name="文本框 3">
                <a:extLst>
                  <a:ext uri="{FF2B5EF4-FFF2-40B4-BE49-F238E27FC236}">
                    <a16:creationId xmlns:a16="http://schemas.microsoft.com/office/drawing/2014/main" id="{1F80769F-0923-F56D-5B04-1A9D9159C47D}"/>
                  </a:ext>
                </a:extLst>
              </p:cNvPr>
              <p:cNvSpPr txBox="1">
                <a:spLocks noRot="1" noChangeAspect="1" noMove="1" noResize="1" noEditPoints="1" noAdjustHandles="1" noChangeArrowheads="1" noChangeShapeType="1" noTextEdit="1"/>
              </p:cNvSpPr>
              <p:nvPr/>
            </p:nvSpPr>
            <p:spPr>
              <a:xfrm>
                <a:off x="374084" y="2916531"/>
                <a:ext cx="5572358" cy="778931"/>
              </a:xfrm>
              <a:prstGeom prst="rect">
                <a:avLst/>
              </a:prstGeom>
              <a:blipFill>
                <a:blip r:embed="rId4"/>
                <a:stretch>
                  <a:fillRect l="-682" t="-111290" r="-909" b="-17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0FDCF9B-0F22-EF74-5E04-62111BC7E3F2}"/>
                  </a:ext>
                </a:extLst>
              </p:cNvPr>
              <p:cNvSpPr txBox="1"/>
              <p:nvPr/>
            </p:nvSpPr>
            <p:spPr>
              <a:xfrm>
                <a:off x="-818356" y="3807354"/>
                <a:ext cx="7382192" cy="9269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ea typeface="Cambria Math" panose="02040503050406030204" pitchFamily="18" charset="0"/>
                        </a:rPr>
                        <m:t>ℒ</m:t>
                      </m:r>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𝑖</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𝑁</m:t>
                          </m:r>
                        </m:sup>
                        <m:e>
                          <m:func>
                            <m:funcPr>
                              <m:ctrlPr>
                                <a:rPr kumimoji="1" lang="en-US" altLang="zh-CN" b="0" i="1" smtClean="0">
                                  <a:latin typeface="Cambria Math" panose="02040503050406030204" pitchFamily="18" charset="0"/>
                                  <a:ea typeface="Cambria Math" panose="02040503050406030204" pitchFamily="18" charset="0"/>
                                </a:rPr>
                              </m:ctrlPr>
                            </m:funcPr>
                            <m:fName>
                              <m:r>
                                <m:rPr>
                                  <m:sty m:val="p"/>
                                </m:rPr>
                                <a:rPr kumimoji="1" lang="en-US" altLang="zh-CN" b="0" i="0" smtClean="0">
                                  <a:latin typeface="Cambria Math" panose="02040503050406030204" pitchFamily="18" charset="0"/>
                                  <a:ea typeface="Cambria Math" panose="02040503050406030204" pitchFamily="18" charset="0"/>
                                </a:rPr>
                                <m:t>log</m:t>
                              </m:r>
                            </m:fName>
                            <m:e>
                              <m:r>
                                <a:rPr kumimoji="1" lang="en-US" altLang="zh-CN" b="0" i="1" smtClean="0">
                                  <a:latin typeface="Cambria Math" panose="02040503050406030204" pitchFamily="18" charset="0"/>
                                  <a:ea typeface="Cambria Math" panose="02040503050406030204" pitchFamily="18" charset="0"/>
                                </a:rPr>
                                <m:t>𝑝</m:t>
                              </m:r>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𝑥</m:t>
                                  </m:r>
                                </m:e>
                                <m:sub>
                                  <m:r>
                                    <a:rPr kumimoji="1" lang="en-US" altLang="zh-CN" b="0" i="1" smtClean="0">
                                      <a:latin typeface="Cambria Math" panose="02040503050406030204" pitchFamily="18" charset="0"/>
                                      <a:ea typeface="Cambria Math" panose="02040503050406030204" pitchFamily="18" charset="0"/>
                                    </a:rPr>
                                    <m:t>𝑖</m:t>
                                  </m:r>
                                </m:sub>
                              </m:sSub>
                              <m:r>
                                <a:rPr kumimoji="1" lang="en-US" altLang="zh-CN" b="0" i="1" smtClean="0">
                                  <a:latin typeface="Cambria Math" panose="02040503050406030204" pitchFamily="18" charset="0"/>
                                  <a:ea typeface="Cambria Math" panose="02040503050406030204" pitchFamily="18" charset="0"/>
                                </a:rPr>
                                <m:t>∣</m:t>
                              </m:r>
                              <m:r>
                                <m:rPr>
                                  <m:sty m:val="p"/>
                                </m:rPr>
                                <a:rPr kumimoji="1" lang="en-US" altLang="zh-CN" b="0" i="0" smtClean="0">
                                  <a:latin typeface="Cambria Math" panose="02040503050406030204" pitchFamily="18" charset="0"/>
                                  <a:ea typeface="Cambria Math" panose="02040503050406030204" pitchFamily="18" charset="0"/>
                                </a:rPr>
                                <m:t>Θ</m:t>
                              </m:r>
                              <m:r>
                                <a:rPr kumimoji="1" lang="en-US" altLang="zh-CN" b="0" i="1" smtClean="0">
                                  <a:latin typeface="Cambria Math" panose="02040503050406030204" pitchFamily="18" charset="0"/>
                                  <a:ea typeface="Cambria Math" panose="02040503050406030204" pitchFamily="18" charset="0"/>
                                </a:rPr>
                                <m:t>)</m:t>
                              </m:r>
                            </m:e>
                          </m:func>
                        </m:e>
                      </m:nary>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𝑖</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𝑁</m:t>
                          </m:r>
                        </m:sup>
                        <m:e>
                          <m:nary>
                            <m:naryPr>
                              <m:chr m:val="∑"/>
                              <m:ctrlPr>
                                <a:rPr kumimoji="1" lang="en-US" altLang="zh-CN" b="0"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𝑛</m:t>
                              </m:r>
                            </m:sup>
                            <m:e>
                              <m:nary>
                                <m:naryPr>
                                  <m:chr m:val="∑"/>
                                  <m:ctrlPr>
                                    <a:rPr kumimoji="1" lang="en-US" altLang="zh-CN" b="0"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𝑘</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𝐾</m:t>
                                  </m:r>
                                </m:sup>
                                <m:e>
                                  <m:nary>
                                    <m:naryPr>
                                      <m:chr m:val="∑"/>
                                      <m:ctrlPr>
                                        <a:rPr kumimoji="1" lang="en-US" altLang="zh-CN" b="0"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ℓ=1</m:t>
                                      </m:r>
                                    </m:sub>
                                    <m:sup>
                                      <m:r>
                                        <a:rPr kumimoji="1" lang="en-US" altLang="zh-CN" b="0" i="1" smtClean="0">
                                          <a:latin typeface="Cambria Math" panose="02040503050406030204" pitchFamily="18" charset="0"/>
                                          <a:ea typeface="Cambria Math" panose="02040503050406030204" pitchFamily="18" charset="0"/>
                                        </a:rPr>
                                        <m:t>𝑉</m:t>
                                      </m:r>
                                    </m:sup>
                                    <m:e>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i="1">
                                              <a:latin typeface="Cambria Math" panose="02040503050406030204" pitchFamily="18" charset="0"/>
                                              <a:ea typeface="Cambria Math" panose="02040503050406030204" pitchFamily="18" charset="0"/>
                                            </a:rPr>
                                            <m:t>𝑠</m:t>
                                          </m:r>
                                        </m:e>
                                        <m:sub>
                                          <m:r>
                                            <a:rPr kumimoji="1" lang="en-US" altLang="zh-CN" b="0" i="1" smtClean="0">
                                              <a:latin typeface="Cambria Math" panose="02040503050406030204" pitchFamily="18" charset="0"/>
                                              <a:ea typeface="Cambria Math" panose="02040503050406030204" pitchFamily="18" charset="0"/>
                                            </a:rPr>
                                            <m:t>𝑖</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𝑘</m:t>
                                              </m:r>
                                            </m:sub>
                                          </m:sSub>
                                        </m:sup>
                                      </m:sSubSup>
                                    </m:e>
                                  </m:nary>
                                </m:e>
                              </m:nary>
                              <m:func>
                                <m:funcPr>
                                  <m:ctrlPr>
                                    <a:rPr kumimoji="1" lang="en-US" altLang="zh-CN" b="0" i="1" smtClean="0">
                                      <a:latin typeface="Cambria Math" panose="02040503050406030204" pitchFamily="18" charset="0"/>
                                      <a:ea typeface="Cambria Math" panose="02040503050406030204" pitchFamily="18" charset="0"/>
                                    </a:rPr>
                                  </m:ctrlPr>
                                </m:funcPr>
                                <m:fName>
                                  <m:r>
                                    <m:rPr>
                                      <m:sty m:val="p"/>
                                    </m:rPr>
                                    <a:rPr kumimoji="1" lang="en-US" altLang="zh-CN" b="0" i="0" smtClean="0">
                                      <a:latin typeface="Cambria Math" panose="02040503050406030204" pitchFamily="18" charset="0"/>
                                      <a:ea typeface="Cambria Math" panose="02040503050406030204" pitchFamily="18" charset="0"/>
                                    </a:rPr>
                                    <m:t>log</m:t>
                                  </m:r>
                                </m:fName>
                                <m:e>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𝜃</m:t>
                                      </m:r>
                                    </m:e>
                                    <m:sub>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𝑐</m:t>
                                          </m:r>
                                        </m:e>
                                        <m:sub>
                                          <m:r>
                                            <a:rPr kumimoji="1" lang="en-US" altLang="zh-CN" b="0" i="1" smtClean="0">
                                              <a:latin typeface="Cambria Math" panose="02040503050406030204" pitchFamily="18" charset="0"/>
                                              <a:ea typeface="Cambria Math" panose="02040503050406030204" pitchFamily="18" charset="0"/>
                                            </a:rPr>
                                            <m:t>𝑘</m:t>
                                          </m:r>
                                        </m:sub>
                                      </m:sSub>
                                    </m:sup>
                                  </m:sSubSup>
                                </m:e>
                              </m:func>
                            </m:e>
                          </m:nary>
                        </m:e>
                      </m:nary>
                    </m:oMath>
                  </m:oMathPara>
                </a14:m>
                <a:endParaRPr lang="zh-CN" altLang="en-US" dirty="0"/>
              </a:p>
            </p:txBody>
          </p:sp>
        </mc:Choice>
        <mc:Fallback xmlns="">
          <p:sp>
            <p:nvSpPr>
              <p:cNvPr id="6" name="文本框 5">
                <a:extLst>
                  <a:ext uri="{FF2B5EF4-FFF2-40B4-BE49-F238E27FC236}">
                    <a16:creationId xmlns:a16="http://schemas.microsoft.com/office/drawing/2014/main" id="{E0FDCF9B-0F22-EF74-5E04-62111BC7E3F2}"/>
                  </a:ext>
                </a:extLst>
              </p:cNvPr>
              <p:cNvSpPr txBox="1">
                <a:spLocks noRot="1" noChangeAspect="1" noMove="1" noResize="1" noEditPoints="1" noAdjustHandles="1" noChangeArrowheads="1" noChangeShapeType="1" noTextEdit="1"/>
              </p:cNvSpPr>
              <p:nvPr/>
            </p:nvSpPr>
            <p:spPr>
              <a:xfrm>
                <a:off x="-818356" y="3807354"/>
                <a:ext cx="7382192" cy="9269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96FA5F2-5A84-2B99-5434-A1E9DC302291}"/>
                  </a:ext>
                </a:extLst>
              </p:cNvPr>
              <p:cNvSpPr txBox="1"/>
              <p:nvPr/>
            </p:nvSpPr>
            <p:spPr>
              <a:xfrm>
                <a:off x="345598" y="4799822"/>
                <a:ext cx="6078061" cy="746038"/>
              </a:xfrm>
              <a:prstGeom prst="rect">
                <a:avLst/>
              </a:prstGeom>
              <a:noFill/>
            </p:spPr>
            <p:txBody>
              <a:bodyPr wrap="square" rtlCol="0">
                <a:spAutoFit/>
              </a:bodyPr>
              <a:lstStyle/>
              <a:p>
                <a:r>
                  <a:rPr kumimoji="1" lang="zh-CN" altLang="en-US" sz="1600" dirty="0"/>
                  <a:t>其中</a:t>
                </a:r>
                <a14:m>
                  <m:oMath xmlns:m="http://schemas.openxmlformats.org/officeDocument/2006/math">
                    <m:sSubSup>
                      <m:sSubSupPr>
                        <m:ctrlPr>
                          <a:rPr kumimoji="1" lang="en-US" altLang="zh-CN" sz="1600" b="0" i="1" smtClean="0">
                            <a:latin typeface="Cambria Math" panose="02040503050406030204" pitchFamily="18" charset="0"/>
                          </a:rPr>
                        </m:ctrlPr>
                      </m:sSubSupPr>
                      <m:e>
                        <m:r>
                          <a:rPr kumimoji="1" lang="en-US" altLang="zh-CN" sz="1600" b="0" i="1" smtClean="0">
                            <a:latin typeface="Cambria Math" panose="02040503050406030204" pitchFamily="18" charset="0"/>
                          </a:rPr>
                          <m:t>𝑠</m:t>
                        </m:r>
                      </m:e>
                      <m:sub>
                        <m:r>
                          <a:rPr kumimoji="1" lang="en-US" altLang="zh-CN" sz="1600" b="0" i="1" smtClean="0">
                            <a:latin typeface="Cambria Math" panose="02040503050406030204" pitchFamily="18" charset="0"/>
                          </a:rPr>
                          <m:t>𝑖</m:t>
                        </m:r>
                        <m:r>
                          <a:rPr kumimoji="1" lang="en-US" altLang="zh-CN" sz="1600" b="0" i="1" smtClean="0">
                            <a:latin typeface="Cambria Math" panose="02040503050406030204" pitchFamily="18" charset="0"/>
                          </a:rPr>
                          <m:t>,</m:t>
                        </m:r>
                        <m:r>
                          <a:rPr kumimoji="1" lang="en-US" altLang="zh-CN" sz="1600" b="0" i="1" smtClean="0">
                            <a:latin typeface="Cambria Math" panose="02040503050406030204" pitchFamily="18" charset="0"/>
                          </a:rPr>
                          <m:t>𝑗</m:t>
                        </m:r>
                        <m:r>
                          <a:rPr kumimoji="1" lang="en-US" altLang="zh-CN" sz="1600" b="0" i="1" smtClean="0">
                            <a:latin typeface="Cambria Math" panose="02040503050406030204" pitchFamily="18" charset="0"/>
                          </a:rPr>
                          <m:t>,ℓ</m:t>
                        </m:r>
                      </m:sub>
                      <m:sup>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𝑐</m:t>
                            </m:r>
                          </m:e>
                          <m:sub>
                            <m:r>
                              <a:rPr kumimoji="1" lang="en-US" altLang="zh-CN" sz="1600" b="0" i="1" smtClean="0">
                                <a:latin typeface="Cambria Math" panose="02040503050406030204" pitchFamily="18" charset="0"/>
                              </a:rPr>
                              <m:t>𝑘</m:t>
                            </m:r>
                          </m:sub>
                        </m:sSub>
                      </m:sup>
                    </m:sSubSup>
                    <m:r>
                      <a:rPr kumimoji="1" lang="en-US" altLang="zh-CN" sz="1600" b="0" i="1" smtClean="0">
                        <a:latin typeface="Cambria Math" panose="02040503050406030204" pitchFamily="18" charset="0"/>
                      </a:rPr>
                      <m:t>∈{0,1}</m:t>
                    </m:r>
                  </m:oMath>
                </a14:m>
                <a:r>
                  <a:rPr kumimoji="1" lang="en-US" altLang="zh-CN" sz="1600" dirty="0"/>
                  <a:t>,</a:t>
                </a:r>
                <a:r>
                  <a:rPr kumimoji="1" lang="zh-CN" altLang="en-US" sz="1600" dirty="0"/>
                  <a:t>表示句子</a:t>
                </a:r>
                <a14:m>
                  <m:oMath xmlns:m="http://schemas.openxmlformats.org/officeDocument/2006/math">
                    <m:r>
                      <a:rPr kumimoji="1" lang="en-US" altLang="zh-CN" sz="1600" b="0" i="1" smtClean="0">
                        <a:latin typeface="Cambria Math" panose="02040503050406030204" pitchFamily="18" charset="0"/>
                      </a:rPr>
                      <m:t>𝑖</m:t>
                    </m:r>
                  </m:oMath>
                </a14:m>
                <a:r>
                  <a:rPr kumimoji="1" lang="zh-CN" altLang="en-US" sz="1600" dirty="0"/>
                  <a:t>是否属于当前的类别</a:t>
                </a:r>
                <a14:m>
                  <m:oMath xmlns:m="http://schemas.openxmlformats.org/officeDocument/2006/math">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𝑐</m:t>
                        </m:r>
                      </m:e>
                      <m:sub>
                        <m:r>
                          <a:rPr kumimoji="1" lang="en-US" altLang="zh-CN" sz="1600" b="0" i="1" smtClean="0">
                            <a:latin typeface="Cambria Math" panose="02040503050406030204" pitchFamily="18" charset="0"/>
                          </a:rPr>
                          <m:t>𝑘</m:t>
                        </m:r>
                      </m:sub>
                    </m:sSub>
                  </m:oMath>
                </a14:m>
                <a:r>
                  <a:rPr kumimoji="1" lang="zh-CN" altLang="en-US" sz="1600" dirty="0"/>
                  <a:t>且第</a:t>
                </a:r>
                <a14:m>
                  <m:oMath xmlns:m="http://schemas.openxmlformats.org/officeDocument/2006/math">
                    <m:r>
                      <a:rPr kumimoji="1" lang="en-US" altLang="zh-CN" sz="1600" b="0" i="1" smtClean="0">
                        <a:latin typeface="Cambria Math" panose="02040503050406030204" pitchFamily="18" charset="0"/>
                      </a:rPr>
                      <m:t>𝑗</m:t>
                    </m:r>
                  </m:oMath>
                </a14:m>
                <a:r>
                  <a:rPr kumimoji="1" lang="zh-CN" altLang="en-US" sz="1600" dirty="0"/>
                  <a:t>个词为</a:t>
                </a:r>
                <a14:m>
                  <m:oMath xmlns:m="http://schemas.openxmlformats.org/officeDocument/2006/math">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𝑤</m:t>
                        </m:r>
                      </m:e>
                      <m:sub>
                        <m:r>
                          <a:rPr lang="en-US" altLang="zh-CN" sz="1600" i="1">
                            <a:latin typeface="Cambria Math" panose="02040503050406030204" pitchFamily="18" charset="0"/>
                          </a:rPr>
                          <m:t>ℓ</m:t>
                        </m:r>
                      </m:sub>
                    </m:sSub>
                    <m:r>
                      <a:rPr lang="en-US" altLang="zh-CN" sz="1600" i="1">
                        <a:latin typeface="Cambria Math" panose="02040503050406030204" pitchFamily="18" charset="0"/>
                      </a:rPr>
                      <m:t> </m:t>
                    </m:r>
                  </m:oMath>
                </a14:m>
                <a:r>
                  <a:rPr kumimoji="1" lang="zh-CN" altLang="en-US" sz="1600" dirty="0"/>
                  <a:t>，也可以表示成</a:t>
                </a:r>
                <a14:m>
                  <m:oMath xmlns:m="http://schemas.openxmlformats.org/officeDocument/2006/math">
                    <m:sSubSup>
                      <m:sSubSupPr>
                        <m:ctrlPr>
                          <a:rPr kumimoji="1" lang="en-US" altLang="zh-CN" sz="1600" b="0" i="1" smtClean="0">
                            <a:latin typeface="Cambria Math" panose="02040503050406030204" pitchFamily="18" charset="0"/>
                          </a:rPr>
                        </m:ctrlPr>
                      </m:sSubSupPr>
                      <m:e>
                        <m:r>
                          <a:rPr kumimoji="1" lang="en-US" altLang="zh-CN" sz="1600" b="0" i="1" smtClean="0">
                            <a:latin typeface="Cambria Math" panose="02040503050406030204" pitchFamily="18" charset="0"/>
                          </a:rPr>
                          <m:t>𝑠</m:t>
                        </m:r>
                      </m:e>
                      <m:sub>
                        <m:r>
                          <a:rPr kumimoji="1" lang="en-US" altLang="zh-CN" sz="1600" b="0" i="1" smtClean="0">
                            <a:latin typeface="Cambria Math" panose="02040503050406030204" pitchFamily="18" charset="0"/>
                          </a:rPr>
                          <m:t>𝑖</m:t>
                        </m:r>
                        <m:r>
                          <a:rPr kumimoji="1" lang="en-US" altLang="zh-CN" sz="1600" b="0" i="1" smtClean="0">
                            <a:latin typeface="Cambria Math" panose="02040503050406030204" pitchFamily="18" charset="0"/>
                          </a:rPr>
                          <m:t>,</m:t>
                        </m:r>
                        <m:r>
                          <a:rPr kumimoji="1" lang="en-US" altLang="zh-CN" sz="1600" b="0" i="1" smtClean="0">
                            <a:latin typeface="Cambria Math" panose="02040503050406030204" pitchFamily="18" charset="0"/>
                          </a:rPr>
                          <m:t>𝑗</m:t>
                        </m:r>
                        <m:r>
                          <a:rPr kumimoji="1" lang="en-US" altLang="zh-CN" sz="1600" b="0" i="1" smtClean="0">
                            <a:latin typeface="Cambria Math" panose="02040503050406030204" pitchFamily="18" charset="0"/>
                          </a:rPr>
                          <m:t>,ℓ</m:t>
                        </m:r>
                      </m:sub>
                      <m:sup>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𝑐</m:t>
                            </m:r>
                          </m:e>
                          <m:sub>
                            <m:r>
                              <a:rPr kumimoji="1" lang="en-US" altLang="zh-CN" sz="1600" b="0" i="1" smtClean="0">
                                <a:latin typeface="Cambria Math" panose="02040503050406030204" pitchFamily="18" charset="0"/>
                              </a:rPr>
                              <m:t>𝑘</m:t>
                            </m:r>
                          </m:sub>
                        </m:sSub>
                      </m:sup>
                    </m:sSubSup>
                    <m:r>
                      <a:rPr kumimoji="1" lang="en-US" altLang="zh-CN" sz="1600" b="0" i="1" smtClean="0">
                        <a:latin typeface="Cambria Math" panose="02040503050406030204" pitchFamily="18" charset="0"/>
                      </a:rPr>
                      <m:t>=</m:t>
                    </m:r>
                    <m:r>
                      <a:rPr kumimoji="1" lang="en-US" altLang="zh-CN" sz="1600" b="0" i="1" smtClean="0">
                        <a:latin typeface="Cambria Math" panose="02040503050406030204" pitchFamily="18" charset="0"/>
                      </a:rPr>
                      <m:t>𝐼</m:t>
                    </m:r>
                    <m:r>
                      <a:rPr kumimoji="1" lang="en-US" altLang="zh-CN" sz="1600" b="0" i="1" smtClean="0">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𝑥</m:t>
                        </m:r>
                      </m:e>
                      <m:sub>
                        <m:r>
                          <a:rPr lang="en-US" altLang="zh-CN" sz="1600" i="1">
                            <a:latin typeface="Cambria Math" panose="02040503050406030204" pitchFamily="18" charset="0"/>
                          </a:rPr>
                          <m:t>𝑖</m:t>
                        </m:r>
                      </m:sub>
                      <m:sup>
                        <m:d>
                          <m:dPr>
                            <m:ctrlPr>
                              <a:rPr lang="en-US" altLang="zh-CN" sz="1600" i="1">
                                <a:latin typeface="Cambria Math" panose="02040503050406030204" pitchFamily="18" charset="0"/>
                              </a:rPr>
                            </m:ctrlPr>
                          </m:dPr>
                          <m:e>
                            <m:r>
                              <a:rPr lang="en-US" altLang="zh-CN" sz="1600" i="1">
                                <a:latin typeface="Cambria Math" panose="02040503050406030204" pitchFamily="18" charset="0"/>
                              </a:rPr>
                              <m:t>𝑗</m:t>
                            </m:r>
                          </m:e>
                        </m:d>
                      </m:sup>
                    </m:sSubSup>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b="0" i="1" smtClean="0">
                            <a:latin typeface="Cambria Math" panose="02040503050406030204" pitchFamily="18" charset="0"/>
                          </a:rPr>
                          <m:t>𝑤</m:t>
                        </m:r>
                      </m:e>
                      <m:sub>
                        <m:r>
                          <a:rPr lang="en-US" altLang="zh-CN" sz="1600" i="1">
                            <a:latin typeface="Cambria Math" panose="02040503050406030204" pitchFamily="18" charset="0"/>
                          </a:rPr>
                          <m:t>ℓ</m:t>
                        </m:r>
                      </m:sub>
                    </m:sSub>
                    <m:r>
                      <a:rPr lang="en-US" altLang="zh-CN" sz="1600" b="0" i="1" smtClean="0">
                        <a:latin typeface="Cambria Math" panose="02040503050406030204" pitchFamily="18" charset="0"/>
                      </a:rPr>
                      <m:t>,</m:t>
                    </m:r>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𝑦</m:t>
                        </m:r>
                      </m:e>
                      <m:sub>
                        <m:r>
                          <a:rPr kumimoji="1" lang="en-US" altLang="zh-CN" sz="1600" b="0" i="1" smtClean="0">
                            <a:latin typeface="Cambria Math" panose="02040503050406030204" pitchFamily="18" charset="0"/>
                          </a:rPr>
                          <m:t>𝑖</m:t>
                        </m:r>
                      </m:sub>
                    </m:sSub>
                    <m:r>
                      <a:rPr kumimoji="1" lang="en-US" altLang="zh-CN" sz="1600" b="0" i="1" smtClean="0">
                        <a:latin typeface="Cambria Math" panose="02040503050406030204" pitchFamily="18" charset="0"/>
                      </a:rPr>
                      <m:t>=</m:t>
                    </m:r>
                    <m:sSub>
                      <m:sSubPr>
                        <m:ctrlPr>
                          <a:rPr kumimoji="1" lang="en-US" altLang="zh-CN" sz="1600" b="0" i="1" smtClean="0">
                            <a:latin typeface="Cambria Math" panose="02040503050406030204" pitchFamily="18" charset="0"/>
                          </a:rPr>
                        </m:ctrlPr>
                      </m:sSubPr>
                      <m:e>
                        <m:r>
                          <a:rPr kumimoji="1" lang="en-US" altLang="zh-CN" sz="1600" b="0" i="1" smtClean="0">
                            <a:latin typeface="Cambria Math" panose="02040503050406030204" pitchFamily="18" charset="0"/>
                          </a:rPr>
                          <m:t>𝑐</m:t>
                        </m:r>
                      </m:e>
                      <m:sub>
                        <m:r>
                          <a:rPr kumimoji="1" lang="en-US" altLang="zh-CN" sz="1600" b="0" i="1" smtClean="0">
                            <a:latin typeface="Cambria Math" panose="02040503050406030204" pitchFamily="18" charset="0"/>
                          </a:rPr>
                          <m:t>𝑘</m:t>
                        </m:r>
                      </m:sub>
                    </m:sSub>
                    <m:r>
                      <a:rPr kumimoji="1" lang="en-US" altLang="zh-CN" sz="1600" b="0" i="1" smtClean="0">
                        <a:latin typeface="Cambria Math" panose="02040503050406030204" pitchFamily="18" charset="0"/>
                      </a:rPr>
                      <m:t>)</m:t>
                    </m:r>
                  </m:oMath>
                </a14:m>
                <a:endParaRPr kumimoji="1" lang="zh-CN" altLang="en-US" sz="1600" dirty="0"/>
              </a:p>
            </p:txBody>
          </p:sp>
        </mc:Choice>
        <mc:Fallback xmlns="">
          <p:sp>
            <p:nvSpPr>
              <p:cNvPr id="8" name="文本框 7">
                <a:extLst>
                  <a:ext uri="{FF2B5EF4-FFF2-40B4-BE49-F238E27FC236}">
                    <a16:creationId xmlns:a16="http://schemas.microsoft.com/office/drawing/2014/main" id="{396FA5F2-5A84-2B99-5434-A1E9DC302291}"/>
                  </a:ext>
                </a:extLst>
              </p:cNvPr>
              <p:cNvSpPr txBox="1">
                <a:spLocks noRot="1" noChangeAspect="1" noMove="1" noResize="1" noEditPoints="1" noAdjustHandles="1" noChangeArrowheads="1" noChangeShapeType="1" noTextEdit="1"/>
              </p:cNvSpPr>
              <p:nvPr/>
            </p:nvSpPr>
            <p:spPr>
              <a:xfrm>
                <a:off x="345598" y="4799822"/>
                <a:ext cx="6078061" cy="746038"/>
              </a:xfrm>
              <a:prstGeom prst="rect">
                <a:avLst/>
              </a:prstGeom>
              <a:blipFill>
                <a:blip r:embed="rId6"/>
                <a:stretch>
                  <a:fillRect l="-602" t="-1626" r="-3912" b="-24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F85269F-8EED-5487-2C98-05B3C8BDF179}"/>
                  </a:ext>
                </a:extLst>
              </p:cNvPr>
              <p:cNvSpPr txBox="1"/>
              <p:nvPr/>
            </p:nvSpPr>
            <p:spPr>
              <a:xfrm>
                <a:off x="222568" y="5557261"/>
                <a:ext cx="4671060"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b="0" i="1" smtClean="0">
                              <a:latin typeface="Cambria Math" panose="02040503050406030204" pitchFamily="18" charset="0"/>
                              <a:ea typeface="Cambria Math" panose="02040503050406030204" pitchFamily="18" charset="0"/>
                            </a:rPr>
                          </m:ctrlPr>
                        </m:sSupPr>
                        <m:e>
                          <m:r>
                            <a:rPr kumimoji="1" lang="en-US" altLang="zh-CN" b="0" i="1" smtClean="0">
                              <a:latin typeface="Cambria Math" panose="02040503050406030204" pitchFamily="18" charset="0"/>
                              <a:ea typeface="Cambria Math" panose="02040503050406030204" pitchFamily="18" charset="0"/>
                            </a:rPr>
                            <m:t>ℒ</m:t>
                          </m:r>
                        </m:e>
                        <m:sup>
                          <m:r>
                            <a:rPr kumimoji="1" lang="en-US" altLang="zh-CN" b="0" i="1" smtClean="0">
                              <a:latin typeface="Cambria Math" panose="02040503050406030204" pitchFamily="18" charset="0"/>
                              <a:ea typeface="Cambria Math" panose="02040503050406030204" pitchFamily="18" charset="0"/>
                            </a:rPr>
                            <m:t>′</m:t>
                          </m:r>
                        </m:sup>
                      </m:sSup>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i="1">
                              <a:latin typeface="Cambria Math" panose="02040503050406030204" pitchFamily="18" charset="0"/>
                              <a:ea typeface="Cambria Math" panose="02040503050406030204" pitchFamily="18" charset="0"/>
                            </a:rPr>
                          </m:ctrlPr>
                        </m:naryPr>
                        <m:sub>
                          <m:r>
                            <a:rPr kumimoji="1" lang="en-US" altLang="zh-CN" i="1">
                              <a:latin typeface="Cambria Math" panose="02040503050406030204" pitchFamily="18" charset="0"/>
                              <a:ea typeface="Cambria Math" panose="02040503050406030204" pitchFamily="18" charset="0"/>
                            </a:rPr>
                            <m:t>𝑗</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𝑛</m:t>
                          </m:r>
                        </m:sup>
                        <m:e>
                          <m:nary>
                            <m:naryPr>
                              <m:chr m:val="∑"/>
                              <m:ctrlPr>
                                <a:rPr kumimoji="1" lang="en-US" altLang="zh-CN" i="1">
                                  <a:latin typeface="Cambria Math" panose="02040503050406030204" pitchFamily="18" charset="0"/>
                                  <a:ea typeface="Cambria Math" panose="02040503050406030204" pitchFamily="18" charset="0"/>
                                </a:rPr>
                              </m:ctrlPr>
                            </m:naryPr>
                            <m:sub>
                              <m:r>
                                <a:rPr kumimoji="1" lang="en-US" altLang="zh-CN" i="1">
                                  <a:latin typeface="Cambria Math" panose="02040503050406030204" pitchFamily="18" charset="0"/>
                                  <a:ea typeface="Cambria Math" panose="02040503050406030204" pitchFamily="18" charset="0"/>
                                </a:rPr>
                                <m:t>𝑘</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𝐾</m:t>
                              </m:r>
                            </m:sup>
                            <m:e>
                              <m:nary>
                                <m:naryPr>
                                  <m:chr m:val="∑"/>
                                  <m:ctrlPr>
                                    <a:rPr kumimoji="1" lang="en-US" altLang="zh-CN" i="1">
                                      <a:latin typeface="Cambria Math" panose="02040503050406030204" pitchFamily="18" charset="0"/>
                                      <a:ea typeface="Cambria Math" panose="02040503050406030204" pitchFamily="18" charset="0"/>
                                    </a:rPr>
                                  </m:ctrlPr>
                                </m:naryPr>
                                <m:sub>
                                  <m:r>
                                    <a:rPr kumimoji="1" lang="en-US" altLang="zh-CN" i="1">
                                      <a:latin typeface="Cambria Math" panose="02040503050406030204" pitchFamily="18" charset="0"/>
                                      <a:ea typeface="Cambria Math" panose="02040503050406030204" pitchFamily="18" charset="0"/>
                                    </a:rPr>
                                    <m:t>ℓ=1</m:t>
                                  </m:r>
                                </m:sub>
                                <m:sup>
                                  <m:r>
                                    <a:rPr kumimoji="1" lang="en-US" altLang="zh-CN" i="1">
                                      <a:latin typeface="Cambria Math" panose="02040503050406030204" pitchFamily="18" charset="0"/>
                                      <a:ea typeface="Cambria Math" panose="02040503050406030204" pitchFamily="18" charset="0"/>
                                    </a:rPr>
                                    <m:t>𝑉</m:t>
                                  </m:r>
                                </m:sup>
                                <m:e>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𝑛</m:t>
                                      </m:r>
                                    </m:e>
                                    <m:sub>
                                      <m: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𝑘</m:t>
                                          </m:r>
                                        </m:sub>
                                      </m:sSub>
                                    </m:sup>
                                  </m:sSubSup>
                                </m:e>
                              </m:nary>
                            </m:e>
                          </m:nary>
                          <m:func>
                            <m:funcPr>
                              <m:ctrlPr>
                                <a:rPr kumimoji="1" lang="en-US" altLang="zh-CN" i="1">
                                  <a:latin typeface="Cambria Math" panose="02040503050406030204" pitchFamily="18" charset="0"/>
                                  <a:ea typeface="Cambria Math" panose="02040503050406030204" pitchFamily="18" charset="0"/>
                                </a:rPr>
                              </m:ctrlPr>
                            </m:funcPr>
                            <m:fName>
                              <m:r>
                                <m:rPr>
                                  <m:sty m:val="p"/>
                                </m:rPr>
                                <a:rPr kumimoji="1" lang="en-US" altLang="zh-CN">
                                  <a:latin typeface="Cambria Math" panose="02040503050406030204" pitchFamily="18" charset="0"/>
                                  <a:ea typeface="Cambria Math" panose="02040503050406030204" pitchFamily="18" charset="0"/>
                                </a:rPr>
                                <m:t>log</m:t>
                              </m:r>
                            </m:fName>
                            <m:e>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i="1">
                                      <a:latin typeface="Cambria Math" panose="02040503050406030204" pitchFamily="18" charset="0"/>
                                      <a:ea typeface="Cambria Math" panose="02040503050406030204" pitchFamily="18" charset="0"/>
                                    </a:rPr>
                                    <m:t>𝜃</m:t>
                                  </m:r>
                                </m:e>
                                <m:sub>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𝑘</m:t>
                                      </m:r>
                                    </m:sub>
                                  </m:sSub>
                                </m:sup>
                              </m:sSubSup>
                            </m:e>
                          </m:func>
                        </m:e>
                      </m:nary>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𝜆</m:t>
                      </m:r>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b="0"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ℓ=1</m:t>
                          </m:r>
                        </m:sub>
                        <m:sup>
                          <m:r>
                            <a:rPr kumimoji="1" lang="en-US" altLang="zh-CN" b="0" i="1" smtClean="0">
                              <a:latin typeface="Cambria Math" panose="02040503050406030204" pitchFamily="18" charset="0"/>
                              <a:ea typeface="Cambria Math" panose="02040503050406030204" pitchFamily="18" charset="0"/>
                            </a:rPr>
                            <m:t>𝑉</m:t>
                          </m:r>
                        </m:sup>
                        <m:e>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𝜃</m:t>
                              </m:r>
                            </m:e>
                            <m:sub>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𝑐</m:t>
                                  </m:r>
                                </m:e>
                                <m:sub>
                                  <m:r>
                                    <a:rPr kumimoji="1" lang="en-US" altLang="zh-CN" b="0" i="1" smtClean="0">
                                      <a:latin typeface="Cambria Math" panose="02040503050406030204" pitchFamily="18" charset="0"/>
                                      <a:ea typeface="Cambria Math" panose="02040503050406030204" pitchFamily="18" charset="0"/>
                                    </a:rPr>
                                    <m:t>𝑘</m:t>
                                  </m:r>
                                </m:sub>
                              </m:sSub>
                            </m:sup>
                          </m:sSubSup>
                        </m:e>
                      </m:nary>
                      <m:r>
                        <a:rPr kumimoji="1" lang="en-US" altLang="zh-CN" b="0" i="1" smtClean="0">
                          <a:latin typeface="Cambria Math" panose="02040503050406030204" pitchFamily="18" charset="0"/>
                          <a:ea typeface="Cambria Math" panose="02040503050406030204" pitchFamily="18" charset="0"/>
                        </a:rPr>
                        <m:t>−1)</m:t>
                      </m:r>
                    </m:oMath>
                  </m:oMathPara>
                </a14:m>
                <a:endParaRPr lang="zh-CN" altLang="en-US" dirty="0"/>
              </a:p>
            </p:txBody>
          </p:sp>
        </mc:Choice>
        <mc:Fallback xmlns="">
          <p:sp>
            <p:nvSpPr>
              <p:cNvPr id="10" name="文本框 9">
                <a:extLst>
                  <a:ext uri="{FF2B5EF4-FFF2-40B4-BE49-F238E27FC236}">
                    <a16:creationId xmlns:a16="http://schemas.microsoft.com/office/drawing/2014/main" id="{3F85269F-8EED-5487-2C98-05B3C8BDF179}"/>
                  </a:ext>
                </a:extLst>
              </p:cNvPr>
              <p:cNvSpPr txBox="1">
                <a:spLocks noRot="1" noChangeAspect="1" noMove="1" noResize="1" noEditPoints="1" noAdjustHandles="1" noChangeArrowheads="1" noChangeShapeType="1" noTextEdit="1"/>
              </p:cNvSpPr>
              <p:nvPr/>
            </p:nvSpPr>
            <p:spPr>
              <a:xfrm>
                <a:off x="222568" y="5557261"/>
                <a:ext cx="4671060" cy="902555"/>
              </a:xfrm>
              <a:prstGeom prst="rect">
                <a:avLst/>
              </a:prstGeom>
              <a:blipFill>
                <a:blip r:embed="rId7"/>
                <a:stretch>
                  <a:fillRect l="-2981" t="-90278" b="-14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EDF0073-AFC1-0E75-312C-5843E8BA1B40}"/>
                  </a:ext>
                </a:extLst>
              </p:cNvPr>
              <p:cNvSpPr txBox="1"/>
              <p:nvPr/>
            </p:nvSpPr>
            <p:spPr>
              <a:xfrm>
                <a:off x="4166759" y="5223061"/>
                <a:ext cx="1624441" cy="374205"/>
              </a:xfrm>
              <a:prstGeom prst="rect">
                <a:avLst/>
              </a:prstGeom>
              <a:noFill/>
            </p:spPr>
            <p:txBody>
              <a:bodyPr wrap="square" rtlCol="0">
                <a:spAutoFit/>
              </a:bodyPr>
              <a:lstStyle/>
              <a:p>
                <a:r>
                  <a:rPr kumimoji="1" lang="zh-CN" altLang="en-US" sz="1600" dirty="0">
                    <a:solidFill>
                      <a:srgbClr val="FF0000"/>
                    </a:solidFill>
                  </a:rPr>
                  <a:t>求解参数</a:t>
                </a:r>
                <a14:m>
                  <m:oMath xmlns:m="http://schemas.openxmlformats.org/officeDocument/2006/math">
                    <m:sSubSup>
                      <m:sSubSupPr>
                        <m:ctrlPr>
                          <a:rPr kumimoji="1" lang="en-US" altLang="zh-CN" sz="1600" b="0" i="1" smtClean="0">
                            <a:solidFill>
                              <a:srgbClr val="FF0000"/>
                            </a:solidFill>
                            <a:latin typeface="Cambria Math" panose="02040503050406030204" pitchFamily="18" charset="0"/>
                          </a:rPr>
                        </m:ctrlPr>
                      </m:sSubSupPr>
                      <m:e>
                        <m:r>
                          <a:rPr kumimoji="1" lang="en-US" altLang="zh-CN" sz="1600" b="0" i="1" smtClean="0">
                            <a:solidFill>
                              <a:srgbClr val="FF0000"/>
                            </a:solidFill>
                            <a:latin typeface="Cambria Math" panose="02040503050406030204" pitchFamily="18" charset="0"/>
                          </a:rPr>
                          <m:t>𝜃</m:t>
                        </m:r>
                      </m:e>
                      <m:sub>
                        <m:r>
                          <a:rPr kumimoji="1" lang="en-US" altLang="zh-CN" sz="1600" b="0" i="1" smtClean="0">
                            <a:solidFill>
                              <a:srgbClr val="FF0000"/>
                            </a:solidFill>
                            <a:latin typeface="Cambria Math" panose="02040503050406030204" pitchFamily="18" charset="0"/>
                          </a:rPr>
                          <m:t>ℓ</m:t>
                        </m:r>
                      </m:sub>
                      <m:sup>
                        <m:sSub>
                          <m:sSubPr>
                            <m:ctrlPr>
                              <a:rPr kumimoji="1" lang="en-US" altLang="zh-CN" sz="1600" b="0" i="1" smtClean="0">
                                <a:solidFill>
                                  <a:srgbClr val="FF0000"/>
                                </a:solidFill>
                                <a:latin typeface="Cambria Math" panose="02040503050406030204" pitchFamily="18" charset="0"/>
                              </a:rPr>
                            </m:ctrlPr>
                          </m:sSubPr>
                          <m:e>
                            <m:r>
                              <a:rPr kumimoji="1" lang="en-US" altLang="zh-CN" sz="1600" b="0" i="1" smtClean="0">
                                <a:solidFill>
                                  <a:srgbClr val="FF0000"/>
                                </a:solidFill>
                                <a:latin typeface="Cambria Math" panose="02040503050406030204" pitchFamily="18" charset="0"/>
                              </a:rPr>
                              <m:t>𝑐</m:t>
                            </m:r>
                          </m:e>
                          <m:sub>
                            <m:r>
                              <a:rPr kumimoji="1" lang="en-US" altLang="zh-CN" sz="1600" b="0" i="1" smtClean="0">
                                <a:solidFill>
                                  <a:srgbClr val="FF0000"/>
                                </a:solidFill>
                                <a:latin typeface="Cambria Math" panose="02040503050406030204" pitchFamily="18" charset="0"/>
                              </a:rPr>
                              <m:t>𝑘</m:t>
                            </m:r>
                          </m:sub>
                        </m:sSub>
                      </m:sup>
                    </m:sSubSup>
                  </m:oMath>
                </a14:m>
                <a:endParaRPr kumimoji="1" lang="zh-CN" altLang="en-US" dirty="0">
                  <a:solidFill>
                    <a:srgbClr val="FF0000"/>
                  </a:solidFill>
                </a:endParaRPr>
              </a:p>
            </p:txBody>
          </p:sp>
        </mc:Choice>
        <mc:Fallback xmlns="">
          <p:sp>
            <p:nvSpPr>
              <p:cNvPr id="13" name="文本框 12">
                <a:extLst>
                  <a:ext uri="{FF2B5EF4-FFF2-40B4-BE49-F238E27FC236}">
                    <a16:creationId xmlns:a16="http://schemas.microsoft.com/office/drawing/2014/main" id="{2EDF0073-AFC1-0E75-312C-5843E8BA1B40}"/>
                  </a:ext>
                </a:extLst>
              </p:cNvPr>
              <p:cNvSpPr txBox="1">
                <a:spLocks noRot="1" noChangeAspect="1" noMove="1" noResize="1" noEditPoints="1" noAdjustHandles="1" noChangeArrowheads="1" noChangeShapeType="1" noTextEdit="1"/>
              </p:cNvSpPr>
              <p:nvPr/>
            </p:nvSpPr>
            <p:spPr>
              <a:xfrm>
                <a:off x="4166759" y="5223061"/>
                <a:ext cx="1624441" cy="374205"/>
              </a:xfrm>
              <a:prstGeom prst="rect">
                <a:avLst/>
              </a:prstGeom>
              <a:blipFill>
                <a:blip r:embed="rId8"/>
                <a:stretch>
                  <a:fillRect l="-2326" t="-6667" b="-13333"/>
                </a:stretch>
              </a:blipFill>
            </p:spPr>
            <p:txBody>
              <a:bodyPr/>
              <a:lstStyle/>
              <a:p>
                <a:r>
                  <a:rPr lang="zh-CN" altLang="en-US">
                    <a:noFill/>
                  </a:rPr>
                  <a:t> </a:t>
                </a:r>
              </a:p>
            </p:txBody>
          </p:sp>
        </mc:Fallback>
      </mc:AlternateContent>
      <p:cxnSp>
        <p:nvCxnSpPr>
          <p:cNvPr id="15" name="直线箭头连接符 14">
            <a:extLst>
              <a:ext uri="{FF2B5EF4-FFF2-40B4-BE49-F238E27FC236}">
                <a16:creationId xmlns:a16="http://schemas.microsoft.com/office/drawing/2014/main" id="{80328544-3F06-019B-9D1B-3FD0EE94877A}"/>
              </a:ext>
            </a:extLst>
          </p:cNvPr>
          <p:cNvCxnSpPr>
            <a:stCxn id="10" idx="3"/>
          </p:cNvCxnSpPr>
          <p:nvPr/>
        </p:nvCxnSpPr>
        <p:spPr>
          <a:xfrm flipV="1">
            <a:off x="4893628" y="5992893"/>
            <a:ext cx="897572" cy="156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62572BF6-20A3-FB38-A91D-6731E1B566BB}"/>
                  </a:ext>
                </a:extLst>
              </p:cNvPr>
              <p:cNvSpPr txBox="1"/>
              <p:nvPr/>
            </p:nvSpPr>
            <p:spPr>
              <a:xfrm>
                <a:off x="5896927" y="5685019"/>
                <a:ext cx="1574085" cy="6470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 altLang="zh-CN" i="1" smtClean="0">
                              <a:latin typeface="Cambria Math" panose="02040503050406030204" pitchFamily="18" charset="0"/>
                            </a:rPr>
                          </m:ctrlPr>
                        </m:fPr>
                        <m:num>
                          <m:r>
                            <a:rPr kumimoji="1" lang="en" altLang="zh-CN" i="1" smtClean="0">
                              <a:latin typeface="Cambria Math" panose="02040503050406030204" pitchFamily="18" charset="0"/>
                            </a:rPr>
                            <m:t>𝜕</m:t>
                          </m:r>
                          <m:r>
                            <a:rPr kumimoji="1" lang="en" altLang="zh-CN" i="1" smtClean="0">
                              <a:latin typeface="Cambria Math" panose="02040503050406030204" pitchFamily="18" charset="0"/>
                              <a:ea typeface="Cambria Math" panose="02040503050406030204" pitchFamily="18" charset="0"/>
                            </a:rPr>
                            <m:t>ℒ</m:t>
                          </m:r>
                          <m:r>
                            <a:rPr kumimoji="1" lang="en-US" altLang="zh-CN" b="0" i="1" smtClean="0">
                              <a:latin typeface="Cambria Math" panose="02040503050406030204" pitchFamily="18" charset="0"/>
                              <a:ea typeface="Cambria Math" panose="02040503050406030204" pitchFamily="18" charset="0"/>
                            </a:rPr>
                            <m:t>′</m:t>
                          </m:r>
                        </m:num>
                        <m:den>
                          <m:r>
                            <a:rPr kumimoji="1" lang="en" altLang="zh-CN" i="1" smtClean="0">
                              <a:latin typeface="Cambria Math" panose="02040503050406030204" pitchFamily="18" charset="0"/>
                            </a:rPr>
                            <m:t>𝜕</m:t>
                          </m:r>
                          <m:sSubSup>
                            <m:sSubSupPr>
                              <m:ctrlPr>
                                <a:rPr kumimoji="1" lang="en-US" altLang="zh-CN" b="0" i="1" smtClean="0">
                                  <a:latin typeface="Cambria Math" panose="02040503050406030204" pitchFamily="18" charset="0"/>
                                </a:rPr>
                              </m:ctrlPr>
                            </m:sSubSupPr>
                            <m:e>
                              <m:r>
                                <a:rPr kumimoji="1" lang="en-US" altLang="zh-CN" b="0" i="1" smtClean="0">
                                  <a:latin typeface="Cambria Math" panose="02040503050406030204" pitchFamily="18" charset="0"/>
                                </a:rPr>
                                <m:t>𝜃</m:t>
                              </m:r>
                            </m:e>
                            <m:sub>
                              <m:r>
                                <a:rPr kumimoji="1" lang="en-US" altLang="zh-CN" b="0" i="1" smtClean="0">
                                  <a:latin typeface="Cambria Math" panose="02040503050406030204" pitchFamily="18" charset="0"/>
                                </a:rPr>
                                <m:t>ℓ</m:t>
                              </m:r>
                            </m:sub>
                            <m:sup>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𝑐</m:t>
                                  </m:r>
                                </m:e>
                                <m:sub>
                                  <m:r>
                                    <a:rPr kumimoji="1" lang="en-US" altLang="zh-CN" b="0" i="1" smtClean="0">
                                      <a:latin typeface="Cambria Math" panose="02040503050406030204" pitchFamily="18" charset="0"/>
                                    </a:rPr>
                                    <m:t>𝑘</m:t>
                                  </m:r>
                                </m:sub>
                              </m:sSub>
                            </m:sup>
                          </m:sSubSup>
                        </m:den>
                      </m:f>
                      <m:r>
                        <a:rPr kumimoji="1" lang="en-US" altLang="zh-CN" b="0" i="1" smtClean="0">
                          <a:latin typeface="Cambria Math" panose="02040503050406030204" pitchFamily="18" charset="0"/>
                        </a:rPr>
                        <m:t>=</m:t>
                      </m:r>
                      <m:f>
                        <m:fPr>
                          <m:ctrlPr>
                            <a:rPr kumimoji="1" lang="en" altLang="zh-CN" i="1">
                              <a:latin typeface="Cambria Math" panose="02040503050406030204" pitchFamily="18" charset="0"/>
                            </a:rPr>
                          </m:ctrlPr>
                        </m:fPr>
                        <m:num>
                          <m:r>
                            <a:rPr kumimoji="1" lang="en" altLang="zh-CN" i="1">
                              <a:latin typeface="Cambria Math" panose="02040503050406030204" pitchFamily="18" charset="0"/>
                            </a:rPr>
                            <m:t>𝜕</m:t>
                          </m:r>
                          <m:r>
                            <a:rPr kumimoji="1" lang="en" altLang="zh-CN" i="1">
                              <a:latin typeface="Cambria Math" panose="02040503050406030204" pitchFamily="18" charset="0"/>
                              <a:ea typeface="Cambria Math" panose="02040503050406030204" pitchFamily="18" charset="0"/>
                            </a:rPr>
                            <m:t>ℒ</m:t>
                          </m:r>
                          <m:r>
                            <a:rPr kumimoji="1" lang="en-US" altLang="zh-CN" i="1">
                              <a:latin typeface="Cambria Math" panose="02040503050406030204" pitchFamily="18" charset="0"/>
                              <a:ea typeface="Cambria Math" panose="02040503050406030204" pitchFamily="18" charset="0"/>
                            </a:rPr>
                            <m:t>′</m:t>
                          </m:r>
                        </m:num>
                        <m:den>
                          <m:r>
                            <a:rPr kumimoji="1" lang="en" altLang="zh-CN" i="1">
                              <a:latin typeface="Cambria Math" panose="02040503050406030204" pitchFamily="18" charset="0"/>
                            </a:rPr>
                            <m:t>𝜕</m:t>
                          </m:r>
                          <m:r>
                            <a:rPr kumimoji="1" lang="en-US" altLang="zh-CN" b="0" i="1" smtClean="0">
                              <a:latin typeface="Cambria Math" panose="02040503050406030204" pitchFamily="18" charset="0"/>
                            </a:rPr>
                            <m:t>𝜆</m:t>
                          </m:r>
                        </m:den>
                      </m:f>
                      <m:r>
                        <a:rPr kumimoji="1" lang="en-US" altLang="zh-CN" b="0" i="1" smtClean="0">
                          <a:latin typeface="Cambria Math" panose="02040503050406030204" pitchFamily="18" charset="0"/>
                        </a:rPr>
                        <m:t>=0</m:t>
                      </m:r>
                    </m:oMath>
                  </m:oMathPara>
                </a14:m>
                <a:endParaRPr kumimoji="1" lang="zh-CN" altLang="en-US" dirty="0"/>
              </a:p>
            </p:txBody>
          </p:sp>
        </mc:Choice>
        <mc:Fallback xmlns="">
          <p:sp>
            <p:nvSpPr>
              <p:cNvPr id="16" name="文本框 15">
                <a:extLst>
                  <a:ext uri="{FF2B5EF4-FFF2-40B4-BE49-F238E27FC236}">
                    <a16:creationId xmlns:a16="http://schemas.microsoft.com/office/drawing/2014/main" id="{62572BF6-20A3-FB38-A91D-6731E1B566BB}"/>
                  </a:ext>
                </a:extLst>
              </p:cNvPr>
              <p:cNvSpPr txBox="1">
                <a:spLocks noRot="1" noChangeAspect="1" noMove="1" noResize="1" noEditPoints="1" noAdjustHandles="1" noChangeArrowheads="1" noChangeShapeType="1" noTextEdit="1"/>
              </p:cNvSpPr>
              <p:nvPr/>
            </p:nvSpPr>
            <p:spPr>
              <a:xfrm>
                <a:off x="5896927" y="5685019"/>
                <a:ext cx="1574085" cy="647037"/>
              </a:xfrm>
              <a:prstGeom prst="rect">
                <a:avLst/>
              </a:prstGeom>
              <a:blipFill>
                <a:blip r:embed="rId9"/>
                <a:stretch>
                  <a:fillRect l="-3200" t="-1923" r="-2400"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48D2B20-8066-6AEA-E57E-3611CFA5E995}"/>
                  </a:ext>
                </a:extLst>
              </p:cNvPr>
              <p:cNvSpPr txBox="1"/>
              <p:nvPr/>
            </p:nvSpPr>
            <p:spPr>
              <a:xfrm>
                <a:off x="374084" y="6459816"/>
                <a:ext cx="5048250" cy="350224"/>
              </a:xfrm>
              <a:prstGeom prst="rect">
                <a:avLst/>
              </a:prstGeom>
              <a:noFill/>
            </p:spPr>
            <p:txBody>
              <a:bodyPr wrap="square">
                <a:spAutoFit/>
              </a:bodyPr>
              <a:lstStyle/>
              <a:p>
                <a:r>
                  <a:rPr kumimoji="1" lang="zh-CN" altLang="en-US" sz="1200" b="0" dirty="0"/>
                  <a:t>其中</a:t>
                </a:r>
                <a14:m>
                  <m:oMath xmlns:m="http://schemas.openxmlformats.org/officeDocument/2006/math">
                    <m:sSubSup>
                      <m:sSubSupPr>
                        <m:ctrlPr>
                          <a:rPr kumimoji="1" lang="en-US" altLang="zh-CN" sz="1200" b="0" i="1" smtClean="0">
                            <a:latin typeface="Cambria Math" panose="02040503050406030204" pitchFamily="18" charset="0"/>
                          </a:rPr>
                        </m:ctrlPr>
                      </m:sSubSupPr>
                      <m:e>
                        <m:r>
                          <a:rPr kumimoji="1" lang="en-US" altLang="zh-CN" sz="1200" b="0" i="1" smtClean="0">
                            <a:latin typeface="Cambria Math" panose="02040503050406030204" pitchFamily="18" charset="0"/>
                          </a:rPr>
                          <m:t>𝑛</m:t>
                        </m:r>
                      </m:e>
                      <m:sub>
                        <m:r>
                          <a:rPr kumimoji="1" lang="en-US" altLang="zh-CN" sz="1200" b="0" i="1" smtClean="0">
                            <a:latin typeface="Cambria Math" panose="02040503050406030204" pitchFamily="18" charset="0"/>
                          </a:rPr>
                          <m:t>𝑗</m:t>
                        </m:r>
                        <m:r>
                          <a:rPr kumimoji="1" lang="en-US" altLang="zh-CN" sz="1200" b="0" i="1" smtClean="0">
                            <a:latin typeface="Cambria Math" panose="02040503050406030204" pitchFamily="18" charset="0"/>
                          </a:rPr>
                          <m:t>,ℓ</m:t>
                        </m:r>
                      </m:sub>
                      <m:sup>
                        <m:sSub>
                          <m:sSubPr>
                            <m:ctrlPr>
                              <a:rPr kumimoji="1" lang="en-US" altLang="zh-CN" sz="1200" b="0" i="1" smtClean="0">
                                <a:latin typeface="Cambria Math" panose="02040503050406030204" pitchFamily="18" charset="0"/>
                              </a:rPr>
                            </m:ctrlPr>
                          </m:sSubPr>
                          <m:e>
                            <m:r>
                              <a:rPr kumimoji="1" lang="en-US" altLang="zh-CN" sz="1200" b="0" i="1" smtClean="0">
                                <a:latin typeface="Cambria Math" panose="02040503050406030204" pitchFamily="18" charset="0"/>
                              </a:rPr>
                              <m:t>𝑐</m:t>
                            </m:r>
                          </m:e>
                          <m:sub>
                            <m:r>
                              <a:rPr kumimoji="1" lang="en-US" altLang="zh-CN" sz="1200" b="0" i="1" smtClean="0">
                                <a:latin typeface="Cambria Math" panose="02040503050406030204" pitchFamily="18" charset="0"/>
                              </a:rPr>
                              <m:t>𝑘</m:t>
                            </m:r>
                          </m:sub>
                        </m:sSub>
                      </m:sup>
                    </m:sSubSup>
                    <m:r>
                      <a:rPr kumimoji="1" lang="en-US" altLang="zh-CN" sz="1200" b="0" i="1" smtClean="0">
                        <a:latin typeface="Cambria Math" panose="02040503050406030204" pitchFamily="18" charset="0"/>
                      </a:rPr>
                      <m:t>=</m:t>
                    </m:r>
                    <m:nary>
                      <m:naryPr>
                        <m:chr m:val="∑"/>
                        <m:ctrlPr>
                          <a:rPr kumimoji="1" lang="en-US" altLang="zh-CN" sz="1200" b="0" i="1" smtClean="0">
                            <a:latin typeface="Cambria Math" panose="02040503050406030204" pitchFamily="18" charset="0"/>
                          </a:rPr>
                        </m:ctrlPr>
                      </m:naryPr>
                      <m:sub>
                        <m:r>
                          <m:rPr>
                            <m:brk m:alnAt="23"/>
                          </m:rPr>
                          <a:rPr kumimoji="1" lang="en-US" altLang="zh-CN" sz="1200" b="0" i="1" smtClean="0">
                            <a:latin typeface="Cambria Math" panose="02040503050406030204" pitchFamily="18" charset="0"/>
                          </a:rPr>
                          <m:t>𝑖</m:t>
                        </m:r>
                        <m:r>
                          <a:rPr kumimoji="1" lang="en-US" altLang="zh-CN" sz="1200" b="0" i="1" smtClean="0">
                            <a:latin typeface="Cambria Math" panose="02040503050406030204" pitchFamily="18" charset="0"/>
                          </a:rPr>
                          <m:t>=1</m:t>
                        </m:r>
                      </m:sub>
                      <m:sup>
                        <m:r>
                          <a:rPr kumimoji="1" lang="en-US" altLang="zh-CN" sz="1200" b="0" i="1" smtClean="0">
                            <a:latin typeface="Cambria Math" panose="02040503050406030204" pitchFamily="18" charset="0"/>
                          </a:rPr>
                          <m:t>𝑁</m:t>
                        </m:r>
                      </m:sup>
                      <m:e>
                        <m:r>
                          <a:rPr kumimoji="1" lang="en-US" altLang="zh-CN" sz="1200" i="1">
                            <a:latin typeface="Cambria Math" panose="02040503050406030204" pitchFamily="18" charset="0"/>
                          </a:rPr>
                          <m:t>𝐼</m:t>
                        </m:r>
                        <m:r>
                          <a:rPr kumimoji="1" lang="en-US" altLang="zh-CN" sz="1200" i="1">
                            <a:latin typeface="Cambria Math" panose="02040503050406030204" pitchFamily="18" charset="0"/>
                          </a:rPr>
                          <m:t>(</m:t>
                        </m:r>
                        <m:sSubSup>
                          <m:sSubSupPr>
                            <m:ctrlPr>
                              <a:rPr lang="en-US" altLang="zh-CN" sz="1200" i="1">
                                <a:latin typeface="Cambria Math" panose="02040503050406030204" pitchFamily="18" charset="0"/>
                              </a:rPr>
                            </m:ctrlPr>
                          </m:sSubSupPr>
                          <m:e>
                            <m:r>
                              <a:rPr lang="en-US" altLang="zh-CN" sz="1200" i="1">
                                <a:latin typeface="Cambria Math" panose="02040503050406030204" pitchFamily="18" charset="0"/>
                              </a:rPr>
                              <m:t>𝑥</m:t>
                            </m:r>
                          </m:e>
                          <m:sub>
                            <m:r>
                              <a:rPr lang="en-US" altLang="zh-CN" sz="1200" i="1">
                                <a:latin typeface="Cambria Math" panose="02040503050406030204" pitchFamily="18" charset="0"/>
                              </a:rPr>
                              <m:t>𝑖</m:t>
                            </m:r>
                          </m:sub>
                          <m:sup>
                            <m:d>
                              <m:dPr>
                                <m:ctrlPr>
                                  <a:rPr lang="en-US" altLang="zh-CN" sz="1200" i="1">
                                    <a:latin typeface="Cambria Math" panose="02040503050406030204" pitchFamily="18" charset="0"/>
                                  </a:rPr>
                                </m:ctrlPr>
                              </m:dPr>
                              <m:e>
                                <m:r>
                                  <a:rPr lang="en-US" altLang="zh-CN" sz="1200" i="1">
                                    <a:latin typeface="Cambria Math" panose="02040503050406030204" pitchFamily="18" charset="0"/>
                                  </a:rPr>
                                  <m:t>𝑗</m:t>
                                </m:r>
                              </m:e>
                            </m:d>
                          </m:sup>
                        </m:sSubSup>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𝑤</m:t>
                            </m:r>
                          </m:e>
                          <m:sub>
                            <m:r>
                              <a:rPr lang="en-US" altLang="zh-CN" sz="1200" i="1">
                                <a:latin typeface="Cambria Math" panose="02040503050406030204" pitchFamily="18" charset="0"/>
                              </a:rPr>
                              <m:t>ℓ</m:t>
                            </m:r>
                          </m:sub>
                        </m:sSub>
                        <m:r>
                          <a:rPr lang="en-US" altLang="zh-CN" sz="1200" i="1">
                            <a:latin typeface="Cambria Math" panose="02040503050406030204" pitchFamily="18" charset="0"/>
                          </a:rPr>
                          <m:t>,</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𝑦</m:t>
                            </m:r>
                          </m:e>
                          <m:sub>
                            <m:r>
                              <a:rPr kumimoji="1" lang="en-US" altLang="zh-CN" sz="1200" i="1">
                                <a:latin typeface="Cambria Math" panose="02040503050406030204" pitchFamily="18" charset="0"/>
                              </a:rPr>
                              <m:t>𝑖</m:t>
                            </m:r>
                          </m:sub>
                        </m:sSub>
                        <m:r>
                          <a:rPr kumimoji="1" lang="en-US" altLang="zh-CN" sz="1200" i="1">
                            <a:latin typeface="Cambria Math" panose="02040503050406030204" pitchFamily="18" charset="0"/>
                          </a:rPr>
                          <m:t>=</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𝑐</m:t>
                            </m:r>
                          </m:e>
                          <m:sub>
                            <m:r>
                              <a:rPr kumimoji="1" lang="en-US" altLang="zh-CN" sz="1200" i="1">
                                <a:latin typeface="Cambria Math" panose="02040503050406030204" pitchFamily="18" charset="0"/>
                              </a:rPr>
                              <m:t>𝑘</m:t>
                            </m:r>
                          </m:sub>
                        </m:sSub>
                        <m:r>
                          <a:rPr kumimoji="1" lang="en-US" altLang="zh-CN" sz="1200" i="1">
                            <a:latin typeface="Cambria Math" panose="02040503050406030204" pitchFamily="18" charset="0"/>
                          </a:rPr>
                          <m:t>)</m:t>
                        </m:r>
                      </m:e>
                    </m:nary>
                  </m:oMath>
                </a14:m>
                <a:endParaRPr lang="zh-CN" altLang="en-US" sz="1200" dirty="0"/>
              </a:p>
            </p:txBody>
          </p:sp>
        </mc:Choice>
        <mc:Fallback xmlns="">
          <p:sp>
            <p:nvSpPr>
              <p:cNvPr id="19" name="文本框 18">
                <a:extLst>
                  <a:ext uri="{FF2B5EF4-FFF2-40B4-BE49-F238E27FC236}">
                    <a16:creationId xmlns:a16="http://schemas.microsoft.com/office/drawing/2014/main" id="{848D2B20-8066-6AEA-E57E-3611CFA5E995}"/>
                  </a:ext>
                </a:extLst>
              </p:cNvPr>
              <p:cNvSpPr txBox="1">
                <a:spLocks noRot="1" noChangeAspect="1" noMove="1" noResize="1" noEditPoints="1" noAdjustHandles="1" noChangeArrowheads="1" noChangeShapeType="1" noTextEdit="1"/>
              </p:cNvSpPr>
              <p:nvPr/>
            </p:nvSpPr>
            <p:spPr>
              <a:xfrm>
                <a:off x="374084" y="6459816"/>
                <a:ext cx="5048250" cy="350224"/>
              </a:xfrm>
              <a:prstGeom prst="rect">
                <a:avLst/>
              </a:prstGeom>
              <a:blipFill>
                <a:blip r:embed="rId10"/>
                <a:stretch>
                  <a:fillRect t="-58621" b="-1103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27779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0F37E-6DC1-9EDC-C94B-908DE702B694}"/>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2789AB78-1C9B-DF0F-3C98-A04DCDAFE2B0}"/>
              </a:ext>
            </a:extLst>
          </p:cNvPr>
          <p:cNvGrpSpPr/>
          <p:nvPr/>
        </p:nvGrpSpPr>
        <p:grpSpPr>
          <a:xfrm>
            <a:off x="-4445" y="260985"/>
            <a:ext cx="8925560" cy="708025"/>
            <a:chOff x="-9" y="254"/>
            <a:chExt cx="14056" cy="1115"/>
          </a:xfrm>
        </p:grpSpPr>
        <p:sp>
          <p:nvSpPr>
            <p:cNvPr id="34" name="矩形 33">
              <a:extLst>
                <a:ext uri="{FF2B5EF4-FFF2-40B4-BE49-F238E27FC236}">
                  <a16:creationId xmlns:a16="http://schemas.microsoft.com/office/drawing/2014/main" id="{1D9EF6C7-5D16-74D3-365A-4675EDE9B95B}"/>
                </a:ext>
              </a:extLst>
            </p:cNvPr>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0149B450-ED3B-4E20-C8E6-87B3393F1C21}"/>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8E910EAA-4776-D58E-3BF5-3972A553FF13}"/>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2F4F1E1E-4E8D-F2C9-2ADC-959666858B35}"/>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7A064FD8-AF8E-BD8B-4CC2-592CB029E08C}"/>
                </a:ext>
              </a:extLst>
            </p:cNvPr>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E12B7E2-9D67-6956-FB71-33C716645BBD}"/>
                  </a:ext>
                </a:extLst>
              </p:cNvPr>
              <p:cNvSpPr txBox="1"/>
              <p:nvPr/>
            </p:nvSpPr>
            <p:spPr>
              <a:xfrm>
                <a:off x="374084" y="1057275"/>
                <a:ext cx="5488554" cy="1658596"/>
              </a:xfrm>
              <a:prstGeom prst="rect">
                <a:avLst/>
              </a:prstGeom>
              <a:noFill/>
            </p:spPr>
            <p:txBody>
              <a:bodyPr wrap="none" rtlCol="0">
                <a:spAutoFit/>
              </a:bodyPr>
              <a:lstStyle/>
              <a:p>
                <a:pPr>
                  <a:lnSpc>
                    <a:spcPct val="150000"/>
                  </a:lnSpc>
                </a:pPr>
                <a:r>
                  <a:rPr lang="zh-CN" altLang="en-US" sz="1400" dirty="0"/>
                  <a:t>定义</a:t>
                </a:r>
                <a14:m>
                  <m:oMath xmlns:m="http://schemas.openxmlformats.org/officeDocument/2006/math">
                    <m:acc>
                      <m:accPr>
                        <m:chr m:val="̃"/>
                        <m:ctrlPr>
                          <a:rPr lang="zh-CN" altLang="en-US" sz="1400" i="1" smtClean="0">
                            <a:latin typeface="Cambria Math" panose="02040503050406030204" pitchFamily="18" charset="0"/>
                          </a:rPr>
                        </m:ctrlPr>
                      </m:accPr>
                      <m:e>
                        <m:r>
                          <m:rPr>
                            <m:sty m:val="p"/>
                          </m:rPr>
                          <a:rPr lang="en-US" altLang="zh-CN" sz="1400" i="1">
                            <a:latin typeface="Cambria Math" panose="02040503050406030204" pitchFamily="18" charset="0"/>
                          </a:rPr>
                          <m:t>X</m:t>
                        </m:r>
                      </m:e>
                    </m:acc>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𝑁</m:t>
                        </m:r>
                      </m:sub>
                    </m:sSub>
                    <m:r>
                      <a:rPr lang="en-US" altLang="zh-CN" sz="1400" b="0" i="1" smtClean="0">
                        <a:latin typeface="Cambria Math" panose="02040503050406030204" pitchFamily="18" charset="0"/>
                      </a:rPr>
                      <m:t>)</m:t>
                    </m:r>
                  </m:oMath>
                </a14:m>
                <a:r>
                  <a:rPr lang="en-US" altLang="zh-CN" sz="1400" dirty="0"/>
                  <a:t>,N</a:t>
                </a:r>
                <a:r>
                  <a:rPr lang="zh-CN" altLang="en-US" sz="1400" dirty="0"/>
                  <a:t>表示训练样本的数量</a:t>
                </a:r>
                <a:endParaRPr lang="en-US" altLang="zh-CN" sz="1400" dirty="0"/>
              </a:p>
              <a:p>
                <a:pPr>
                  <a:lnSpc>
                    <a:spcPct val="150000"/>
                  </a:lnSpc>
                </a:pPr>
                <a:r>
                  <a:rPr lang="zh-CN" altLang="en-US" sz="1400" dirty="0"/>
                  <a:t>其中，</a:t>
                </a:r>
                <a14:m>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𝑖</m:t>
                        </m:r>
                      </m:sub>
                    </m:sSub>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d>
                          <m:dPr>
                            <m:ctrlPr>
                              <a:rPr lang="en-US" altLang="zh-CN" sz="1400" b="0" i="1" smtClean="0">
                                <a:latin typeface="Cambria Math" panose="02040503050406030204" pitchFamily="18" charset="0"/>
                              </a:rPr>
                            </m:ctrlPr>
                          </m:dPr>
                          <m:e>
                            <m:sSubSup>
                              <m:sSubSupPr>
                                <m:ctrlPr>
                                  <a:rPr lang="en-US" altLang="zh-CN" sz="1400" b="0" i="1" smtClean="0">
                                    <a:latin typeface="Cambria Math" panose="02040503050406030204" pitchFamily="18" charset="0"/>
                                  </a:rPr>
                                </m:ctrlPr>
                              </m:sSubSup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𝑖</m:t>
                                </m:r>
                              </m:sub>
                              <m:sup>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e>
                                </m:d>
                              </m:sup>
                            </m:sSubSup>
                            <m:r>
                              <a:rPr lang="en-US" altLang="zh-CN" sz="1400" b="0" i="1" smtClean="0">
                                <a:latin typeface="Cambria Math" panose="02040503050406030204" pitchFamily="18" charset="0"/>
                              </a:rPr>
                              <m:t>,…,</m:t>
                            </m:r>
                            <m:sSubSup>
                              <m:sSubSupPr>
                                <m:ctrlPr>
                                  <a:rPr lang="en-US" altLang="zh-CN" sz="1400" b="0" i="1" smtClean="0">
                                    <a:latin typeface="Cambria Math" panose="02040503050406030204" pitchFamily="18" charset="0"/>
                                  </a:rPr>
                                </m:ctrlPr>
                              </m:sSubSup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𝑖</m:t>
                                </m:r>
                              </m:sub>
                              <m:sup>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𝑛</m:t>
                                    </m:r>
                                  </m:e>
                                </m:d>
                              </m:sup>
                            </m:sSubSup>
                          </m:e>
                        </m:d>
                      </m:e>
                      <m:sup>
                        <m:r>
                          <a:rPr lang="en-US" altLang="zh-CN" sz="1400" b="0" i="1" smtClean="0">
                            <a:latin typeface="Cambria Math" panose="02040503050406030204" pitchFamily="18" charset="0"/>
                          </a:rPr>
                          <m:t>𝑇</m:t>
                        </m:r>
                      </m:sup>
                    </m:sSup>
                  </m:oMath>
                </a14:m>
                <a:endParaRPr lang="en-US" altLang="zh-CN" sz="1400" dirty="0"/>
              </a:p>
              <a:p>
                <a:pPr>
                  <a:lnSpc>
                    <a:spcPct val="150000"/>
                  </a:lnSpc>
                </a:pPr>
                <a14:m>
                  <m:oMath xmlns:m="http://schemas.openxmlformats.org/officeDocument/2006/math">
                    <m:r>
                      <a:rPr lang="en-US" altLang="zh-CN" sz="1400" b="0" i="1" smtClean="0">
                        <a:latin typeface="Cambria Math" panose="02040503050406030204" pitchFamily="18" charset="0"/>
                      </a:rPr>
                      <m:t>𝑌</m:t>
                    </m:r>
                  </m:oMath>
                </a14:m>
                <a:r>
                  <a:rPr lang="zh-CN" altLang="en-US" sz="1400" dirty="0"/>
                  <a:t>的取值范围为</a:t>
                </a:r>
                <a14:m>
                  <m:oMath xmlns:m="http://schemas.openxmlformats.org/officeDocument/2006/math">
                    <m:r>
                      <a:rPr lang="en-US" altLang="zh-CN" sz="1400" b="0" i="1" smtClean="0">
                        <a:latin typeface="Cambria Math" panose="02040503050406030204" pitchFamily="18" charset="0"/>
                      </a:rPr>
                      <m:t>𝐶</m:t>
                    </m:r>
                    <m:r>
                      <a:rPr lang="en-US" altLang="zh-CN" sz="1400" b="0" i="1" smtClean="0">
                        <a:latin typeface="Cambria Math" panose="02040503050406030204" pitchFamily="18" charset="0"/>
                      </a:rPr>
                      <m:t>=</m:t>
                    </m:r>
                    <m:d>
                      <m:dPr>
                        <m:begChr m:val="{"/>
                        <m:end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𝑐</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𝑐</m:t>
                            </m:r>
                          </m:e>
                          <m:sub>
                            <m:r>
                              <a:rPr lang="en-US" altLang="zh-CN" sz="1400" b="0" i="1" smtClean="0">
                                <a:latin typeface="Cambria Math" panose="02040503050406030204" pitchFamily="18" charset="0"/>
                              </a:rPr>
                              <m:t>2</m:t>
                            </m:r>
                          </m:sub>
                        </m:sSub>
                      </m:e>
                    </m:d>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𝑐</m:t>
                        </m:r>
                      </m:e>
                      <m:sub>
                        <m:r>
                          <a:rPr lang="en-US" altLang="zh-CN" sz="1400" b="0" i="1" smtClean="0">
                            <a:latin typeface="Cambria Math" panose="02040503050406030204" pitchFamily="18" charset="0"/>
                          </a:rPr>
                          <m:t>𝑘</m:t>
                        </m:r>
                      </m:sub>
                    </m:sSub>
                    <m:r>
                      <a:rPr lang="en-US" altLang="zh-CN" sz="1400" b="0" i="1" smtClean="0">
                        <a:latin typeface="Cambria Math" panose="02040503050406030204" pitchFamily="18" charset="0"/>
                      </a:rPr>
                      <m:t>∈</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0,1</m:t>
                        </m:r>
                      </m:e>
                    </m:d>
                  </m:oMath>
                </a14:m>
                <a:endParaRPr lang="en-US" altLang="zh-CN" sz="1400" b="0" dirty="0"/>
              </a:p>
              <a:p>
                <a:pPr>
                  <a:lnSpc>
                    <a:spcPct val="150000"/>
                  </a:lnSpc>
                </a:pPr>
                <a:r>
                  <a:rPr lang="zh-CN" altLang="en-US" sz="1400" dirty="0"/>
                  <a:t>定义参数</a:t>
                </a:r>
                <a14:m>
                  <m:oMath xmlns:m="http://schemas.openxmlformats.org/officeDocument/2006/math">
                    <m:sSubSup>
                      <m:sSubSupPr>
                        <m:ctrlPr>
                          <a:rPr lang="en-US" altLang="zh-CN" sz="1400" b="0" i="1" smtClean="0">
                            <a:latin typeface="Cambria Math" panose="02040503050406030204" pitchFamily="18" charset="0"/>
                          </a:rPr>
                        </m:ctrlPr>
                      </m:sSubSup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ℓ</m:t>
                        </m:r>
                      </m:sub>
                      <m:sup>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𝑐</m:t>
                            </m:r>
                          </m:e>
                          <m:sub>
                            <m:r>
                              <a:rPr lang="en-US" altLang="zh-CN" sz="1400" b="0" i="1" smtClean="0">
                                <a:latin typeface="Cambria Math" panose="02040503050406030204" pitchFamily="18" charset="0"/>
                              </a:rPr>
                              <m:t>𝑘</m:t>
                            </m:r>
                          </m:sub>
                        </m:sSub>
                      </m:sup>
                    </m:sSubSup>
                  </m:oMath>
                </a14:m>
                <a:r>
                  <a:rPr lang="zh-CN" altLang="en-US" sz="1400" dirty="0"/>
                  <a:t>表示</a:t>
                </a:r>
                <a14:m>
                  <m:oMath xmlns:m="http://schemas.openxmlformats.org/officeDocument/2006/math">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sSubSup>
                      <m:sSubSupPr>
                        <m:ctrlPr>
                          <a:rPr lang="en-US" altLang="zh-CN" sz="1400" b="0" i="1" smtClean="0">
                            <a:latin typeface="Cambria Math" panose="02040503050406030204" pitchFamily="18" charset="0"/>
                          </a:rPr>
                        </m:ctrlPr>
                      </m:sSubSup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𝑖</m:t>
                        </m:r>
                      </m:sub>
                      <m:sup>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𝑛</m:t>
                            </m:r>
                          </m:e>
                        </m:d>
                      </m:sup>
                    </m:sSubSup>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𝑎</m:t>
                        </m:r>
                      </m:e>
                      <m:sub>
                        <m:r>
                          <a:rPr lang="en-US" altLang="zh-CN" sz="1400" b="0" i="1" smtClean="0">
                            <a:latin typeface="Cambria Math" panose="02040503050406030204" pitchFamily="18" charset="0"/>
                          </a:rPr>
                          <m:t>ℓ</m:t>
                        </m:r>
                      </m:sub>
                    </m:sSub>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𝑐</m:t>
                        </m:r>
                      </m:e>
                      <m:sub>
                        <m:r>
                          <a:rPr lang="en-US" altLang="zh-CN" sz="1400" b="0" i="1" smtClean="0">
                            <a:latin typeface="Cambria Math" panose="02040503050406030204" pitchFamily="18" charset="0"/>
                          </a:rPr>
                          <m:t>𝑘</m:t>
                        </m:r>
                      </m:sub>
                    </m:sSub>
                    <m:r>
                      <a:rPr lang="en-US" altLang="zh-CN" sz="1400" b="0" i="1" smtClean="0">
                        <a:latin typeface="Cambria Math" panose="02040503050406030204" pitchFamily="18" charset="0"/>
                      </a:rPr>
                      <m:t>)</m:t>
                    </m:r>
                  </m:oMath>
                </a14:m>
                <a:r>
                  <a:rPr lang="zh-CN" altLang="en-US" sz="1400" dirty="0"/>
                  <a:t>这个概率</a:t>
                </a:r>
                <a:r>
                  <a:rPr lang="en-US" altLang="zh-CN" sz="1400" dirty="0"/>
                  <a:t>,</a:t>
                </a:r>
                <a14:m>
                  <m:oMath xmlns:m="http://schemas.openxmlformats.org/officeDocument/2006/math">
                    <m:r>
                      <a:rPr lang="en-US" altLang="zh-CN" sz="1400" b="0" i="1" smtClean="0">
                        <a:latin typeface="Cambria Math" panose="02040503050406030204" pitchFamily="18" charset="0"/>
                      </a:rPr>
                      <m:t>ℓ</m:t>
                    </m:r>
                    <m:r>
                      <a:rPr lang="zh-CN" altLang="en-US" sz="1400" i="1">
                        <a:latin typeface="Cambria Math" panose="02040503050406030204" pitchFamily="18" charset="0"/>
                      </a:rPr>
                      <m:t>的</m:t>
                    </m:r>
                    <m:r>
                      <a:rPr lang="zh-CN" altLang="en-US" sz="1400" i="1" smtClean="0">
                        <a:latin typeface="Cambria Math" panose="02040503050406030204" pitchFamily="18" charset="0"/>
                      </a:rPr>
                      <m:t>取值</m:t>
                    </m:r>
                    <m:r>
                      <a:rPr lang="zh-CN" altLang="en-US" sz="1400" i="1">
                        <a:latin typeface="Cambria Math" panose="02040503050406030204" pitchFamily="18" charset="0"/>
                      </a:rPr>
                      <m:t>范围</m:t>
                    </m:r>
                    <m:r>
                      <a:rPr lang="zh-CN" altLang="en-US" sz="1400" i="1" smtClean="0">
                        <a:latin typeface="Cambria Math" panose="02040503050406030204" pitchFamily="18" charset="0"/>
                      </a:rPr>
                      <m:t>为</m:t>
                    </m:r>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𝑉</m:t>
                    </m:r>
                    <m:r>
                      <a:rPr lang="en-US" altLang="zh-CN" sz="1400" b="0" i="1" smtClean="0">
                        <a:latin typeface="Cambria Math" panose="02040503050406030204" pitchFamily="18" charset="0"/>
                      </a:rPr>
                      <m:t>]</m:t>
                    </m:r>
                  </m:oMath>
                </a14:m>
                <a:endParaRPr lang="zh-CN" altLang="en-US" sz="1400" dirty="0"/>
              </a:p>
            </p:txBody>
          </p:sp>
        </mc:Choice>
        <mc:Fallback xmlns="">
          <p:sp>
            <p:nvSpPr>
              <p:cNvPr id="7" name="文本框 6">
                <a:extLst>
                  <a:ext uri="{FF2B5EF4-FFF2-40B4-BE49-F238E27FC236}">
                    <a16:creationId xmlns:a16="http://schemas.microsoft.com/office/drawing/2014/main" id="{5E12B7E2-9D67-6956-FB71-33C716645BBD}"/>
                  </a:ext>
                </a:extLst>
              </p:cNvPr>
              <p:cNvSpPr txBox="1">
                <a:spLocks noRot="1" noChangeAspect="1" noMove="1" noResize="1" noEditPoints="1" noAdjustHandles="1" noChangeArrowheads="1" noChangeShapeType="1" noTextEdit="1"/>
              </p:cNvSpPr>
              <p:nvPr/>
            </p:nvSpPr>
            <p:spPr>
              <a:xfrm>
                <a:off x="374084" y="1057275"/>
                <a:ext cx="5488554" cy="1658596"/>
              </a:xfrm>
              <a:prstGeom prst="rect">
                <a:avLst/>
              </a:prstGeom>
              <a:blipFill>
                <a:blip r:embed="rId3"/>
                <a:stretch>
                  <a:fillRect l="-462" b="-2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DB71572-40D0-BCFE-576C-A8504D903BD0}"/>
                  </a:ext>
                </a:extLst>
              </p:cNvPr>
              <p:cNvSpPr txBox="1"/>
              <p:nvPr/>
            </p:nvSpPr>
            <p:spPr>
              <a:xfrm>
                <a:off x="306276" y="2801849"/>
                <a:ext cx="1624441" cy="374205"/>
              </a:xfrm>
              <a:prstGeom prst="rect">
                <a:avLst/>
              </a:prstGeom>
              <a:noFill/>
            </p:spPr>
            <p:txBody>
              <a:bodyPr wrap="square" rtlCol="0">
                <a:spAutoFit/>
              </a:bodyPr>
              <a:lstStyle/>
              <a:p>
                <a:r>
                  <a:rPr kumimoji="1" lang="zh-CN" altLang="en-US" sz="1600" dirty="0">
                    <a:solidFill>
                      <a:srgbClr val="FF0000"/>
                    </a:solidFill>
                  </a:rPr>
                  <a:t>求解参数</a:t>
                </a:r>
                <a14:m>
                  <m:oMath xmlns:m="http://schemas.openxmlformats.org/officeDocument/2006/math">
                    <m:sSubSup>
                      <m:sSubSupPr>
                        <m:ctrlPr>
                          <a:rPr kumimoji="1" lang="en-US" altLang="zh-CN" sz="1600" b="0" i="1" smtClean="0">
                            <a:solidFill>
                              <a:srgbClr val="FF0000"/>
                            </a:solidFill>
                            <a:latin typeface="Cambria Math" panose="02040503050406030204" pitchFamily="18" charset="0"/>
                          </a:rPr>
                        </m:ctrlPr>
                      </m:sSubSupPr>
                      <m:e>
                        <m:r>
                          <a:rPr kumimoji="1" lang="en-US" altLang="zh-CN" sz="1600" b="0" i="1" smtClean="0">
                            <a:solidFill>
                              <a:srgbClr val="FF0000"/>
                            </a:solidFill>
                            <a:latin typeface="Cambria Math" panose="02040503050406030204" pitchFamily="18" charset="0"/>
                          </a:rPr>
                          <m:t>𝜃</m:t>
                        </m:r>
                      </m:e>
                      <m:sub>
                        <m:r>
                          <a:rPr kumimoji="1" lang="en-US" altLang="zh-CN" sz="1600" b="0" i="1" smtClean="0">
                            <a:solidFill>
                              <a:srgbClr val="FF0000"/>
                            </a:solidFill>
                            <a:latin typeface="Cambria Math" panose="02040503050406030204" pitchFamily="18" charset="0"/>
                          </a:rPr>
                          <m:t>ℓ</m:t>
                        </m:r>
                      </m:sub>
                      <m:sup>
                        <m:sSub>
                          <m:sSubPr>
                            <m:ctrlPr>
                              <a:rPr kumimoji="1" lang="en-US" altLang="zh-CN" sz="1600" b="0" i="1" smtClean="0">
                                <a:solidFill>
                                  <a:srgbClr val="FF0000"/>
                                </a:solidFill>
                                <a:latin typeface="Cambria Math" panose="02040503050406030204" pitchFamily="18" charset="0"/>
                              </a:rPr>
                            </m:ctrlPr>
                          </m:sSubPr>
                          <m:e>
                            <m:r>
                              <a:rPr kumimoji="1" lang="en-US" altLang="zh-CN" sz="1600" b="0" i="1" smtClean="0">
                                <a:solidFill>
                                  <a:srgbClr val="FF0000"/>
                                </a:solidFill>
                                <a:latin typeface="Cambria Math" panose="02040503050406030204" pitchFamily="18" charset="0"/>
                              </a:rPr>
                              <m:t>𝑐</m:t>
                            </m:r>
                          </m:e>
                          <m:sub>
                            <m:r>
                              <a:rPr kumimoji="1" lang="en-US" altLang="zh-CN" sz="1600" b="0" i="1" smtClean="0">
                                <a:solidFill>
                                  <a:srgbClr val="FF0000"/>
                                </a:solidFill>
                                <a:latin typeface="Cambria Math" panose="02040503050406030204" pitchFamily="18" charset="0"/>
                              </a:rPr>
                              <m:t>𝑘</m:t>
                            </m:r>
                          </m:sub>
                        </m:sSub>
                      </m:sup>
                    </m:sSubSup>
                  </m:oMath>
                </a14:m>
                <a:endParaRPr kumimoji="1" lang="zh-CN" altLang="en-US" dirty="0">
                  <a:solidFill>
                    <a:srgbClr val="FF0000"/>
                  </a:solidFill>
                </a:endParaRPr>
              </a:p>
            </p:txBody>
          </p:sp>
        </mc:Choice>
        <mc:Fallback xmlns="">
          <p:sp>
            <p:nvSpPr>
              <p:cNvPr id="13" name="文本框 12">
                <a:extLst>
                  <a:ext uri="{FF2B5EF4-FFF2-40B4-BE49-F238E27FC236}">
                    <a16:creationId xmlns:a16="http://schemas.microsoft.com/office/drawing/2014/main" id="{EDB71572-40D0-BCFE-576C-A8504D903BD0}"/>
                  </a:ext>
                </a:extLst>
              </p:cNvPr>
              <p:cNvSpPr txBox="1">
                <a:spLocks noRot="1" noChangeAspect="1" noMove="1" noResize="1" noEditPoints="1" noAdjustHandles="1" noChangeArrowheads="1" noChangeShapeType="1" noTextEdit="1"/>
              </p:cNvSpPr>
              <p:nvPr/>
            </p:nvSpPr>
            <p:spPr>
              <a:xfrm>
                <a:off x="306276" y="2801849"/>
                <a:ext cx="1624441" cy="374205"/>
              </a:xfrm>
              <a:prstGeom prst="rect">
                <a:avLst/>
              </a:prstGeom>
              <a:blipFill>
                <a:blip r:embed="rId4"/>
                <a:stretch>
                  <a:fillRect l="-2326" t="-3226" b="-96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177654C-EBC0-AC6F-0FCC-E27E989C1E33}"/>
                  </a:ext>
                </a:extLst>
              </p:cNvPr>
              <p:cNvSpPr txBox="1"/>
              <p:nvPr/>
            </p:nvSpPr>
            <p:spPr>
              <a:xfrm>
                <a:off x="5605267" y="5026049"/>
                <a:ext cx="1563248" cy="803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en-US" altLang="zh-CN"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ℓ</m:t>
                          </m:r>
                        </m:sub>
                        <m:sup>
                          <m:r>
                            <a:rPr kumimoji="1" lang="en-US" altLang="zh-CN" b="0" i="1" smtClean="0">
                              <a:latin typeface="Cambria Math" panose="02040503050406030204" pitchFamily="18" charset="0"/>
                              <a:ea typeface="Cambria Math" panose="02040503050406030204" pitchFamily="18" charset="0"/>
                            </a:rPr>
                            <m:t>𝑉</m:t>
                          </m:r>
                        </m:sup>
                        <m:e>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i="1">
                                  <a:latin typeface="Cambria Math" panose="02040503050406030204" pitchFamily="18" charset="0"/>
                                  <a:ea typeface="Cambria Math" panose="02040503050406030204" pitchFamily="18" charset="0"/>
                                </a:rPr>
                                <m:t>𝜃</m:t>
                              </m:r>
                            </m:e>
                            <m:sub>
                              <m:r>
                                <a:rPr kumimoji="1" lang="en-US" altLang="zh-CN" i="1">
                                  <a:latin typeface="Cambria Math" panose="02040503050406030204" pitchFamily="18" charset="0"/>
                                  <a:ea typeface="Cambria Math" panose="02040503050406030204" pitchFamily="18" charset="0"/>
                                </a:rPr>
                                <m:t>ℓ</m:t>
                              </m:r>
                            </m:sub>
                            <m:sup>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𝑘</m:t>
                                  </m:r>
                                </m:sub>
                              </m:sSub>
                            </m:sup>
                          </m:sSubSup>
                        </m:e>
                      </m:nary>
                      <m:r>
                        <a:rPr kumimoji="1" lang="en-US" altLang="zh-CN" i="1">
                          <a:latin typeface="Cambria Math" panose="02040503050406030204" pitchFamily="18" charset="0"/>
                          <a:ea typeface="Cambria Math" panose="02040503050406030204" pitchFamily="18" charset="0"/>
                        </a:rPr>
                        <m:t>−1</m:t>
                      </m:r>
                      <m:r>
                        <a:rPr kumimoji="1" lang="en-US" altLang="zh-CN" b="0" i="1" smtClean="0">
                          <a:latin typeface="Cambria Math" panose="02040503050406030204" pitchFamily="18" charset="0"/>
                          <a:ea typeface="Cambria Math" panose="02040503050406030204" pitchFamily="18" charset="0"/>
                        </a:rPr>
                        <m:t>=0</m:t>
                      </m:r>
                    </m:oMath>
                  </m:oMathPara>
                </a14:m>
                <a:endParaRPr kumimoji="1" lang="zh-CN" altLang="en-US" dirty="0"/>
              </a:p>
            </p:txBody>
          </p:sp>
        </mc:Choice>
        <mc:Fallback xmlns="">
          <p:sp>
            <p:nvSpPr>
              <p:cNvPr id="14" name="文本框 13">
                <a:extLst>
                  <a:ext uri="{FF2B5EF4-FFF2-40B4-BE49-F238E27FC236}">
                    <a16:creationId xmlns:a16="http://schemas.microsoft.com/office/drawing/2014/main" id="{9177654C-EBC0-AC6F-0FCC-E27E989C1E33}"/>
                  </a:ext>
                </a:extLst>
              </p:cNvPr>
              <p:cNvSpPr txBox="1">
                <a:spLocks noRot="1" noChangeAspect="1" noMove="1" noResize="1" noEditPoints="1" noAdjustHandles="1" noChangeArrowheads="1" noChangeShapeType="1" noTextEdit="1"/>
              </p:cNvSpPr>
              <p:nvPr/>
            </p:nvSpPr>
            <p:spPr>
              <a:xfrm>
                <a:off x="5605267" y="5026049"/>
                <a:ext cx="1563248" cy="803040"/>
              </a:xfrm>
              <a:prstGeom prst="rect">
                <a:avLst/>
              </a:prstGeom>
              <a:blipFill>
                <a:blip r:embed="rId5"/>
                <a:stretch>
                  <a:fillRect l="-53226" t="-107813" r="-2419" b="-165625"/>
                </a:stretch>
              </a:blipFill>
            </p:spPr>
            <p:txBody>
              <a:bodyPr/>
              <a:lstStyle/>
              <a:p>
                <a:r>
                  <a:rPr lang="zh-CN" altLang="en-US">
                    <a:noFill/>
                  </a:rPr>
                  <a:t> </a:t>
                </a:r>
              </a:p>
            </p:txBody>
          </p:sp>
        </mc:Fallback>
      </mc:AlternateContent>
      <p:cxnSp>
        <p:nvCxnSpPr>
          <p:cNvPr id="18" name="直线箭头连接符 17">
            <a:extLst>
              <a:ext uri="{FF2B5EF4-FFF2-40B4-BE49-F238E27FC236}">
                <a16:creationId xmlns:a16="http://schemas.microsoft.com/office/drawing/2014/main" id="{A2E85550-50B3-A19A-07E5-C16D81625449}"/>
              </a:ext>
            </a:extLst>
          </p:cNvPr>
          <p:cNvCxnSpPr>
            <a:cxnSpLocks/>
            <a:endCxn id="14" idx="0"/>
          </p:cNvCxnSpPr>
          <p:nvPr/>
        </p:nvCxnSpPr>
        <p:spPr>
          <a:xfrm flipH="1">
            <a:off x="6386891" y="3901564"/>
            <a:ext cx="565913" cy="1124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a:extLst>
              <a:ext uri="{FF2B5EF4-FFF2-40B4-BE49-F238E27FC236}">
                <a16:creationId xmlns:a16="http://schemas.microsoft.com/office/drawing/2014/main" id="{F10EAC04-72A5-FF4B-E3BD-E2A862DE3AED}"/>
              </a:ext>
            </a:extLst>
          </p:cNvPr>
          <p:cNvCxnSpPr>
            <a:cxnSpLocks/>
          </p:cNvCxnSpPr>
          <p:nvPr/>
        </p:nvCxnSpPr>
        <p:spPr>
          <a:xfrm flipH="1">
            <a:off x="1358977" y="3846143"/>
            <a:ext cx="4672849" cy="7030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线箭头连接符 22">
            <a:extLst>
              <a:ext uri="{FF2B5EF4-FFF2-40B4-BE49-F238E27FC236}">
                <a16:creationId xmlns:a16="http://schemas.microsoft.com/office/drawing/2014/main" id="{5274F298-C205-9577-5079-7A5BCC3FDAC1}"/>
              </a:ext>
            </a:extLst>
          </p:cNvPr>
          <p:cNvCxnSpPr>
            <a:cxnSpLocks/>
          </p:cNvCxnSpPr>
          <p:nvPr/>
        </p:nvCxnSpPr>
        <p:spPr>
          <a:xfrm>
            <a:off x="2370733" y="5520146"/>
            <a:ext cx="3019876" cy="0"/>
          </a:xfrm>
          <a:prstGeom prst="straightConnector1">
            <a:avLst/>
          </a:prstGeom>
          <a:ln>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sp>
        <p:nvSpPr>
          <p:cNvPr id="29" name="文本框 28">
            <a:extLst>
              <a:ext uri="{FF2B5EF4-FFF2-40B4-BE49-F238E27FC236}">
                <a16:creationId xmlns:a16="http://schemas.microsoft.com/office/drawing/2014/main" id="{B9F7CAA3-6DFF-C2CF-0733-AA2912F66F13}"/>
              </a:ext>
            </a:extLst>
          </p:cNvPr>
          <p:cNvSpPr txBox="1"/>
          <p:nvPr/>
        </p:nvSpPr>
        <p:spPr>
          <a:xfrm>
            <a:off x="3650323" y="5026049"/>
            <a:ext cx="705803" cy="419474"/>
          </a:xfrm>
          <a:prstGeom prst="rect">
            <a:avLst/>
          </a:prstGeom>
          <a:noFill/>
        </p:spPr>
        <p:txBody>
          <a:bodyPr wrap="square">
            <a:spAutoFit/>
          </a:bodyPr>
          <a:lstStyle/>
          <a:p>
            <a:pPr>
              <a:lnSpc>
                <a:spcPct val="150000"/>
              </a:lnSpc>
            </a:pPr>
            <a:r>
              <a:rPr lang="zh-CN" altLang="en-US" sz="1600" dirty="0">
                <a:solidFill>
                  <a:srgbClr val="FF0000"/>
                </a:solidFill>
              </a:rPr>
              <a:t>代入</a:t>
            </a:r>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EDA25728-17D8-CD94-3295-03A676E2FB10}"/>
                  </a:ext>
                </a:extLst>
              </p:cNvPr>
              <p:cNvSpPr txBox="1"/>
              <p:nvPr/>
            </p:nvSpPr>
            <p:spPr>
              <a:xfrm>
                <a:off x="190843" y="3120982"/>
                <a:ext cx="4671060"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kumimoji="1" lang="en-US" altLang="zh-CN" b="0" i="1" smtClean="0">
                              <a:latin typeface="Cambria Math" panose="02040503050406030204" pitchFamily="18" charset="0"/>
                              <a:ea typeface="Cambria Math" panose="02040503050406030204" pitchFamily="18" charset="0"/>
                            </a:rPr>
                          </m:ctrlPr>
                        </m:sSupPr>
                        <m:e>
                          <m:r>
                            <a:rPr kumimoji="1" lang="en-US" altLang="zh-CN" b="0" i="1" smtClean="0">
                              <a:latin typeface="Cambria Math" panose="02040503050406030204" pitchFamily="18" charset="0"/>
                              <a:ea typeface="Cambria Math" panose="02040503050406030204" pitchFamily="18" charset="0"/>
                            </a:rPr>
                            <m:t>ℒ</m:t>
                          </m:r>
                        </m:e>
                        <m:sup>
                          <m:r>
                            <a:rPr kumimoji="1" lang="en-US" altLang="zh-CN" b="0" i="1" smtClean="0">
                              <a:latin typeface="Cambria Math" panose="02040503050406030204" pitchFamily="18" charset="0"/>
                              <a:ea typeface="Cambria Math" panose="02040503050406030204" pitchFamily="18" charset="0"/>
                            </a:rPr>
                            <m:t>′</m:t>
                          </m:r>
                        </m:sup>
                      </m:sSup>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i="1">
                              <a:latin typeface="Cambria Math" panose="02040503050406030204" pitchFamily="18" charset="0"/>
                              <a:ea typeface="Cambria Math" panose="02040503050406030204" pitchFamily="18" charset="0"/>
                            </a:rPr>
                          </m:ctrlPr>
                        </m:naryPr>
                        <m:sub>
                          <m:r>
                            <a:rPr kumimoji="1" lang="en-US" altLang="zh-CN" i="1">
                              <a:latin typeface="Cambria Math" panose="02040503050406030204" pitchFamily="18" charset="0"/>
                              <a:ea typeface="Cambria Math" panose="02040503050406030204" pitchFamily="18" charset="0"/>
                            </a:rPr>
                            <m:t>𝑗</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𝑛</m:t>
                          </m:r>
                        </m:sup>
                        <m:e>
                          <m:nary>
                            <m:naryPr>
                              <m:chr m:val="∑"/>
                              <m:ctrlPr>
                                <a:rPr kumimoji="1" lang="en-US" altLang="zh-CN" i="1">
                                  <a:latin typeface="Cambria Math" panose="02040503050406030204" pitchFamily="18" charset="0"/>
                                  <a:ea typeface="Cambria Math" panose="02040503050406030204" pitchFamily="18" charset="0"/>
                                </a:rPr>
                              </m:ctrlPr>
                            </m:naryPr>
                            <m:sub>
                              <m:r>
                                <a:rPr kumimoji="1" lang="en-US" altLang="zh-CN" i="1">
                                  <a:latin typeface="Cambria Math" panose="02040503050406030204" pitchFamily="18" charset="0"/>
                                  <a:ea typeface="Cambria Math" panose="02040503050406030204" pitchFamily="18" charset="0"/>
                                </a:rPr>
                                <m:t>𝑘</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𝐾</m:t>
                              </m:r>
                            </m:sup>
                            <m:e>
                              <m:nary>
                                <m:naryPr>
                                  <m:chr m:val="∑"/>
                                  <m:ctrlPr>
                                    <a:rPr kumimoji="1" lang="en-US" altLang="zh-CN" i="1">
                                      <a:latin typeface="Cambria Math" panose="02040503050406030204" pitchFamily="18" charset="0"/>
                                      <a:ea typeface="Cambria Math" panose="02040503050406030204" pitchFamily="18" charset="0"/>
                                    </a:rPr>
                                  </m:ctrlPr>
                                </m:naryPr>
                                <m:sub>
                                  <m:r>
                                    <a:rPr kumimoji="1" lang="en-US" altLang="zh-CN" i="1">
                                      <a:latin typeface="Cambria Math" panose="02040503050406030204" pitchFamily="18" charset="0"/>
                                      <a:ea typeface="Cambria Math" panose="02040503050406030204" pitchFamily="18" charset="0"/>
                                    </a:rPr>
                                    <m:t>ℓ=1</m:t>
                                  </m:r>
                                </m:sub>
                                <m:sup>
                                  <m:r>
                                    <a:rPr kumimoji="1" lang="en-US" altLang="zh-CN" i="1">
                                      <a:latin typeface="Cambria Math" panose="02040503050406030204" pitchFamily="18" charset="0"/>
                                      <a:ea typeface="Cambria Math" panose="02040503050406030204" pitchFamily="18" charset="0"/>
                                    </a:rPr>
                                    <m:t>𝑉</m:t>
                                  </m:r>
                                </m:sup>
                                <m:e>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𝑛</m:t>
                                      </m:r>
                                    </m:e>
                                    <m:sub>
                                      <m: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𝑘</m:t>
                                          </m:r>
                                        </m:sub>
                                      </m:sSub>
                                    </m:sup>
                                  </m:sSubSup>
                                </m:e>
                              </m:nary>
                            </m:e>
                          </m:nary>
                          <m:func>
                            <m:funcPr>
                              <m:ctrlPr>
                                <a:rPr kumimoji="1" lang="en-US" altLang="zh-CN" i="1">
                                  <a:latin typeface="Cambria Math" panose="02040503050406030204" pitchFamily="18" charset="0"/>
                                  <a:ea typeface="Cambria Math" panose="02040503050406030204" pitchFamily="18" charset="0"/>
                                </a:rPr>
                              </m:ctrlPr>
                            </m:funcPr>
                            <m:fName>
                              <m:r>
                                <m:rPr>
                                  <m:sty m:val="p"/>
                                </m:rPr>
                                <a:rPr kumimoji="1" lang="en-US" altLang="zh-CN">
                                  <a:latin typeface="Cambria Math" panose="02040503050406030204" pitchFamily="18" charset="0"/>
                                  <a:ea typeface="Cambria Math" panose="02040503050406030204" pitchFamily="18" charset="0"/>
                                </a:rPr>
                                <m:t>log</m:t>
                              </m:r>
                            </m:fName>
                            <m:e>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i="1">
                                      <a:latin typeface="Cambria Math" panose="02040503050406030204" pitchFamily="18" charset="0"/>
                                      <a:ea typeface="Cambria Math" panose="02040503050406030204" pitchFamily="18" charset="0"/>
                                    </a:rPr>
                                    <m:t>𝜃</m:t>
                                  </m:r>
                                </m:e>
                                <m:sub>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𝑐</m:t>
                                      </m:r>
                                    </m:e>
                                    <m:sub>
                                      <m:r>
                                        <a:rPr kumimoji="1" lang="en-US" altLang="zh-CN" i="1">
                                          <a:latin typeface="Cambria Math" panose="02040503050406030204" pitchFamily="18" charset="0"/>
                                          <a:ea typeface="Cambria Math" panose="02040503050406030204" pitchFamily="18" charset="0"/>
                                        </a:rPr>
                                        <m:t>𝑘</m:t>
                                      </m:r>
                                    </m:sub>
                                  </m:sSub>
                                </m:sup>
                              </m:sSubSup>
                            </m:e>
                          </m:func>
                        </m:e>
                      </m:nary>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𝜆</m:t>
                      </m:r>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b="0"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ℓ=1</m:t>
                          </m:r>
                        </m:sub>
                        <m:sup>
                          <m:r>
                            <a:rPr kumimoji="1" lang="en-US" altLang="zh-CN" b="0" i="1" smtClean="0">
                              <a:latin typeface="Cambria Math" panose="02040503050406030204" pitchFamily="18" charset="0"/>
                              <a:ea typeface="Cambria Math" panose="02040503050406030204" pitchFamily="18" charset="0"/>
                            </a:rPr>
                            <m:t>𝑉</m:t>
                          </m:r>
                        </m:sup>
                        <m:e>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𝜃</m:t>
                              </m:r>
                            </m:e>
                            <m:sub>
                              <m:r>
                                <a:rPr kumimoji="1" lang="en-US" altLang="zh-CN" b="0" i="1" smtClean="0">
                                  <a:latin typeface="Cambria Math" panose="02040503050406030204" pitchFamily="18" charset="0"/>
                                  <a:ea typeface="Cambria Math" panose="02040503050406030204" pitchFamily="18" charset="0"/>
                                </a:rPr>
                                <m:t>ℓ</m:t>
                              </m:r>
                            </m:sub>
                            <m:sup>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𝑐</m:t>
                                  </m:r>
                                </m:e>
                                <m:sub>
                                  <m:r>
                                    <a:rPr kumimoji="1" lang="en-US" altLang="zh-CN" b="0" i="1" smtClean="0">
                                      <a:latin typeface="Cambria Math" panose="02040503050406030204" pitchFamily="18" charset="0"/>
                                      <a:ea typeface="Cambria Math" panose="02040503050406030204" pitchFamily="18" charset="0"/>
                                    </a:rPr>
                                    <m:t>𝑘</m:t>
                                  </m:r>
                                </m:sub>
                              </m:sSub>
                            </m:sup>
                          </m:sSubSup>
                        </m:e>
                      </m:nary>
                      <m:r>
                        <a:rPr kumimoji="1" lang="en-US" altLang="zh-CN" b="0" i="1" smtClean="0">
                          <a:latin typeface="Cambria Math" panose="02040503050406030204" pitchFamily="18" charset="0"/>
                          <a:ea typeface="Cambria Math" panose="02040503050406030204" pitchFamily="18" charset="0"/>
                        </a:rPr>
                        <m:t>−1)</m:t>
                      </m:r>
                    </m:oMath>
                  </m:oMathPara>
                </a14:m>
                <a:endParaRPr lang="zh-CN" altLang="en-US" dirty="0"/>
              </a:p>
            </p:txBody>
          </p:sp>
        </mc:Choice>
        <mc:Fallback xmlns="">
          <p:sp>
            <p:nvSpPr>
              <p:cNvPr id="49" name="文本框 48">
                <a:extLst>
                  <a:ext uri="{FF2B5EF4-FFF2-40B4-BE49-F238E27FC236}">
                    <a16:creationId xmlns:a16="http://schemas.microsoft.com/office/drawing/2014/main" id="{EDA25728-17D8-CD94-3295-03A676E2FB10}"/>
                  </a:ext>
                </a:extLst>
              </p:cNvPr>
              <p:cNvSpPr txBox="1">
                <a:spLocks noRot="1" noChangeAspect="1" noMove="1" noResize="1" noEditPoints="1" noAdjustHandles="1" noChangeArrowheads="1" noChangeShapeType="1" noTextEdit="1"/>
              </p:cNvSpPr>
              <p:nvPr/>
            </p:nvSpPr>
            <p:spPr>
              <a:xfrm>
                <a:off x="190843" y="3120982"/>
                <a:ext cx="4671060" cy="902555"/>
              </a:xfrm>
              <a:prstGeom prst="rect">
                <a:avLst/>
              </a:prstGeom>
              <a:blipFill>
                <a:blip r:embed="rId6"/>
                <a:stretch>
                  <a:fillRect l="-2703" t="-90278" b="-141667"/>
                </a:stretch>
              </a:blipFill>
            </p:spPr>
            <p:txBody>
              <a:bodyPr/>
              <a:lstStyle/>
              <a:p>
                <a:r>
                  <a:rPr lang="zh-CN" altLang="en-US">
                    <a:noFill/>
                  </a:rPr>
                  <a:t> </a:t>
                </a:r>
              </a:p>
            </p:txBody>
          </p:sp>
        </mc:Fallback>
      </mc:AlternateContent>
      <p:cxnSp>
        <p:nvCxnSpPr>
          <p:cNvPr id="50" name="直线箭头连接符 49">
            <a:extLst>
              <a:ext uri="{FF2B5EF4-FFF2-40B4-BE49-F238E27FC236}">
                <a16:creationId xmlns:a16="http://schemas.microsoft.com/office/drawing/2014/main" id="{04E0C703-4332-A6E0-5ACC-0035CA1F5B76}"/>
              </a:ext>
            </a:extLst>
          </p:cNvPr>
          <p:cNvCxnSpPr>
            <a:stCxn id="49" idx="3"/>
          </p:cNvCxnSpPr>
          <p:nvPr/>
        </p:nvCxnSpPr>
        <p:spPr>
          <a:xfrm flipV="1">
            <a:off x="4861903" y="3556614"/>
            <a:ext cx="897572" cy="156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67EAC3FA-3D1C-F267-A819-AFAEE3748A65}"/>
                  </a:ext>
                </a:extLst>
              </p:cNvPr>
              <p:cNvSpPr txBox="1"/>
              <p:nvPr/>
            </p:nvSpPr>
            <p:spPr>
              <a:xfrm>
                <a:off x="5865202" y="3248740"/>
                <a:ext cx="1574085" cy="6470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 altLang="zh-CN" i="1" smtClean="0">
                              <a:latin typeface="Cambria Math" panose="02040503050406030204" pitchFamily="18" charset="0"/>
                            </a:rPr>
                          </m:ctrlPr>
                        </m:fPr>
                        <m:num>
                          <m:r>
                            <a:rPr kumimoji="1" lang="en" altLang="zh-CN" i="1" smtClean="0">
                              <a:latin typeface="Cambria Math" panose="02040503050406030204" pitchFamily="18" charset="0"/>
                            </a:rPr>
                            <m:t>𝜕</m:t>
                          </m:r>
                          <m:r>
                            <a:rPr kumimoji="1" lang="en" altLang="zh-CN" i="1" smtClean="0">
                              <a:latin typeface="Cambria Math" panose="02040503050406030204" pitchFamily="18" charset="0"/>
                              <a:ea typeface="Cambria Math" panose="02040503050406030204" pitchFamily="18" charset="0"/>
                            </a:rPr>
                            <m:t>ℒ</m:t>
                          </m:r>
                          <m:r>
                            <a:rPr kumimoji="1" lang="en-US" altLang="zh-CN" b="0" i="1" smtClean="0">
                              <a:latin typeface="Cambria Math" panose="02040503050406030204" pitchFamily="18" charset="0"/>
                              <a:ea typeface="Cambria Math" panose="02040503050406030204" pitchFamily="18" charset="0"/>
                            </a:rPr>
                            <m:t>′</m:t>
                          </m:r>
                        </m:num>
                        <m:den>
                          <m:r>
                            <a:rPr kumimoji="1" lang="en" altLang="zh-CN" i="1" smtClean="0">
                              <a:latin typeface="Cambria Math" panose="02040503050406030204" pitchFamily="18" charset="0"/>
                            </a:rPr>
                            <m:t>𝜕</m:t>
                          </m:r>
                          <m:sSubSup>
                            <m:sSubSupPr>
                              <m:ctrlPr>
                                <a:rPr kumimoji="1" lang="en-US" altLang="zh-CN" b="0" i="1" smtClean="0">
                                  <a:latin typeface="Cambria Math" panose="02040503050406030204" pitchFamily="18" charset="0"/>
                                </a:rPr>
                              </m:ctrlPr>
                            </m:sSubSupPr>
                            <m:e>
                              <m:r>
                                <a:rPr kumimoji="1" lang="en-US" altLang="zh-CN" b="0" i="1" smtClean="0">
                                  <a:latin typeface="Cambria Math" panose="02040503050406030204" pitchFamily="18" charset="0"/>
                                </a:rPr>
                                <m:t>𝜃</m:t>
                              </m:r>
                            </m:e>
                            <m:sub>
                              <m:r>
                                <a:rPr kumimoji="1" lang="en-US" altLang="zh-CN" b="0" i="1" smtClean="0">
                                  <a:latin typeface="Cambria Math" panose="02040503050406030204" pitchFamily="18" charset="0"/>
                                </a:rPr>
                                <m:t>ℓ</m:t>
                              </m:r>
                            </m:sub>
                            <m:sup>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𝑐</m:t>
                                  </m:r>
                                </m:e>
                                <m:sub>
                                  <m:r>
                                    <a:rPr kumimoji="1" lang="en-US" altLang="zh-CN" b="0" i="1" smtClean="0">
                                      <a:latin typeface="Cambria Math" panose="02040503050406030204" pitchFamily="18" charset="0"/>
                                    </a:rPr>
                                    <m:t>𝑘</m:t>
                                  </m:r>
                                </m:sub>
                              </m:sSub>
                            </m:sup>
                          </m:sSubSup>
                        </m:den>
                      </m:f>
                      <m:r>
                        <a:rPr kumimoji="1" lang="en-US" altLang="zh-CN" b="0" i="1" smtClean="0">
                          <a:latin typeface="Cambria Math" panose="02040503050406030204" pitchFamily="18" charset="0"/>
                        </a:rPr>
                        <m:t>=</m:t>
                      </m:r>
                      <m:f>
                        <m:fPr>
                          <m:ctrlPr>
                            <a:rPr kumimoji="1" lang="en" altLang="zh-CN" i="1">
                              <a:latin typeface="Cambria Math" panose="02040503050406030204" pitchFamily="18" charset="0"/>
                            </a:rPr>
                          </m:ctrlPr>
                        </m:fPr>
                        <m:num>
                          <m:r>
                            <a:rPr kumimoji="1" lang="en" altLang="zh-CN" i="1">
                              <a:latin typeface="Cambria Math" panose="02040503050406030204" pitchFamily="18" charset="0"/>
                            </a:rPr>
                            <m:t>𝜕</m:t>
                          </m:r>
                          <m:r>
                            <a:rPr kumimoji="1" lang="en" altLang="zh-CN" i="1">
                              <a:latin typeface="Cambria Math" panose="02040503050406030204" pitchFamily="18" charset="0"/>
                              <a:ea typeface="Cambria Math" panose="02040503050406030204" pitchFamily="18" charset="0"/>
                            </a:rPr>
                            <m:t>ℒ</m:t>
                          </m:r>
                          <m:r>
                            <a:rPr kumimoji="1" lang="en-US" altLang="zh-CN" i="1">
                              <a:latin typeface="Cambria Math" panose="02040503050406030204" pitchFamily="18" charset="0"/>
                              <a:ea typeface="Cambria Math" panose="02040503050406030204" pitchFamily="18" charset="0"/>
                            </a:rPr>
                            <m:t>′</m:t>
                          </m:r>
                        </m:num>
                        <m:den>
                          <m:r>
                            <a:rPr kumimoji="1" lang="en" altLang="zh-CN" i="1">
                              <a:latin typeface="Cambria Math" panose="02040503050406030204" pitchFamily="18" charset="0"/>
                            </a:rPr>
                            <m:t>𝜕</m:t>
                          </m:r>
                          <m:r>
                            <a:rPr kumimoji="1" lang="en-US" altLang="zh-CN" b="0" i="1" smtClean="0">
                              <a:latin typeface="Cambria Math" panose="02040503050406030204" pitchFamily="18" charset="0"/>
                            </a:rPr>
                            <m:t>𝜆</m:t>
                          </m:r>
                        </m:den>
                      </m:f>
                      <m:r>
                        <a:rPr kumimoji="1" lang="en-US" altLang="zh-CN" b="0" i="1" smtClean="0">
                          <a:latin typeface="Cambria Math" panose="02040503050406030204" pitchFamily="18" charset="0"/>
                        </a:rPr>
                        <m:t>=0</m:t>
                      </m:r>
                    </m:oMath>
                  </m:oMathPara>
                </a14:m>
                <a:endParaRPr kumimoji="1" lang="zh-CN" altLang="en-US" dirty="0"/>
              </a:p>
            </p:txBody>
          </p:sp>
        </mc:Choice>
        <mc:Fallback xmlns="">
          <p:sp>
            <p:nvSpPr>
              <p:cNvPr id="51" name="文本框 50">
                <a:extLst>
                  <a:ext uri="{FF2B5EF4-FFF2-40B4-BE49-F238E27FC236}">
                    <a16:creationId xmlns:a16="http://schemas.microsoft.com/office/drawing/2014/main" id="{67EAC3FA-3D1C-F267-A819-AFAEE3748A65}"/>
                  </a:ext>
                </a:extLst>
              </p:cNvPr>
              <p:cNvSpPr txBox="1">
                <a:spLocks noRot="1" noChangeAspect="1" noMove="1" noResize="1" noEditPoints="1" noAdjustHandles="1" noChangeArrowheads="1" noChangeShapeType="1" noTextEdit="1"/>
              </p:cNvSpPr>
              <p:nvPr/>
            </p:nvSpPr>
            <p:spPr>
              <a:xfrm>
                <a:off x="5865202" y="3248740"/>
                <a:ext cx="1574085" cy="647037"/>
              </a:xfrm>
              <a:prstGeom prst="rect">
                <a:avLst/>
              </a:prstGeom>
              <a:blipFill>
                <a:blip r:embed="rId7"/>
                <a:stretch>
                  <a:fillRect l="-2400" t="-1923" r="-3200" b="-9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67B6F50D-0EDA-9A85-2A1B-4D8C55A72EA5}"/>
                  </a:ext>
                </a:extLst>
              </p:cNvPr>
              <p:cNvSpPr txBox="1"/>
              <p:nvPr/>
            </p:nvSpPr>
            <p:spPr>
              <a:xfrm>
                <a:off x="342359" y="4023537"/>
                <a:ext cx="5048250" cy="350224"/>
              </a:xfrm>
              <a:prstGeom prst="rect">
                <a:avLst/>
              </a:prstGeom>
              <a:noFill/>
            </p:spPr>
            <p:txBody>
              <a:bodyPr wrap="square">
                <a:spAutoFit/>
              </a:bodyPr>
              <a:lstStyle/>
              <a:p>
                <a:r>
                  <a:rPr kumimoji="1" lang="zh-CN" altLang="en-US" sz="1200" b="0" dirty="0"/>
                  <a:t>其中</a:t>
                </a:r>
                <a14:m>
                  <m:oMath xmlns:m="http://schemas.openxmlformats.org/officeDocument/2006/math">
                    <m:sSubSup>
                      <m:sSubSupPr>
                        <m:ctrlPr>
                          <a:rPr kumimoji="1" lang="en-US" altLang="zh-CN" sz="1200" b="0" i="1" smtClean="0">
                            <a:latin typeface="Cambria Math" panose="02040503050406030204" pitchFamily="18" charset="0"/>
                          </a:rPr>
                        </m:ctrlPr>
                      </m:sSubSupPr>
                      <m:e>
                        <m:r>
                          <a:rPr kumimoji="1" lang="en-US" altLang="zh-CN" sz="1200" b="0" i="1" smtClean="0">
                            <a:latin typeface="Cambria Math" panose="02040503050406030204" pitchFamily="18" charset="0"/>
                          </a:rPr>
                          <m:t>𝑛</m:t>
                        </m:r>
                      </m:e>
                      <m:sub>
                        <m:r>
                          <a:rPr kumimoji="1" lang="en-US" altLang="zh-CN" sz="1200" b="0" i="1" smtClean="0">
                            <a:latin typeface="Cambria Math" panose="02040503050406030204" pitchFamily="18" charset="0"/>
                          </a:rPr>
                          <m:t>𝑗</m:t>
                        </m:r>
                        <m:r>
                          <a:rPr kumimoji="1" lang="en-US" altLang="zh-CN" sz="1200" b="0" i="1" smtClean="0">
                            <a:latin typeface="Cambria Math" panose="02040503050406030204" pitchFamily="18" charset="0"/>
                          </a:rPr>
                          <m:t>,ℓ</m:t>
                        </m:r>
                      </m:sub>
                      <m:sup>
                        <m:sSub>
                          <m:sSubPr>
                            <m:ctrlPr>
                              <a:rPr kumimoji="1" lang="en-US" altLang="zh-CN" sz="1200" b="0" i="1" smtClean="0">
                                <a:latin typeface="Cambria Math" panose="02040503050406030204" pitchFamily="18" charset="0"/>
                              </a:rPr>
                            </m:ctrlPr>
                          </m:sSubPr>
                          <m:e>
                            <m:r>
                              <a:rPr kumimoji="1" lang="en-US" altLang="zh-CN" sz="1200" b="0" i="1" smtClean="0">
                                <a:latin typeface="Cambria Math" panose="02040503050406030204" pitchFamily="18" charset="0"/>
                              </a:rPr>
                              <m:t>𝑐</m:t>
                            </m:r>
                          </m:e>
                          <m:sub>
                            <m:r>
                              <a:rPr kumimoji="1" lang="en-US" altLang="zh-CN" sz="1200" b="0" i="1" smtClean="0">
                                <a:latin typeface="Cambria Math" panose="02040503050406030204" pitchFamily="18" charset="0"/>
                              </a:rPr>
                              <m:t>𝑘</m:t>
                            </m:r>
                          </m:sub>
                        </m:sSub>
                      </m:sup>
                    </m:sSubSup>
                    <m:r>
                      <a:rPr kumimoji="1" lang="en-US" altLang="zh-CN" sz="1200" b="0" i="1" smtClean="0">
                        <a:latin typeface="Cambria Math" panose="02040503050406030204" pitchFamily="18" charset="0"/>
                      </a:rPr>
                      <m:t>=</m:t>
                    </m:r>
                    <m:nary>
                      <m:naryPr>
                        <m:chr m:val="∑"/>
                        <m:ctrlPr>
                          <a:rPr kumimoji="1" lang="en-US" altLang="zh-CN" sz="1200" b="0" i="1" smtClean="0">
                            <a:latin typeface="Cambria Math" panose="02040503050406030204" pitchFamily="18" charset="0"/>
                          </a:rPr>
                        </m:ctrlPr>
                      </m:naryPr>
                      <m:sub>
                        <m:r>
                          <m:rPr>
                            <m:brk m:alnAt="23"/>
                          </m:rPr>
                          <a:rPr kumimoji="1" lang="en-US" altLang="zh-CN" sz="1200" b="0" i="1" smtClean="0">
                            <a:latin typeface="Cambria Math" panose="02040503050406030204" pitchFamily="18" charset="0"/>
                          </a:rPr>
                          <m:t>𝑖</m:t>
                        </m:r>
                        <m:r>
                          <a:rPr kumimoji="1" lang="en-US" altLang="zh-CN" sz="1200" b="0" i="1" smtClean="0">
                            <a:latin typeface="Cambria Math" panose="02040503050406030204" pitchFamily="18" charset="0"/>
                          </a:rPr>
                          <m:t>=1</m:t>
                        </m:r>
                      </m:sub>
                      <m:sup>
                        <m:r>
                          <a:rPr kumimoji="1" lang="en-US" altLang="zh-CN" sz="1200" b="0" i="1" smtClean="0">
                            <a:latin typeface="Cambria Math" panose="02040503050406030204" pitchFamily="18" charset="0"/>
                          </a:rPr>
                          <m:t>𝑁</m:t>
                        </m:r>
                      </m:sup>
                      <m:e>
                        <m:r>
                          <a:rPr kumimoji="1" lang="en-US" altLang="zh-CN" sz="1200" i="1">
                            <a:latin typeface="Cambria Math" panose="02040503050406030204" pitchFamily="18" charset="0"/>
                          </a:rPr>
                          <m:t>𝐼</m:t>
                        </m:r>
                        <m:r>
                          <a:rPr kumimoji="1" lang="en-US" altLang="zh-CN" sz="1200" i="1">
                            <a:latin typeface="Cambria Math" panose="02040503050406030204" pitchFamily="18" charset="0"/>
                          </a:rPr>
                          <m:t>(</m:t>
                        </m:r>
                        <m:sSubSup>
                          <m:sSubSupPr>
                            <m:ctrlPr>
                              <a:rPr lang="en-US" altLang="zh-CN" sz="1200" i="1">
                                <a:latin typeface="Cambria Math" panose="02040503050406030204" pitchFamily="18" charset="0"/>
                              </a:rPr>
                            </m:ctrlPr>
                          </m:sSubSupPr>
                          <m:e>
                            <m:r>
                              <a:rPr lang="en-US" altLang="zh-CN" sz="1200" i="1">
                                <a:latin typeface="Cambria Math" panose="02040503050406030204" pitchFamily="18" charset="0"/>
                              </a:rPr>
                              <m:t>𝑥</m:t>
                            </m:r>
                          </m:e>
                          <m:sub>
                            <m:r>
                              <a:rPr lang="en-US" altLang="zh-CN" sz="1200" i="1">
                                <a:latin typeface="Cambria Math" panose="02040503050406030204" pitchFamily="18" charset="0"/>
                              </a:rPr>
                              <m:t>𝑖</m:t>
                            </m:r>
                          </m:sub>
                          <m:sup>
                            <m:d>
                              <m:dPr>
                                <m:ctrlPr>
                                  <a:rPr lang="en-US" altLang="zh-CN" sz="1200" i="1">
                                    <a:latin typeface="Cambria Math" panose="02040503050406030204" pitchFamily="18" charset="0"/>
                                  </a:rPr>
                                </m:ctrlPr>
                              </m:dPr>
                              <m:e>
                                <m:r>
                                  <a:rPr lang="en-US" altLang="zh-CN" sz="1200" i="1">
                                    <a:latin typeface="Cambria Math" panose="02040503050406030204" pitchFamily="18" charset="0"/>
                                  </a:rPr>
                                  <m:t>𝑗</m:t>
                                </m:r>
                              </m:e>
                            </m:d>
                          </m:sup>
                        </m:sSubSup>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𝑤</m:t>
                            </m:r>
                          </m:e>
                          <m:sub>
                            <m:r>
                              <a:rPr lang="en-US" altLang="zh-CN" sz="1200" i="1">
                                <a:latin typeface="Cambria Math" panose="02040503050406030204" pitchFamily="18" charset="0"/>
                              </a:rPr>
                              <m:t>ℓ</m:t>
                            </m:r>
                          </m:sub>
                        </m:sSub>
                        <m:r>
                          <a:rPr lang="en-US" altLang="zh-CN" sz="1200" i="1">
                            <a:latin typeface="Cambria Math" panose="02040503050406030204" pitchFamily="18" charset="0"/>
                          </a:rPr>
                          <m:t>,</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𝑦</m:t>
                            </m:r>
                          </m:e>
                          <m:sub>
                            <m:r>
                              <a:rPr kumimoji="1" lang="en-US" altLang="zh-CN" sz="1200" i="1">
                                <a:latin typeface="Cambria Math" panose="02040503050406030204" pitchFamily="18" charset="0"/>
                              </a:rPr>
                              <m:t>𝑖</m:t>
                            </m:r>
                          </m:sub>
                        </m:sSub>
                        <m:r>
                          <a:rPr kumimoji="1" lang="en-US" altLang="zh-CN" sz="1200" i="1">
                            <a:latin typeface="Cambria Math" panose="02040503050406030204" pitchFamily="18" charset="0"/>
                          </a:rPr>
                          <m:t>=</m:t>
                        </m:r>
                        <m:sSub>
                          <m:sSubPr>
                            <m:ctrlPr>
                              <a:rPr kumimoji="1" lang="en-US" altLang="zh-CN" sz="1200" i="1">
                                <a:latin typeface="Cambria Math" panose="02040503050406030204" pitchFamily="18" charset="0"/>
                              </a:rPr>
                            </m:ctrlPr>
                          </m:sSubPr>
                          <m:e>
                            <m:r>
                              <a:rPr kumimoji="1" lang="en-US" altLang="zh-CN" sz="1200" i="1">
                                <a:latin typeface="Cambria Math" panose="02040503050406030204" pitchFamily="18" charset="0"/>
                              </a:rPr>
                              <m:t>𝑐</m:t>
                            </m:r>
                          </m:e>
                          <m:sub>
                            <m:r>
                              <a:rPr kumimoji="1" lang="en-US" altLang="zh-CN" sz="1200" i="1">
                                <a:latin typeface="Cambria Math" panose="02040503050406030204" pitchFamily="18" charset="0"/>
                              </a:rPr>
                              <m:t>𝑘</m:t>
                            </m:r>
                          </m:sub>
                        </m:sSub>
                        <m:r>
                          <a:rPr kumimoji="1" lang="en-US" altLang="zh-CN" sz="1200" i="1">
                            <a:latin typeface="Cambria Math" panose="02040503050406030204" pitchFamily="18" charset="0"/>
                          </a:rPr>
                          <m:t>)</m:t>
                        </m:r>
                      </m:e>
                    </m:nary>
                  </m:oMath>
                </a14:m>
                <a:endParaRPr lang="zh-CN" altLang="en-US" sz="1200" dirty="0"/>
              </a:p>
            </p:txBody>
          </p:sp>
        </mc:Choice>
        <mc:Fallback xmlns="">
          <p:sp>
            <p:nvSpPr>
              <p:cNvPr id="52" name="文本框 51">
                <a:extLst>
                  <a:ext uri="{FF2B5EF4-FFF2-40B4-BE49-F238E27FC236}">
                    <a16:creationId xmlns:a16="http://schemas.microsoft.com/office/drawing/2014/main" id="{67B6F50D-0EDA-9A85-2A1B-4D8C55A72EA5}"/>
                  </a:ext>
                </a:extLst>
              </p:cNvPr>
              <p:cNvSpPr txBox="1">
                <a:spLocks noRot="1" noChangeAspect="1" noMove="1" noResize="1" noEditPoints="1" noAdjustHandles="1" noChangeArrowheads="1" noChangeShapeType="1" noTextEdit="1"/>
              </p:cNvSpPr>
              <p:nvPr/>
            </p:nvSpPr>
            <p:spPr>
              <a:xfrm>
                <a:off x="342359" y="4023537"/>
                <a:ext cx="5048250" cy="350224"/>
              </a:xfrm>
              <a:prstGeom prst="rect">
                <a:avLst/>
              </a:prstGeom>
              <a:blipFill>
                <a:blip r:embed="rId8"/>
                <a:stretch>
                  <a:fillRect t="-58621" b="-1137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10A467F-FDB6-0DE4-F70D-D2818E07BF6D}"/>
                  </a:ext>
                </a:extLst>
              </p:cNvPr>
              <p:cNvSpPr txBox="1"/>
              <p:nvPr/>
            </p:nvSpPr>
            <p:spPr>
              <a:xfrm>
                <a:off x="392591" y="4677615"/>
                <a:ext cx="1932772" cy="18364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i="1" smtClean="0">
                              <a:latin typeface="Cambria Math" panose="02040503050406030204" pitchFamily="18" charset="0"/>
                            </a:rPr>
                          </m:ctrlPr>
                        </m:dPr>
                        <m:e>
                          <m:eqArr>
                            <m:eqArrPr>
                              <m:ctrlPr>
                                <a:rPr kumimoji="1" lang="en-US" altLang="zh-CN" i="1" smtClean="0">
                                  <a:latin typeface="Cambria Math" panose="02040503050406030204" pitchFamily="18" charset="0"/>
                                </a:rPr>
                              </m:ctrlPr>
                            </m:eqArrPr>
                            <m:e>
                              <m:nary>
                                <m:naryPr>
                                  <m:chr m:val="∑"/>
                                  <m:ctrlPr>
                                    <a:rPr kumimoji="1" lang="en-US" altLang="zh-CN"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𝑗</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𝑛</m:t>
                                  </m:r>
                                </m:sup>
                                <m:e>
                                  <m:f>
                                    <m:fPr>
                                      <m:ctrlPr>
                                        <a:rPr kumimoji="1" lang="en-US" altLang="zh-CN" i="1" smtClean="0">
                                          <a:latin typeface="Cambria Math" panose="02040503050406030204" pitchFamily="18" charset="0"/>
                                        </a:rPr>
                                      </m:ctrlPr>
                                    </m:fPr>
                                    <m:num>
                                      <m:sSubSup>
                                        <m:sSubSupPr>
                                          <m:ctrlPr>
                                            <a:rPr kumimoji="1" lang="en-US" altLang="zh-CN" b="0" i="1" smtClean="0">
                                              <a:latin typeface="Cambria Math" panose="02040503050406030204" pitchFamily="18" charset="0"/>
                                            </a:rPr>
                                          </m:ctrlPr>
                                        </m:sSubSupPr>
                                        <m:e>
                                          <m:r>
                                            <a:rPr kumimoji="1" lang="en-US" altLang="zh-CN" b="0" i="1" smtClean="0">
                                              <a:latin typeface="Cambria Math" panose="02040503050406030204" pitchFamily="18" charset="0"/>
                                            </a:rPr>
                                            <m:t>𝑛</m:t>
                                          </m:r>
                                        </m:e>
                                        <m:sub>
                                          <m:r>
                                            <a:rPr kumimoji="1" lang="en-US" altLang="zh-CN" b="0" i="1" smtClean="0">
                                              <a:latin typeface="Cambria Math" panose="02040503050406030204" pitchFamily="18" charset="0"/>
                                            </a:rPr>
                                            <m:t>𝑗</m:t>
                                          </m:r>
                                          <m:r>
                                            <a:rPr kumimoji="1" lang="en-US" altLang="zh-CN" b="0" i="1" smtClean="0">
                                              <a:latin typeface="Cambria Math" panose="02040503050406030204" pitchFamily="18" charset="0"/>
                                            </a:rPr>
                                            <m:t>,1</m:t>
                                          </m:r>
                                        </m:sub>
                                        <m:sup>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𝑐</m:t>
                                              </m:r>
                                            </m:e>
                                            <m:sub>
                                              <m:r>
                                                <a:rPr kumimoji="1" lang="en-US" altLang="zh-CN" b="0" i="1" smtClean="0">
                                                  <a:latin typeface="Cambria Math" panose="02040503050406030204" pitchFamily="18" charset="0"/>
                                                </a:rPr>
                                                <m:t>𝑘</m:t>
                                              </m:r>
                                            </m:sub>
                                          </m:sSub>
                                          <m:r>
                                            <a:rPr kumimoji="1" lang="en-US" altLang="zh-CN" b="0" i="1" smtClean="0">
                                              <a:latin typeface="Cambria Math" panose="02040503050406030204" pitchFamily="18" charset="0"/>
                                            </a:rPr>
                                            <m:t>=0</m:t>
                                          </m:r>
                                        </m:sup>
                                      </m:sSubSup>
                                    </m:num>
                                    <m:den>
                                      <m:sSubSup>
                                        <m:sSubSupPr>
                                          <m:ctrlPr>
                                            <a:rPr kumimoji="1" lang="en-US" altLang="zh-CN" b="0" i="1" smtClean="0">
                                              <a:latin typeface="Cambria Math" panose="02040503050406030204" pitchFamily="18" charset="0"/>
                                            </a:rPr>
                                          </m:ctrlPr>
                                        </m:sSubSupPr>
                                        <m:e>
                                          <m:r>
                                            <a:rPr kumimoji="1" lang="en-US" altLang="zh-CN" b="0" i="1" smtClean="0">
                                              <a:latin typeface="Cambria Math" panose="02040503050406030204" pitchFamily="18" charset="0"/>
                                            </a:rPr>
                                            <m:t>𝜃</m:t>
                                          </m:r>
                                        </m:e>
                                        <m:sub>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0</m:t>
                                          </m:r>
                                        </m:sup>
                                      </m:sSubSup>
                                    </m:den>
                                  </m:f>
                                </m:e>
                              </m:nary>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𝜆</m:t>
                              </m:r>
                              <m:r>
                                <a:rPr kumimoji="1" lang="en-US" altLang="zh-CN" b="0" i="1" smtClean="0">
                                  <a:latin typeface="Cambria Math" panose="02040503050406030204" pitchFamily="18" charset="0"/>
                                </a:rPr>
                                <m:t>=0</m:t>
                              </m:r>
                            </m:e>
                            <m:e>
                              <m:nary>
                                <m:naryPr>
                                  <m:chr m:val="∑"/>
                                  <m:ctrlPr>
                                    <a:rPr kumimoji="1" lang="en-US" altLang="zh-CN" i="1">
                                      <a:latin typeface="Cambria Math" panose="02040503050406030204" pitchFamily="18" charset="0"/>
                                    </a:rPr>
                                  </m:ctrlPr>
                                </m:naryPr>
                                <m:sub>
                                  <m:r>
                                    <m:rPr>
                                      <m:brk m:alnAt="23"/>
                                    </m:rPr>
                                    <a:rPr kumimoji="1" lang="en-US" altLang="zh-CN" i="1">
                                      <a:latin typeface="Cambria Math" panose="02040503050406030204" pitchFamily="18" charset="0"/>
                                    </a:rPr>
                                    <m:t>𝑗</m:t>
                                  </m:r>
                                  <m:r>
                                    <a:rPr kumimoji="1" lang="en-US" altLang="zh-CN" i="1">
                                      <a:latin typeface="Cambria Math" panose="02040503050406030204" pitchFamily="18" charset="0"/>
                                    </a:rPr>
                                    <m:t>=1</m:t>
                                  </m:r>
                                </m:sub>
                                <m:sup>
                                  <m:r>
                                    <a:rPr kumimoji="1" lang="en-US" altLang="zh-CN" i="1">
                                      <a:latin typeface="Cambria Math" panose="02040503050406030204" pitchFamily="18" charset="0"/>
                                    </a:rPr>
                                    <m:t>𝑛</m:t>
                                  </m:r>
                                </m:sup>
                                <m:e>
                                  <m:f>
                                    <m:fPr>
                                      <m:ctrlPr>
                                        <a:rPr kumimoji="1" lang="en-US" altLang="zh-CN" i="1">
                                          <a:latin typeface="Cambria Math" panose="02040503050406030204" pitchFamily="18" charset="0"/>
                                        </a:rPr>
                                      </m:ctrlPr>
                                    </m:fPr>
                                    <m:num>
                                      <m:sSubSup>
                                        <m:sSubSupPr>
                                          <m:ctrlPr>
                                            <a:rPr kumimoji="1" lang="en-US" altLang="zh-CN" i="1">
                                              <a:latin typeface="Cambria Math" panose="02040503050406030204" pitchFamily="18" charset="0"/>
                                            </a:rPr>
                                          </m:ctrlPr>
                                        </m:sSubSupPr>
                                        <m:e>
                                          <m:r>
                                            <a:rPr kumimoji="1" lang="en-US" altLang="zh-CN" i="1">
                                              <a:latin typeface="Cambria Math" panose="02040503050406030204" pitchFamily="18" charset="0"/>
                                            </a:rPr>
                                            <m:t>𝑛</m:t>
                                          </m:r>
                                        </m:e>
                                        <m:sub>
                                          <m:r>
                                            <a:rPr kumimoji="1" lang="en-US" altLang="zh-CN" i="1">
                                              <a:latin typeface="Cambria Math" panose="02040503050406030204" pitchFamily="18" charset="0"/>
                                            </a:rPr>
                                            <m:t>𝑗</m:t>
                                          </m:r>
                                          <m:r>
                                            <a:rPr kumimoji="1" lang="en-US" altLang="zh-CN" i="1">
                                              <a:latin typeface="Cambria Math" panose="02040503050406030204" pitchFamily="18" charset="0"/>
                                            </a:rPr>
                                            <m:t>,2</m:t>
                                          </m:r>
                                        </m:sub>
                                        <m:sup>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𝑐</m:t>
                                              </m:r>
                                            </m:e>
                                            <m:sub>
                                              <m:r>
                                                <a:rPr kumimoji="1" lang="en-US" altLang="zh-CN" i="1">
                                                  <a:latin typeface="Cambria Math" panose="02040503050406030204" pitchFamily="18" charset="0"/>
                                                </a:rPr>
                                                <m:t>𝑘</m:t>
                                              </m:r>
                                            </m:sub>
                                          </m:sSub>
                                          <m:r>
                                            <a:rPr kumimoji="1" lang="en-US" altLang="zh-CN" i="1">
                                              <a:latin typeface="Cambria Math" panose="02040503050406030204" pitchFamily="18" charset="0"/>
                                            </a:rPr>
                                            <m:t>=0</m:t>
                                          </m:r>
                                        </m:sup>
                                      </m:sSubSup>
                                    </m:num>
                                    <m:den>
                                      <m:sSubSup>
                                        <m:sSubSupPr>
                                          <m:ctrlPr>
                                            <a:rPr kumimoji="1" lang="en-US" altLang="zh-CN" i="1">
                                              <a:latin typeface="Cambria Math" panose="02040503050406030204" pitchFamily="18" charset="0"/>
                                            </a:rPr>
                                          </m:ctrlPr>
                                        </m:sSubSupPr>
                                        <m:e>
                                          <m:r>
                                            <a:rPr kumimoji="1" lang="en-US" altLang="zh-CN" i="1">
                                              <a:latin typeface="Cambria Math" panose="02040503050406030204" pitchFamily="18" charset="0"/>
                                            </a:rPr>
                                            <m:t>𝜃</m:t>
                                          </m:r>
                                        </m:e>
                                        <m:sub>
                                          <m:r>
                                            <a:rPr kumimoji="1" lang="en-US" altLang="zh-CN" b="0" i="1" smtClean="0">
                                              <a:latin typeface="Cambria Math" panose="02040503050406030204" pitchFamily="18" charset="0"/>
                                            </a:rPr>
                                            <m:t>2</m:t>
                                          </m:r>
                                        </m:sub>
                                        <m:sup>
                                          <m:r>
                                            <a:rPr kumimoji="1" lang="en-US" altLang="zh-CN" i="1">
                                              <a:latin typeface="Cambria Math" panose="02040503050406030204" pitchFamily="18" charset="0"/>
                                            </a:rPr>
                                            <m:t>0</m:t>
                                          </m:r>
                                        </m:sup>
                                      </m:sSubSup>
                                    </m:den>
                                  </m:f>
                                </m:e>
                              </m:nary>
                              <m:r>
                                <a:rPr kumimoji="1" lang="en-US" altLang="zh-CN" i="1">
                                  <a:latin typeface="Cambria Math" panose="02040503050406030204" pitchFamily="18" charset="0"/>
                                </a:rPr>
                                <m:t>−</m:t>
                              </m:r>
                              <m:r>
                                <a:rPr kumimoji="1" lang="en-US" altLang="zh-CN" i="1">
                                  <a:latin typeface="Cambria Math" panose="02040503050406030204" pitchFamily="18" charset="0"/>
                                </a:rPr>
                                <m:t>𝜆</m:t>
                              </m:r>
                              <m:r>
                                <a:rPr kumimoji="1" lang="en-US" altLang="zh-CN" i="1">
                                  <a:latin typeface="Cambria Math" panose="02040503050406030204" pitchFamily="18" charset="0"/>
                                </a:rPr>
                                <m:t>=0</m:t>
                              </m:r>
                            </m:e>
                            <m:e>
                              <m:r>
                                <a:rPr kumimoji="1" lang="en-US" altLang="zh-CN" b="0" i="1" smtClean="0">
                                  <a:latin typeface="Cambria Math" panose="02040503050406030204" pitchFamily="18" charset="0"/>
                                </a:rPr>
                                <m:t>…</m:t>
                              </m:r>
                            </m:e>
                          </m:eqArr>
                        </m:e>
                      </m:d>
                    </m:oMath>
                  </m:oMathPara>
                </a14:m>
                <a:endParaRPr kumimoji="1" lang="zh-CN" altLang="en-US" dirty="0"/>
              </a:p>
            </p:txBody>
          </p:sp>
        </mc:Choice>
        <mc:Fallback xmlns="">
          <p:sp>
            <p:nvSpPr>
              <p:cNvPr id="54" name="文本框 53">
                <a:extLst>
                  <a:ext uri="{FF2B5EF4-FFF2-40B4-BE49-F238E27FC236}">
                    <a16:creationId xmlns:a16="http://schemas.microsoft.com/office/drawing/2014/main" id="{E10A467F-FDB6-0DE4-F70D-D2818E07BF6D}"/>
                  </a:ext>
                </a:extLst>
              </p:cNvPr>
              <p:cNvSpPr txBox="1">
                <a:spLocks noRot="1" noChangeAspect="1" noMove="1" noResize="1" noEditPoints="1" noAdjustHandles="1" noChangeArrowheads="1" noChangeShapeType="1" noTextEdit="1"/>
              </p:cNvSpPr>
              <p:nvPr/>
            </p:nvSpPr>
            <p:spPr>
              <a:xfrm>
                <a:off x="392591" y="4677615"/>
                <a:ext cx="1932772" cy="1836465"/>
              </a:xfrm>
              <a:prstGeom prst="rect">
                <a:avLst/>
              </a:prstGeom>
              <a:blipFill>
                <a:blip r:embed="rId9"/>
                <a:stretch>
                  <a:fillRect l="-34641" t="-45890" r="-3268" b="-630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241F9FFC-2FF7-5B7B-E451-25D85001413E}"/>
                  </a:ext>
                </a:extLst>
              </p:cNvPr>
              <p:cNvSpPr txBox="1"/>
              <p:nvPr/>
            </p:nvSpPr>
            <p:spPr>
              <a:xfrm>
                <a:off x="3049343" y="6021227"/>
                <a:ext cx="5964966" cy="788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i="1" smtClean="0">
                              <a:latin typeface="Cambria Math" panose="02040503050406030204" pitchFamily="18" charset="0"/>
                              <a:ea typeface="Cambria Math" panose="02040503050406030204" pitchFamily="18" charset="0"/>
                            </a:rPr>
                            <m:t>𝜃</m:t>
                          </m:r>
                        </m:e>
                        <m:sub>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0</m:t>
                          </m:r>
                        </m:sup>
                      </m:sSubSup>
                      <m:r>
                        <a:rPr kumimoji="1" lang="en-US" altLang="zh-CN" b="0" i="1" smtClean="0">
                          <a:latin typeface="Cambria Math" panose="02040503050406030204" pitchFamily="18" charset="0"/>
                          <a:ea typeface="Cambria Math" panose="02040503050406030204" pitchFamily="18" charset="0"/>
                        </a:rPr>
                        <m:t>=</m:t>
                      </m:r>
                      <m:f>
                        <m:fPr>
                          <m:ctrlPr>
                            <a:rPr kumimoji="1" lang="en-US" altLang="zh-CN" b="0" i="1" smtClean="0">
                              <a:latin typeface="Cambria Math" panose="02040503050406030204" pitchFamily="18" charset="0"/>
                              <a:ea typeface="Cambria Math" panose="02040503050406030204" pitchFamily="18" charset="0"/>
                            </a:rPr>
                          </m:ctrlPr>
                        </m:fPr>
                        <m:num>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𝑛</m:t>
                              </m:r>
                            </m:sup>
                            <m:e>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𝑛</m:t>
                                  </m:r>
                                </m:e>
                                <m:sub>
                                  <m: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,1</m:t>
                                  </m:r>
                                </m:sub>
                                <m:sup>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𝑐</m:t>
                                      </m:r>
                                    </m:e>
                                    <m:sub>
                                      <m:r>
                                        <a:rPr kumimoji="1" lang="en-US" altLang="zh-CN" b="0" i="1" smtClean="0">
                                          <a:latin typeface="Cambria Math" panose="02040503050406030204" pitchFamily="18" charset="0"/>
                                          <a:ea typeface="Cambria Math" panose="02040503050406030204" pitchFamily="18" charset="0"/>
                                        </a:rPr>
                                        <m:t>𝑘</m:t>
                                      </m:r>
                                    </m:sub>
                                  </m:sSub>
                                  <m:r>
                                    <a:rPr kumimoji="1" lang="en-US" altLang="zh-CN" b="0" i="1" smtClean="0">
                                      <a:latin typeface="Cambria Math" panose="02040503050406030204" pitchFamily="18" charset="0"/>
                                      <a:ea typeface="Cambria Math" panose="02040503050406030204" pitchFamily="18" charset="0"/>
                                    </a:rPr>
                                    <m:t>=0</m:t>
                                  </m:r>
                                </m:sup>
                              </m:sSubSup>
                            </m:e>
                          </m:nary>
                        </m:num>
                        <m:den>
                          <m:nary>
                            <m:naryPr>
                              <m:chr m:val="∑"/>
                              <m:ctrlPr>
                                <a:rPr kumimoji="1" lang="en-US" altLang="zh-CN" b="0" i="1" smtClean="0">
                                  <a:latin typeface="Cambria Math" panose="02040503050406030204" pitchFamily="18" charset="0"/>
                                  <a:ea typeface="Cambria Math" panose="02040503050406030204" pitchFamily="18" charset="0"/>
                                </a:rPr>
                              </m:ctrlPr>
                            </m:naryPr>
                            <m:sub>
                              <m:r>
                                <a:rPr kumimoji="1" lang="en-US" altLang="zh-CN" b="0" i="1" smtClean="0">
                                  <a:latin typeface="Cambria Math" panose="02040503050406030204" pitchFamily="18" charset="0"/>
                                  <a:ea typeface="Cambria Math" panose="02040503050406030204" pitchFamily="18" charset="0"/>
                                </a:rPr>
                                <m:t>ℓ=1</m:t>
                              </m:r>
                            </m:sub>
                            <m:sup>
                              <m:r>
                                <a:rPr kumimoji="1" lang="en-US" altLang="zh-CN" b="0" i="1" smtClean="0">
                                  <a:latin typeface="Cambria Math" panose="02040503050406030204" pitchFamily="18" charset="0"/>
                                  <a:ea typeface="Cambria Math" panose="02040503050406030204" pitchFamily="18" charset="0"/>
                                </a:rPr>
                                <m:t>𝑉</m:t>
                              </m:r>
                              <m:r>
                                <a:rPr kumimoji="1" lang="en-US" altLang="zh-CN" b="0" i="1" smtClean="0">
                                  <a:latin typeface="Cambria Math" panose="02040503050406030204" pitchFamily="18" charset="0"/>
                                  <a:ea typeface="Cambria Math" panose="02040503050406030204" pitchFamily="18" charset="0"/>
                                </a:rPr>
                                <m:t> </m:t>
                              </m:r>
                            </m:sup>
                            <m:e>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𝑛</m:t>
                                  </m:r>
                                </m:sup>
                                <m:e>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𝑛</m:t>
                                      </m:r>
                                    </m:e>
                                    <m:sub>
                                      <m:r>
                                        <a:rPr kumimoji="1" lang="en-US" altLang="zh-CN" b="0" i="1" smtClean="0">
                                          <a:latin typeface="Cambria Math" panose="02040503050406030204" pitchFamily="18" charset="0"/>
                                          <a:ea typeface="Cambria Math" panose="02040503050406030204" pitchFamily="18" charset="0"/>
                                        </a:rPr>
                                        <m:t>𝑗</m:t>
                                      </m:r>
                                      <m:r>
                                        <a:rPr kumimoji="1" lang="en-US" altLang="zh-CN" b="0" i="1" smtClean="0">
                                          <a:latin typeface="Cambria Math" panose="02040503050406030204" pitchFamily="18" charset="0"/>
                                          <a:ea typeface="Cambria Math" panose="02040503050406030204" pitchFamily="18" charset="0"/>
                                        </a:rPr>
                                        <m:t>,1</m:t>
                                      </m:r>
                                    </m:sub>
                                    <m:sup>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𝑐</m:t>
                                          </m:r>
                                        </m:e>
                                        <m:sub>
                                          <m:r>
                                            <a:rPr kumimoji="1" lang="en-US" altLang="zh-CN" b="0" i="1" smtClean="0">
                                              <a:latin typeface="Cambria Math" panose="02040503050406030204" pitchFamily="18" charset="0"/>
                                              <a:ea typeface="Cambria Math" panose="02040503050406030204" pitchFamily="18" charset="0"/>
                                            </a:rPr>
                                            <m:t>𝑘</m:t>
                                          </m:r>
                                        </m:sub>
                                      </m:sSub>
                                      <m:r>
                                        <a:rPr kumimoji="1" lang="en-US" altLang="zh-CN" b="0" i="1" smtClean="0">
                                          <a:latin typeface="Cambria Math" panose="02040503050406030204" pitchFamily="18" charset="0"/>
                                          <a:ea typeface="Cambria Math" panose="02040503050406030204" pitchFamily="18" charset="0"/>
                                        </a:rPr>
                                        <m:t>=0</m:t>
                                      </m:r>
                                    </m:sup>
                                  </m:sSubSup>
                                </m:e>
                              </m:nary>
                            </m:e>
                          </m:nary>
                        </m:den>
                      </m:f>
                      <m:r>
                        <a:rPr kumimoji="1" lang="en-US" altLang="zh-CN" b="0" i="1" smtClean="0">
                          <a:latin typeface="Cambria Math" panose="02040503050406030204" pitchFamily="18" charset="0"/>
                          <a:ea typeface="Cambria Math" panose="02040503050406030204" pitchFamily="18" charset="0"/>
                        </a:rPr>
                        <m:t>=</m:t>
                      </m:r>
                      <m:f>
                        <m:fPr>
                          <m:ctrlPr>
                            <a:rPr kumimoji="1" lang="en-US" altLang="zh-CN" b="0" i="1" smtClean="0">
                              <a:latin typeface="Cambria Math" panose="02040503050406030204" pitchFamily="18" charset="0"/>
                              <a:ea typeface="Cambria Math" panose="02040503050406030204" pitchFamily="18" charset="0"/>
                            </a:rPr>
                          </m:ctrlPr>
                        </m:fPr>
                        <m:num>
                          <m:nary>
                            <m:naryPr>
                              <m:chr m:val="∑"/>
                              <m:ctrlPr>
                                <a:rPr kumimoji="1" lang="en-US" altLang="zh-CN" i="1">
                                  <a:latin typeface="Cambria Math" panose="02040503050406030204" pitchFamily="18" charset="0"/>
                                  <a:ea typeface="Cambria Math" panose="02040503050406030204" pitchFamily="18" charset="0"/>
                                </a:rPr>
                              </m:ctrlPr>
                            </m:naryPr>
                            <m:sub>
                              <m:r>
                                <m:rPr>
                                  <m:brk m:alnAt="23"/>
                                </m:rPr>
                                <a:rPr kumimoji="1" lang="en-US" altLang="zh-CN" i="1">
                                  <a:latin typeface="Cambria Math" panose="02040503050406030204" pitchFamily="18" charset="0"/>
                                  <a:ea typeface="Cambria Math" panose="02040503050406030204" pitchFamily="18" charset="0"/>
                                </a:rPr>
                                <m:t>𝑗</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𝑛</m:t>
                              </m:r>
                            </m:sup>
                            <m:e>
                              <m:nary>
                                <m:naryPr>
                                  <m:chr m:val="∑"/>
                                  <m:ctrlPr>
                                    <a:rPr kumimoji="1" lang="en-US" altLang="zh-CN"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𝑖</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𝑁</m:t>
                                  </m:r>
                                </m:sup>
                                <m:e>
                                  <m:r>
                                    <a:rPr kumimoji="1" lang="en-US" altLang="zh-CN" b="0" i="1" smtClean="0">
                                      <a:latin typeface="Cambria Math" panose="02040503050406030204" pitchFamily="18" charset="0"/>
                                      <a:ea typeface="Cambria Math" panose="02040503050406030204" pitchFamily="18" charset="0"/>
                                    </a:rPr>
                                    <m:t>𝐼</m:t>
                                  </m:r>
                                  <m:r>
                                    <a:rPr kumimoji="1" lang="en-US" altLang="zh-CN" b="0" i="1" smtClean="0">
                                      <a:latin typeface="Cambria Math" panose="02040503050406030204" pitchFamily="18" charset="0"/>
                                      <a:ea typeface="Cambria Math" panose="02040503050406030204" pitchFamily="18" charset="0"/>
                                    </a:rPr>
                                    <m:t>(</m:t>
                                  </m:r>
                                  <m:sSubSup>
                                    <m:sSubSupPr>
                                      <m:ctrlPr>
                                        <a:rPr kumimoji="1" lang="en-US" altLang="zh-CN" b="0" i="1" smtClean="0">
                                          <a:latin typeface="Cambria Math" panose="02040503050406030204" pitchFamily="18" charset="0"/>
                                          <a:ea typeface="Cambria Math" panose="02040503050406030204" pitchFamily="18" charset="0"/>
                                        </a:rPr>
                                      </m:ctrlPr>
                                    </m:sSubSupPr>
                                    <m:e>
                                      <m:r>
                                        <a:rPr kumimoji="1" lang="en-US" altLang="zh-CN" b="0" i="1" smtClean="0">
                                          <a:latin typeface="Cambria Math" panose="02040503050406030204" pitchFamily="18" charset="0"/>
                                          <a:ea typeface="Cambria Math" panose="02040503050406030204" pitchFamily="18" charset="0"/>
                                        </a:rPr>
                                        <m:t>𝑥</m:t>
                                      </m:r>
                                    </m:e>
                                    <m:sub>
                                      <m:r>
                                        <a:rPr kumimoji="1" lang="en-US" altLang="zh-CN" b="0" i="1" smtClean="0">
                                          <a:latin typeface="Cambria Math" panose="02040503050406030204" pitchFamily="18" charset="0"/>
                                          <a:ea typeface="Cambria Math" panose="02040503050406030204" pitchFamily="18" charset="0"/>
                                        </a:rPr>
                                        <m:t>𝑖</m:t>
                                      </m:r>
                                    </m:sub>
                                    <m:sup>
                                      <m:r>
                                        <a:rPr kumimoji="1" lang="en-US" altLang="zh-CN" b="0" i="1" smtClean="0">
                                          <a:latin typeface="Cambria Math" panose="02040503050406030204" pitchFamily="18" charset="0"/>
                                          <a:ea typeface="Cambria Math" panose="02040503050406030204" pitchFamily="18" charset="0"/>
                                        </a:rPr>
                                        <m:t>𝑗</m:t>
                                      </m:r>
                                    </m:sup>
                                  </m:sSubSup>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𝑤</m:t>
                                      </m:r>
                                    </m:e>
                                    <m:sub>
                                      <m:r>
                                        <a:rPr kumimoji="1" lang="en-US" altLang="zh-CN" b="0" i="1" smtClean="0">
                                          <a:latin typeface="Cambria Math" panose="02040503050406030204" pitchFamily="18" charset="0"/>
                                          <a:ea typeface="Cambria Math" panose="02040503050406030204" pitchFamily="18" charset="0"/>
                                        </a:rPr>
                                        <m:t>1</m:t>
                                      </m:r>
                                    </m:sub>
                                  </m:sSub>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𝑦</m:t>
                                      </m:r>
                                    </m:e>
                                    <m:sub>
                                      <m:r>
                                        <a:rPr kumimoji="1" lang="en-US" altLang="zh-CN" b="0" i="1" smtClean="0">
                                          <a:latin typeface="Cambria Math" panose="02040503050406030204" pitchFamily="18" charset="0"/>
                                          <a:ea typeface="Cambria Math" panose="02040503050406030204" pitchFamily="18" charset="0"/>
                                        </a:rPr>
                                        <m:t>𝑖</m:t>
                                      </m:r>
                                    </m:sub>
                                  </m:sSub>
                                  <m:r>
                                    <a:rPr kumimoji="1" lang="en-US" altLang="zh-CN" b="0" i="1" smtClean="0">
                                      <a:latin typeface="Cambria Math" panose="02040503050406030204" pitchFamily="18" charset="0"/>
                                      <a:ea typeface="Cambria Math" panose="02040503050406030204" pitchFamily="18" charset="0"/>
                                    </a:rPr>
                                    <m:t>=0)</m:t>
                                  </m:r>
                                </m:e>
                              </m:nary>
                            </m:e>
                          </m:nary>
                        </m:num>
                        <m:den>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ℓ</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𝑉</m:t>
                              </m:r>
                            </m:sup>
                            <m:e>
                              <m:nary>
                                <m:naryPr>
                                  <m:chr m:val="∑"/>
                                  <m:ctrlPr>
                                    <a:rPr kumimoji="1" lang="en-US" altLang="zh-CN" i="1">
                                      <a:latin typeface="Cambria Math" panose="02040503050406030204" pitchFamily="18" charset="0"/>
                                      <a:ea typeface="Cambria Math" panose="02040503050406030204" pitchFamily="18" charset="0"/>
                                    </a:rPr>
                                  </m:ctrlPr>
                                </m:naryPr>
                                <m:sub>
                                  <m:r>
                                    <m:rPr>
                                      <m:brk m:alnAt="23"/>
                                    </m:rPr>
                                    <a:rPr kumimoji="1" lang="en-US" altLang="zh-CN" i="1">
                                      <a:latin typeface="Cambria Math" panose="02040503050406030204" pitchFamily="18" charset="0"/>
                                      <a:ea typeface="Cambria Math" panose="02040503050406030204" pitchFamily="18" charset="0"/>
                                    </a:rPr>
                                    <m:t>𝑗</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𝑛</m:t>
                                  </m:r>
                                </m:sup>
                                <m:e>
                                  <m:nary>
                                    <m:naryPr>
                                      <m:chr m:val="∑"/>
                                      <m:ctrlPr>
                                        <a:rPr kumimoji="1" lang="en-US" altLang="zh-CN" i="1">
                                          <a:latin typeface="Cambria Math" panose="02040503050406030204" pitchFamily="18" charset="0"/>
                                          <a:ea typeface="Cambria Math" panose="02040503050406030204" pitchFamily="18" charset="0"/>
                                        </a:rPr>
                                      </m:ctrlPr>
                                    </m:naryPr>
                                    <m:sub>
                                      <m:r>
                                        <m:rPr>
                                          <m:brk m:alnAt="23"/>
                                        </m:rPr>
                                        <a:rPr kumimoji="1" lang="en-US" altLang="zh-CN" i="1">
                                          <a:latin typeface="Cambria Math" panose="02040503050406030204" pitchFamily="18" charset="0"/>
                                          <a:ea typeface="Cambria Math" panose="02040503050406030204" pitchFamily="18" charset="0"/>
                                        </a:rPr>
                                        <m:t>𝑖</m:t>
                                      </m:r>
                                      <m:r>
                                        <a:rPr kumimoji="1" lang="en-US" altLang="zh-CN" i="1">
                                          <a:latin typeface="Cambria Math" panose="02040503050406030204" pitchFamily="18" charset="0"/>
                                          <a:ea typeface="Cambria Math" panose="02040503050406030204" pitchFamily="18" charset="0"/>
                                        </a:rPr>
                                        <m:t>=1</m:t>
                                      </m:r>
                                    </m:sub>
                                    <m:sup>
                                      <m:r>
                                        <a:rPr kumimoji="1" lang="en-US" altLang="zh-CN" i="1">
                                          <a:latin typeface="Cambria Math" panose="02040503050406030204" pitchFamily="18" charset="0"/>
                                          <a:ea typeface="Cambria Math" panose="02040503050406030204" pitchFamily="18" charset="0"/>
                                        </a:rPr>
                                        <m:t>𝑁</m:t>
                                      </m:r>
                                    </m:sup>
                                    <m:e>
                                      <m:r>
                                        <a:rPr kumimoji="1" lang="en-US" altLang="zh-CN" i="1">
                                          <a:latin typeface="Cambria Math" panose="02040503050406030204" pitchFamily="18" charset="0"/>
                                          <a:ea typeface="Cambria Math" panose="02040503050406030204" pitchFamily="18" charset="0"/>
                                        </a:rPr>
                                        <m:t>𝐼</m:t>
                                      </m:r>
                                      <m:r>
                                        <a:rPr kumimoji="1" lang="en-US" altLang="zh-CN" i="1">
                                          <a:latin typeface="Cambria Math" panose="02040503050406030204" pitchFamily="18" charset="0"/>
                                          <a:ea typeface="Cambria Math" panose="02040503050406030204" pitchFamily="18" charset="0"/>
                                        </a:rPr>
                                        <m:t>(</m:t>
                                      </m:r>
                                      <m:sSubSup>
                                        <m:sSubSupPr>
                                          <m:ctrlPr>
                                            <a:rPr kumimoji="1" lang="en-US" altLang="zh-CN" i="1">
                                              <a:latin typeface="Cambria Math" panose="02040503050406030204" pitchFamily="18" charset="0"/>
                                              <a:ea typeface="Cambria Math" panose="02040503050406030204" pitchFamily="18" charset="0"/>
                                            </a:rPr>
                                          </m:ctrlPr>
                                        </m:sSubSupPr>
                                        <m:e>
                                          <m:r>
                                            <a:rPr kumimoji="1" lang="en-US" altLang="zh-CN" i="1">
                                              <a:latin typeface="Cambria Math" panose="02040503050406030204" pitchFamily="18" charset="0"/>
                                              <a:ea typeface="Cambria Math" panose="02040503050406030204" pitchFamily="18" charset="0"/>
                                            </a:rPr>
                                            <m:t>𝑥</m:t>
                                          </m:r>
                                        </m:e>
                                        <m:sub>
                                          <m:r>
                                            <a:rPr kumimoji="1" lang="en-US" altLang="zh-CN" i="1">
                                              <a:latin typeface="Cambria Math" panose="02040503050406030204" pitchFamily="18" charset="0"/>
                                              <a:ea typeface="Cambria Math" panose="02040503050406030204" pitchFamily="18" charset="0"/>
                                            </a:rPr>
                                            <m:t>𝑖</m:t>
                                          </m:r>
                                        </m:sub>
                                        <m:sup>
                                          <m:r>
                                            <a:rPr kumimoji="1" lang="en-US" altLang="zh-CN" i="1">
                                              <a:latin typeface="Cambria Math" panose="02040503050406030204" pitchFamily="18" charset="0"/>
                                              <a:ea typeface="Cambria Math" panose="02040503050406030204" pitchFamily="18" charset="0"/>
                                            </a:rPr>
                                            <m:t>𝑗</m:t>
                                          </m:r>
                                        </m:sup>
                                      </m:sSubSup>
                                      <m:r>
                                        <a:rPr kumimoji="1" lang="en-US" altLang="zh-CN" i="1">
                                          <a:latin typeface="Cambria Math" panose="02040503050406030204" pitchFamily="18" charset="0"/>
                                          <a:ea typeface="Cambria Math" panose="02040503050406030204" pitchFamily="18" charset="0"/>
                                        </a:rPr>
                                        <m:t>=</m:t>
                                      </m:r>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𝑤</m:t>
                                          </m:r>
                                        </m:e>
                                        <m:sub>
                                          <m:r>
                                            <a:rPr kumimoji="1" lang="en-US" altLang="zh-CN" b="0" i="1" smtClean="0">
                                              <a:latin typeface="Cambria Math" panose="02040503050406030204" pitchFamily="18" charset="0"/>
                                              <a:ea typeface="Cambria Math" panose="02040503050406030204" pitchFamily="18" charset="0"/>
                                            </a:rPr>
                                            <m:t>ℓ</m:t>
                                          </m:r>
                                        </m:sub>
                                      </m:sSub>
                                      <m:r>
                                        <a:rPr kumimoji="1" lang="en-US" altLang="zh-CN" i="1">
                                          <a:latin typeface="Cambria Math" panose="02040503050406030204" pitchFamily="18" charset="0"/>
                                          <a:ea typeface="Cambria Math" panose="02040503050406030204" pitchFamily="18" charset="0"/>
                                        </a:rPr>
                                        <m:t>,</m:t>
                                      </m:r>
                                      <m:sSub>
                                        <m:sSubPr>
                                          <m:ctrlPr>
                                            <a:rPr kumimoji="1" lang="en-US" altLang="zh-CN" i="1">
                                              <a:latin typeface="Cambria Math" panose="02040503050406030204" pitchFamily="18" charset="0"/>
                                              <a:ea typeface="Cambria Math" panose="02040503050406030204" pitchFamily="18" charset="0"/>
                                            </a:rPr>
                                          </m:ctrlPr>
                                        </m:sSubPr>
                                        <m:e>
                                          <m:r>
                                            <a:rPr kumimoji="1" lang="en-US" altLang="zh-CN" i="1">
                                              <a:latin typeface="Cambria Math" panose="02040503050406030204" pitchFamily="18" charset="0"/>
                                              <a:ea typeface="Cambria Math" panose="02040503050406030204" pitchFamily="18" charset="0"/>
                                            </a:rPr>
                                            <m:t>𝑦</m:t>
                                          </m:r>
                                        </m:e>
                                        <m:sub>
                                          <m:r>
                                            <a:rPr kumimoji="1" lang="en-US" altLang="zh-CN" i="1">
                                              <a:latin typeface="Cambria Math" panose="02040503050406030204" pitchFamily="18" charset="0"/>
                                              <a:ea typeface="Cambria Math" panose="02040503050406030204" pitchFamily="18" charset="0"/>
                                            </a:rPr>
                                            <m:t>𝑖</m:t>
                                          </m:r>
                                        </m:sub>
                                      </m:sSub>
                                      <m:r>
                                        <a:rPr kumimoji="1" lang="en-US" altLang="zh-CN" i="1">
                                          <a:latin typeface="Cambria Math" panose="02040503050406030204" pitchFamily="18" charset="0"/>
                                          <a:ea typeface="Cambria Math" panose="02040503050406030204" pitchFamily="18" charset="0"/>
                                        </a:rPr>
                                        <m:t>=0)</m:t>
                                      </m:r>
                                    </m:e>
                                  </m:nary>
                                </m:e>
                              </m:nary>
                            </m:e>
                          </m:nary>
                        </m:den>
                      </m:f>
                    </m:oMath>
                  </m:oMathPara>
                </a14:m>
                <a:endParaRPr kumimoji="1" lang="zh-CN" altLang="en-US" dirty="0"/>
              </a:p>
            </p:txBody>
          </p:sp>
        </mc:Choice>
        <mc:Fallback xmlns="">
          <p:sp>
            <p:nvSpPr>
              <p:cNvPr id="57" name="文本框 56">
                <a:extLst>
                  <a:ext uri="{FF2B5EF4-FFF2-40B4-BE49-F238E27FC236}">
                    <a16:creationId xmlns:a16="http://schemas.microsoft.com/office/drawing/2014/main" id="{241F9FFC-2FF7-5B7B-E451-25D85001413E}"/>
                  </a:ext>
                </a:extLst>
              </p:cNvPr>
              <p:cNvSpPr txBox="1">
                <a:spLocks noRot="1" noChangeAspect="1" noMove="1" noResize="1" noEditPoints="1" noAdjustHandles="1" noChangeArrowheads="1" noChangeShapeType="1" noTextEdit="1"/>
              </p:cNvSpPr>
              <p:nvPr/>
            </p:nvSpPr>
            <p:spPr>
              <a:xfrm>
                <a:off x="3049343" y="6021227"/>
                <a:ext cx="5964966" cy="788870"/>
              </a:xfrm>
              <a:prstGeom prst="rect">
                <a:avLst/>
              </a:prstGeom>
              <a:blipFill>
                <a:blip r:embed="rId10"/>
                <a:stretch>
                  <a:fillRect t="-53968" b="-77778"/>
                </a:stretch>
              </a:blipFill>
            </p:spPr>
            <p:txBody>
              <a:bodyPr/>
              <a:lstStyle/>
              <a:p>
                <a:r>
                  <a:rPr lang="zh-CN" altLang="en-US">
                    <a:noFill/>
                  </a:rPr>
                  <a:t> </a:t>
                </a:r>
              </a:p>
            </p:txBody>
          </p:sp>
        </mc:Fallback>
      </mc:AlternateContent>
      <p:cxnSp>
        <p:nvCxnSpPr>
          <p:cNvPr id="58" name="直线箭头连接符 57">
            <a:extLst>
              <a:ext uri="{FF2B5EF4-FFF2-40B4-BE49-F238E27FC236}">
                <a16:creationId xmlns:a16="http://schemas.microsoft.com/office/drawing/2014/main" id="{E422B3BE-06FD-6254-45DA-3B8C889D3BCE}"/>
              </a:ext>
            </a:extLst>
          </p:cNvPr>
          <p:cNvCxnSpPr>
            <a:cxnSpLocks/>
            <a:stCxn id="54" idx="3"/>
          </p:cNvCxnSpPr>
          <p:nvPr/>
        </p:nvCxnSpPr>
        <p:spPr>
          <a:xfrm>
            <a:off x="2325363" y="5595848"/>
            <a:ext cx="1555308" cy="599780"/>
          </a:xfrm>
          <a:prstGeom prst="straightConnector1">
            <a:avLst/>
          </a:prstGeom>
          <a:ln>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cxnSp>
        <p:nvCxnSpPr>
          <p:cNvPr id="61" name="直线箭头连接符 60">
            <a:extLst>
              <a:ext uri="{FF2B5EF4-FFF2-40B4-BE49-F238E27FC236}">
                <a16:creationId xmlns:a16="http://schemas.microsoft.com/office/drawing/2014/main" id="{7F43A220-B5D2-A58C-9B99-82CC28F8CF2C}"/>
              </a:ext>
            </a:extLst>
          </p:cNvPr>
          <p:cNvCxnSpPr>
            <a:cxnSpLocks/>
          </p:cNvCxnSpPr>
          <p:nvPr/>
        </p:nvCxnSpPr>
        <p:spPr>
          <a:xfrm>
            <a:off x="6386891" y="5529374"/>
            <a:ext cx="0" cy="467597"/>
          </a:xfrm>
          <a:prstGeom prst="straightConnector1">
            <a:avLst/>
          </a:prstGeom>
          <a:ln>
            <a:solidFill>
              <a:srgbClr val="FF0000"/>
            </a:solidFill>
            <a:prstDash val="dash"/>
            <a:tailEnd type="triangle"/>
          </a:ln>
        </p:spPr>
        <p:style>
          <a:lnRef idx="1">
            <a:schemeClr val="accent2"/>
          </a:lnRef>
          <a:fillRef idx="0">
            <a:schemeClr val="accent2"/>
          </a:fillRef>
          <a:effectRef idx="0">
            <a:schemeClr val="accent2"/>
          </a:effectRef>
          <a:fontRef idx="minor">
            <a:schemeClr val="tx1"/>
          </a:fontRef>
        </p:style>
      </p:cxnSp>
      <p:sp>
        <p:nvSpPr>
          <p:cNvPr id="65" name="文本框 64">
            <a:extLst>
              <a:ext uri="{FF2B5EF4-FFF2-40B4-BE49-F238E27FC236}">
                <a16:creationId xmlns:a16="http://schemas.microsoft.com/office/drawing/2014/main" id="{A37D62FC-589F-EE55-AFF7-319A10B55874}"/>
              </a:ext>
            </a:extLst>
          </p:cNvPr>
          <p:cNvSpPr txBox="1"/>
          <p:nvPr/>
        </p:nvSpPr>
        <p:spPr>
          <a:xfrm>
            <a:off x="8448385" y="5459757"/>
            <a:ext cx="502061" cy="369332"/>
          </a:xfrm>
          <a:prstGeom prst="rect">
            <a:avLst/>
          </a:prstGeom>
          <a:noFill/>
        </p:spPr>
        <p:txBody>
          <a:bodyPr wrap="none" rtlCol="0">
            <a:spAutoFit/>
          </a:bodyPr>
          <a:lstStyle/>
          <a:p>
            <a:r>
              <a:rPr kumimoji="1" lang="en-US" altLang="zh-CN" dirty="0"/>
              <a:t>……</a:t>
            </a:r>
            <a:endParaRPr kumimoji="1" lang="zh-CN" altLang="en-US" dirty="0"/>
          </a:p>
        </p:txBody>
      </p:sp>
    </p:spTree>
    <p:extLst>
      <p:ext uri="{BB962C8B-B14F-4D97-AF65-F5344CB8AC3E}">
        <p14:creationId xmlns:p14="http://schemas.microsoft.com/office/powerpoint/2010/main" val="422191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1E09B-5CCF-E7AE-946B-2673D7052ACF}"/>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330AD8E6-85E6-8406-4026-3B3D598222FA}"/>
              </a:ext>
            </a:extLst>
          </p:cNvPr>
          <p:cNvGrpSpPr/>
          <p:nvPr/>
        </p:nvGrpSpPr>
        <p:grpSpPr>
          <a:xfrm>
            <a:off x="-4445" y="260985"/>
            <a:ext cx="8925560" cy="708025"/>
            <a:chOff x="-9" y="254"/>
            <a:chExt cx="14056" cy="1115"/>
          </a:xfrm>
        </p:grpSpPr>
        <p:sp>
          <p:nvSpPr>
            <p:cNvPr id="34" name="矩形 33">
              <a:extLst>
                <a:ext uri="{FF2B5EF4-FFF2-40B4-BE49-F238E27FC236}">
                  <a16:creationId xmlns:a16="http://schemas.microsoft.com/office/drawing/2014/main" id="{23513BDD-D4D9-74BF-2318-E093D92041D4}"/>
                </a:ext>
              </a:extLst>
            </p:cNvPr>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544DE93C-2710-E110-2122-B11E73BFDC53}"/>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53D07467-B14F-46FA-F6E6-853C7D3DA402}"/>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09C2B481-AC4C-E304-8B44-899113ACC85C}"/>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31D8D9E0-E88B-3C8C-4519-A71956B0501E}"/>
                </a:ext>
              </a:extLst>
            </p:cNvPr>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p:pic>
        <p:nvPicPr>
          <p:cNvPr id="2" name="图片 1">
            <a:extLst>
              <a:ext uri="{FF2B5EF4-FFF2-40B4-BE49-F238E27FC236}">
                <a16:creationId xmlns:a16="http://schemas.microsoft.com/office/drawing/2014/main" id="{E18701F8-8E4F-027F-581C-AE621680F3A9}"/>
              </a:ext>
            </a:extLst>
          </p:cNvPr>
          <p:cNvPicPr>
            <a:picLocks noChangeAspect="1"/>
          </p:cNvPicPr>
          <p:nvPr/>
        </p:nvPicPr>
        <p:blipFill>
          <a:blip r:embed="rId3"/>
          <a:stretch>
            <a:fillRect/>
          </a:stretch>
        </p:blipFill>
        <p:spPr>
          <a:xfrm>
            <a:off x="578285" y="1615598"/>
            <a:ext cx="3116029" cy="2218407"/>
          </a:xfrm>
          <a:prstGeom prst="rect">
            <a:avLst/>
          </a:prstGeom>
        </p:spPr>
      </p:pic>
      <p:sp>
        <p:nvSpPr>
          <p:cNvPr id="25" name="文本框 24">
            <a:extLst>
              <a:ext uri="{FF2B5EF4-FFF2-40B4-BE49-F238E27FC236}">
                <a16:creationId xmlns:a16="http://schemas.microsoft.com/office/drawing/2014/main" id="{3D63D462-A6E4-E545-9158-361DECADA8AE}"/>
              </a:ext>
            </a:extLst>
          </p:cNvPr>
          <p:cNvSpPr txBox="1"/>
          <p:nvPr/>
        </p:nvSpPr>
        <p:spPr>
          <a:xfrm>
            <a:off x="425353" y="1222082"/>
            <a:ext cx="2552686" cy="369332"/>
          </a:xfrm>
          <a:prstGeom prst="rect">
            <a:avLst/>
          </a:prstGeom>
          <a:noFill/>
        </p:spPr>
        <p:txBody>
          <a:bodyPr wrap="none" rtlCol="0">
            <a:spAutoFit/>
          </a:bodyPr>
          <a:lstStyle/>
          <a:p>
            <a:r>
              <a:rPr lang="zh-CN" altLang="en-US" dirty="0"/>
              <a:t>导入例子：朴素贝叶斯</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33C932F-BE90-CCBF-2C32-61AA33C651DD}"/>
                  </a:ext>
                </a:extLst>
              </p:cNvPr>
              <p:cNvSpPr txBox="1"/>
              <p:nvPr/>
            </p:nvSpPr>
            <p:spPr>
              <a:xfrm>
                <a:off x="3864484" y="1591414"/>
                <a:ext cx="4661661" cy="5486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e>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d>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e>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um>
                        <m:den>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r>
                            <a:rPr lang="en-US" altLang="zh-CN" sz="1400" b="0" i="1" smtClean="0">
                              <a:latin typeface="Cambria Math" panose="02040503050406030204" pitchFamily="18" charset="0"/>
                            </a:rPr>
                            <m:t>)</m:t>
                          </m:r>
                        </m:den>
                      </m:f>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4" name="文本框 23">
                <a:extLst>
                  <a:ext uri="{FF2B5EF4-FFF2-40B4-BE49-F238E27FC236}">
                    <a16:creationId xmlns:a16="http://schemas.microsoft.com/office/drawing/2014/main" id="{033C932F-BE90-CCBF-2C32-61AA33C651DD}"/>
                  </a:ext>
                </a:extLst>
              </p:cNvPr>
              <p:cNvSpPr txBox="1">
                <a:spLocks noRot="1" noChangeAspect="1" noMove="1" noResize="1" noEditPoints="1" noAdjustHandles="1" noChangeArrowheads="1" noChangeShapeType="1" noTextEdit="1"/>
              </p:cNvSpPr>
              <p:nvPr/>
            </p:nvSpPr>
            <p:spPr>
              <a:xfrm>
                <a:off x="3864484" y="1591414"/>
                <a:ext cx="4661661" cy="548676"/>
              </a:xfrm>
              <a:prstGeom prst="rect">
                <a:avLst/>
              </a:prstGeom>
              <a:blipFill>
                <a:blip r:embed="rId4"/>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4FE71589-0055-E52B-450A-CA60947DF448}"/>
                  </a:ext>
                </a:extLst>
              </p:cNvPr>
              <p:cNvSpPr txBox="1"/>
              <p:nvPr/>
            </p:nvSpPr>
            <p:spPr>
              <a:xfrm>
                <a:off x="3864484" y="2219316"/>
                <a:ext cx="385426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7" name="文本框 26">
                <a:extLst>
                  <a:ext uri="{FF2B5EF4-FFF2-40B4-BE49-F238E27FC236}">
                    <a16:creationId xmlns:a16="http://schemas.microsoft.com/office/drawing/2014/main" id="{4FE71589-0055-E52B-450A-CA60947DF448}"/>
                  </a:ext>
                </a:extLst>
              </p:cNvPr>
              <p:cNvSpPr txBox="1">
                <a:spLocks noRot="1" noChangeAspect="1" noMove="1" noResize="1" noEditPoints="1" noAdjustHandles="1" noChangeArrowheads="1" noChangeShapeType="1" noTextEdit="1"/>
              </p:cNvSpPr>
              <p:nvPr/>
            </p:nvSpPr>
            <p:spPr>
              <a:xfrm>
                <a:off x="3864484" y="2219316"/>
                <a:ext cx="3854260" cy="307777"/>
              </a:xfrm>
              <a:prstGeom prst="rect">
                <a:avLst/>
              </a:prstGeom>
              <a:blipFill>
                <a:blip r:embed="rId5"/>
                <a:stretch>
                  <a:fillRect b="-7692"/>
                </a:stretch>
              </a:blipFill>
            </p:spPr>
            <p:txBody>
              <a:bodyPr/>
              <a:lstStyle/>
              <a:p>
                <a:r>
                  <a:rPr lang="zh-CN" altLang="en-US">
                    <a:noFill/>
                  </a:rPr>
                  <a:t> </a:t>
                </a:r>
              </a:p>
            </p:txBody>
          </p:sp>
        </mc:Fallback>
      </mc:AlternateContent>
      <p:sp>
        <p:nvSpPr>
          <p:cNvPr id="3" name="矩形: 圆角 2">
            <a:extLst>
              <a:ext uri="{FF2B5EF4-FFF2-40B4-BE49-F238E27FC236}">
                <a16:creationId xmlns:a16="http://schemas.microsoft.com/office/drawing/2014/main" id="{55417BFA-DB25-6C3A-EFEF-8CC6E5BA80D3}"/>
              </a:ext>
            </a:extLst>
          </p:cNvPr>
          <p:cNvSpPr/>
          <p:nvPr/>
        </p:nvSpPr>
        <p:spPr>
          <a:xfrm>
            <a:off x="5420566" y="2219316"/>
            <a:ext cx="765762" cy="30777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 name="文本框 3">
            <a:extLst>
              <a:ext uri="{FF2B5EF4-FFF2-40B4-BE49-F238E27FC236}">
                <a16:creationId xmlns:a16="http://schemas.microsoft.com/office/drawing/2014/main" id="{C05BE224-8C88-6F1C-35E4-2E519B73B13F}"/>
              </a:ext>
            </a:extLst>
          </p:cNvPr>
          <p:cNvSpPr txBox="1"/>
          <p:nvPr/>
        </p:nvSpPr>
        <p:spPr>
          <a:xfrm>
            <a:off x="5296639" y="2515004"/>
            <a:ext cx="2283510" cy="276999"/>
          </a:xfrm>
          <a:prstGeom prst="rect">
            <a:avLst/>
          </a:prstGeom>
          <a:noFill/>
        </p:spPr>
        <p:txBody>
          <a:bodyPr wrap="none" rtlCol="0">
            <a:spAutoFit/>
          </a:bodyPr>
          <a:lstStyle/>
          <a:p>
            <a:r>
              <a:rPr lang="zh-CN" altLang="en-US" sz="1200" dirty="0"/>
              <a:t>在简单数据集中可以直接</a:t>
            </a:r>
            <a:r>
              <a:rPr lang="en-US" altLang="zh-CN" sz="1200" dirty="0"/>
              <a:t>count!</a:t>
            </a:r>
            <a:endParaRPr lang="zh-CN" altLang="en-US" sz="1200" dirty="0"/>
          </a:p>
        </p:txBody>
      </p:sp>
      <p:pic>
        <p:nvPicPr>
          <p:cNvPr id="18" name="图片 17">
            <a:extLst>
              <a:ext uri="{FF2B5EF4-FFF2-40B4-BE49-F238E27FC236}">
                <a16:creationId xmlns:a16="http://schemas.microsoft.com/office/drawing/2014/main" id="{B9C51193-F944-94F8-911A-5C3756B92F69}"/>
              </a:ext>
            </a:extLst>
          </p:cNvPr>
          <p:cNvPicPr>
            <a:picLocks noChangeAspect="1"/>
          </p:cNvPicPr>
          <p:nvPr/>
        </p:nvPicPr>
        <p:blipFill>
          <a:blip r:embed="rId6"/>
          <a:stretch>
            <a:fillRect/>
          </a:stretch>
        </p:blipFill>
        <p:spPr>
          <a:xfrm>
            <a:off x="5449688" y="2847495"/>
            <a:ext cx="1708524" cy="1011224"/>
          </a:xfrm>
          <a:prstGeom prst="rect">
            <a:avLst/>
          </a:prstGeom>
        </p:spPr>
      </p:pic>
      <p:sp>
        <p:nvSpPr>
          <p:cNvPr id="8" name="右大括号 7">
            <a:extLst>
              <a:ext uri="{FF2B5EF4-FFF2-40B4-BE49-F238E27FC236}">
                <a16:creationId xmlns:a16="http://schemas.microsoft.com/office/drawing/2014/main" id="{4C479F26-D5A0-7646-478B-53D68FB2A271}"/>
              </a:ext>
            </a:extLst>
          </p:cNvPr>
          <p:cNvSpPr/>
          <p:nvPr/>
        </p:nvSpPr>
        <p:spPr>
          <a:xfrm rot="5400000">
            <a:off x="4288183" y="179599"/>
            <a:ext cx="414594" cy="783439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3AD541F2-2A1D-6475-419A-7001DE4B39CF}"/>
              </a:ext>
            </a:extLst>
          </p:cNvPr>
          <p:cNvSpPr txBox="1"/>
          <p:nvPr/>
        </p:nvSpPr>
        <p:spPr>
          <a:xfrm>
            <a:off x="3826066" y="4304092"/>
            <a:ext cx="1338828" cy="369332"/>
          </a:xfrm>
          <a:prstGeom prst="rect">
            <a:avLst/>
          </a:prstGeom>
          <a:noFill/>
        </p:spPr>
        <p:txBody>
          <a:bodyPr wrap="none" rtlCol="0">
            <a:spAutoFit/>
          </a:bodyPr>
          <a:lstStyle/>
          <a:p>
            <a:r>
              <a:rPr lang="zh-CN" altLang="en-US" dirty="0"/>
              <a:t>分布参数化</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B0ADA8C-F796-658F-51D1-CD86453D8BCF}"/>
                  </a:ext>
                </a:extLst>
              </p:cNvPr>
              <p:cNvSpPr txBox="1"/>
              <p:nvPr/>
            </p:nvSpPr>
            <p:spPr>
              <a:xfrm>
                <a:off x="2747117" y="4592988"/>
                <a:ext cx="34967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e>
                          <m:r>
                            <a:rPr lang="en-US" altLang="zh-CN" b="0" i="1" smtClean="0">
                              <a:latin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d>
                        <m:dPr>
                          <m:sep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𝜃</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10" name="文本框 9">
                <a:extLst>
                  <a:ext uri="{FF2B5EF4-FFF2-40B4-BE49-F238E27FC236}">
                    <a16:creationId xmlns:a16="http://schemas.microsoft.com/office/drawing/2014/main" id="{4B0ADA8C-F796-658F-51D1-CD86453D8BCF}"/>
                  </a:ext>
                </a:extLst>
              </p:cNvPr>
              <p:cNvSpPr txBox="1">
                <a:spLocks noRot="1" noChangeAspect="1" noMove="1" noResize="1" noEditPoints="1" noAdjustHandles="1" noChangeArrowheads="1" noChangeShapeType="1" noTextEdit="1"/>
              </p:cNvSpPr>
              <p:nvPr/>
            </p:nvSpPr>
            <p:spPr>
              <a:xfrm>
                <a:off x="2747117" y="4592988"/>
                <a:ext cx="3496726" cy="369332"/>
              </a:xfrm>
              <a:prstGeom prst="rect">
                <a:avLst/>
              </a:prstGeom>
              <a:blipFill>
                <a:blip r:embed="rId7"/>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251C1057-4B4A-C611-E613-5C60CA8AA8B5}"/>
                  </a:ext>
                </a:extLst>
              </p:cNvPr>
              <p:cNvSpPr txBox="1"/>
              <p:nvPr/>
            </p:nvSpPr>
            <p:spPr>
              <a:xfrm>
                <a:off x="480060" y="5262121"/>
                <a:ext cx="8501623" cy="7630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m:rPr>
                              <m:lit/>
                            </m:rP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nary>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func>
                        </m:e>
                      </m:nary>
                    </m:oMath>
                  </m:oMathPara>
                </a14:m>
                <a:endParaRPr lang="zh-CN" altLang="en-US" dirty="0"/>
              </a:p>
            </p:txBody>
          </p:sp>
        </mc:Choice>
        <mc:Fallback xmlns="">
          <p:sp>
            <p:nvSpPr>
              <p:cNvPr id="22" name="文本框 21">
                <a:extLst>
                  <a:ext uri="{FF2B5EF4-FFF2-40B4-BE49-F238E27FC236}">
                    <a16:creationId xmlns:a16="http://schemas.microsoft.com/office/drawing/2014/main" id="{251C1057-4B4A-C611-E613-5C60CA8AA8B5}"/>
                  </a:ext>
                </a:extLst>
              </p:cNvPr>
              <p:cNvSpPr txBox="1">
                <a:spLocks noRot="1" noChangeAspect="1" noMove="1" noResize="1" noEditPoints="1" noAdjustHandles="1" noChangeArrowheads="1" noChangeShapeType="1" noTextEdit="1"/>
              </p:cNvSpPr>
              <p:nvPr/>
            </p:nvSpPr>
            <p:spPr>
              <a:xfrm>
                <a:off x="480060" y="5262121"/>
                <a:ext cx="8501623" cy="763094"/>
              </a:xfrm>
              <a:prstGeom prst="rect">
                <a:avLst/>
              </a:prstGeom>
              <a:blipFill>
                <a:blip r:embed="rId8"/>
                <a:stretch>
                  <a:fillRect t="-122951" b="-170492"/>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3A6BE365-F5E1-01B1-B16C-83DBAFF319F8}"/>
              </a:ext>
            </a:extLst>
          </p:cNvPr>
          <p:cNvCxnSpPr>
            <a:stCxn id="10" idx="2"/>
          </p:cNvCxnSpPr>
          <p:nvPr/>
        </p:nvCxnSpPr>
        <p:spPr>
          <a:xfrm>
            <a:off x="4495480" y="4962320"/>
            <a:ext cx="0" cy="4392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右大括号 12">
            <a:extLst>
              <a:ext uri="{FF2B5EF4-FFF2-40B4-BE49-F238E27FC236}">
                <a16:creationId xmlns:a16="http://schemas.microsoft.com/office/drawing/2014/main" id="{28B328FB-8BC5-042B-EB9D-BA6CD0ECD5A2}"/>
              </a:ext>
            </a:extLst>
          </p:cNvPr>
          <p:cNvSpPr/>
          <p:nvPr/>
        </p:nvSpPr>
        <p:spPr>
          <a:xfrm rot="5400000">
            <a:off x="5506982" y="2854046"/>
            <a:ext cx="343081" cy="625658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438B5A2F-0CF7-32E8-B57C-305E454055A7}"/>
              </a:ext>
            </a:extLst>
          </p:cNvPr>
          <p:cNvSpPr txBox="1"/>
          <p:nvPr/>
        </p:nvSpPr>
        <p:spPr>
          <a:xfrm>
            <a:off x="5124524" y="6133042"/>
            <a:ext cx="1107996" cy="369332"/>
          </a:xfrm>
          <a:prstGeom prst="rect">
            <a:avLst/>
          </a:prstGeom>
          <a:noFill/>
        </p:spPr>
        <p:txBody>
          <a:bodyPr wrap="none" rtlCol="0">
            <a:spAutoFit/>
          </a:bodyPr>
          <a:lstStyle/>
          <a:p>
            <a:r>
              <a:rPr lang="zh-CN" altLang="en-US" dirty="0"/>
              <a:t>似然函数</a:t>
            </a:r>
          </a:p>
        </p:txBody>
      </p:sp>
    </p:spTree>
    <p:extLst>
      <p:ext uri="{BB962C8B-B14F-4D97-AF65-F5344CB8AC3E}">
        <p14:creationId xmlns:p14="http://schemas.microsoft.com/office/powerpoint/2010/main" val="325814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26B89-F608-6926-D095-0E2EDA3E966C}"/>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EB343C12-5EC3-D66A-CDA0-2DACE2D86A29}"/>
              </a:ext>
            </a:extLst>
          </p:cNvPr>
          <p:cNvGrpSpPr/>
          <p:nvPr/>
        </p:nvGrpSpPr>
        <p:grpSpPr>
          <a:xfrm>
            <a:off x="-4445" y="260985"/>
            <a:ext cx="8925560" cy="708025"/>
            <a:chOff x="-9" y="254"/>
            <a:chExt cx="14056" cy="1115"/>
          </a:xfrm>
        </p:grpSpPr>
        <p:sp>
          <p:nvSpPr>
            <p:cNvPr id="34" name="矩形 33">
              <a:extLst>
                <a:ext uri="{FF2B5EF4-FFF2-40B4-BE49-F238E27FC236}">
                  <a16:creationId xmlns:a16="http://schemas.microsoft.com/office/drawing/2014/main" id="{C1FA3873-4852-274F-E8C5-83DF9907E97D}"/>
                </a:ext>
              </a:extLst>
            </p:cNvPr>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0269AE06-1DA7-B4D1-04CD-DC749A921B19}"/>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8CCADC9A-6B1D-1B76-112B-254B4DC33219}"/>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89F87A10-7B38-7613-F59C-DFDB68F7DC48}"/>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FE007775-143F-8614-4323-65C18A403808}"/>
                </a:ext>
              </a:extLst>
            </p:cNvPr>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p:pic>
        <p:nvPicPr>
          <p:cNvPr id="2" name="图片 1">
            <a:extLst>
              <a:ext uri="{FF2B5EF4-FFF2-40B4-BE49-F238E27FC236}">
                <a16:creationId xmlns:a16="http://schemas.microsoft.com/office/drawing/2014/main" id="{4FD607B9-CD85-1A94-3E87-FD0D50399193}"/>
              </a:ext>
            </a:extLst>
          </p:cNvPr>
          <p:cNvPicPr>
            <a:picLocks noChangeAspect="1"/>
          </p:cNvPicPr>
          <p:nvPr/>
        </p:nvPicPr>
        <p:blipFill>
          <a:blip r:embed="rId3"/>
          <a:stretch>
            <a:fillRect/>
          </a:stretch>
        </p:blipFill>
        <p:spPr>
          <a:xfrm>
            <a:off x="578285" y="1615598"/>
            <a:ext cx="3116029" cy="2218407"/>
          </a:xfrm>
          <a:prstGeom prst="rect">
            <a:avLst/>
          </a:prstGeom>
        </p:spPr>
      </p:pic>
      <p:sp>
        <p:nvSpPr>
          <p:cNvPr id="25" name="文本框 24">
            <a:extLst>
              <a:ext uri="{FF2B5EF4-FFF2-40B4-BE49-F238E27FC236}">
                <a16:creationId xmlns:a16="http://schemas.microsoft.com/office/drawing/2014/main" id="{B562A673-3C8D-674C-D6FD-ABBECC241A6C}"/>
              </a:ext>
            </a:extLst>
          </p:cNvPr>
          <p:cNvSpPr txBox="1"/>
          <p:nvPr/>
        </p:nvSpPr>
        <p:spPr>
          <a:xfrm>
            <a:off x="425353" y="1222082"/>
            <a:ext cx="2552686" cy="369332"/>
          </a:xfrm>
          <a:prstGeom prst="rect">
            <a:avLst/>
          </a:prstGeom>
          <a:noFill/>
        </p:spPr>
        <p:txBody>
          <a:bodyPr wrap="none" rtlCol="0">
            <a:spAutoFit/>
          </a:bodyPr>
          <a:lstStyle/>
          <a:p>
            <a:r>
              <a:rPr lang="zh-CN" altLang="en-US" dirty="0"/>
              <a:t>导入例子：朴素贝叶斯</a:t>
            </a:r>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14FB6B99-3B00-00A8-D11C-698825F1A59C}"/>
                  </a:ext>
                </a:extLst>
              </p:cNvPr>
              <p:cNvSpPr txBox="1"/>
              <p:nvPr/>
            </p:nvSpPr>
            <p:spPr>
              <a:xfrm>
                <a:off x="3864484" y="1591414"/>
                <a:ext cx="4661661" cy="5486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e>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d>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e>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um>
                        <m:den>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r>
                            <a:rPr lang="en-US" altLang="zh-CN" sz="1400" b="0" i="1" smtClean="0">
                              <a:latin typeface="Cambria Math" panose="02040503050406030204" pitchFamily="18" charset="0"/>
                            </a:rPr>
                            <m:t>)</m:t>
                          </m:r>
                        </m:den>
                      </m:f>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4" name="文本框 23">
                <a:extLst>
                  <a:ext uri="{FF2B5EF4-FFF2-40B4-BE49-F238E27FC236}">
                    <a16:creationId xmlns:a16="http://schemas.microsoft.com/office/drawing/2014/main" id="{14FB6B99-3B00-00A8-D11C-698825F1A59C}"/>
                  </a:ext>
                </a:extLst>
              </p:cNvPr>
              <p:cNvSpPr txBox="1">
                <a:spLocks noRot="1" noChangeAspect="1" noMove="1" noResize="1" noEditPoints="1" noAdjustHandles="1" noChangeArrowheads="1" noChangeShapeType="1" noTextEdit="1"/>
              </p:cNvSpPr>
              <p:nvPr/>
            </p:nvSpPr>
            <p:spPr>
              <a:xfrm>
                <a:off x="3864484" y="1591414"/>
                <a:ext cx="4661661" cy="548676"/>
              </a:xfrm>
              <a:prstGeom prst="rect">
                <a:avLst/>
              </a:prstGeom>
              <a:blipFill>
                <a:blip r:embed="rId4"/>
                <a:stretch>
                  <a:fillRect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9C5DFE7-EBF0-13D4-2344-B80ECFE947AE}"/>
                  </a:ext>
                </a:extLst>
              </p:cNvPr>
              <p:cNvSpPr txBox="1"/>
              <p:nvPr/>
            </p:nvSpPr>
            <p:spPr>
              <a:xfrm>
                <a:off x="3864484" y="2219316"/>
                <a:ext cx="385426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d>
                        <m:dPr>
                          <m:sepChr m:val="∣"/>
                          <m:ctrlPr>
                            <a:rPr lang="en-US" altLang="zh-CN" sz="1400" b="0" i="1" smtClean="0">
                              <a:latin typeface="Cambria Math" panose="02040503050406030204" pitchFamily="18" charset="0"/>
                              <a:ea typeface="Cambria Math" panose="02040503050406030204" pitchFamily="18" charset="0"/>
                            </a:rPr>
                          </m:ctrlPr>
                        </m:dPr>
                        <m:e>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Sub>
                        </m:e>
                        <m:e>
                          <m:r>
                            <a:rPr lang="en-US" altLang="zh-CN" sz="1400" b="0" i="1" smtClean="0">
                              <a:latin typeface="Cambria Math" panose="02040503050406030204" pitchFamily="18" charset="0"/>
                              <a:ea typeface="Cambria Math" panose="02040503050406030204" pitchFamily="18" charset="0"/>
                            </a:rPr>
                            <m:t>𝑦</m:t>
                          </m:r>
                        </m:e>
                      </m:d>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Sub>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27" name="文本框 26">
                <a:extLst>
                  <a:ext uri="{FF2B5EF4-FFF2-40B4-BE49-F238E27FC236}">
                    <a16:creationId xmlns:a16="http://schemas.microsoft.com/office/drawing/2014/main" id="{E9C5DFE7-EBF0-13D4-2344-B80ECFE947AE}"/>
                  </a:ext>
                </a:extLst>
              </p:cNvPr>
              <p:cNvSpPr txBox="1">
                <a:spLocks noRot="1" noChangeAspect="1" noMove="1" noResize="1" noEditPoints="1" noAdjustHandles="1" noChangeArrowheads="1" noChangeShapeType="1" noTextEdit="1"/>
              </p:cNvSpPr>
              <p:nvPr/>
            </p:nvSpPr>
            <p:spPr>
              <a:xfrm>
                <a:off x="3864484" y="2219316"/>
                <a:ext cx="3854260" cy="307777"/>
              </a:xfrm>
              <a:prstGeom prst="rect">
                <a:avLst/>
              </a:prstGeom>
              <a:blipFill>
                <a:blip r:embed="rId5"/>
                <a:stretch>
                  <a:fillRect b="-7692"/>
                </a:stretch>
              </a:blipFill>
            </p:spPr>
            <p:txBody>
              <a:bodyPr/>
              <a:lstStyle/>
              <a:p>
                <a:r>
                  <a:rPr lang="zh-CN" altLang="en-US">
                    <a:noFill/>
                  </a:rPr>
                  <a:t> </a:t>
                </a:r>
              </a:p>
            </p:txBody>
          </p:sp>
        </mc:Fallback>
      </mc:AlternateContent>
      <p:sp>
        <p:nvSpPr>
          <p:cNvPr id="3" name="矩形: 圆角 2">
            <a:extLst>
              <a:ext uri="{FF2B5EF4-FFF2-40B4-BE49-F238E27FC236}">
                <a16:creationId xmlns:a16="http://schemas.microsoft.com/office/drawing/2014/main" id="{3447A749-A9BF-C3D6-E021-1A9231A3F185}"/>
              </a:ext>
            </a:extLst>
          </p:cNvPr>
          <p:cNvSpPr/>
          <p:nvPr/>
        </p:nvSpPr>
        <p:spPr>
          <a:xfrm>
            <a:off x="5420566" y="2219316"/>
            <a:ext cx="765762" cy="307777"/>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4" name="文本框 3">
            <a:extLst>
              <a:ext uri="{FF2B5EF4-FFF2-40B4-BE49-F238E27FC236}">
                <a16:creationId xmlns:a16="http://schemas.microsoft.com/office/drawing/2014/main" id="{F9821715-26D9-AAB8-A635-06901CCB4453}"/>
              </a:ext>
            </a:extLst>
          </p:cNvPr>
          <p:cNvSpPr txBox="1"/>
          <p:nvPr/>
        </p:nvSpPr>
        <p:spPr>
          <a:xfrm>
            <a:off x="5296639" y="2515004"/>
            <a:ext cx="2283510" cy="276999"/>
          </a:xfrm>
          <a:prstGeom prst="rect">
            <a:avLst/>
          </a:prstGeom>
          <a:noFill/>
        </p:spPr>
        <p:txBody>
          <a:bodyPr wrap="none" rtlCol="0">
            <a:spAutoFit/>
          </a:bodyPr>
          <a:lstStyle/>
          <a:p>
            <a:r>
              <a:rPr lang="zh-CN" altLang="en-US" sz="1200" dirty="0"/>
              <a:t>在简单数据集中可以直接</a:t>
            </a:r>
            <a:r>
              <a:rPr lang="en-US" altLang="zh-CN" sz="1200" dirty="0"/>
              <a:t>count!</a:t>
            </a:r>
            <a:endParaRPr lang="zh-CN" altLang="en-US" sz="1200" dirty="0"/>
          </a:p>
        </p:txBody>
      </p:sp>
      <p:pic>
        <p:nvPicPr>
          <p:cNvPr id="18" name="图片 17">
            <a:extLst>
              <a:ext uri="{FF2B5EF4-FFF2-40B4-BE49-F238E27FC236}">
                <a16:creationId xmlns:a16="http://schemas.microsoft.com/office/drawing/2014/main" id="{3EF87B27-50A3-B62A-B3CC-42A77A5A2F9E}"/>
              </a:ext>
            </a:extLst>
          </p:cNvPr>
          <p:cNvPicPr>
            <a:picLocks noChangeAspect="1"/>
          </p:cNvPicPr>
          <p:nvPr/>
        </p:nvPicPr>
        <p:blipFill>
          <a:blip r:embed="rId6"/>
          <a:stretch>
            <a:fillRect/>
          </a:stretch>
        </p:blipFill>
        <p:spPr>
          <a:xfrm>
            <a:off x="5449688" y="2847495"/>
            <a:ext cx="1708524" cy="1011224"/>
          </a:xfrm>
          <a:prstGeom prst="rect">
            <a:avLst/>
          </a:prstGeom>
        </p:spPr>
      </p:pic>
      <p:sp>
        <p:nvSpPr>
          <p:cNvPr id="8" name="右大括号 7">
            <a:extLst>
              <a:ext uri="{FF2B5EF4-FFF2-40B4-BE49-F238E27FC236}">
                <a16:creationId xmlns:a16="http://schemas.microsoft.com/office/drawing/2014/main" id="{8957E9EB-EA6A-9B50-B244-C1E3B993C721}"/>
              </a:ext>
            </a:extLst>
          </p:cNvPr>
          <p:cNvSpPr/>
          <p:nvPr/>
        </p:nvSpPr>
        <p:spPr>
          <a:xfrm rot="5400000">
            <a:off x="4288183" y="179599"/>
            <a:ext cx="414594" cy="783439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13EBBA32-7689-6611-63AE-C7C3E559C81B}"/>
              </a:ext>
            </a:extLst>
          </p:cNvPr>
          <p:cNvSpPr txBox="1"/>
          <p:nvPr/>
        </p:nvSpPr>
        <p:spPr>
          <a:xfrm>
            <a:off x="3826066" y="4304092"/>
            <a:ext cx="1338828" cy="369332"/>
          </a:xfrm>
          <a:prstGeom prst="rect">
            <a:avLst/>
          </a:prstGeom>
          <a:noFill/>
        </p:spPr>
        <p:txBody>
          <a:bodyPr wrap="none" rtlCol="0">
            <a:spAutoFit/>
          </a:bodyPr>
          <a:lstStyle/>
          <a:p>
            <a:r>
              <a:rPr lang="zh-CN" altLang="en-US" dirty="0"/>
              <a:t>分布参数化</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EADBD8A-92CD-2D30-07E0-FF07889267B3}"/>
                  </a:ext>
                </a:extLst>
              </p:cNvPr>
              <p:cNvSpPr txBox="1"/>
              <p:nvPr/>
            </p:nvSpPr>
            <p:spPr>
              <a:xfrm>
                <a:off x="2747117" y="4592988"/>
                <a:ext cx="34967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sep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e>
                          <m:r>
                            <a:rPr lang="en-US" altLang="zh-CN" b="0" i="1" smtClean="0">
                              <a:latin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d>
                        <m:dPr>
                          <m:sep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𝜃</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10" name="文本框 9">
                <a:extLst>
                  <a:ext uri="{FF2B5EF4-FFF2-40B4-BE49-F238E27FC236}">
                    <a16:creationId xmlns:a16="http://schemas.microsoft.com/office/drawing/2014/main" id="{FEADBD8A-92CD-2D30-07E0-FF07889267B3}"/>
                  </a:ext>
                </a:extLst>
              </p:cNvPr>
              <p:cNvSpPr txBox="1">
                <a:spLocks noRot="1" noChangeAspect="1" noMove="1" noResize="1" noEditPoints="1" noAdjustHandles="1" noChangeArrowheads="1" noChangeShapeType="1" noTextEdit="1"/>
              </p:cNvSpPr>
              <p:nvPr/>
            </p:nvSpPr>
            <p:spPr>
              <a:xfrm>
                <a:off x="2747117" y="4592988"/>
                <a:ext cx="3496726" cy="369332"/>
              </a:xfrm>
              <a:prstGeom prst="rect">
                <a:avLst/>
              </a:prstGeom>
              <a:blipFill>
                <a:blip r:embed="rId7"/>
                <a:stretch>
                  <a:fillRect b="-1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6722A87-A31B-256B-0599-0B577009D596}"/>
                  </a:ext>
                </a:extLst>
              </p:cNvPr>
              <p:cNvSpPr txBox="1"/>
              <p:nvPr/>
            </p:nvSpPr>
            <p:spPr>
              <a:xfrm>
                <a:off x="480060" y="5262121"/>
                <a:ext cx="8501623" cy="7630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m:rPr>
                              <m:lit/>
                            </m:rP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nary>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func>
                        </m:e>
                      </m:nary>
                    </m:oMath>
                  </m:oMathPara>
                </a14:m>
                <a:endParaRPr lang="zh-CN" altLang="en-US" dirty="0"/>
              </a:p>
            </p:txBody>
          </p:sp>
        </mc:Choice>
        <mc:Fallback xmlns="">
          <p:sp>
            <p:nvSpPr>
              <p:cNvPr id="22" name="文本框 21">
                <a:extLst>
                  <a:ext uri="{FF2B5EF4-FFF2-40B4-BE49-F238E27FC236}">
                    <a16:creationId xmlns:a16="http://schemas.microsoft.com/office/drawing/2014/main" id="{46722A87-A31B-256B-0599-0B577009D596}"/>
                  </a:ext>
                </a:extLst>
              </p:cNvPr>
              <p:cNvSpPr txBox="1">
                <a:spLocks noRot="1" noChangeAspect="1" noMove="1" noResize="1" noEditPoints="1" noAdjustHandles="1" noChangeArrowheads="1" noChangeShapeType="1" noTextEdit="1"/>
              </p:cNvSpPr>
              <p:nvPr/>
            </p:nvSpPr>
            <p:spPr>
              <a:xfrm>
                <a:off x="480060" y="5262121"/>
                <a:ext cx="8501623" cy="763094"/>
              </a:xfrm>
              <a:prstGeom prst="rect">
                <a:avLst/>
              </a:prstGeom>
              <a:blipFill>
                <a:blip r:embed="rId8"/>
                <a:stretch>
                  <a:fillRect t="-122951" b="-170492"/>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B4405D50-3814-599A-A30C-641E190835AB}"/>
              </a:ext>
            </a:extLst>
          </p:cNvPr>
          <p:cNvCxnSpPr>
            <a:stCxn id="10" idx="2"/>
          </p:cNvCxnSpPr>
          <p:nvPr/>
        </p:nvCxnSpPr>
        <p:spPr>
          <a:xfrm>
            <a:off x="4495480" y="4962320"/>
            <a:ext cx="0" cy="4392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右大括号 12">
            <a:extLst>
              <a:ext uri="{FF2B5EF4-FFF2-40B4-BE49-F238E27FC236}">
                <a16:creationId xmlns:a16="http://schemas.microsoft.com/office/drawing/2014/main" id="{9D759B39-C5D9-87B0-AC11-5EF628263B45}"/>
              </a:ext>
            </a:extLst>
          </p:cNvPr>
          <p:cNvSpPr/>
          <p:nvPr/>
        </p:nvSpPr>
        <p:spPr>
          <a:xfrm rot="5400000">
            <a:off x="5506982" y="2854046"/>
            <a:ext cx="343081" cy="625658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6CC5C65C-54B6-EC54-6A1E-4802883B8230}"/>
              </a:ext>
            </a:extLst>
          </p:cNvPr>
          <p:cNvSpPr txBox="1"/>
          <p:nvPr/>
        </p:nvSpPr>
        <p:spPr>
          <a:xfrm>
            <a:off x="5124524" y="6133042"/>
            <a:ext cx="1107996" cy="369332"/>
          </a:xfrm>
          <a:prstGeom prst="rect">
            <a:avLst/>
          </a:prstGeom>
          <a:noFill/>
        </p:spPr>
        <p:txBody>
          <a:bodyPr wrap="none" rtlCol="0">
            <a:spAutoFit/>
          </a:bodyPr>
          <a:lstStyle/>
          <a:p>
            <a:r>
              <a:rPr lang="zh-CN" altLang="en-US" dirty="0"/>
              <a:t>似然函数</a:t>
            </a:r>
          </a:p>
        </p:txBody>
      </p:sp>
    </p:spTree>
    <p:extLst>
      <p:ext uri="{BB962C8B-B14F-4D97-AF65-F5344CB8AC3E}">
        <p14:creationId xmlns:p14="http://schemas.microsoft.com/office/powerpoint/2010/main" val="204411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408CA77-DC7C-48AD-8A98-937F56668E3B}"/>
                  </a:ext>
                </a:extLst>
              </p:cNvPr>
              <p:cNvSpPr txBox="1"/>
              <p:nvPr/>
            </p:nvSpPr>
            <p:spPr>
              <a:xfrm>
                <a:off x="362671" y="980441"/>
                <a:ext cx="8501623" cy="7630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m:rPr>
                              <m:lit/>
                            </m:rP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nary>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func>
                        </m:e>
                      </m:nary>
                    </m:oMath>
                  </m:oMathPara>
                </a14:m>
                <a:endParaRPr lang="zh-CN" altLang="en-US" dirty="0"/>
              </a:p>
            </p:txBody>
          </p:sp>
        </mc:Choice>
        <mc:Fallback xmlns="">
          <p:sp>
            <p:nvSpPr>
              <p:cNvPr id="22" name="文本框 21">
                <a:extLst>
                  <a:ext uri="{FF2B5EF4-FFF2-40B4-BE49-F238E27FC236}">
                    <a16:creationId xmlns:a16="http://schemas.microsoft.com/office/drawing/2014/main" id="{C408CA77-DC7C-48AD-8A98-937F56668E3B}"/>
                  </a:ext>
                </a:extLst>
              </p:cNvPr>
              <p:cNvSpPr txBox="1">
                <a:spLocks noRot="1" noChangeAspect="1" noMove="1" noResize="1" noEditPoints="1" noAdjustHandles="1" noChangeArrowheads="1" noChangeShapeType="1" noTextEdit="1"/>
              </p:cNvSpPr>
              <p:nvPr/>
            </p:nvSpPr>
            <p:spPr>
              <a:xfrm>
                <a:off x="362671" y="980441"/>
                <a:ext cx="8501623" cy="763094"/>
              </a:xfrm>
              <a:prstGeom prst="rect">
                <a:avLst/>
              </a:prstGeom>
              <a:blipFill>
                <a:blip r:embed="rId3"/>
                <a:stretch>
                  <a:fillRect t="-122951" b="-168852"/>
                </a:stretch>
              </a:blipFill>
            </p:spPr>
            <p:txBody>
              <a:bodyPr/>
              <a:lstStyle/>
              <a:p>
                <a:r>
                  <a:rPr lang="zh-CN" altLang="en-US">
                    <a:noFill/>
                  </a:rPr>
                  <a:t> </a:t>
                </a:r>
              </a:p>
            </p:txBody>
          </p:sp>
        </mc:Fallback>
      </mc:AlternateContent>
      <p:sp>
        <p:nvSpPr>
          <p:cNvPr id="13" name="右大括号 12">
            <a:extLst>
              <a:ext uri="{FF2B5EF4-FFF2-40B4-BE49-F238E27FC236}">
                <a16:creationId xmlns:a16="http://schemas.microsoft.com/office/drawing/2014/main" id="{F33E13ED-7C8F-45C9-8E2C-F271E56C1D71}"/>
              </a:ext>
            </a:extLst>
          </p:cNvPr>
          <p:cNvSpPr/>
          <p:nvPr/>
        </p:nvSpPr>
        <p:spPr>
          <a:xfrm rot="5400000">
            <a:off x="5389593" y="-1427634"/>
            <a:ext cx="343081" cy="625658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9DD92BFA-FB67-433E-9EA7-00FE5DF24232}"/>
              </a:ext>
            </a:extLst>
          </p:cNvPr>
          <p:cNvSpPr txBox="1"/>
          <p:nvPr/>
        </p:nvSpPr>
        <p:spPr>
          <a:xfrm>
            <a:off x="5007135" y="1851362"/>
            <a:ext cx="1107996" cy="369332"/>
          </a:xfrm>
          <a:prstGeom prst="rect">
            <a:avLst/>
          </a:prstGeom>
          <a:noFill/>
        </p:spPr>
        <p:txBody>
          <a:bodyPr wrap="none" rtlCol="0">
            <a:spAutoFit/>
          </a:bodyPr>
          <a:lstStyle/>
          <a:p>
            <a:r>
              <a:rPr lang="zh-CN" altLang="en-US" dirty="0"/>
              <a:t>似然函数</a:t>
            </a:r>
          </a:p>
        </p:txBody>
      </p:sp>
      <p:sp>
        <p:nvSpPr>
          <p:cNvPr id="5" name="文本框 4">
            <a:extLst>
              <a:ext uri="{FF2B5EF4-FFF2-40B4-BE49-F238E27FC236}">
                <a16:creationId xmlns:a16="http://schemas.microsoft.com/office/drawing/2014/main" id="{B9E75B5E-ABD6-421B-8896-B695AB125072}"/>
              </a:ext>
            </a:extLst>
          </p:cNvPr>
          <p:cNvSpPr txBox="1"/>
          <p:nvPr/>
        </p:nvSpPr>
        <p:spPr>
          <a:xfrm>
            <a:off x="420129" y="2150075"/>
            <a:ext cx="1840632" cy="369332"/>
          </a:xfrm>
          <a:prstGeom prst="rect">
            <a:avLst/>
          </a:prstGeom>
          <a:noFill/>
        </p:spPr>
        <p:txBody>
          <a:bodyPr wrap="none" rtlCol="0">
            <a:spAutoFit/>
          </a:bodyPr>
          <a:lstStyle/>
          <a:p>
            <a:r>
              <a:rPr lang="zh-CN" altLang="en-US" dirty="0"/>
              <a:t>最大似然学习：</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CC80C9A-92E7-48A0-A5E8-8C786CD5CDCB}"/>
                  </a:ext>
                </a:extLst>
              </p:cNvPr>
              <p:cNvSpPr txBox="1"/>
              <p:nvPr/>
            </p:nvSpPr>
            <p:spPr>
              <a:xfrm>
                <a:off x="3047027" y="2420875"/>
                <a:ext cx="3132909" cy="682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𝜃</m:t>
                          </m:r>
                        </m:e>
                      </m:acc>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arg</m:t>
                          </m:r>
                        </m:fName>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nary>
                                <m:naryPr>
                                  <m:chr m:val="∑"/>
                                  <m:subHide m:val="on"/>
                                  <m:supHide m:val="on"/>
                                  <m:ctrlPr>
                                    <a:rPr lang="en-US" altLang="zh-CN" i="1">
                                      <a:latin typeface="Cambria Math" panose="02040503050406030204" pitchFamily="18" charset="0"/>
                                      <a:ea typeface="Cambria Math" panose="02040503050406030204" pitchFamily="18" charset="0"/>
                                    </a:rPr>
                                  </m:ctrlPr>
                                </m:naryPr>
                                <m:sub/>
                                <m:sup/>
                                <m:e>
                                  <m:func>
                                    <m:funcPr>
                                      <m:ctrlPr>
                                        <a:rPr lang="en-US" altLang="zh-CN" i="1">
                                          <a:latin typeface="Cambria Math" panose="02040503050406030204" pitchFamily="18" charset="0"/>
                                          <a:ea typeface="Cambria Math" panose="02040503050406030204" pitchFamily="18" charset="0"/>
                                        </a:rPr>
                                      </m:ctrlPr>
                                    </m:funcPr>
                                    <m:fName>
                                      <m:r>
                                        <m:rPr>
                                          <m:sty m:val="p"/>
                                        </m:rPr>
                                        <a:rPr lang="en-US" altLang="zh-CN">
                                          <a:latin typeface="Cambria Math" panose="02040503050406030204" pitchFamily="18" charset="0"/>
                                          <a:ea typeface="Cambria Math" panose="02040503050406030204" pitchFamily="18" charset="0"/>
                                        </a:rPr>
                                        <m:t>log</m:t>
                                      </m:r>
                                    </m:fName>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𝜃</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e>
                                  </m:func>
                                </m:e>
                              </m:nary>
                            </m:e>
                          </m:func>
                        </m:e>
                      </m:func>
                    </m:oMath>
                  </m:oMathPara>
                </a14:m>
                <a:endParaRPr lang="en-US" altLang="zh-CN" b="0" dirty="0"/>
              </a:p>
            </p:txBody>
          </p:sp>
        </mc:Choice>
        <mc:Fallback xmlns="">
          <p:sp>
            <p:nvSpPr>
              <p:cNvPr id="6" name="文本框 5">
                <a:extLst>
                  <a:ext uri="{FF2B5EF4-FFF2-40B4-BE49-F238E27FC236}">
                    <a16:creationId xmlns:a16="http://schemas.microsoft.com/office/drawing/2014/main" id="{7CC80C9A-92E7-48A0-A5E8-8C786CD5CDCB}"/>
                  </a:ext>
                </a:extLst>
              </p:cNvPr>
              <p:cNvSpPr txBox="1">
                <a:spLocks noRot="1" noChangeAspect="1" noMove="1" noResize="1" noEditPoints="1" noAdjustHandles="1" noChangeArrowheads="1" noChangeShapeType="1" noTextEdit="1"/>
              </p:cNvSpPr>
              <p:nvPr/>
            </p:nvSpPr>
            <p:spPr>
              <a:xfrm>
                <a:off x="3047027" y="2420875"/>
                <a:ext cx="3132909" cy="682366"/>
              </a:xfrm>
              <a:prstGeom prst="rect">
                <a:avLst/>
              </a:prstGeom>
              <a:blipFill>
                <a:blip r:embed="rId4"/>
                <a:stretch>
                  <a:fillRect/>
                </a:stretch>
              </a:blipFill>
            </p:spPr>
            <p:txBody>
              <a:bodyPr/>
              <a:lstStyle/>
              <a:p>
                <a:r>
                  <a:rPr lang="zh-CN" altLang="en-US">
                    <a:noFill/>
                  </a:rPr>
                  <a:t> </a:t>
                </a:r>
              </a:p>
            </p:txBody>
          </p:sp>
        </mc:Fallback>
      </mc:AlternateContent>
      <p:pic>
        <p:nvPicPr>
          <p:cNvPr id="26" name="图片 25">
            <a:extLst>
              <a:ext uri="{FF2B5EF4-FFF2-40B4-BE49-F238E27FC236}">
                <a16:creationId xmlns:a16="http://schemas.microsoft.com/office/drawing/2014/main" id="{C7971EA5-EF33-48A3-97DB-714E6B579B2F}"/>
              </a:ext>
            </a:extLst>
          </p:cNvPr>
          <p:cNvPicPr>
            <a:picLocks noChangeAspect="1"/>
          </p:cNvPicPr>
          <p:nvPr/>
        </p:nvPicPr>
        <p:blipFill>
          <a:blip r:embed="rId5"/>
          <a:stretch>
            <a:fillRect/>
          </a:stretch>
        </p:blipFill>
        <p:spPr>
          <a:xfrm>
            <a:off x="814213" y="4072987"/>
            <a:ext cx="3237255" cy="1916034"/>
          </a:xfrm>
          <a:prstGeom prst="rect">
            <a:avLst/>
          </a:prstGeom>
        </p:spPr>
      </p:pic>
      <p:cxnSp>
        <p:nvCxnSpPr>
          <p:cNvPr id="11" name="连接符: 曲线 10">
            <a:extLst>
              <a:ext uri="{FF2B5EF4-FFF2-40B4-BE49-F238E27FC236}">
                <a16:creationId xmlns:a16="http://schemas.microsoft.com/office/drawing/2014/main" id="{58A24F59-EC0E-4FF5-9EB5-78786B007E1E}"/>
              </a:ext>
            </a:extLst>
          </p:cNvPr>
          <p:cNvCxnSpPr>
            <a:cxnSpLocks/>
            <a:stCxn id="26" idx="0"/>
            <a:endCxn id="6" idx="2"/>
          </p:cNvCxnSpPr>
          <p:nvPr/>
        </p:nvCxnSpPr>
        <p:spPr>
          <a:xfrm rot="5400000" flipH="1" flipV="1">
            <a:off x="3038288" y="2497794"/>
            <a:ext cx="969746" cy="218064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6" name="连接符: 曲线 15">
            <a:extLst>
              <a:ext uri="{FF2B5EF4-FFF2-40B4-BE49-F238E27FC236}">
                <a16:creationId xmlns:a16="http://schemas.microsoft.com/office/drawing/2014/main" id="{536666A0-1589-4482-B14F-8685BDD5C89B}"/>
              </a:ext>
            </a:extLst>
          </p:cNvPr>
          <p:cNvCxnSpPr>
            <a:cxnSpLocks/>
            <a:stCxn id="8" idx="0"/>
            <a:endCxn id="6" idx="2"/>
          </p:cNvCxnSpPr>
          <p:nvPr/>
        </p:nvCxnSpPr>
        <p:spPr>
          <a:xfrm rot="16200000" flipV="1">
            <a:off x="5034419" y="2682304"/>
            <a:ext cx="969746" cy="1811619"/>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C7223D9-2BEF-415B-8738-0C841011D0AF}"/>
                  </a:ext>
                </a:extLst>
              </p:cNvPr>
              <p:cNvSpPr txBox="1"/>
              <p:nvPr/>
            </p:nvSpPr>
            <p:spPr>
              <a:xfrm>
                <a:off x="5145764" y="4072987"/>
                <a:ext cx="2558674" cy="319383"/>
              </a:xfrm>
              <a:prstGeom prst="rect">
                <a:avLst/>
              </a:prstGeom>
              <a:noFill/>
            </p:spPr>
            <p:txBody>
              <a:bodyPr wrap="square" rtlCol="0">
                <a:spAutoFit/>
              </a:bodyPr>
              <a:lstStyle/>
              <a:p>
                <a14:m>
                  <m:oMath xmlns:m="http://schemas.openxmlformats.org/officeDocument/2006/math">
                    <m:r>
                      <a:rPr lang="en-US" altLang="zh-CN" sz="1400" b="0" i="1" smtClean="0">
                        <a:latin typeface="Cambria Math" panose="02040503050406030204" pitchFamily="18" charset="0"/>
                      </a:rPr>
                      <m:t>𝜃</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0</m:t>
                        </m:r>
                      </m:sub>
                    </m:sSub>
                    <m:r>
                      <a:rPr lang="en-US" altLang="zh-CN" sz="1400" b="0" i="1" smtClean="0">
                        <a:latin typeface="Cambria Math" panose="02040503050406030204" pitchFamily="18" charset="0"/>
                      </a:rPr>
                      <m:t>}</m:t>
                    </m:r>
                  </m:oMath>
                </a14:m>
                <a:r>
                  <a:rPr lang="en-US" altLang="zh-CN" sz="1400" dirty="0"/>
                  <a:t>,</a:t>
                </a:r>
                <a:r>
                  <a:rPr lang="zh-CN" altLang="en-US" sz="1400" dirty="0"/>
                  <a:t>其中</a:t>
                </a:r>
                <a14:m>
                  <m:oMath xmlns:m="http://schemas.openxmlformats.org/officeDocument/2006/math">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𝜃</m:t>
                        </m:r>
                      </m:e>
                      <m:sub>
                        <m:r>
                          <a:rPr lang="en-US" altLang="zh-CN" sz="1400" b="0" i="1" dirty="0" smtClean="0">
                            <a:latin typeface="Cambria Math" panose="02040503050406030204" pitchFamily="18" charset="0"/>
                          </a:rPr>
                          <m:t>𝑖</m:t>
                        </m:r>
                      </m:sub>
                    </m:sSub>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𝑁</m:t>
                    </m:r>
                    <m:r>
                      <a:rPr lang="en-US" altLang="zh-CN" sz="1400" b="0" i="1" dirty="0" smtClean="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𝜇</m:t>
                        </m:r>
                      </m:e>
                      <m:sub>
                        <m:r>
                          <a:rPr lang="en-US" altLang="zh-CN" sz="1400" b="0" i="1" dirty="0" smtClean="0">
                            <a:latin typeface="Cambria Math" panose="02040503050406030204" pitchFamily="18" charset="0"/>
                          </a:rPr>
                          <m:t>𝑖</m:t>
                        </m:r>
                      </m:sub>
                    </m:sSub>
                    <m:r>
                      <a:rPr lang="en-US" altLang="zh-CN" sz="1400" b="0" i="1" dirty="0" smtClean="0">
                        <a:latin typeface="Cambria Math" panose="02040503050406030204" pitchFamily="18" charset="0"/>
                      </a:rPr>
                      <m:t>,</m:t>
                    </m:r>
                    <m:sSubSup>
                      <m:sSubSupPr>
                        <m:ctrlPr>
                          <a:rPr lang="en-US" altLang="zh-CN" sz="1400" b="0" i="1" dirty="0" smtClean="0">
                            <a:latin typeface="Cambria Math" panose="02040503050406030204" pitchFamily="18" charset="0"/>
                          </a:rPr>
                        </m:ctrlPr>
                      </m:sSubSupPr>
                      <m:e>
                        <m:r>
                          <a:rPr lang="en-US" altLang="zh-CN" sz="1400" b="0" i="1" dirty="0" smtClean="0">
                            <a:latin typeface="Cambria Math" panose="02040503050406030204" pitchFamily="18" charset="0"/>
                          </a:rPr>
                          <m:t>𝜎</m:t>
                        </m:r>
                      </m:e>
                      <m:sub>
                        <m:r>
                          <a:rPr lang="en-US" altLang="zh-CN" sz="1400" b="0" i="1" dirty="0" smtClean="0">
                            <a:latin typeface="Cambria Math" panose="02040503050406030204" pitchFamily="18" charset="0"/>
                          </a:rPr>
                          <m:t>𝑖</m:t>
                        </m:r>
                      </m:sub>
                      <m:sup>
                        <m:r>
                          <a:rPr lang="en-US" altLang="zh-CN" sz="1400" b="0" i="1" dirty="0" smtClean="0">
                            <a:latin typeface="Cambria Math" panose="02040503050406030204" pitchFamily="18" charset="0"/>
                          </a:rPr>
                          <m:t>2</m:t>
                        </m:r>
                      </m:sup>
                    </m:sSubSup>
                    <m:r>
                      <a:rPr lang="en-US" altLang="zh-CN" sz="1400" b="0" i="1" dirty="0" smtClean="0">
                        <a:latin typeface="Cambria Math" panose="02040503050406030204" pitchFamily="18" charset="0"/>
                      </a:rPr>
                      <m:t>)</m:t>
                    </m:r>
                  </m:oMath>
                </a14:m>
                <a:endParaRPr lang="zh-CN" altLang="en-US" sz="1400" dirty="0"/>
              </a:p>
            </p:txBody>
          </p:sp>
        </mc:Choice>
        <mc:Fallback xmlns="">
          <p:sp>
            <p:nvSpPr>
              <p:cNvPr id="8" name="文本框 7">
                <a:extLst>
                  <a:ext uri="{FF2B5EF4-FFF2-40B4-BE49-F238E27FC236}">
                    <a16:creationId xmlns:a16="http://schemas.microsoft.com/office/drawing/2014/main" id="{DC7223D9-2BEF-415B-8738-0C841011D0AF}"/>
                  </a:ext>
                </a:extLst>
              </p:cNvPr>
              <p:cNvSpPr txBox="1">
                <a:spLocks noRot="1" noChangeAspect="1" noMove="1" noResize="1" noEditPoints="1" noAdjustHandles="1" noChangeArrowheads="1" noChangeShapeType="1" noTextEdit="1"/>
              </p:cNvSpPr>
              <p:nvPr/>
            </p:nvSpPr>
            <p:spPr>
              <a:xfrm>
                <a:off x="5145764" y="4072987"/>
                <a:ext cx="2558674" cy="319383"/>
              </a:xfrm>
              <a:prstGeom prst="rect">
                <a:avLst/>
              </a:prstGeom>
              <a:blipFill>
                <a:blip r:embed="rId6"/>
                <a:stretch>
                  <a:fillRect t="-5660" b="-188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7637093-93A2-4D58-817E-11ACC0289666}"/>
                  </a:ext>
                </a:extLst>
              </p:cNvPr>
              <p:cNvSpPr txBox="1"/>
              <p:nvPr/>
            </p:nvSpPr>
            <p:spPr>
              <a:xfrm>
                <a:off x="5145764" y="4397832"/>
                <a:ext cx="3390479" cy="6948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rPr>
                        <m:t>𝑝</m:t>
                      </m:r>
                      <m:d>
                        <m:dPr>
                          <m:sepChr m:val="∣"/>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𝑋</m:t>
                              </m:r>
                            </m:e>
                            <m:sub>
                              <m:r>
                                <a:rPr lang="en-US" altLang="zh-CN" sz="1200" b="0" i="1" smtClean="0">
                                  <a:latin typeface="Cambria Math" panose="02040503050406030204" pitchFamily="18" charset="0"/>
                                </a:rPr>
                                <m:t>1</m:t>
                              </m:r>
                            </m:sub>
                          </m:sSub>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𝑥</m:t>
                              </m:r>
                            </m:e>
                            <m:sub>
                              <m:r>
                                <a:rPr lang="en-US" altLang="zh-CN" sz="1200" b="0" i="1" smtClean="0">
                                  <a:latin typeface="Cambria Math" panose="02040503050406030204" pitchFamily="18" charset="0"/>
                                </a:rPr>
                                <m:t>1</m:t>
                              </m:r>
                            </m:sub>
                          </m:sSub>
                        </m:e>
                        <m:e>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=1</m:t>
                          </m:r>
                        </m:e>
                      </m:d>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1</m:t>
                          </m:r>
                        </m:num>
                        <m:den>
                          <m:rad>
                            <m:radPr>
                              <m:degHide m:val="on"/>
                              <m:ctrlPr>
                                <a:rPr lang="en-US" altLang="zh-CN" sz="1200" b="0" i="1" smtClean="0">
                                  <a:latin typeface="Cambria Math" panose="02040503050406030204" pitchFamily="18" charset="0"/>
                                </a:rPr>
                              </m:ctrlPr>
                            </m:radPr>
                            <m:deg/>
                            <m:e>
                              <m:r>
                                <a:rPr lang="en-US" altLang="zh-CN" sz="1200" b="0" i="1" smtClean="0">
                                  <a:latin typeface="Cambria Math" panose="02040503050406030204" pitchFamily="18" charset="0"/>
                                </a:rPr>
                                <m:t>2</m:t>
                              </m:r>
                              <m:r>
                                <a:rPr lang="en-US" altLang="zh-CN" sz="1200" b="0" i="1" smtClean="0">
                                  <a:latin typeface="Cambria Math" panose="02040503050406030204" pitchFamily="18" charset="0"/>
                                </a:rPr>
                                <m:t>𝜋</m:t>
                              </m:r>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𝜎</m:t>
                                  </m:r>
                                </m:e>
                                <m:sub>
                                  <m:r>
                                    <a:rPr lang="en-US" altLang="zh-CN" sz="1200" b="0" i="1" smtClean="0">
                                      <a:latin typeface="Cambria Math" panose="02040503050406030204" pitchFamily="18" charset="0"/>
                                    </a:rPr>
                                    <m:t>𝑘</m:t>
                                  </m:r>
                                </m:sub>
                                <m:sup>
                                  <m:r>
                                    <a:rPr lang="en-US" altLang="zh-CN" sz="1200" b="0" i="1" smtClean="0">
                                      <a:latin typeface="Cambria Math" panose="02040503050406030204" pitchFamily="18" charset="0"/>
                                    </a:rPr>
                                    <m:t>2</m:t>
                                  </m:r>
                                </m:sup>
                              </m:sSubSup>
                            </m:e>
                          </m:rad>
                        </m:den>
                      </m:f>
                      <m:r>
                        <m:rPr>
                          <m:sty m:val="p"/>
                        </m:rPr>
                        <a:rPr lang="en-US" altLang="zh-CN" sz="1200" b="0" i="0" smtClean="0">
                          <a:latin typeface="Cambria Math" panose="02040503050406030204" pitchFamily="18" charset="0"/>
                        </a:rPr>
                        <m:t>exp</m:t>
                      </m:r>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sSup>
                            <m:sSupPr>
                              <m:ctrlPr>
                                <a:rPr lang="en-US" altLang="zh-CN" sz="1200" b="0" i="1" smtClean="0">
                                  <a:latin typeface="Cambria Math" panose="02040503050406030204" pitchFamily="18" charset="0"/>
                                </a:rPr>
                              </m:ctrlPr>
                            </m:sSupPr>
                            <m:e>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𝑥</m:t>
                                      </m:r>
                                    </m:e>
                                    <m:sub>
                                      <m:r>
                                        <a:rPr lang="en-US" altLang="zh-CN" sz="1200" b="0" i="1" smtClean="0">
                                          <a:latin typeface="Cambria Math" panose="02040503050406030204" pitchFamily="18" charset="0"/>
                                        </a:rPr>
                                        <m:t>1</m:t>
                                      </m:r>
                                    </m:sub>
                                  </m:sSub>
                                  <m:r>
                                    <a:rPr lang="en-US" altLang="zh-CN" sz="1200" b="0" i="1" smtClean="0">
                                      <a:latin typeface="Cambria Math" panose="02040503050406030204" pitchFamily="18" charset="0"/>
                                    </a:rPr>
                                    <m:t>−</m:t>
                                  </m:r>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𝜇</m:t>
                                      </m:r>
                                    </m:e>
                                    <m:sub>
                                      <m:r>
                                        <a:rPr lang="en-US" altLang="zh-CN" sz="1200" b="0" i="1" smtClean="0">
                                          <a:latin typeface="Cambria Math" panose="02040503050406030204" pitchFamily="18" charset="0"/>
                                        </a:rPr>
                                        <m:t>1</m:t>
                                      </m:r>
                                    </m:sub>
                                    <m:sup>
                                      <m:r>
                                        <a:rPr lang="en-US" altLang="zh-CN" sz="1200" b="0" i="1" smtClean="0">
                                          <a:latin typeface="Cambria Math" panose="02040503050406030204" pitchFamily="18" charset="0"/>
                                        </a:rPr>
                                        <m:t>1</m:t>
                                      </m:r>
                                    </m:sup>
                                  </m:sSubSup>
                                </m:e>
                              </m:d>
                            </m:e>
                            <m:sup>
                              <m:r>
                                <a:rPr lang="en-US" altLang="zh-CN" sz="1200" b="0" i="1" smtClean="0">
                                  <a:latin typeface="Cambria Math" panose="02040503050406030204" pitchFamily="18" charset="0"/>
                                </a:rPr>
                                <m:t>2</m:t>
                              </m:r>
                            </m:sup>
                          </m:sSup>
                        </m:num>
                        <m:den>
                          <m:r>
                            <a:rPr lang="en-US" altLang="zh-CN" sz="1200" b="0" i="1" smtClean="0">
                              <a:latin typeface="Cambria Math" panose="02040503050406030204" pitchFamily="18" charset="0"/>
                            </a:rPr>
                            <m:t>2</m:t>
                          </m:r>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𝜎</m:t>
                              </m:r>
                            </m:e>
                            <m:sub>
                              <m:r>
                                <a:rPr lang="en-US" altLang="zh-CN" sz="1200" b="0" i="1" smtClean="0">
                                  <a:latin typeface="Cambria Math" panose="02040503050406030204" pitchFamily="18" charset="0"/>
                                </a:rPr>
                                <m:t>1</m:t>
                              </m:r>
                            </m:sub>
                            <m:sup>
                              <m:r>
                                <a:rPr lang="en-US" altLang="zh-CN" sz="1200" b="0" i="1" smtClean="0">
                                  <a:latin typeface="Cambria Math" panose="02040503050406030204" pitchFamily="18" charset="0"/>
                                </a:rPr>
                                <m:t>2</m:t>
                              </m:r>
                            </m:sup>
                          </m:sSubSup>
                        </m:den>
                      </m:f>
                      <m:r>
                        <a:rPr lang="en-US" altLang="zh-CN" sz="1200" b="0" i="1" smtClean="0">
                          <a:latin typeface="Cambria Math" panose="02040503050406030204" pitchFamily="18" charset="0"/>
                        </a:rPr>
                        <m:t>)</m:t>
                      </m:r>
                    </m:oMath>
                  </m:oMathPara>
                </a14:m>
                <a:endParaRPr lang="zh-CN" altLang="en-US" sz="1200" dirty="0"/>
              </a:p>
            </p:txBody>
          </p:sp>
        </mc:Choice>
        <mc:Fallback xmlns="">
          <p:sp>
            <p:nvSpPr>
              <p:cNvPr id="9" name="文本框 8">
                <a:extLst>
                  <a:ext uri="{FF2B5EF4-FFF2-40B4-BE49-F238E27FC236}">
                    <a16:creationId xmlns:a16="http://schemas.microsoft.com/office/drawing/2014/main" id="{D7637093-93A2-4D58-817E-11ACC0289666}"/>
                  </a:ext>
                </a:extLst>
              </p:cNvPr>
              <p:cNvSpPr txBox="1">
                <a:spLocks noRot="1" noChangeAspect="1" noMove="1" noResize="1" noEditPoints="1" noAdjustHandles="1" noChangeArrowheads="1" noChangeShapeType="1" noTextEdit="1"/>
              </p:cNvSpPr>
              <p:nvPr/>
            </p:nvSpPr>
            <p:spPr>
              <a:xfrm>
                <a:off x="5145764" y="4397832"/>
                <a:ext cx="3390479" cy="694870"/>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3209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A0DF2-375E-2D01-F3EC-DB02F9D52457}"/>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C0360CDF-DC14-B6FF-6785-A44974C220C5}"/>
              </a:ext>
            </a:extLst>
          </p:cNvPr>
          <p:cNvGrpSpPr/>
          <p:nvPr/>
        </p:nvGrpSpPr>
        <p:grpSpPr>
          <a:xfrm>
            <a:off x="-4445" y="260985"/>
            <a:ext cx="8925560" cy="708025"/>
            <a:chOff x="-9" y="254"/>
            <a:chExt cx="14056" cy="1115"/>
          </a:xfrm>
        </p:grpSpPr>
        <p:sp>
          <p:nvSpPr>
            <p:cNvPr id="34" name="矩形 33">
              <a:extLst>
                <a:ext uri="{FF2B5EF4-FFF2-40B4-BE49-F238E27FC236}">
                  <a16:creationId xmlns:a16="http://schemas.microsoft.com/office/drawing/2014/main" id="{8AB7E8FC-5523-B8FC-DFA1-01EA5B5183A6}"/>
                </a:ext>
              </a:extLst>
            </p:cNvPr>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3E4CD008-AB7F-CB96-B854-F81D55A3CAD4}"/>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F1CB8E03-C6A1-4403-E10A-99B4E40FF750}"/>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7DFB7EC7-99F6-D732-4FC3-791AA32E2FDF}"/>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C5EF205B-07D4-3A2C-1F12-47816ED80117}"/>
                </a:ext>
              </a:extLst>
            </p:cNvPr>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参数学习</a:t>
              </a:r>
            </a:p>
          </p:txBody>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FC583F3-A235-B7DD-B867-A170627E697C}"/>
                  </a:ext>
                </a:extLst>
              </p:cNvPr>
              <p:cNvSpPr txBox="1"/>
              <p:nvPr/>
            </p:nvSpPr>
            <p:spPr>
              <a:xfrm>
                <a:off x="362671" y="980441"/>
                <a:ext cx="8501623" cy="7630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1</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2</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𝑝</m:t>
                      </m:r>
                      <m:d>
                        <m:dPr>
                          <m:sepChr m:val="∣"/>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3</m:t>
                              </m:r>
                            </m:sub>
                          </m:sSub>
                        </m:e>
                        <m:e>
                          <m:r>
                            <a:rPr lang="en-US" altLang="zh-CN" b="0" i="1" smtClean="0">
                              <a:latin typeface="Cambria Math" panose="02040503050406030204" pitchFamily="18" charset="0"/>
                              <a:ea typeface="Cambria Math" panose="02040503050406030204" pitchFamily="18" charset="0"/>
                            </a:rPr>
                            <m:t>𝑦</m:t>
                          </m:r>
                        </m:e>
                      </m:d>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m:rPr>
                              <m:lit/>
                            </m:rP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nary>
                      <m:r>
                        <a:rPr lang="en-US" altLang="zh-CN" b="0" i="1" smtClean="0">
                          <a:latin typeface="Cambria Math" panose="02040503050406030204" pitchFamily="18" charset="0"/>
                          <a:ea typeface="Cambria Math" panose="02040503050406030204" pitchFamily="18" charset="0"/>
                        </a:rPr>
                        <m:t>∝</m:t>
                      </m:r>
                      <m:nary>
                        <m:naryPr>
                          <m:chr m:val="∑"/>
                          <m:subHide m:val="on"/>
                          <m:supHide m:val="on"/>
                          <m:ctrlPr>
                            <a:rPr lang="en-US" altLang="zh-CN" b="0" i="1" smtClean="0">
                              <a:latin typeface="Cambria Math" panose="02040503050406030204" pitchFamily="18" charset="0"/>
                              <a:ea typeface="Cambria Math" panose="02040503050406030204" pitchFamily="18" charset="0"/>
                            </a:rPr>
                          </m:ctrlPr>
                        </m:naryPr>
                        <m:sub/>
                        <m:sup/>
                        <m:e>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log</m:t>
                              </m:r>
                            </m:fName>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𝜃</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e>
                          </m:func>
                        </m:e>
                      </m:nary>
                    </m:oMath>
                  </m:oMathPara>
                </a14:m>
                <a:endParaRPr lang="zh-CN" altLang="en-US" dirty="0"/>
              </a:p>
            </p:txBody>
          </p:sp>
        </mc:Choice>
        <mc:Fallback xmlns="">
          <p:sp>
            <p:nvSpPr>
              <p:cNvPr id="22" name="文本框 21">
                <a:extLst>
                  <a:ext uri="{FF2B5EF4-FFF2-40B4-BE49-F238E27FC236}">
                    <a16:creationId xmlns:a16="http://schemas.microsoft.com/office/drawing/2014/main" id="{6FC583F3-A235-B7DD-B867-A170627E697C}"/>
                  </a:ext>
                </a:extLst>
              </p:cNvPr>
              <p:cNvSpPr txBox="1">
                <a:spLocks noRot="1" noChangeAspect="1" noMove="1" noResize="1" noEditPoints="1" noAdjustHandles="1" noChangeArrowheads="1" noChangeShapeType="1" noTextEdit="1"/>
              </p:cNvSpPr>
              <p:nvPr/>
            </p:nvSpPr>
            <p:spPr>
              <a:xfrm>
                <a:off x="362671" y="980441"/>
                <a:ext cx="8501623" cy="763094"/>
              </a:xfrm>
              <a:prstGeom prst="rect">
                <a:avLst/>
              </a:prstGeom>
              <a:blipFill>
                <a:blip r:embed="rId3"/>
                <a:stretch>
                  <a:fillRect t="-122951" b="-168852"/>
                </a:stretch>
              </a:blipFill>
            </p:spPr>
            <p:txBody>
              <a:bodyPr/>
              <a:lstStyle/>
              <a:p>
                <a:r>
                  <a:rPr lang="zh-CN" altLang="en-US">
                    <a:noFill/>
                  </a:rPr>
                  <a:t> </a:t>
                </a:r>
              </a:p>
            </p:txBody>
          </p:sp>
        </mc:Fallback>
      </mc:AlternateContent>
      <p:sp>
        <p:nvSpPr>
          <p:cNvPr id="13" name="右大括号 12">
            <a:extLst>
              <a:ext uri="{FF2B5EF4-FFF2-40B4-BE49-F238E27FC236}">
                <a16:creationId xmlns:a16="http://schemas.microsoft.com/office/drawing/2014/main" id="{EA9C6849-C45C-D16F-ACCF-E903377B385B}"/>
              </a:ext>
            </a:extLst>
          </p:cNvPr>
          <p:cNvSpPr/>
          <p:nvPr/>
        </p:nvSpPr>
        <p:spPr>
          <a:xfrm rot="5400000">
            <a:off x="5389593" y="-1427634"/>
            <a:ext cx="343081" cy="625658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EF2F2DB1-5BD8-10F1-5035-A5F78F96AC77}"/>
              </a:ext>
            </a:extLst>
          </p:cNvPr>
          <p:cNvSpPr txBox="1"/>
          <p:nvPr/>
        </p:nvSpPr>
        <p:spPr>
          <a:xfrm>
            <a:off x="5007135" y="1851362"/>
            <a:ext cx="1107996" cy="369332"/>
          </a:xfrm>
          <a:prstGeom prst="rect">
            <a:avLst/>
          </a:prstGeom>
          <a:noFill/>
        </p:spPr>
        <p:txBody>
          <a:bodyPr wrap="none" rtlCol="0">
            <a:spAutoFit/>
          </a:bodyPr>
          <a:lstStyle/>
          <a:p>
            <a:r>
              <a:rPr lang="zh-CN" altLang="en-US" dirty="0"/>
              <a:t>似然函数</a:t>
            </a:r>
          </a:p>
        </p:txBody>
      </p:sp>
      <p:sp>
        <p:nvSpPr>
          <p:cNvPr id="5" name="文本框 4">
            <a:extLst>
              <a:ext uri="{FF2B5EF4-FFF2-40B4-BE49-F238E27FC236}">
                <a16:creationId xmlns:a16="http://schemas.microsoft.com/office/drawing/2014/main" id="{6914D17D-1401-AF71-8A87-5306CA5FC235}"/>
              </a:ext>
            </a:extLst>
          </p:cNvPr>
          <p:cNvSpPr txBox="1"/>
          <p:nvPr/>
        </p:nvSpPr>
        <p:spPr>
          <a:xfrm>
            <a:off x="420129" y="2150075"/>
            <a:ext cx="1840632" cy="369332"/>
          </a:xfrm>
          <a:prstGeom prst="rect">
            <a:avLst/>
          </a:prstGeom>
          <a:noFill/>
        </p:spPr>
        <p:txBody>
          <a:bodyPr wrap="none" rtlCol="0">
            <a:spAutoFit/>
          </a:bodyPr>
          <a:lstStyle/>
          <a:p>
            <a:r>
              <a:rPr lang="zh-CN" altLang="en-US" dirty="0"/>
              <a:t>最大似然学习：</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C1C1F10-BA08-483C-23FD-3C48ED1588AE}"/>
                  </a:ext>
                </a:extLst>
              </p:cNvPr>
              <p:cNvSpPr txBox="1"/>
              <p:nvPr/>
            </p:nvSpPr>
            <p:spPr>
              <a:xfrm>
                <a:off x="3047027" y="2420875"/>
                <a:ext cx="3132909" cy="682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𝜃</m:t>
                          </m:r>
                        </m:e>
                      </m:acc>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arg</m:t>
                          </m:r>
                        </m:fName>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nary>
                                <m:naryPr>
                                  <m:chr m:val="∑"/>
                                  <m:subHide m:val="on"/>
                                  <m:supHide m:val="on"/>
                                  <m:ctrlPr>
                                    <a:rPr lang="en-US" altLang="zh-CN" i="1">
                                      <a:latin typeface="Cambria Math" panose="02040503050406030204" pitchFamily="18" charset="0"/>
                                      <a:ea typeface="Cambria Math" panose="02040503050406030204" pitchFamily="18" charset="0"/>
                                    </a:rPr>
                                  </m:ctrlPr>
                                </m:naryPr>
                                <m:sub/>
                                <m:sup/>
                                <m:e>
                                  <m:func>
                                    <m:funcPr>
                                      <m:ctrlPr>
                                        <a:rPr lang="en-US" altLang="zh-CN" i="1">
                                          <a:latin typeface="Cambria Math" panose="02040503050406030204" pitchFamily="18" charset="0"/>
                                          <a:ea typeface="Cambria Math" panose="02040503050406030204" pitchFamily="18" charset="0"/>
                                        </a:rPr>
                                      </m:ctrlPr>
                                    </m:funcPr>
                                    <m:fName>
                                      <m:r>
                                        <m:rPr>
                                          <m:sty m:val="p"/>
                                        </m:rPr>
                                        <a:rPr lang="en-US" altLang="zh-CN">
                                          <a:latin typeface="Cambria Math" panose="02040503050406030204" pitchFamily="18" charset="0"/>
                                          <a:ea typeface="Cambria Math" panose="02040503050406030204" pitchFamily="18" charset="0"/>
                                        </a:rPr>
                                        <m:t>log</m:t>
                                      </m:r>
                                    </m:fName>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𝑝</m:t>
                                          </m:r>
                                        </m:e>
                                        <m:sub>
                                          <m:r>
                                            <a:rPr lang="en-US" altLang="zh-CN" i="1">
                                              <a:latin typeface="Cambria Math" panose="02040503050406030204" pitchFamily="18" charset="0"/>
                                              <a:ea typeface="Cambria Math" panose="02040503050406030204" pitchFamily="18" charset="0"/>
                                            </a:rPr>
                                            <m:t>𝜃</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e>
                                  </m:func>
                                </m:e>
                              </m:nary>
                            </m:e>
                          </m:func>
                        </m:e>
                      </m:func>
                    </m:oMath>
                  </m:oMathPara>
                </a14:m>
                <a:endParaRPr lang="en-US" altLang="zh-CN" b="0" dirty="0"/>
              </a:p>
            </p:txBody>
          </p:sp>
        </mc:Choice>
        <mc:Fallback xmlns="">
          <p:sp>
            <p:nvSpPr>
              <p:cNvPr id="6" name="文本框 5">
                <a:extLst>
                  <a:ext uri="{FF2B5EF4-FFF2-40B4-BE49-F238E27FC236}">
                    <a16:creationId xmlns:a16="http://schemas.microsoft.com/office/drawing/2014/main" id="{7C1C1F10-BA08-483C-23FD-3C48ED1588AE}"/>
                  </a:ext>
                </a:extLst>
              </p:cNvPr>
              <p:cNvSpPr txBox="1">
                <a:spLocks noRot="1" noChangeAspect="1" noMove="1" noResize="1" noEditPoints="1" noAdjustHandles="1" noChangeArrowheads="1" noChangeShapeType="1" noTextEdit="1"/>
              </p:cNvSpPr>
              <p:nvPr/>
            </p:nvSpPr>
            <p:spPr>
              <a:xfrm>
                <a:off x="3047027" y="2420875"/>
                <a:ext cx="3132909" cy="682366"/>
              </a:xfrm>
              <a:prstGeom prst="rect">
                <a:avLst/>
              </a:prstGeom>
              <a:blipFill>
                <a:blip r:embed="rId4"/>
                <a:stretch>
                  <a:fillRect l="-810" t="-141818" r="-1619" b="-192727"/>
                </a:stretch>
              </a:blipFill>
            </p:spPr>
            <p:txBody>
              <a:bodyPr/>
              <a:lstStyle/>
              <a:p>
                <a:r>
                  <a:rPr lang="zh-CN" altLang="en-US">
                    <a:noFill/>
                  </a:rPr>
                  <a:t> </a:t>
                </a:r>
              </a:p>
            </p:txBody>
          </p:sp>
        </mc:Fallback>
      </mc:AlternateContent>
      <p:pic>
        <p:nvPicPr>
          <p:cNvPr id="26" name="图片 25">
            <a:extLst>
              <a:ext uri="{FF2B5EF4-FFF2-40B4-BE49-F238E27FC236}">
                <a16:creationId xmlns:a16="http://schemas.microsoft.com/office/drawing/2014/main" id="{858A92D5-832D-7D17-0B1A-334F4C6E291D}"/>
              </a:ext>
            </a:extLst>
          </p:cNvPr>
          <p:cNvPicPr>
            <a:picLocks noChangeAspect="1"/>
          </p:cNvPicPr>
          <p:nvPr/>
        </p:nvPicPr>
        <p:blipFill>
          <a:blip r:embed="rId5"/>
          <a:stretch>
            <a:fillRect/>
          </a:stretch>
        </p:blipFill>
        <p:spPr>
          <a:xfrm>
            <a:off x="814213" y="4072987"/>
            <a:ext cx="3237255" cy="1916034"/>
          </a:xfrm>
          <a:prstGeom prst="rect">
            <a:avLst/>
          </a:prstGeom>
        </p:spPr>
      </p:pic>
      <p:cxnSp>
        <p:nvCxnSpPr>
          <p:cNvPr id="11" name="连接符: 曲线 10">
            <a:extLst>
              <a:ext uri="{FF2B5EF4-FFF2-40B4-BE49-F238E27FC236}">
                <a16:creationId xmlns:a16="http://schemas.microsoft.com/office/drawing/2014/main" id="{81E0E3C9-310D-CE12-5610-58D844103677}"/>
              </a:ext>
            </a:extLst>
          </p:cNvPr>
          <p:cNvCxnSpPr>
            <a:cxnSpLocks/>
            <a:stCxn id="26" idx="0"/>
            <a:endCxn id="6" idx="2"/>
          </p:cNvCxnSpPr>
          <p:nvPr/>
        </p:nvCxnSpPr>
        <p:spPr>
          <a:xfrm rot="5400000" flipH="1" flipV="1">
            <a:off x="3038288" y="2497794"/>
            <a:ext cx="969746" cy="218064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6" name="连接符: 曲线 15">
            <a:extLst>
              <a:ext uri="{FF2B5EF4-FFF2-40B4-BE49-F238E27FC236}">
                <a16:creationId xmlns:a16="http://schemas.microsoft.com/office/drawing/2014/main" id="{54E5EF31-8D8F-0EF4-AFE0-05655E8CFEEC}"/>
              </a:ext>
            </a:extLst>
          </p:cNvPr>
          <p:cNvCxnSpPr>
            <a:cxnSpLocks/>
            <a:stCxn id="8" idx="0"/>
            <a:endCxn id="6" idx="2"/>
          </p:cNvCxnSpPr>
          <p:nvPr/>
        </p:nvCxnSpPr>
        <p:spPr>
          <a:xfrm rot="16200000" flipV="1">
            <a:off x="5034419" y="2682304"/>
            <a:ext cx="969746" cy="1811619"/>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3E09C14-FD05-AB12-93F7-5F532F7FE20E}"/>
                  </a:ext>
                </a:extLst>
              </p:cNvPr>
              <p:cNvSpPr txBox="1"/>
              <p:nvPr/>
            </p:nvSpPr>
            <p:spPr>
              <a:xfrm>
                <a:off x="5145764" y="4072987"/>
                <a:ext cx="2558674" cy="319383"/>
              </a:xfrm>
              <a:prstGeom prst="rect">
                <a:avLst/>
              </a:prstGeom>
              <a:noFill/>
            </p:spPr>
            <p:txBody>
              <a:bodyPr wrap="square" rtlCol="0">
                <a:spAutoFit/>
              </a:bodyPr>
              <a:lstStyle/>
              <a:p>
                <a14:m>
                  <m:oMath xmlns:m="http://schemas.openxmlformats.org/officeDocument/2006/math">
                    <m:r>
                      <a:rPr lang="en-US" altLang="zh-CN" sz="1400" b="0" i="1" smtClean="0">
                        <a:latin typeface="Cambria Math" panose="02040503050406030204" pitchFamily="18" charset="0"/>
                      </a:rPr>
                      <m:t>𝜃</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0</m:t>
                        </m:r>
                      </m:sub>
                    </m:sSub>
                    <m:r>
                      <a:rPr lang="en-US" altLang="zh-CN" sz="1400" b="0" i="1" smtClean="0">
                        <a:latin typeface="Cambria Math" panose="02040503050406030204" pitchFamily="18" charset="0"/>
                      </a:rPr>
                      <m:t>}</m:t>
                    </m:r>
                  </m:oMath>
                </a14:m>
                <a:r>
                  <a:rPr lang="en-US" altLang="zh-CN" sz="1400" dirty="0"/>
                  <a:t>,</a:t>
                </a:r>
                <a:r>
                  <a:rPr lang="zh-CN" altLang="en-US" sz="1400" dirty="0"/>
                  <a:t>其中</a:t>
                </a:r>
                <a14:m>
                  <m:oMath xmlns:m="http://schemas.openxmlformats.org/officeDocument/2006/math">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𝜃</m:t>
                        </m:r>
                      </m:e>
                      <m:sub>
                        <m:r>
                          <a:rPr lang="en-US" altLang="zh-CN" sz="1400" b="0" i="1" dirty="0" smtClean="0">
                            <a:latin typeface="Cambria Math" panose="02040503050406030204" pitchFamily="18" charset="0"/>
                          </a:rPr>
                          <m:t>𝑖</m:t>
                        </m:r>
                      </m:sub>
                    </m:sSub>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𝑁</m:t>
                    </m:r>
                    <m:r>
                      <a:rPr lang="en-US" altLang="zh-CN" sz="1400" b="0" i="1" dirty="0" smtClean="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𝜇</m:t>
                        </m:r>
                      </m:e>
                      <m:sub>
                        <m:r>
                          <a:rPr lang="en-US" altLang="zh-CN" sz="1400" b="0" i="1" dirty="0" smtClean="0">
                            <a:latin typeface="Cambria Math" panose="02040503050406030204" pitchFamily="18" charset="0"/>
                          </a:rPr>
                          <m:t>𝑖</m:t>
                        </m:r>
                      </m:sub>
                    </m:sSub>
                    <m:r>
                      <a:rPr lang="en-US" altLang="zh-CN" sz="1400" b="0" i="1" dirty="0" smtClean="0">
                        <a:latin typeface="Cambria Math" panose="02040503050406030204" pitchFamily="18" charset="0"/>
                      </a:rPr>
                      <m:t>,</m:t>
                    </m:r>
                    <m:sSubSup>
                      <m:sSubSupPr>
                        <m:ctrlPr>
                          <a:rPr lang="en-US" altLang="zh-CN" sz="1400" b="0" i="1" dirty="0" smtClean="0">
                            <a:latin typeface="Cambria Math" panose="02040503050406030204" pitchFamily="18" charset="0"/>
                          </a:rPr>
                        </m:ctrlPr>
                      </m:sSubSupPr>
                      <m:e>
                        <m:r>
                          <a:rPr lang="en-US" altLang="zh-CN" sz="1400" b="0" i="1" dirty="0" smtClean="0">
                            <a:latin typeface="Cambria Math" panose="02040503050406030204" pitchFamily="18" charset="0"/>
                          </a:rPr>
                          <m:t>𝜎</m:t>
                        </m:r>
                      </m:e>
                      <m:sub>
                        <m:r>
                          <a:rPr lang="en-US" altLang="zh-CN" sz="1400" b="0" i="1" dirty="0" smtClean="0">
                            <a:latin typeface="Cambria Math" panose="02040503050406030204" pitchFamily="18" charset="0"/>
                          </a:rPr>
                          <m:t>𝑖</m:t>
                        </m:r>
                      </m:sub>
                      <m:sup>
                        <m:r>
                          <a:rPr lang="en-US" altLang="zh-CN" sz="1400" b="0" i="1" dirty="0" smtClean="0">
                            <a:latin typeface="Cambria Math" panose="02040503050406030204" pitchFamily="18" charset="0"/>
                          </a:rPr>
                          <m:t>2</m:t>
                        </m:r>
                      </m:sup>
                    </m:sSubSup>
                    <m:r>
                      <a:rPr lang="en-US" altLang="zh-CN" sz="1400" b="0" i="1" dirty="0" smtClean="0">
                        <a:latin typeface="Cambria Math" panose="02040503050406030204" pitchFamily="18" charset="0"/>
                      </a:rPr>
                      <m:t>)</m:t>
                    </m:r>
                  </m:oMath>
                </a14:m>
                <a:endParaRPr lang="zh-CN" altLang="en-US" sz="1400" dirty="0"/>
              </a:p>
            </p:txBody>
          </p:sp>
        </mc:Choice>
        <mc:Fallback xmlns="">
          <p:sp>
            <p:nvSpPr>
              <p:cNvPr id="8" name="文本框 7">
                <a:extLst>
                  <a:ext uri="{FF2B5EF4-FFF2-40B4-BE49-F238E27FC236}">
                    <a16:creationId xmlns:a16="http://schemas.microsoft.com/office/drawing/2014/main" id="{E3E09C14-FD05-AB12-93F7-5F532F7FE20E}"/>
                  </a:ext>
                </a:extLst>
              </p:cNvPr>
              <p:cNvSpPr txBox="1">
                <a:spLocks noRot="1" noChangeAspect="1" noMove="1" noResize="1" noEditPoints="1" noAdjustHandles="1" noChangeArrowheads="1" noChangeShapeType="1" noTextEdit="1"/>
              </p:cNvSpPr>
              <p:nvPr/>
            </p:nvSpPr>
            <p:spPr>
              <a:xfrm>
                <a:off x="5145764" y="4072987"/>
                <a:ext cx="2558674" cy="319383"/>
              </a:xfrm>
              <a:prstGeom prst="rect">
                <a:avLst/>
              </a:prstGeom>
              <a:blipFill>
                <a:blip r:embed="rId6"/>
                <a:stretch>
                  <a:fillRect t="-3704" b="-14815"/>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1C8FE813-24E7-9562-C385-80B1A09F7D8E}"/>
              </a:ext>
            </a:extLst>
          </p:cNvPr>
          <p:cNvPicPr>
            <a:picLocks noChangeAspect="1"/>
          </p:cNvPicPr>
          <p:nvPr/>
        </p:nvPicPr>
        <p:blipFill>
          <a:blip r:embed="rId7"/>
          <a:srcRect l="12364" r="17717"/>
          <a:stretch/>
        </p:blipFill>
        <p:spPr>
          <a:xfrm>
            <a:off x="5145764" y="4429621"/>
            <a:ext cx="2613661" cy="1447938"/>
          </a:xfrm>
          <a:prstGeom prst="rect">
            <a:avLst/>
          </a:prstGeom>
        </p:spPr>
      </p:pic>
    </p:spTree>
    <p:extLst>
      <p:ext uri="{BB962C8B-B14F-4D97-AF65-F5344CB8AC3E}">
        <p14:creationId xmlns:p14="http://schemas.microsoft.com/office/powerpoint/2010/main" val="364794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结果推断</a:t>
              </a:r>
            </a:p>
          </p:txBody>
        </p:sp>
      </p:gr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DD92BFA-FB67-433E-9EA7-00FE5DF24232}"/>
                  </a:ext>
                </a:extLst>
              </p:cNvPr>
              <p:cNvSpPr txBox="1"/>
              <p:nvPr/>
            </p:nvSpPr>
            <p:spPr>
              <a:xfrm>
                <a:off x="480060" y="1171740"/>
                <a:ext cx="5886420" cy="372538"/>
              </a:xfrm>
              <a:prstGeom prst="rect">
                <a:avLst/>
              </a:prstGeom>
              <a:noFill/>
            </p:spPr>
            <p:txBody>
              <a:bodyPr wrap="none" rtlCol="0">
                <a:spAutoFit/>
              </a:bodyPr>
              <a:lstStyle/>
              <a:p>
                <a:r>
                  <a:rPr lang="zh-CN" altLang="en-US" dirty="0"/>
                  <a:t>给定一个新的样本如何做标签的预测？</a:t>
                </a:r>
                <a14:m>
                  <m:oMath xmlns:m="http://schemas.openxmlformats.org/officeDocument/2006/math">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𝑡𝑒𝑠𝑡</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up>
                        <m:r>
                          <a:rPr lang="en-US" altLang="zh-CN" b="0" i="1" smtClean="0">
                            <a:latin typeface="Cambria Math" panose="02040503050406030204" pitchFamily="18" charset="0"/>
                          </a:rPr>
                          <m:t>𝑡𝑒𝑠𝑡</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3</m:t>
                        </m:r>
                      </m:sub>
                      <m:sup>
                        <m:r>
                          <a:rPr lang="en-US" altLang="zh-CN" b="0" i="1" smtClean="0">
                            <a:latin typeface="Cambria Math" panose="02040503050406030204" pitchFamily="18" charset="0"/>
                          </a:rPr>
                          <m:t>𝑡𝑒𝑠𝑡</m:t>
                        </m:r>
                      </m:sup>
                    </m:sSubSup>
                    <m:r>
                      <a:rPr lang="en-US" altLang="zh-CN" b="0" i="1" smtClean="0">
                        <a:latin typeface="Cambria Math" panose="02040503050406030204" pitchFamily="18" charset="0"/>
                      </a:rPr>
                      <m:t>)</m:t>
                    </m:r>
                  </m:oMath>
                </a14:m>
                <a:endParaRPr lang="zh-CN" altLang="en-US" dirty="0"/>
              </a:p>
            </p:txBody>
          </p:sp>
        </mc:Choice>
        <mc:Fallback xmlns="">
          <p:sp>
            <p:nvSpPr>
              <p:cNvPr id="14" name="文本框 13">
                <a:extLst>
                  <a:ext uri="{FF2B5EF4-FFF2-40B4-BE49-F238E27FC236}">
                    <a16:creationId xmlns:a16="http://schemas.microsoft.com/office/drawing/2014/main" id="{9DD92BFA-FB67-433E-9EA7-00FE5DF24232}"/>
                  </a:ext>
                </a:extLst>
              </p:cNvPr>
              <p:cNvSpPr txBox="1">
                <a:spLocks noRot="1" noChangeAspect="1" noMove="1" noResize="1" noEditPoints="1" noAdjustHandles="1" noChangeArrowheads="1" noChangeShapeType="1" noTextEdit="1"/>
              </p:cNvSpPr>
              <p:nvPr/>
            </p:nvSpPr>
            <p:spPr>
              <a:xfrm>
                <a:off x="480060" y="1171740"/>
                <a:ext cx="5886420" cy="372538"/>
              </a:xfrm>
              <a:prstGeom prst="rect">
                <a:avLst/>
              </a:prstGeom>
              <a:blipFill>
                <a:blip r:embed="rId3"/>
                <a:stretch>
                  <a:fillRect l="-933" t="-13115" b="-19672"/>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8B73A354-BF46-498A-9C65-C907E495356E}"/>
              </a:ext>
            </a:extLst>
          </p:cNvPr>
          <p:cNvCxnSpPr/>
          <p:nvPr/>
        </p:nvCxnSpPr>
        <p:spPr>
          <a:xfrm>
            <a:off x="3562545" y="1544278"/>
            <a:ext cx="0" cy="4392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3BF4957-6471-465D-8343-856740FE0972}"/>
                  </a:ext>
                </a:extLst>
              </p:cNvPr>
              <p:cNvSpPr txBox="1"/>
              <p:nvPr/>
            </p:nvSpPr>
            <p:spPr>
              <a:xfrm>
                <a:off x="1300457" y="1983126"/>
                <a:ext cx="5264070" cy="5486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𝑦</m:t>
                          </m:r>
                        </m:e>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d>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𝑝</m:t>
                          </m:r>
                          <m:d>
                            <m:dPr>
                              <m:sep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e>
                            <m:e>
                              <m:r>
                                <a:rPr lang="en-US" altLang="zh-CN" sz="1400" b="0" i="1" smtClean="0">
                                  <a:latin typeface="Cambria Math" panose="02040503050406030204" pitchFamily="18" charset="0"/>
                                </a:rPr>
                                <m:t>𝑦</m:t>
                              </m:r>
                            </m:e>
                          </m:d>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num>
                        <m:den>
                          <m:r>
                            <a:rPr lang="en-US" altLang="zh-CN" sz="1400" b="0" i="1" smtClean="0">
                              <a:latin typeface="Cambria Math" panose="02040503050406030204" pitchFamily="18" charset="0"/>
                            </a:rPr>
                            <m:t>𝑝</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2</m:t>
                              </m:r>
                            </m:sub>
                          </m:sSub>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𝑥</m:t>
                              </m:r>
                            </m:e>
                            <m:sub>
                              <m:r>
                                <a:rPr lang="en-US" altLang="zh-CN" sz="1400" b="0" i="1" smtClean="0">
                                  <a:latin typeface="Cambria Math" panose="02040503050406030204" pitchFamily="18" charset="0"/>
                                </a:rPr>
                                <m:t>3</m:t>
                              </m:r>
                            </m:sub>
                          </m:sSub>
                          <m:r>
                            <a:rPr lang="en-US" altLang="zh-CN" sz="1400" b="0" i="1" smtClean="0">
                              <a:latin typeface="Cambria Math" panose="02040503050406030204" pitchFamily="18" charset="0"/>
                            </a:rPr>
                            <m:t>)</m:t>
                          </m:r>
                        </m:den>
                      </m:f>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𝑝</m:t>
                      </m:r>
                      <m:r>
                        <a:rPr lang="en-US" altLang="zh-CN" sz="1400" b="0" i="1" smtClean="0">
                          <a:latin typeface="Cambria Math" panose="02040503050406030204" pitchFamily="18" charset="0"/>
                          <a:ea typeface="Cambria Math" panose="02040503050406030204" pitchFamily="18" charset="0"/>
                        </a:rPr>
                        <m:t>(</m:t>
                      </m:r>
                      <m:sSubSup>
                        <m:sSubSupPr>
                          <m:ctrlPr>
                            <a:rPr lang="en-US" altLang="zh-CN" sz="1400" b="0" i="1" smtClean="0">
                              <a:latin typeface="Cambria Math" panose="02040503050406030204" pitchFamily="18" charset="0"/>
                              <a:ea typeface="Cambria Math" panose="02040503050406030204" pitchFamily="18" charset="0"/>
                            </a:rPr>
                          </m:ctrlPr>
                        </m:sSubSup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1</m:t>
                          </m:r>
                        </m:sub>
                        <m:sup>
                          <m:r>
                            <a:rPr lang="en-US" altLang="zh-CN" sz="1400" b="0" i="1" smtClean="0">
                              <a:latin typeface="Cambria Math" panose="02040503050406030204" pitchFamily="18" charset="0"/>
                              <a:ea typeface="Cambria Math" panose="02040503050406030204" pitchFamily="18" charset="0"/>
                            </a:rPr>
                            <m:t>𝑡𝑒𝑠𝑡</m:t>
                          </m:r>
                        </m:sup>
                      </m:sSubSup>
                      <m:r>
                        <a:rPr lang="en-US" altLang="zh-CN" sz="1400" b="0" i="1" smtClean="0">
                          <a:latin typeface="Cambria Math" panose="02040503050406030204" pitchFamily="18" charset="0"/>
                          <a:ea typeface="Cambria Math" panose="02040503050406030204" pitchFamily="18" charset="0"/>
                        </a:rPr>
                        <m:t>,</m:t>
                      </m:r>
                      <m:sSubSup>
                        <m:sSubSupPr>
                          <m:ctrlPr>
                            <a:rPr lang="en-US" altLang="zh-CN" sz="1400" b="0" i="1" smtClean="0">
                              <a:latin typeface="Cambria Math" panose="02040503050406030204" pitchFamily="18" charset="0"/>
                              <a:ea typeface="Cambria Math" panose="02040503050406030204" pitchFamily="18" charset="0"/>
                            </a:rPr>
                          </m:ctrlPr>
                        </m:sSubSup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2</m:t>
                          </m:r>
                        </m:sub>
                        <m:sup>
                          <m:r>
                            <a:rPr lang="en-US" altLang="zh-CN" sz="1400" b="0" i="1" smtClean="0">
                              <a:latin typeface="Cambria Math" panose="02040503050406030204" pitchFamily="18" charset="0"/>
                              <a:ea typeface="Cambria Math" panose="02040503050406030204" pitchFamily="18" charset="0"/>
                            </a:rPr>
                            <m:t>𝑡𝑒𝑠𝑡</m:t>
                          </m:r>
                          <m:r>
                            <a:rPr lang="en-US" altLang="zh-CN" sz="1400" b="0" i="1" smtClean="0">
                              <a:latin typeface="Cambria Math" panose="02040503050406030204" pitchFamily="18" charset="0"/>
                              <a:ea typeface="Cambria Math" panose="02040503050406030204" pitchFamily="18" charset="0"/>
                            </a:rPr>
                            <m:t> </m:t>
                          </m:r>
                        </m:sup>
                      </m:sSubSup>
                      <m:r>
                        <a:rPr lang="en-US" altLang="zh-CN" sz="1400" b="0" i="1" smtClean="0">
                          <a:latin typeface="Cambria Math" panose="02040503050406030204" pitchFamily="18" charset="0"/>
                          <a:ea typeface="Cambria Math" panose="02040503050406030204" pitchFamily="18" charset="0"/>
                        </a:rPr>
                        <m:t>,</m:t>
                      </m:r>
                      <m:sSubSup>
                        <m:sSubSupPr>
                          <m:ctrlPr>
                            <a:rPr lang="en-US" altLang="zh-CN" sz="1400" b="0" i="1" smtClean="0">
                              <a:latin typeface="Cambria Math" panose="02040503050406030204" pitchFamily="18" charset="0"/>
                              <a:ea typeface="Cambria Math" panose="02040503050406030204" pitchFamily="18" charset="0"/>
                            </a:rPr>
                          </m:ctrlPr>
                        </m:sSubSupPr>
                        <m:e>
                          <m:r>
                            <a:rPr lang="en-US" altLang="zh-CN" sz="1400" b="0" i="1" smtClean="0">
                              <a:latin typeface="Cambria Math" panose="02040503050406030204" pitchFamily="18" charset="0"/>
                              <a:ea typeface="Cambria Math" panose="02040503050406030204" pitchFamily="18" charset="0"/>
                            </a:rPr>
                            <m:t>𝑥</m:t>
                          </m:r>
                        </m:e>
                        <m:sub>
                          <m:r>
                            <a:rPr lang="en-US" altLang="zh-CN" sz="1400" b="0" i="1" smtClean="0">
                              <a:latin typeface="Cambria Math" panose="02040503050406030204" pitchFamily="18" charset="0"/>
                              <a:ea typeface="Cambria Math" panose="02040503050406030204" pitchFamily="18" charset="0"/>
                            </a:rPr>
                            <m:t>3</m:t>
                          </m:r>
                        </m:sub>
                        <m:sup>
                          <m:r>
                            <a:rPr lang="en-US" altLang="zh-CN" sz="1400" b="0" i="1" smtClean="0">
                              <a:latin typeface="Cambria Math" panose="02040503050406030204" pitchFamily="18" charset="0"/>
                              <a:ea typeface="Cambria Math" panose="02040503050406030204" pitchFamily="18" charset="0"/>
                            </a:rPr>
                            <m:t>𝑡𝑒𝑠𝑡</m:t>
                          </m:r>
                        </m:sup>
                      </m:sSubSup>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𝑦</m:t>
                      </m:r>
                      <m:r>
                        <a:rPr lang="en-US" altLang="zh-CN" sz="1400" b="0" i="1" smtClean="0">
                          <a:latin typeface="Cambria Math" panose="02040503050406030204" pitchFamily="18" charset="0"/>
                          <a:ea typeface="Cambria Math" panose="02040503050406030204" pitchFamily="18" charset="0"/>
                        </a:rPr>
                        <m:t>)</m:t>
                      </m:r>
                    </m:oMath>
                  </m:oMathPara>
                </a14:m>
                <a:endParaRPr lang="zh-CN" altLang="en-US" sz="1400" dirty="0"/>
              </a:p>
            </p:txBody>
          </p:sp>
        </mc:Choice>
        <mc:Fallback xmlns="">
          <p:sp>
            <p:nvSpPr>
              <p:cNvPr id="16" name="文本框 15">
                <a:extLst>
                  <a:ext uri="{FF2B5EF4-FFF2-40B4-BE49-F238E27FC236}">
                    <a16:creationId xmlns:a16="http://schemas.microsoft.com/office/drawing/2014/main" id="{33BF4957-6471-465D-8343-856740FE0972}"/>
                  </a:ext>
                </a:extLst>
              </p:cNvPr>
              <p:cNvSpPr txBox="1">
                <a:spLocks noRot="1" noChangeAspect="1" noMove="1" noResize="1" noEditPoints="1" noAdjustHandles="1" noChangeArrowheads="1" noChangeShapeType="1" noTextEdit="1"/>
              </p:cNvSpPr>
              <p:nvPr/>
            </p:nvSpPr>
            <p:spPr>
              <a:xfrm>
                <a:off x="1300457" y="1983126"/>
                <a:ext cx="5264070" cy="548676"/>
              </a:xfrm>
              <a:prstGeom prst="rect">
                <a:avLst/>
              </a:prstGeom>
              <a:blipFill>
                <a:blip r:embed="rId4"/>
                <a:stretch>
                  <a:fillRect b="-4444"/>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0EDD7650-FFFD-4096-BC5C-4E4BF88EB97E}"/>
              </a:ext>
            </a:extLst>
          </p:cNvPr>
          <p:cNvPicPr>
            <a:picLocks noChangeAspect="1"/>
          </p:cNvPicPr>
          <p:nvPr/>
        </p:nvPicPr>
        <p:blipFill>
          <a:blip r:embed="rId5"/>
          <a:stretch>
            <a:fillRect/>
          </a:stretch>
        </p:blipFill>
        <p:spPr>
          <a:xfrm>
            <a:off x="399742" y="3131700"/>
            <a:ext cx="3237255" cy="1916034"/>
          </a:xfrm>
          <a:prstGeom prst="rect">
            <a:avLst/>
          </a:prstGeom>
        </p:spPr>
      </p:pic>
      <p:cxnSp>
        <p:nvCxnSpPr>
          <p:cNvPr id="18" name="直接箭头连接符 17">
            <a:extLst>
              <a:ext uri="{FF2B5EF4-FFF2-40B4-BE49-F238E27FC236}">
                <a16:creationId xmlns:a16="http://schemas.microsoft.com/office/drawing/2014/main" id="{B8C9C8E0-0107-48E2-B0EC-3986EDA98CC3}"/>
              </a:ext>
            </a:extLst>
          </p:cNvPr>
          <p:cNvCxnSpPr>
            <a:cxnSpLocks/>
            <a:stCxn id="16" idx="2"/>
          </p:cNvCxnSpPr>
          <p:nvPr/>
        </p:nvCxnSpPr>
        <p:spPr>
          <a:xfrm flipH="1">
            <a:off x="2298357" y="2531802"/>
            <a:ext cx="1634135" cy="578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632D189C-C47B-4A32-A59E-FB1C98822895}"/>
              </a:ext>
            </a:extLst>
          </p:cNvPr>
          <p:cNvSpPr txBox="1"/>
          <p:nvPr/>
        </p:nvSpPr>
        <p:spPr>
          <a:xfrm>
            <a:off x="2063578" y="2553447"/>
            <a:ext cx="1107996" cy="369332"/>
          </a:xfrm>
          <a:prstGeom prst="rect">
            <a:avLst/>
          </a:prstGeom>
          <a:noFill/>
        </p:spPr>
        <p:txBody>
          <a:bodyPr wrap="none" rtlCol="0">
            <a:spAutoFit/>
          </a:bodyPr>
          <a:lstStyle/>
          <a:p>
            <a:r>
              <a:rPr lang="zh-CN" altLang="en-US" dirty="0"/>
              <a:t>简单查表</a:t>
            </a:r>
          </a:p>
        </p:txBody>
      </p:sp>
      <p:cxnSp>
        <p:nvCxnSpPr>
          <p:cNvPr id="23" name="直接箭头连接符 22">
            <a:extLst>
              <a:ext uri="{FF2B5EF4-FFF2-40B4-BE49-F238E27FC236}">
                <a16:creationId xmlns:a16="http://schemas.microsoft.com/office/drawing/2014/main" id="{154D7215-464B-441A-86D0-6CFD2B18A598}"/>
              </a:ext>
            </a:extLst>
          </p:cNvPr>
          <p:cNvCxnSpPr>
            <a:cxnSpLocks/>
            <a:stCxn id="16" idx="2"/>
          </p:cNvCxnSpPr>
          <p:nvPr/>
        </p:nvCxnSpPr>
        <p:spPr>
          <a:xfrm>
            <a:off x="3932492" y="2531802"/>
            <a:ext cx="1411724" cy="588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7" name="文本框 26">
            <a:extLst>
              <a:ext uri="{FF2B5EF4-FFF2-40B4-BE49-F238E27FC236}">
                <a16:creationId xmlns:a16="http://schemas.microsoft.com/office/drawing/2014/main" id="{8340CA4C-CCEC-45BC-9B04-59E4EA7E680F}"/>
              </a:ext>
            </a:extLst>
          </p:cNvPr>
          <p:cNvSpPr txBox="1"/>
          <p:nvPr/>
        </p:nvSpPr>
        <p:spPr>
          <a:xfrm>
            <a:off x="4862882" y="2569505"/>
            <a:ext cx="3877985" cy="369332"/>
          </a:xfrm>
          <a:prstGeom prst="rect">
            <a:avLst/>
          </a:prstGeom>
          <a:noFill/>
        </p:spPr>
        <p:txBody>
          <a:bodyPr wrap="none" rtlCol="0">
            <a:spAutoFit/>
          </a:bodyPr>
          <a:lstStyle/>
          <a:p>
            <a:r>
              <a:rPr lang="zh-CN" altLang="en-US" dirty="0"/>
              <a:t>基于学习的参数进行目标变量的推断</a:t>
            </a: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964E5512-1ECE-413F-84BC-11974C556601}"/>
                  </a:ext>
                </a:extLst>
              </p:cNvPr>
              <p:cNvSpPr txBox="1"/>
              <p:nvPr/>
            </p:nvSpPr>
            <p:spPr>
              <a:xfrm>
                <a:off x="4400669" y="3120456"/>
                <a:ext cx="3449534" cy="6925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200" b="0" i="1" smtClean="0">
                          <a:latin typeface="Cambria Math" panose="02040503050406030204" pitchFamily="18" charset="0"/>
                        </a:rPr>
                        <m:t>𝑝</m:t>
                      </m:r>
                      <m:d>
                        <m:dPr>
                          <m:sepChr m:val="∣"/>
                          <m:ctrlPr>
                            <a:rPr lang="en-US" altLang="zh-CN" sz="1200" b="0" i="1" smtClean="0">
                              <a:latin typeface="Cambria Math" panose="02040503050406030204" pitchFamily="18" charset="0"/>
                            </a:rPr>
                          </m:ctrlPr>
                        </m:dPr>
                        <m:e>
                          <m:sSup>
                            <m:sSupPr>
                              <m:ctrlPr>
                                <a:rPr lang="en-US" altLang="zh-CN" sz="1200" b="0" i="1" smtClean="0">
                                  <a:latin typeface="Cambria Math" panose="02040503050406030204" pitchFamily="18" charset="0"/>
                                </a:rPr>
                              </m:ctrlPr>
                            </m:sSupPr>
                            <m:e>
                              <m:r>
                                <a:rPr lang="en-US" altLang="zh-CN" sz="1200" b="0" i="1" smtClean="0">
                                  <a:latin typeface="Cambria Math" panose="02040503050406030204" pitchFamily="18" charset="0"/>
                                </a:rPr>
                                <m:t>𝑋</m:t>
                              </m:r>
                            </m:e>
                            <m:sup>
                              <m:r>
                                <a:rPr lang="en-US" altLang="zh-CN" sz="1200" b="0" i="1" smtClean="0">
                                  <a:latin typeface="Cambria Math" panose="02040503050406030204" pitchFamily="18" charset="0"/>
                                </a:rPr>
                                <m:t>1</m:t>
                              </m:r>
                            </m:sup>
                          </m:sSup>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𝑥</m:t>
                              </m:r>
                            </m:e>
                            <m:sub>
                              <m:r>
                                <a:rPr lang="en-US" altLang="zh-CN" sz="1200" b="0" i="1" smtClean="0">
                                  <a:latin typeface="Cambria Math" panose="02040503050406030204" pitchFamily="18" charset="0"/>
                                </a:rPr>
                                <m:t>1</m:t>
                              </m:r>
                            </m:sub>
                          </m:sSub>
                        </m:e>
                        <m:e>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=1</m:t>
                          </m:r>
                        </m:e>
                      </m:d>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1</m:t>
                          </m:r>
                        </m:num>
                        <m:den>
                          <m:rad>
                            <m:radPr>
                              <m:degHide m:val="on"/>
                              <m:ctrlPr>
                                <a:rPr lang="en-US" altLang="zh-CN" sz="1200" b="0" i="1" smtClean="0">
                                  <a:latin typeface="Cambria Math" panose="02040503050406030204" pitchFamily="18" charset="0"/>
                                </a:rPr>
                              </m:ctrlPr>
                            </m:radPr>
                            <m:deg/>
                            <m:e>
                              <m:r>
                                <a:rPr lang="en-US" altLang="zh-CN" sz="1200" b="0" i="1" smtClean="0">
                                  <a:latin typeface="Cambria Math" panose="02040503050406030204" pitchFamily="18" charset="0"/>
                                </a:rPr>
                                <m:t>2</m:t>
                              </m:r>
                              <m:r>
                                <a:rPr lang="en-US" altLang="zh-CN" sz="1200" b="0" i="1" smtClean="0">
                                  <a:latin typeface="Cambria Math" panose="02040503050406030204" pitchFamily="18" charset="0"/>
                                </a:rPr>
                                <m:t>𝜋</m:t>
                              </m:r>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𝜎</m:t>
                                  </m:r>
                                </m:e>
                                <m:sub>
                                  <m:r>
                                    <a:rPr lang="en-US" altLang="zh-CN" sz="1200" b="0" i="1" smtClean="0">
                                      <a:latin typeface="Cambria Math" panose="02040503050406030204" pitchFamily="18" charset="0"/>
                                    </a:rPr>
                                    <m:t>𝑘</m:t>
                                  </m:r>
                                </m:sub>
                                <m:sup>
                                  <m:r>
                                    <a:rPr lang="en-US" altLang="zh-CN" sz="1200" b="0" i="1" smtClean="0">
                                      <a:latin typeface="Cambria Math" panose="02040503050406030204" pitchFamily="18" charset="0"/>
                                    </a:rPr>
                                    <m:t>2</m:t>
                                  </m:r>
                                </m:sup>
                              </m:sSubSup>
                            </m:e>
                          </m:rad>
                        </m:den>
                      </m:f>
                      <m:r>
                        <m:rPr>
                          <m:sty m:val="p"/>
                        </m:rPr>
                        <a:rPr lang="en-US" altLang="zh-CN" sz="1200" b="0" i="0" smtClean="0">
                          <a:latin typeface="Cambria Math" panose="02040503050406030204" pitchFamily="18" charset="0"/>
                        </a:rPr>
                        <m:t>exp</m:t>
                      </m:r>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sSup>
                            <m:sSupPr>
                              <m:ctrlPr>
                                <a:rPr lang="en-US" altLang="zh-CN" sz="1200" b="0" i="1" smtClean="0">
                                  <a:latin typeface="Cambria Math" panose="02040503050406030204" pitchFamily="18" charset="0"/>
                                </a:rPr>
                              </m:ctrlPr>
                            </m:sSupPr>
                            <m:e>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𝑥</m:t>
                                      </m:r>
                                    </m:e>
                                    <m:sub>
                                      <m:r>
                                        <a:rPr lang="en-US" altLang="zh-CN" sz="1200" b="0" i="1" smtClean="0">
                                          <a:latin typeface="Cambria Math" panose="02040503050406030204" pitchFamily="18" charset="0"/>
                                        </a:rPr>
                                        <m:t>1</m:t>
                                      </m:r>
                                    </m:sub>
                                  </m:sSub>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𝜇</m:t>
                                      </m:r>
                                    </m:e>
                                    <m:sub>
                                      <m:r>
                                        <a:rPr lang="en-US" altLang="zh-CN" sz="1200" b="0" i="1" smtClean="0">
                                          <a:latin typeface="Cambria Math" panose="02040503050406030204" pitchFamily="18" charset="0"/>
                                        </a:rPr>
                                        <m:t>1</m:t>
                                      </m:r>
                                    </m:sub>
                                  </m:sSub>
                                </m:e>
                              </m:d>
                            </m:e>
                            <m:sup>
                              <m:r>
                                <a:rPr lang="en-US" altLang="zh-CN" sz="1200" b="0" i="1" smtClean="0">
                                  <a:latin typeface="Cambria Math" panose="02040503050406030204" pitchFamily="18" charset="0"/>
                                </a:rPr>
                                <m:t>2</m:t>
                              </m:r>
                            </m:sup>
                          </m:sSup>
                        </m:num>
                        <m:den>
                          <m:r>
                            <a:rPr lang="en-US" altLang="zh-CN" sz="1200" b="0" i="1" smtClean="0">
                              <a:latin typeface="Cambria Math" panose="02040503050406030204" pitchFamily="18" charset="0"/>
                            </a:rPr>
                            <m:t>2</m:t>
                          </m:r>
                          <m:sSubSup>
                            <m:sSubSupPr>
                              <m:ctrlPr>
                                <a:rPr lang="en-US" altLang="zh-CN" sz="1200" b="0" i="1" smtClean="0">
                                  <a:latin typeface="Cambria Math" panose="02040503050406030204" pitchFamily="18" charset="0"/>
                                </a:rPr>
                              </m:ctrlPr>
                            </m:sSubSupPr>
                            <m:e>
                              <m:r>
                                <a:rPr lang="en-US" altLang="zh-CN" sz="1200" b="0" i="1" smtClean="0">
                                  <a:latin typeface="Cambria Math" panose="02040503050406030204" pitchFamily="18" charset="0"/>
                                </a:rPr>
                                <m:t>𝜎</m:t>
                              </m:r>
                            </m:e>
                            <m:sub>
                              <m:r>
                                <a:rPr lang="en-US" altLang="zh-CN" sz="1200" b="0" i="1" smtClean="0">
                                  <a:latin typeface="Cambria Math" panose="02040503050406030204" pitchFamily="18" charset="0"/>
                                </a:rPr>
                                <m:t>1</m:t>
                              </m:r>
                            </m:sub>
                            <m:sup>
                              <m:r>
                                <a:rPr lang="en-US" altLang="zh-CN" sz="1200" b="0" i="1" smtClean="0">
                                  <a:latin typeface="Cambria Math" panose="02040503050406030204" pitchFamily="18" charset="0"/>
                                </a:rPr>
                                <m:t>2</m:t>
                              </m:r>
                            </m:sup>
                          </m:sSubSup>
                        </m:den>
                      </m:f>
                      <m:r>
                        <a:rPr lang="en-US" altLang="zh-CN" sz="1200" b="0" i="1" smtClean="0">
                          <a:latin typeface="Cambria Math" panose="02040503050406030204" pitchFamily="18" charset="0"/>
                        </a:rPr>
                        <m:t>)</m:t>
                      </m:r>
                    </m:oMath>
                  </m:oMathPara>
                </a14:m>
                <a:endParaRPr lang="zh-CN" altLang="en-US" sz="1200" dirty="0"/>
              </a:p>
            </p:txBody>
          </p:sp>
        </mc:Choice>
        <mc:Fallback xmlns="">
          <p:sp>
            <p:nvSpPr>
              <p:cNvPr id="20" name="文本框 19">
                <a:extLst>
                  <a:ext uri="{FF2B5EF4-FFF2-40B4-BE49-F238E27FC236}">
                    <a16:creationId xmlns:a16="http://schemas.microsoft.com/office/drawing/2014/main" id="{964E5512-1ECE-413F-84BC-11974C556601}"/>
                  </a:ext>
                </a:extLst>
              </p:cNvPr>
              <p:cNvSpPr txBox="1">
                <a:spLocks noRot="1" noChangeAspect="1" noMove="1" noResize="1" noEditPoints="1" noAdjustHandles="1" noChangeArrowheads="1" noChangeShapeType="1" noTextEdit="1"/>
              </p:cNvSpPr>
              <p:nvPr/>
            </p:nvSpPr>
            <p:spPr>
              <a:xfrm>
                <a:off x="4400669" y="3120456"/>
                <a:ext cx="3449534" cy="692562"/>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85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522" y="429"/>
              <a:ext cx="952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学习</a:t>
              </a:r>
              <a:r>
                <a:rPr lang="en-US" altLang="zh-CN" sz="4000" b="1" dirty="0">
                  <a:solidFill>
                    <a:srgbClr val="18478F"/>
                  </a:solidFill>
                  <a:latin typeface="+mn-ea"/>
                  <a:cs typeface="+mn-ea"/>
                  <a:sym typeface="+mn-ea"/>
                </a:rPr>
                <a:t>&amp;</a:t>
              </a:r>
              <a:r>
                <a:rPr lang="zh-CN" altLang="en-US" sz="4000" b="1" dirty="0">
                  <a:solidFill>
                    <a:srgbClr val="18478F"/>
                  </a:solidFill>
                  <a:latin typeface="+mn-ea"/>
                  <a:cs typeface="+mn-ea"/>
                  <a:sym typeface="+mn-ea"/>
                </a:rPr>
                <a:t>推断</a:t>
              </a:r>
            </a:p>
          </p:txBody>
        </p: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9192DA4-725B-4DC3-8639-18C9B2689B5A}"/>
                  </a:ext>
                </a:extLst>
              </p:cNvPr>
              <p:cNvSpPr txBox="1"/>
              <p:nvPr/>
            </p:nvSpPr>
            <p:spPr>
              <a:xfrm>
                <a:off x="436812" y="1241854"/>
                <a:ext cx="8484304" cy="875881"/>
              </a:xfrm>
              <a:prstGeom prst="rect">
                <a:avLst/>
              </a:prstGeom>
              <a:noFill/>
            </p:spPr>
            <p:txBody>
              <a:bodyPr wrap="square" rtlCol="0">
                <a:spAutoFit/>
              </a:bodyPr>
              <a:lstStyle/>
              <a:p>
                <a:pPr>
                  <a:lnSpc>
                    <a:spcPct val="150000"/>
                  </a:lnSpc>
                </a:pPr>
                <a:r>
                  <a:rPr lang="zh-CN" altLang="en-US" dirty="0"/>
                  <a:t>在以上例子中，</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oMath>
                </a14:m>
                <a:r>
                  <a:rPr lang="zh-CN" altLang="en-US" dirty="0"/>
                  <a:t>都是可以直接观测到值的变量，当</a:t>
                </a:r>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oMath>
                </a14:m>
                <a:r>
                  <a:rPr lang="zh-CN" altLang="en-US" dirty="0"/>
                  <a:t>等变量无法直接观测时应该怎么办呢？</a:t>
                </a:r>
              </a:p>
            </p:txBody>
          </p:sp>
        </mc:Choice>
        <mc:Fallback xmlns="">
          <p:sp>
            <p:nvSpPr>
              <p:cNvPr id="2" name="文本框 1">
                <a:extLst>
                  <a:ext uri="{FF2B5EF4-FFF2-40B4-BE49-F238E27FC236}">
                    <a16:creationId xmlns:a16="http://schemas.microsoft.com/office/drawing/2014/main" id="{19192DA4-725B-4DC3-8639-18C9B2689B5A}"/>
                  </a:ext>
                </a:extLst>
              </p:cNvPr>
              <p:cNvSpPr txBox="1">
                <a:spLocks noRot="1" noChangeAspect="1" noMove="1" noResize="1" noEditPoints="1" noAdjustHandles="1" noChangeArrowheads="1" noChangeShapeType="1" noTextEdit="1"/>
              </p:cNvSpPr>
              <p:nvPr/>
            </p:nvSpPr>
            <p:spPr>
              <a:xfrm>
                <a:off x="436812" y="1241854"/>
                <a:ext cx="8484304" cy="875881"/>
              </a:xfrm>
              <a:prstGeom prst="rect">
                <a:avLst/>
              </a:prstGeom>
              <a:blipFill>
                <a:blip r:embed="rId3"/>
                <a:stretch>
                  <a:fillRect l="-647" r="-144" b="-8392"/>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94C556C4-CA68-4F4F-A10C-B12467FDCCB4}"/>
              </a:ext>
            </a:extLst>
          </p:cNvPr>
          <p:cNvGrpSpPr/>
          <p:nvPr/>
        </p:nvGrpSpPr>
        <p:grpSpPr>
          <a:xfrm>
            <a:off x="1233487" y="2821481"/>
            <a:ext cx="5275435" cy="1973157"/>
            <a:chOff x="868963" y="2673790"/>
            <a:chExt cx="5275435" cy="1973157"/>
          </a:xfrm>
        </p:grpSpPr>
        <p:pic>
          <p:nvPicPr>
            <p:cNvPr id="3" name="图片 2">
              <a:extLst>
                <a:ext uri="{FF2B5EF4-FFF2-40B4-BE49-F238E27FC236}">
                  <a16:creationId xmlns:a16="http://schemas.microsoft.com/office/drawing/2014/main" id="{6A5B1895-A330-40FD-B3E8-BB013A0CC63B}"/>
                </a:ext>
              </a:extLst>
            </p:cNvPr>
            <p:cNvPicPr>
              <a:picLocks noChangeAspect="1"/>
            </p:cNvPicPr>
            <p:nvPr/>
          </p:nvPicPr>
          <p:blipFill rotWithShape="1">
            <a:blip r:embed="rId4"/>
            <a:srcRect r="27082"/>
            <a:stretch/>
          </p:blipFill>
          <p:spPr>
            <a:xfrm>
              <a:off x="868963" y="2673790"/>
              <a:ext cx="5173492" cy="1973157"/>
            </a:xfrm>
            <a:prstGeom prst="rect">
              <a:avLst/>
            </a:prstGeom>
          </p:spPr>
        </p:pic>
        <p:sp>
          <p:nvSpPr>
            <p:cNvPr id="5" name="矩形 4">
              <a:extLst>
                <a:ext uri="{FF2B5EF4-FFF2-40B4-BE49-F238E27FC236}">
                  <a16:creationId xmlns:a16="http://schemas.microsoft.com/office/drawing/2014/main" id="{DD91C0F5-273E-4EBD-A8CB-585FDD4BB2A6}"/>
                </a:ext>
              </a:extLst>
            </p:cNvPr>
            <p:cNvSpPr/>
            <p:nvPr/>
          </p:nvSpPr>
          <p:spPr>
            <a:xfrm>
              <a:off x="5118787" y="3231292"/>
              <a:ext cx="1025611" cy="6116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a:extLst>
              <a:ext uri="{FF2B5EF4-FFF2-40B4-BE49-F238E27FC236}">
                <a16:creationId xmlns:a16="http://schemas.microsoft.com/office/drawing/2014/main" id="{0477BB82-F211-443F-B4EC-D3E715DEE313}"/>
              </a:ext>
            </a:extLst>
          </p:cNvPr>
          <p:cNvSpPr/>
          <p:nvPr/>
        </p:nvSpPr>
        <p:spPr>
          <a:xfrm>
            <a:off x="2409568" y="2821481"/>
            <a:ext cx="1526059" cy="75797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72BAD430-46E5-4E95-B90C-29F09A4B77F9}"/>
              </a:ext>
            </a:extLst>
          </p:cNvPr>
          <p:cNvSpPr txBox="1"/>
          <p:nvPr/>
        </p:nvSpPr>
        <p:spPr>
          <a:xfrm>
            <a:off x="2409568" y="2502974"/>
            <a:ext cx="877163" cy="369332"/>
          </a:xfrm>
          <a:prstGeom prst="rect">
            <a:avLst/>
          </a:prstGeom>
          <a:noFill/>
        </p:spPr>
        <p:txBody>
          <a:bodyPr wrap="none" rtlCol="0">
            <a:spAutoFit/>
          </a:bodyPr>
          <a:lstStyle/>
          <a:p>
            <a:r>
              <a:rPr lang="zh-CN" altLang="en-US" dirty="0"/>
              <a:t>可观测</a:t>
            </a:r>
          </a:p>
        </p:txBody>
      </p:sp>
      <p:sp>
        <p:nvSpPr>
          <p:cNvPr id="25" name="矩形 24">
            <a:extLst>
              <a:ext uri="{FF2B5EF4-FFF2-40B4-BE49-F238E27FC236}">
                <a16:creationId xmlns:a16="http://schemas.microsoft.com/office/drawing/2014/main" id="{BDB76F31-5B37-4527-A55C-E3CF11BB7173}"/>
              </a:ext>
            </a:extLst>
          </p:cNvPr>
          <p:cNvSpPr/>
          <p:nvPr/>
        </p:nvSpPr>
        <p:spPr>
          <a:xfrm>
            <a:off x="4168862" y="2870604"/>
            <a:ext cx="1526059" cy="75797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C410005-5713-4EAC-8443-C3F5A991911B}"/>
              </a:ext>
            </a:extLst>
          </p:cNvPr>
          <p:cNvSpPr txBox="1"/>
          <p:nvPr/>
        </p:nvSpPr>
        <p:spPr>
          <a:xfrm>
            <a:off x="4180006" y="2512702"/>
            <a:ext cx="1569660" cy="369332"/>
          </a:xfrm>
          <a:prstGeom prst="rect">
            <a:avLst/>
          </a:prstGeom>
          <a:noFill/>
        </p:spPr>
        <p:txBody>
          <a:bodyPr wrap="none" rtlCol="0">
            <a:spAutoFit/>
          </a:bodyPr>
          <a:lstStyle/>
          <a:p>
            <a:r>
              <a:rPr lang="zh-CN" altLang="en-US" dirty="0"/>
              <a:t>不可直接观测</a:t>
            </a:r>
          </a:p>
        </p:txBody>
      </p:sp>
      <p:sp>
        <p:nvSpPr>
          <p:cNvPr id="9" name="左大括号 8">
            <a:extLst>
              <a:ext uri="{FF2B5EF4-FFF2-40B4-BE49-F238E27FC236}">
                <a16:creationId xmlns:a16="http://schemas.microsoft.com/office/drawing/2014/main" id="{8970F02E-F079-49A2-AAFB-92D90275B656}"/>
              </a:ext>
            </a:extLst>
          </p:cNvPr>
          <p:cNvSpPr/>
          <p:nvPr/>
        </p:nvSpPr>
        <p:spPr>
          <a:xfrm rot="10800000">
            <a:off x="6073346" y="2851560"/>
            <a:ext cx="435576" cy="1666505"/>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43B89520-C1D0-4BFC-BC05-1600056368E4}"/>
              </a:ext>
            </a:extLst>
          </p:cNvPr>
          <p:cNvSpPr txBox="1"/>
          <p:nvPr/>
        </p:nvSpPr>
        <p:spPr>
          <a:xfrm>
            <a:off x="6557885" y="3397518"/>
            <a:ext cx="1686698" cy="646331"/>
          </a:xfrm>
          <a:prstGeom prst="rect">
            <a:avLst/>
          </a:prstGeom>
          <a:noFill/>
        </p:spPr>
        <p:txBody>
          <a:bodyPr wrap="square" rtlCol="0">
            <a:spAutoFit/>
          </a:bodyPr>
          <a:lstStyle/>
          <a:p>
            <a:r>
              <a:rPr lang="zh-CN" altLang="en-US" dirty="0"/>
              <a:t>在这种情况下要如何建模呢？</a:t>
            </a:r>
          </a:p>
        </p:txBody>
      </p:sp>
    </p:spTree>
    <p:extLst>
      <p:ext uri="{BB962C8B-B14F-4D97-AF65-F5344CB8AC3E}">
        <p14:creationId xmlns:p14="http://schemas.microsoft.com/office/powerpoint/2010/main" val="263137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35496" y="1883306"/>
            <a:ext cx="9073008" cy="1015663"/>
          </a:xfrm>
          <a:prstGeom prst="rect">
            <a:avLst/>
          </a:prstGeom>
          <a:noFill/>
        </p:spPr>
        <p:txBody>
          <a:bodyPr wrap="square" rtlCol="0">
            <a:spAutoFit/>
          </a:bodyPr>
          <a:lstStyle/>
          <a:p>
            <a:pPr algn="ctr">
              <a:buClrTx/>
              <a:buSzTx/>
              <a:buFontTx/>
            </a:pPr>
            <a:r>
              <a:rPr lang="zh-CN" altLang="en-US" sz="6000" b="1" dirty="0">
                <a:solidFill>
                  <a:srgbClr val="18478F"/>
                </a:solidFill>
                <a:latin typeface="+mn-ea"/>
                <a:cs typeface="+mn-ea"/>
                <a:sym typeface="+mn-ea"/>
              </a:rPr>
              <a:t>基于隐变量的学习和推断</a:t>
            </a:r>
            <a:endParaRPr lang="zh-CN" altLang="en-US" sz="6000" b="1" dirty="0">
              <a:solidFill>
                <a:srgbClr val="18478F"/>
              </a:solidFill>
              <a:latin typeface="+mn-ea"/>
              <a:cs typeface="+mn-ea"/>
            </a:endParaRPr>
          </a:p>
        </p:txBody>
      </p:sp>
      <p:pic>
        <p:nvPicPr>
          <p:cNvPr id="6" name="Picture 7" descr="校园-大门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697095"/>
            <a:ext cx="9144000" cy="214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未标题-1"/>
          <p:cNvPicPr>
            <a:picLocks noChangeAspect="1"/>
          </p:cNvPicPr>
          <p:nvPr/>
        </p:nvPicPr>
        <p:blipFill>
          <a:blip r:embed="rId4"/>
          <a:stretch>
            <a:fillRect/>
          </a:stretch>
        </p:blipFill>
        <p:spPr>
          <a:xfrm>
            <a:off x="63500" y="63500"/>
            <a:ext cx="1228090" cy="1256030"/>
          </a:xfrm>
          <a:prstGeom prst="rect">
            <a:avLst/>
          </a:prstGeom>
        </p:spPr>
      </p:pic>
    </p:spTree>
    <p:extLst>
      <p:ext uri="{BB962C8B-B14F-4D97-AF65-F5344CB8AC3E}">
        <p14:creationId xmlns:p14="http://schemas.microsoft.com/office/powerpoint/2010/main" val="3662884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970" y="429"/>
              <a:ext cx="9077"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隐变量定义</a:t>
              </a:r>
            </a:p>
          </p:txBody>
        </p:sp>
      </p:grpSp>
      <p:pic>
        <p:nvPicPr>
          <p:cNvPr id="18" name="图片 17">
            <a:extLst>
              <a:ext uri="{FF2B5EF4-FFF2-40B4-BE49-F238E27FC236}">
                <a16:creationId xmlns:a16="http://schemas.microsoft.com/office/drawing/2014/main" id="{932BA91D-EF71-48E9-ADAF-04A94295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596" y="1365163"/>
            <a:ext cx="4425701" cy="2063837"/>
          </a:xfrm>
          <a:prstGeom prst="rect">
            <a:avLst/>
          </a:prstGeom>
        </p:spPr>
      </p:pic>
      <p:grpSp>
        <p:nvGrpSpPr>
          <p:cNvPr id="22" name="组合 21">
            <a:extLst>
              <a:ext uri="{FF2B5EF4-FFF2-40B4-BE49-F238E27FC236}">
                <a16:creationId xmlns:a16="http://schemas.microsoft.com/office/drawing/2014/main" id="{EE0ED7D5-FD7D-4183-929D-FE9B270463D3}"/>
              </a:ext>
            </a:extLst>
          </p:cNvPr>
          <p:cNvGrpSpPr/>
          <p:nvPr/>
        </p:nvGrpSpPr>
        <p:grpSpPr>
          <a:xfrm>
            <a:off x="5216123" y="1630531"/>
            <a:ext cx="3704992" cy="815316"/>
            <a:chOff x="1707267" y="4269490"/>
            <a:chExt cx="5929637" cy="1217141"/>
          </a:xfrm>
        </p:grpSpPr>
        <p:sp>
          <p:nvSpPr>
            <p:cNvPr id="23" name="矩形 22">
              <a:extLst>
                <a:ext uri="{FF2B5EF4-FFF2-40B4-BE49-F238E27FC236}">
                  <a16:creationId xmlns:a16="http://schemas.microsoft.com/office/drawing/2014/main" id="{9FD24994-C730-4EC6-A6A0-31165C3DE54E}"/>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6544203-1ACC-4526-8D18-079E7CA1F467}"/>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25" name="椭圆 24">
              <a:extLst>
                <a:ext uri="{FF2B5EF4-FFF2-40B4-BE49-F238E27FC236}">
                  <a16:creationId xmlns:a16="http://schemas.microsoft.com/office/drawing/2014/main" id="{9440851B-C576-4D41-9DBD-5C9E3737AE1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6" name="直接箭头连接符 25">
              <a:extLst>
                <a:ext uri="{FF2B5EF4-FFF2-40B4-BE49-F238E27FC236}">
                  <a16:creationId xmlns:a16="http://schemas.microsoft.com/office/drawing/2014/main" id="{C516BB17-BE9E-4FF7-935C-948C069BA9F0}"/>
                </a:ext>
              </a:extLst>
            </p:cNvPr>
            <p:cNvCxnSpPr>
              <a:cxnSpLocks/>
              <a:stCxn id="24" idx="6"/>
              <a:endCxn id="27"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椭圆 26">
              <a:extLst>
                <a:ext uri="{FF2B5EF4-FFF2-40B4-BE49-F238E27FC236}">
                  <a16:creationId xmlns:a16="http://schemas.microsoft.com/office/drawing/2014/main" id="{B13E8350-B9DF-442D-BE40-1FCB49912C05}"/>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8" name="直接箭头连接符 27">
              <a:extLst>
                <a:ext uri="{FF2B5EF4-FFF2-40B4-BE49-F238E27FC236}">
                  <a16:creationId xmlns:a16="http://schemas.microsoft.com/office/drawing/2014/main" id="{52D061E0-62D8-4728-843E-7976A2CD8FC3}"/>
                </a:ext>
              </a:extLst>
            </p:cNvPr>
            <p:cNvCxnSpPr>
              <a:cxnSpLocks/>
              <a:stCxn id="27" idx="6"/>
              <a:endCxn id="25"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2" name="文本框 1">
            <a:extLst>
              <a:ext uri="{FF2B5EF4-FFF2-40B4-BE49-F238E27FC236}">
                <a16:creationId xmlns:a16="http://schemas.microsoft.com/office/drawing/2014/main" id="{D7D0D9E6-4BFB-4313-81F4-C4727CD0B4D3}"/>
              </a:ext>
            </a:extLst>
          </p:cNvPr>
          <p:cNvSpPr txBox="1"/>
          <p:nvPr/>
        </p:nvSpPr>
        <p:spPr>
          <a:xfrm>
            <a:off x="6590198" y="2372924"/>
            <a:ext cx="950901" cy="830997"/>
          </a:xfrm>
          <a:prstGeom prst="rect">
            <a:avLst/>
          </a:prstGeom>
          <a:noFill/>
        </p:spPr>
        <p:txBody>
          <a:bodyPr wrap="none" rtlCol="0">
            <a:spAutoFit/>
          </a:bodyPr>
          <a:lstStyle/>
          <a:p>
            <a:r>
              <a:rPr lang="en-US" altLang="zh-CN" sz="1600" dirty="0"/>
              <a:t>X:</a:t>
            </a:r>
            <a:r>
              <a:rPr lang="zh-CN" altLang="en-US" sz="1600" dirty="0"/>
              <a:t>图像</a:t>
            </a:r>
            <a:endParaRPr lang="en-US" altLang="zh-CN" sz="1600" dirty="0"/>
          </a:p>
          <a:p>
            <a:r>
              <a:rPr lang="en-US" altLang="zh-CN" sz="1600" dirty="0"/>
              <a:t>Z:</a:t>
            </a:r>
            <a:r>
              <a:rPr lang="zh-CN" altLang="en-US" sz="1600" dirty="0"/>
              <a:t>隐向量</a:t>
            </a:r>
            <a:endParaRPr lang="en-US" altLang="zh-CN" sz="1600" dirty="0"/>
          </a:p>
          <a:p>
            <a:r>
              <a:rPr lang="en-US" altLang="zh-CN" sz="1600" dirty="0"/>
              <a:t>Y:</a:t>
            </a:r>
            <a:r>
              <a:rPr lang="zh-CN" altLang="en-US" sz="1600" dirty="0"/>
              <a:t>标签</a:t>
            </a:r>
          </a:p>
        </p:txBody>
      </p:sp>
      <p:sp>
        <p:nvSpPr>
          <p:cNvPr id="3" name="箭头: 右 2">
            <a:extLst>
              <a:ext uri="{FF2B5EF4-FFF2-40B4-BE49-F238E27FC236}">
                <a16:creationId xmlns:a16="http://schemas.microsoft.com/office/drawing/2014/main" id="{DAB825D9-F2DC-4C3F-A233-7889B1083CD2}"/>
              </a:ext>
            </a:extLst>
          </p:cNvPr>
          <p:cNvSpPr/>
          <p:nvPr/>
        </p:nvSpPr>
        <p:spPr>
          <a:xfrm>
            <a:off x="5096476" y="2214553"/>
            <a:ext cx="543698" cy="358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3AD65320-A95A-4A9F-96DB-DFD99A2C5DB6}"/>
              </a:ext>
            </a:extLst>
          </p:cNvPr>
          <p:cNvGrpSpPr/>
          <p:nvPr/>
        </p:nvGrpSpPr>
        <p:grpSpPr>
          <a:xfrm>
            <a:off x="454073" y="3514352"/>
            <a:ext cx="8235854" cy="461645"/>
            <a:chOff x="652" y="2101"/>
            <a:chExt cx="12970" cy="727"/>
          </a:xfrm>
        </p:grpSpPr>
        <p:sp>
          <p:nvSpPr>
            <p:cNvPr id="42" name="椭圆 41">
              <a:extLst>
                <a:ext uri="{FF2B5EF4-FFF2-40B4-BE49-F238E27FC236}">
                  <a16:creationId xmlns:a16="http://schemas.microsoft.com/office/drawing/2014/main" id="{E50756E3-C9AF-44BE-96A3-147E4D512CF2}"/>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621C4A4-8B07-4F8F-B412-165270208860}"/>
                    </a:ext>
                  </a:extLst>
                </p:cNvPr>
                <p:cNvSpPr txBox="1"/>
                <p:nvPr/>
              </p:nvSpPr>
              <p:spPr>
                <a:xfrm>
                  <a:off x="902" y="2101"/>
                  <a:ext cx="12720" cy="727"/>
                </a:xfrm>
                <a:prstGeom prst="rect">
                  <a:avLst/>
                </a:prstGeom>
                <a:noFill/>
              </p:spPr>
              <p:txBody>
                <a:bodyPr wrap="square" rtlCol="0" anchor="t">
                  <a:spAutoFit/>
                </a:bodyPr>
                <a:lstStyle/>
                <a:p>
                  <a:pPr algn="just"/>
                  <a:r>
                    <a:rPr lang="zh-CN" altLang="en-US" sz="2400" dirty="0">
                      <a:latin typeface="宋体" panose="02010600030101010101" pitchFamily="2" charset="-122"/>
                      <a:ea typeface="宋体" panose="02010600030101010101" pitchFamily="2" charset="-122"/>
                      <a:sym typeface="+mn-ea"/>
                    </a:rPr>
                    <a:t>无法观测变量的分布：</a:t>
                  </a:r>
                  <a14:m>
                    <m:oMath xmlns:m="http://schemas.openxmlformats.org/officeDocument/2006/math">
                      <m:r>
                        <a:rPr lang="en-US" altLang="zh-CN" sz="2400" b="0" i="1" smtClean="0">
                          <a:latin typeface="Cambria Math" panose="02040503050406030204" pitchFamily="18" charset="0"/>
                          <a:ea typeface="宋体" panose="02010600030101010101" pitchFamily="2" charset="-122"/>
                          <a:sym typeface="+mn-ea"/>
                        </a:rPr>
                        <m:t>𝑝</m:t>
                      </m:r>
                      <m:r>
                        <a:rPr lang="en-US" altLang="zh-CN" sz="2400" b="0" i="1" smtClean="0">
                          <a:latin typeface="Cambria Math" panose="02040503050406030204" pitchFamily="18" charset="0"/>
                          <a:ea typeface="宋体" panose="02010600030101010101" pitchFamily="2" charset="-122"/>
                          <a:sym typeface="+mn-ea"/>
                        </a:rPr>
                        <m:t>(</m:t>
                      </m:r>
                      <m:r>
                        <a:rPr lang="en-US" altLang="zh-CN" sz="2400" b="0" i="1" smtClean="0">
                          <a:latin typeface="Cambria Math" panose="02040503050406030204" pitchFamily="18" charset="0"/>
                          <a:ea typeface="宋体" panose="02010600030101010101" pitchFamily="2" charset="-122"/>
                          <a:sym typeface="+mn-ea"/>
                        </a:rPr>
                        <m:t>𝑧</m:t>
                      </m:r>
                      <m:r>
                        <a:rPr lang="en-US" altLang="zh-CN" sz="2400" b="0" i="1" smtClean="0">
                          <a:latin typeface="Cambria Math" panose="02040503050406030204" pitchFamily="18" charset="0"/>
                          <a:ea typeface="宋体" panose="02010600030101010101" pitchFamily="2" charset="-122"/>
                          <a:sym typeface="+mn-ea"/>
                        </a:rPr>
                        <m:t>)</m:t>
                      </m:r>
                    </m:oMath>
                  </a14:m>
                  <a:endParaRPr lang="zh-CN" altLang="en-US" sz="2400" dirty="0">
                    <a:latin typeface="宋体" panose="02010600030101010101" pitchFamily="2" charset="-122"/>
                    <a:ea typeface="宋体" panose="02010600030101010101" pitchFamily="2" charset="-122"/>
                    <a:sym typeface="+mn-ea"/>
                  </a:endParaRPr>
                </a:p>
              </p:txBody>
            </p:sp>
          </mc:Choice>
          <mc:Fallback xmlns="">
            <p:sp>
              <p:nvSpPr>
                <p:cNvPr id="43" name="文本框 42">
                  <a:extLst>
                    <a:ext uri="{FF2B5EF4-FFF2-40B4-BE49-F238E27FC236}">
                      <a16:creationId xmlns:a16="http://schemas.microsoft.com/office/drawing/2014/main" id="{B621C4A4-8B07-4F8F-B412-165270208860}"/>
                    </a:ext>
                  </a:extLst>
                </p:cNvPr>
                <p:cNvSpPr txBox="1">
                  <a:spLocks noRot="1" noChangeAspect="1" noMove="1" noResize="1" noEditPoints="1" noAdjustHandles="1" noChangeArrowheads="1" noChangeShapeType="1" noTextEdit="1"/>
                </p:cNvSpPr>
                <p:nvPr/>
              </p:nvSpPr>
              <p:spPr>
                <a:xfrm>
                  <a:off x="902" y="2101"/>
                  <a:ext cx="12720" cy="727"/>
                </a:xfrm>
                <a:prstGeom prst="rect">
                  <a:avLst/>
                </a:prstGeom>
                <a:blipFill>
                  <a:blip r:embed="rId4"/>
                  <a:stretch>
                    <a:fillRect l="-1208" t="-14667" b="-26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54DF36A-E936-4339-8A27-01524AC110E6}"/>
                  </a:ext>
                </a:extLst>
              </p:cNvPr>
              <p:cNvSpPr txBox="1"/>
              <p:nvPr/>
            </p:nvSpPr>
            <p:spPr>
              <a:xfrm>
                <a:off x="575596" y="4104288"/>
                <a:ext cx="8463372" cy="1527469"/>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sz="1600" dirty="0"/>
                  <a:t>图像在生成过程中有一些隐性的影响变量，比如若是拍摄的照片，拍摄氛围、地点等也会影响成像效果。</a:t>
                </a:r>
                <a:endParaRPr lang="en-US" altLang="zh-CN" sz="1600" dirty="0"/>
              </a:p>
              <a:p>
                <a:pPr marL="285750" indent="-285750">
                  <a:lnSpc>
                    <a:spcPct val="150000"/>
                  </a:lnSpc>
                  <a:buFont typeface="Wingdings" panose="05000000000000000000" pitchFamily="2" charset="2"/>
                  <a:buChar char="Ø"/>
                </a:pPr>
                <a:r>
                  <a:rPr lang="zh-CN" altLang="en-US" sz="1600" dirty="0"/>
                  <a:t>文档在生成的过程中有一些隐形的影响变量，比如特定的主题对文档中用词的影响。</a:t>
                </a:r>
                <a:endParaRPr lang="en-US" altLang="zh-CN" sz="1600" dirty="0"/>
              </a:p>
              <a:p>
                <a:pPr marL="285750" indent="-285750">
                  <a:lnSpc>
                    <a:spcPct val="150000"/>
                  </a:lnSpc>
                  <a:buFont typeface="Wingdings" panose="05000000000000000000" pitchFamily="2" charset="2"/>
                  <a:buChar char="Ø"/>
                </a:pPr>
                <a:r>
                  <a:rPr lang="zh-CN" altLang="en-US" sz="1600" dirty="0"/>
                  <a:t>我们希望用</a:t>
                </a:r>
                <a:r>
                  <a:rPr lang="zh-CN" altLang="en-US" sz="1600" b="1" dirty="0">
                    <a:latin typeface="黑体" panose="02010609060101010101" pitchFamily="49" charset="-122"/>
                    <a:ea typeface="黑体" panose="02010609060101010101" pitchFamily="49" charset="-122"/>
                  </a:rPr>
                  <a:t>隐变量</a:t>
                </a:r>
                <a14:m>
                  <m:oMath xmlns:m="http://schemas.openxmlformats.org/officeDocument/2006/math">
                    <m:r>
                      <a:rPr lang="en-US" altLang="zh-CN" sz="1600" b="1" i="1" smtClean="0">
                        <a:latin typeface="Cambria Math" panose="02040503050406030204" pitchFamily="18" charset="0"/>
                      </a:rPr>
                      <m:t>𝒛</m:t>
                    </m:r>
                  </m:oMath>
                </a14:m>
                <a:r>
                  <a:rPr lang="zh-CN" altLang="en-US" sz="1600" dirty="0"/>
                  <a:t>来代替这些无法观测的情况。</a:t>
                </a:r>
              </a:p>
            </p:txBody>
          </p:sp>
        </mc:Choice>
        <mc:Fallback xmlns="">
          <p:sp>
            <p:nvSpPr>
              <p:cNvPr id="4" name="文本框 3">
                <a:extLst>
                  <a:ext uri="{FF2B5EF4-FFF2-40B4-BE49-F238E27FC236}">
                    <a16:creationId xmlns:a16="http://schemas.microsoft.com/office/drawing/2014/main" id="{754DF36A-E936-4339-8A27-01524AC110E6}"/>
                  </a:ext>
                </a:extLst>
              </p:cNvPr>
              <p:cNvSpPr txBox="1">
                <a:spLocks noRot="1" noChangeAspect="1" noMove="1" noResize="1" noEditPoints="1" noAdjustHandles="1" noChangeArrowheads="1" noChangeShapeType="1" noTextEdit="1"/>
              </p:cNvSpPr>
              <p:nvPr/>
            </p:nvSpPr>
            <p:spPr>
              <a:xfrm>
                <a:off x="575596" y="4104288"/>
                <a:ext cx="8463372" cy="1527469"/>
              </a:xfrm>
              <a:prstGeom prst="rect">
                <a:avLst/>
              </a:prstGeom>
              <a:blipFill>
                <a:blip r:embed="rId5"/>
                <a:stretch>
                  <a:fillRect l="-288" b="-31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7511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4941" y="429"/>
              <a:ext cx="9106"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隐变量定义</a:t>
              </a:r>
            </a:p>
          </p:txBody>
        </p:sp>
      </p:grpSp>
      <p:pic>
        <p:nvPicPr>
          <p:cNvPr id="18" name="图片 17">
            <a:extLst>
              <a:ext uri="{FF2B5EF4-FFF2-40B4-BE49-F238E27FC236}">
                <a16:creationId xmlns:a16="http://schemas.microsoft.com/office/drawing/2014/main" id="{932BA91D-EF71-48E9-ADAF-04A94295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596" y="1365163"/>
            <a:ext cx="4425701" cy="2063837"/>
          </a:xfrm>
          <a:prstGeom prst="rect">
            <a:avLst/>
          </a:prstGeom>
        </p:spPr>
      </p:pic>
      <p:grpSp>
        <p:nvGrpSpPr>
          <p:cNvPr id="22" name="组合 21">
            <a:extLst>
              <a:ext uri="{FF2B5EF4-FFF2-40B4-BE49-F238E27FC236}">
                <a16:creationId xmlns:a16="http://schemas.microsoft.com/office/drawing/2014/main" id="{EE0ED7D5-FD7D-4183-929D-FE9B270463D3}"/>
              </a:ext>
            </a:extLst>
          </p:cNvPr>
          <p:cNvGrpSpPr/>
          <p:nvPr/>
        </p:nvGrpSpPr>
        <p:grpSpPr>
          <a:xfrm>
            <a:off x="5216123" y="1630531"/>
            <a:ext cx="3704992" cy="815316"/>
            <a:chOff x="1707267" y="4269490"/>
            <a:chExt cx="5929637" cy="1217141"/>
          </a:xfrm>
        </p:grpSpPr>
        <p:sp>
          <p:nvSpPr>
            <p:cNvPr id="23" name="矩形 22">
              <a:extLst>
                <a:ext uri="{FF2B5EF4-FFF2-40B4-BE49-F238E27FC236}">
                  <a16:creationId xmlns:a16="http://schemas.microsoft.com/office/drawing/2014/main" id="{9FD24994-C730-4EC6-A6A0-31165C3DE54E}"/>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6544203-1ACC-4526-8D18-079E7CA1F467}"/>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25" name="椭圆 24">
              <a:extLst>
                <a:ext uri="{FF2B5EF4-FFF2-40B4-BE49-F238E27FC236}">
                  <a16:creationId xmlns:a16="http://schemas.microsoft.com/office/drawing/2014/main" id="{9440851B-C576-4D41-9DBD-5C9E3737AE1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6" name="直接箭头连接符 25">
              <a:extLst>
                <a:ext uri="{FF2B5EF4-FFF2-40B4-BE49-F238E27FC236}">
                  <a16:creationId xmlns:a16="http://schemas.microsoft.com/office/drawing/2014/main" id="{C516BB17-BE9E-4FF7-935C-948C069BA9F0}"/>
                </a:ext>
              </a:extLst>
            </p:cNvPr>
            <p:cNvCxnSpPr>
              <a:cxnSpLocks/>
              <a:stCxn id="24" idx="6"/>
              <a:endCxn id="27"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椭圆 26">
              <a:extLst>
                <a:ext uri="{FF2B5EF4-FFF2-40B4-BE49-F238E27FC236}">
                  <a16:creationId xmlns:a16="http://schemas.microsoft.com/office/drawing/2014/main" id="{B13E8350-B9DF-442D-BE40-1FCB49912C05}"/>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8" name="直接箭头连接符 27">
              <a:extLst>
                <a:ext uri="{FF2B5EF4-FFF2-40B4-BE49-F238E27FC236}">
                  <a16:creationId xmlns:a16="http://schemas.microsoft.com/office/drawing/2014/main" id="{52D061E0-62D8-4728-843E-7976A2CD8FC3}"/>
                </a:ext>
              </a:extLst>
            </p:cNvPr>
            <p:cNvCxnSpPr>
              <a:cxnSpLocks/>
              <a:stCxn id="27" idx="6"/>
              <a:endCxn id="25"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2" name="文本框 1">
            <a:extLst>
              <a:ext uri="{FF2B5EF4-FFF2-40B4-BE49-F238E27FC236}">
                <a16:creationId xmlns:a16="http://schemas.microsoft.com/office/drawing/2014/main" id="{D7D0D9E6-4BFB-4313-81F4-C4727CD0B4D3}"/>
              </a:ext>
            </a:extLst>
          </p:cNvPr>
          <p:cNvSpPr txBox="1"/>
          <p:nvPr/>
        </p:nvSpPr>
        <p:spPr>
          <a:xfrm>
            <a:off x="6590198" y="2372924"/>
            <a:ext cx="950901" cy="830997"/>
          </a:xfrm>
          <a:prstGeom prst="rect">
            <a:avLst/>
          </a:prstGeom>
          <a:noFill/>
        </p:spPr>
        <p:txBody>
          <a:bodyPr wrap="none" rtlCol="0">
            <a:spAutoFit/>
          </a:bodyPr>
          <a:lstStyle/>
          <a:p>
            <a:r>
              <a:rPr lang="en-US" altLang="zh-CN" sz="1600" dirty="0"/>
              <a:t>X:</a:t>
            </a:r>
            <a:r>
              <a:rPr lang="zh-CN" altLang="en-US" sz="1600" dirty="0"/>
              <a:t>图像</a:t>
            </a:r>
            <a:endParaRPr lang="en-US" altLang="zh-CN" sz="1600" dirty="0"/>
          </a:p>
          <a:p>
            <a:r>
              <a:rPr lang="en-US" altLang="zh-CN" sz="1600" dirty="0"/>
              <a:t>Z:</a:t>
            </a:r>
            <a:r>
              <a:rPr lang="zh-CN" altLang="en-US" sz="1600" dirty="0"/>
              <a:t>隐向量</a:t>
            </a:r>
            <a:endParaRPr lang="en-US" altLang="zh-CN" sz="1600" dirty="0"/>
          </a:p>
          <a:p>
            <a:r>
              <a:rPr lang="en-US" altLang="zh-CN" sz="1600" dirty="0"/>
              <a:t>Y:</a:t>
            </a:r>
            <a:r>
              <a:rPr lang="zh-CN" altLang="en-US" sz="1600" dirty="0"/>
              <a:t>标签</a:t>
            </a:r>
          </a:p>
        </p:txBody>
      </p:sp>
      <p:sp>
        <p:nvSpPr>
          <p:cNvPr id="3" name="箭头: 右 2">
            <a:extLst>
              <a:ext uri="{FF2B5EF4-FFF2-40B4-BE49-F238E27FC236}">
                <a16:creationId xmlns:a16="http://schemas.microsoft.com/office/drawing/2014/main" id="{DAB825D9-F2DC-4C3F-A233-7889B1083CD2}"/>
              </a:ext>
            </a:extLst>
          </p:cNvPr>
          <p:cNvSpPr/>
          <p:nvPr/>
        </p:nvSpPr>
        <p:spPr>
          <a:xfrm>
            <a:off x="5096476" y="2214553"/>
            <a:ext cx="543698" cy="358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3AD65320-A95A-4A9F-96DB-DFD99A2C5DB6}"/>
              </a:ext>
            </a:extLst>
          </p:cNvPr>
          <p:cNvGrpSpPr/>
          <p:nvPr/>
        </p:nvGrpSpPr>
        <p:grpSpPr>
          <a:xfrm>
            <a:off x="454073" y="3514352"/>
            <a:ext cx="8235854" cy="461645"/>
            <a:chOff x="652" y="2101"/>
            <a:chExt cx="12970" cy="727"/>
          </a:xfrm>
        </p:grpSpPr>
        <p:sp>
          <p:nvSpPr>
            <p:cNvPr id="42" name="椭圆 41">
              <a:extLst>
                <a:ext uri="{FF2B5EF4-FFF2-40B4-BE49-F238E27FC236}">
                  <a16:creationId xmlns:a16="http://schemas.microsoft.com/office/drawing/2014/main" id="{E50756E3-C9AF-44BE-96A3-147E4D512CF2}"/>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p:sp>
          <p:nvSpPr>
            <p:cNvPr id="43" name="文本框 42">
              <a:extLst>
                <a:ext uri="{FF2B5EF4-FFF2-40B4-BE49-F238E27FC236}">
                  <a16:creationId xmlns:a16="http://schemas.microsoft.com/office/drawing/2014/main" id="{B621C4A4-8B07-4F8F-B412-165270208860}"/>
                </a:ext>
              </a:extLst>
            </p:cNvPr>
            <p:cNvSpPr txBox="1"/>
            <p:nvPr/>
          </p:nvSpPr>
          <p:spPr>
            <a:xfrm>
              <a:off x="902" y="2101"/>
              <a:ext cx="12720" cy="727"/>
            </a:xfrm>
            <a:prstGeom prst="rect">
              <a:avLst/>
            </a:prstGeom>
            <a:noFill/>
          </p:spPr>
          <p:txBody>
            <a:bodyPr wrap="square" rtlCol="0" anchor="t">
              <a:spAutoFit/>
            </a:bodyPr>
            <a:lstStyle/>
            <a:p>
              <a:pPr algn="just"/>
              <a:r>
                <a:rPr lang="zh-CN" altLang="en-US" sz="2400" dirty="0">
                  <a:latin typeface="宋体" panose="02010600030101010101" pitchFamily="2" charset="-122"/>
                  <a:ea typeface="宋体" panose="02010600030101010101" pitchFamily="2" charset="-122"/>
                  <a:sym typeface="+mn-ea"/>
                </a:rPr>
                <a:t>隐变量会如何影响学习和推断过程</a:t>
              </a:r>
              <a:r>
                <a:rPr lang="en-US" altLang="zh-CN" sz="2400" dirty="0">
                  <a:latin typeface="宋体" panose="02010600030101010101" pitchFamily="2" charset="-122"/>
                  <a:ea typeface="宋体" panose="02010600030101010101" pitchFamily="2" charset="-122"/>
                  <a:sym typeface="+mn-ea"/>
                </a:rPr>
                <a:t>?</a:t>
              </a:r>
              <a:endParaRPr lang="zh-CN" altLang="en-US" sz="2400" dirty="0">
                <a:latin typeface="宋体" panose="02010600030101010101" pitchFamily="2" charset="-122"/>
                <a:ea typeface="宋体" panose="02010600030101010101" pitchFamily="2" charset="-122"/>
                <a:sym typeface="+mn-ea"/>
              </a:endParaRPr>
            </a:p>
          </p:txBody>
        </p:sp>
      </p:grpSp>
      <p:grpSp>
        <p:nvGrpSpPr>
          <p:cNvPr id="29" name="组合 28">
            <a:extLst>
              <a:ext uri="{FF2B5EF4-FFF2-40B4-BE49-F238E27FC236}">
                <a16:creationId xmlns:a16="http://schemas.microsoft.com/office/drawing/2014/main" id="{CF77F572-D143-4B35-A35B-0BF57CD9CD0E}"/>
              </a:ext>
            </a:extLst>
          </p:cNvPr>
          <p:cNvGrpSpPr/>
          <p:nvPr/>
        </p:nvGrpSpPr>
        <p:grpSpPr>
          <a:xfrm>
            <a:off x="439833" y="4139630"/>
            <a:ext cx="8235854" cy="461645"/>
            <a:chOff x="652" y="2101"/>
            <a:chExt cx="12970" cy="727"/>
          </a:xfrm>
        </p:grpSpPr>
        <p:sp>
          <p:nvSpPr>
            <p:cNvPr id="31" name="椭圆 30">
              <a:extLst>
                <a:ext uri="{FF2B5EF4-FFF2-40B4-BE49-F238E27FC236}">
                  <a16:creationId xmlns:a16="http://schemas.microsoft.com/office/drawing/2014/main" id="{08EA9A20-027B-47E7-89A0-46C2E85F9B18}"/>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3C2326B-32AF-47BB-B11E-CD34ECB9EB26}"/>
                    </a:ext>
                  </a:extLst>
                </p:cNvPr>
                <p:cNvSpPr txBox="1"/>
                <p:nvPr/>
              </p:nvSpPr>
              <p:spPr>
                <a:xfrm>
                  <a:off x="902" y="2101"/>
                  <a:ext cx="12720" cy="727"/>
                </a:xfrm>
                <a:prstGeom prst="rect">
                  <a:avLst/>
                </a:prstGeom>
                <a:noFill/>
              </p:spPr>
              <p:txBody>
                <a:bodyPr wrap="square" rtlCol="0" anchor="t">
                  <a:spAutoFit/>
                </a:bodyPr>
                <a:lstStyle/>
                <a:p>
                  <a:pPr algn="just"/>
                  <a:r>
                    <a:rPr lang="zh-CN" altLang="en-US" sz="2400" dirty="0">
                      <a:latin typeface="宋体" panose="02010600030101010101" pitchFamily="2" charset="-122"/>
                      <a:ea typeface="宋体" panose="02010600030101010101" pitchFamily="2" charset="-122"/>
                      <a:sym typeface="+mn-ea"/>
                    </a:rPr>
                    <a:t>隐变量对于可观测变量</a:t>
                  </a:r>
                  <a14:m>
                    <m:oMath xmlns:m="http://schemas.openxmlformats.org/officeDocument/2006/math">
                      <m:r>
                        <a:rPr lang="en-US" altLang="zh-CN" sz="2400" b="0" i="1" smtClean="0">
                          <a:latin typeface="Cambria Math" panose="02040503050406030204" pitchFamily="18" charset="0"/>
                          <a:ea typeface="宋体" panose="02010600030101010101" pitchFamily="2" charset="-122"/>
                          <a:sym typeface="+mn-ea"/>
                        </a:rPr>
                        <m:t>𝑥</m:t>
                      </m:r>
                    </m:oMath>
                  </a14:m>
                  <a:r>
                    <a:rPr lang="zh-CN" altLang="en-US" sz="2400" dirty="0">
                      <a:latin typeface="宋体" panose="02010600030101010101" pitchFamily="2" charset="-122"/>
                      <a:ea typeface="宋体" panose="02010600030101010101" pitchFamily="2" charset="-122"/>
                      <a:sym typeface="+mn-ea"/>
                    </a:rPr>
                    <a:t>分布学习的影响：</a:t>
                  </a:r>
                </a:p>
              </p:txBody>
            </p:sp>
          </mc:Choice>
          <mc:Fallback xmlns="">
            <p:sp>
              <p:nvSpPr>
                <p:cNvPr id="32" name="文本框 31">
                  <a:extLst>
                    <a:ext uri="{FF2B5EF4-FFF2-40B4-BE49-F238E27FC236}">
                      <a16:creationId xmlns:a16="http://schemas.microsoft.com/office/drawing/2014/main" id="{13C2326B-32AF-47BB-B11E-CD34ECB9EB26}"/>
                    </a:ext>
                  </a:extLst>
                </p:cNvPr>
                <p:cNvSpPr txBox="1">
                  <a:spLocks noRot="1" noChangeAspect="1" noMove="1" noResize="1" noEditPoints="1" noAdjustHandles="1" noChangeArrowheads="1" noChangeShapeType="1" noTextEdit="1"/>
                </p:cNvSpPr>
                <p:nvPr/>
              </p:nvSpPr>
              <p:spPr>
                <a:xfrm>
                  <a:off x="902" y="2101"/>
                  <a:ext cx="12720" cy="727"/>
                </a:xfrm>
                <a:prstGeom prst="rect">
                  <a:avLst/>
                </a:prstGeom>
                <a:blipFill>
                  <a:blip r:embed="rId4"/>
                  <a:stretch>
                    <a:fillRect l="-1132" t="-14474" b="-25000"/>
                  </a:stretch>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A5FD193F-1710-4CEC-8923-8B5D4417B235}"/>
              </a:ext>
            </a:extLst>
          </p:cNvPr>
          <p:cNvGrpSpPr/>
          <p:nvPr/>
        </p:nvGrpSpPr>
        <p:grpSpPr>
          <a:xfrm>
            <a:off x="480060" y="5227469"/>
            <a:ext cx="8235854" cy="461645"/>
            <a:chOff x="652" y="2101"/>
            <a:chExt cx="12970" cy="727"/>
          </a:xfrm>
        </p:grpSpPr>
        <p:sp>
          <p:nvSpPr>
            <p:cNvPr id="35" name="椭圆 34">
              <a:extLst>
                <a:ext uri="{FF2B5EF4-FFF2-40B4-BE49-F238E27FC236}">
                  <a16:creationId xmlns:a16="http://schemas.microsoft.com/office/drawing/2014/main" id="{AE8988AB-C2FD-475C-A5D3-2C1818FBF989}"/>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1B7337C-E130-4C72-ADC7-DFBF548C8F66}"/>
                    </a:ext>
                  </a:extLst>
                </p:cNvPr>
                <p:cNvSpPr txBox="1"/>
                <p:nvPr/>
              </p:nvSpPr>
              <p:spPr>
                <a:xfrm>
                  <a:off x="902" y="2101"/>
                  <a:ext cx="12720" cy="727"/>
                </a:xfrm>
                <a:prstGeom prst="rect">
                  <a:avLst/>
                </a:prstGeom>
                <a:noFill/>
              </p:spPr>
              <p:txBody>
                <a:bodyPr wrap="square" rtlCol="0" anchor="t">
                  <a:spAutoFit/>
                </a:bodyPr>
                <a:lstStyle/>
                <a:p>
                  <a:pPr algn="just"/>
                  <a:r>
                    <a:rPr lang="zh-CN" altLang="en-US" sz="2400" dirty="0">
                      <a:latin typeface="宋体" panose="02010600030101010101" pitchFamily="2" charset="-122"/>
                      <a:ea typeface="宋体" panose="02010600030101010101" pitchFamily="2" charset="-122"/>
                      <a:sym typeface="+mn-ea"/>
                    </a:rPr>
                    <a:t>隐变量对于目标变量</a:t>
                  </a:r>
                  <a14:m>
                    <m:oMath xmlns:m="http://schemas.openxmlformats.org/officeDocument/2006/math">
                      <m:r>
                        <a:rPr lang="en-US" altLang="zh-CN" sz="2400" b="0" i="1" smtClean="0">
                          <a:latin typeface="Cambria Math" panose="02040503050406030204" pitchFamily="18" charset="0"/>
                          <a:ea typeface="宋体" panose="02010600030101010101" pitchFamily="2" charset="-122"/>
                          <a:sym typeface="+mn-ea"/>
                        </a:rPr>
                        <m:t>𝑦</m:t>
                      </m:r>
                    </m:oMath>
                  </a14:m>
                  <a:r>
                    <a:rPr lang="zh-CN" altLang="en-US" sz="2400" dirty="0">
                      <a:latin typeface="宋体" panose="02010600030101010101" pitchFamily="2" charset="-122"/>
                      <a:ea typeface="宋体" panose="02010600030101010101" pitchFamily="2" charset="-122"/>
                      <a:sym typeface="+mn-ea"/>
                    </a:rPr>
                    <a:t>分布推断的影响：</a:t>
                  </a:r>
                </a:p>
              </p:txBody>
            </p:sp>
          </mc:Choice>
          <mc:Fallback xmlns="">
            <p:sp>
              <p:nvSpPr>
                <p:cNvPr id="40" name="文本框 39">
                  <a:extLst>
                    <a:ext uri="{FF2B5EF4-FFF2-40B4-BE49-F238E27FC236}">
                      <a16:creationId xmlns:a16="http://schemas.microsoft.com/office/drawing/2014/main" id="{61B7337C-E130-4C72-ADC7-DFBF548C8F66}"/>
                    </a:ext>
                  </a:extLst>
                </p:cNvPr>
                <p:cNvSpPr txBox="1">
                  <a:spLocks noRot="1" noChangeAspect="1" noMove="1" noResize="1" noEditPoints="1" noAdjustHandles="1" noChangeArrowheads="1" noChangeShapeType="1" noTextEdit="1"/>
                </p:cNvSpPr>
                <p:nvPr/>
              </p:nvSpPr>
              <p:spPr>
                <a:xfrm>
                  <a:off x="902" y="2101"/>
                  <a:ext cx="12720" cy="727"/>
                </a:xfrm>
                <a:prstGeom prst="rect">
                  <a:avLst/>
                </a:prstGeom>
                <a:blipFill>
                  <a:blip r:embed="rId5"/>
                  <a:stretch>
                    <a:fillRect l="-1208" t="-14667" b="-26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51AA1D36-002F-4C22-B9BF-DDBD3C8CEEB8}"/>
                  </a:ext>
                </a:extLst>
              </p:cNvPr>
              <p:cNvSpPr txBox="1"/>
              <p:nvPr/>
            </p:nvSpPr>
            <p:spPr>
              <a:xfrm>
                <a:off x="1172456" y="4535642"/>
                <a:ext cx="6267485" cy="81887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ea typeface="Cambria Math" panose="02040503050406030204" pitchFamily="18" charset="0"/>
                        </a:rPr>
                        <m:t>𝑝</m:t>
                      </m:r>
                      <m:d>
                        <m:dPr>
                          <m:ctrlPr>
                            <a:rPr lang="en-US" altLang="zh-CN" b="0" i="1" smtClean="0">
                              <a:solidFill>
                                <a:schemeClr val="tx1"/>
                              </a:solidFill>
                              <a:latin typeface="Cambria Math" panose="02040503050406030204" pitchFamily="18" charset="0"/>
                              <a:ea typeface="Cambria Math" panose="02040503050406030204" pitchFamily="18" charset="0"/>
                            </a:rPr>
                          </m:ctrlPr>
                        </m:dPr>
                        <m:e>
                          <m:r>
                            <a:rPr lang="en-US" altLang="zh-CN" b="0" i="1" smtClean="0">
                              <a:solidFill>
                                <a:schemeClr val="tx1"/>
                              </a:solidFill>
                              <a:latin typeface="Cambria Math" panose="02040503050406030204" pitchFamily="18" charset="0"/>
                              <a:ea typeface="Cambria Math" panose="02040503050406030204" pitchFamily="18" charset="0"/>
                            </a:rPr>
                            <m:t>𝑥</m:t>
                          </m:r>
                        </m:e>
                      </m:d>
                      <m:r>
                        <a:rPr lang="en-US" altLang="zh-CN" b="0" i="1" smtClean="0">
                          <a:solidFill>
                            <a:schemeClr val="tx1"/>
                          </a:solidFill>
                          <a:latin typeface="Cambria Math" panose="02040503050406030204" pitchFamily="18" charset="0"/>
                          <a:ea typeface="Cambria Math" panose="02040503050406030204" pitchFamily="18" charset="0"/>
                        </a:rPr>
                        <m:t>=</m:t>
                      </m:r>
                      <m:nary>
                        <m:naryPr>
                          <m:limLoc m:val="undOvr"/>
                          <m:subHide m:val="on"/>
                          <m:supHide m:val="on"/>
                          <m:ctrlPr>
                            <a:rPr lang="en-US" altLang="zh-CN" b="0" i="1" smtClean="0">
                              <a:solidFill>
                                <a:schemeClr val="tx1"/>
                              </a:solidFill>
                              <a:latin typeface="Cambria Math" panose="02040503050406030204" pitchFamily="18" charset="0"/>
                              <a:ea typeface="Cambria Math" panose="02040503050406030204" pitchFamily="18" charset="0"/>
                            </a:rPr>
                          </m:ctrlPr>
                        </m:naryPr>
                        <m:sub/>
                        <m:sup/>
                        <m:e>
                          <m:r>
                            <a:rPr lang="en-US" altLang="zh-CN" i="1">
                              <a:solidFill>
                                <a:schemeClr val="tx1"/>
                              </a:solidFill>
                              <a:latin typeface="Cambria Math" panose="02040503050406030204" pitchFamily="18" charset="0"/>
                              <a:ea typeface="Cambria Math" panose="02040503050406030204" pitchFamily="18" charset="0"/>
                            </a:rPr>
                            <m:t>𝑝</m:t>
                          </m:r>
                          <m:d>
                            <m:dPr>
                              <m:sepChr m:val="∣"/>
                              <m:ctrlPr>
                                <a:rPr lang="en-US" altLang="zh-CN" i="1">
                                  <a:solidFill>
                                    <a:schemeClr val="tx1"/>
                                  </a:solidFill>
                                  <a:latin typeface="Cambria Math" panose="02040503050406030204" pitchFamily="18" charset="0"/>
                                  <a:ea typeface="Cambria Math" panose="02040503050406030204" pitchFamily="18" charset="0"/>
                                </a:rPr>
                              </m:ctrlPr>
                            </m:dPr>
                            <m:e>
                              <m:r>
                                <a:rPr lang="en-US" altLang="zh-CN" i="1">
                                  <a:solidFill>
                                    <a:schemeClr val="tx1"/>
                                  </a:solidFill>
                                  <a:latin typeface="Cambria Math" panose="02040503050406030204" pitchFamily="18" charset="0"/>
                                  <a:ea typeface="Cambria Math" panose="02040503050406030204" pitchFamily="18" charset="0"/>
                                </a:rPr>
                                <m:t>𝑥</m:t>
                              </m:r>
                            </m:e>
                            <m:e>
                              <m:r>
                                <a:rPr lang="en-US" altLang="zh-CN" i="1">
                                  <a:solidFill>
                                    <a:schemeClr val="tx1"/>
                                  </a:solidFill>
                                  <a:latin typeface="Cambria Math" panose="02040503050406030204" pitchFamily="18" charset="0"/>
                                  <a:ea typeface="Cambria Math" panose="02040503050406030204" pitchFamily="18" charset="0"/>
                                </a:rPr>
                                <m:t>𝑦</m:t>
                              </m:r>
                            </m:e>
                          </m:d>
                          <m:r>
                            <a:rPr lang="en-US" altLang="zh-CN" i="1">
                              <a:solidFill>
                                <a:schemeClr val="tx1"/>
                              </a:solidFill>
                              <a:latin typeface="Cambria Math" panose="02040503050406030204" pitchFamily="18" charset="0"/>
                              <a:ea typeface="Cambria Math" panose="02040503050406030204" pitchFamily="18" charset="0"/>
                            </a:rPr>
                            <m:t>𝑝</m:t>
                          </m:r>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𝑦</m:t>
                          </m:r>
                          <m:r>
                            <a:rPr lang="en-US" altLang="zh-CN" i="1">
                              <a:solidFill>
                                <a:schemeClr val="tx1"/>
                              </a:solidFill>
                              <a:latin typeface="Cambria Math" panose="02040503050406030204" pitchFamily="18" charset="0"/>
                              <a:ea typeface="Cambria Math" panose="02040503050406030204" pitchFamily="18" charset="0"/>
                            </a:rPr>
                            <m:t>)</m:t>
                          </m:r>
                        </m:e>
                      </m:nary>
                      <m:r>
                        <a:rPr lang="en-US" altLang="zh-CN" b="0" i="1" smtClean="0">
                          <a:solidFill>
                            <a:schemeClr val="tx1"/>
                          </a:solidFill>
                          <a:latin typeface="Cambria Math" panose="02040503050406030204" pitchFamily="18" charset="0"/>
                          <a:ea typeface="Cambria Math" panose="02040503050406030204" pitchFamily="18" charset="0"/>
                        </a:rPr>
                        <m:t>𝑑𝑦</m:t>
                      </m:r>
                      <m:r>
                        <a:rPr lang="en-US" altLang="zh-CN" b="0" i="1" smtClean="0">
                          <a:solidFill>
                            <a:schemeClr val="tx1"/>
                          </a:solidFill>
                          <a:latin typeface="Cambria Math" panose="02040503050406030204" pitchFamily="18" charset="0"/>
                          <a:ea typeface="Cambria Math" panose="02040503050406030204" pitchFamily="18" charset="0"/>
                        </a:rPr>
                        <m:t>=</m:t>
                      </m:r>
                      <m:nary>
                        <m:naryPr>
                          <m:limLoc m:val="undOvr"/>
                          <m:subHide m:val="on"/>
                          <m:supHide m:val="on"/>
                          <m:ctrlPr>
                            <a:rPr lang="en-US" altLang="zh-CN" b="0" i="1" smtClean="0">
                              <a:solidFill>
                                <a:schemeClr val="tx1"/>
                              </a:solidFill>
                              <a:latin typeface="Cambria Math" panose="02040503050406030204" pitchFamily="18" charset="0"/>
                              <a:ea typeface="Cambria Math" panose="02040503050406030204" pitchFamily="18" charset="0"/>
                            </a:rPr>
                          </m:ctrlPr>
                        </m:naryPr>
                        <m:sub/>
                        <m:sup/>
                        <m:e>
                          <m:nary>
                            <m:naryPr>
                              <m:limLoc m:val="undOvr"/>
                              <m:subHide m:val="on"/>
                              <m:supHide m:val="on"/>
                              <m:ctrlPr>
                                <a:rPr lang="en-US" altLang="zh-CN" i="1">
                                  <a:latin typeface="Cambria Math" panose="02040503050406030204" pitchFamily="18" charset="0"/>
                                  <a:ea typeface="Cambria Math" panose="02040503050406030204" pitchFamily="18" charset="0"/>
                                </a:rPr>
                              </m:ctrlPr>
                            </m:naryPr>
                            <m:sub/>
                            <m:sup/>
                            <m:e>
                              <m:r>
                                <a:rPr lang="en-US" altLang="zh-CN" i="1">
                                  <a:solidFill>
                                    <a:srgbClr val="FF0000"/>
                                  </a:solidFill>
                                  <a:latin typeface="Cambria Math" panose="02040503050406030204" pitchFamily="18" charset="0"/>
                                  <a:ea typeface="Cambria Math" panose="02040503050406030204" pitchFamily="18" charset="0"/>
                                </a:rPr>
                                <m:t>𝑝</m:t>
                              </m:r>
                              <m:d>
                                <m:dPr>
                                  <m:sepChr m:val="∣"/>
                                  <m:ctrlPr>
                                    <a:rPr lang="en-US" altLang="zh-CN" i="1">
                                      <a:solidFill>
                                        <a:srgbClr val="FF0000"/>
                                      </a:solidFill>
                                      <a:latin typeface="Cambria Math" panose="02040503050406030204" pitchFamily="18" charset="0"/>
                                      <a:ea typeface="Cambria Math" panose="02040503050406030204" pitchFamily="18" charset="0"/>
                                    </a:rPr>
                                  </m:ctrlPr>
                                </m:dPr>
                                <m:e>
                                  <m:r>
                                    <a:rPr lang="en-US" altLang="zh-CN" i="1">
                                      <a:solidFill>
                                        <a:srgbClr val="FF0000"/>
                                      </a:solidFill>
                                      <a:latin typeface="Cambria Math" panose="02040503050406030204" pitchFamily="18" charset="0"/>
                                      <a:ea typeface="Cambria Math" panose="02040503050406030204" pitchFamily="18" charset="0"/>
                                    </a:rPr>
                                    <m:t>𝑥</m:t>
                                  </m:r>
                                </m:e>
                                <m:e>
                                  <m:r>
                                    <a:rPr lang="en-US" altLang="zh-CN" i="1">
                                      <a:solidFill>
                                        <a:srgbClr val="FF0000"/>
                                      </a:solidFill>
                                      <a:latin typeface="Cambria Math" panose="02040503050406030204" pitchFamily="18" charset="0"/>
                                      <a:ea typeface="Cambria Math" panose="02040503050406030204" pitchFamily="18" charset="0"/>
                                    </a:rPr>
                                    <m:t>𝑧</m:t>
                                  </m:r>
                                </m:e>
                              </m:d>
                              <m:r>
                                <a:rPr lang="en-US" altLang="zh-CN" i="1">
                                  <a:solidFill>
                                    <a:srgbClr val="FF0000"/>
                                  </a:solidFill>
                                  <a:latin typeface="Cambria Math" panose="02040503050406030204" pitchFamily="18" charset="0"/>
                                  <a:ea typeface="Cambria Math" panose="02040503050406030204" pitchFamily="18" charset="0"/>
                                </a:rPr>
                                <m:t>𝑝</m:t>
                              </m:r>
                              <m:d>
                                <m:dPr>
                                  <m:sepChr m:val="∣"/>
                                  <m:ctrlPr>
                                    <a:rPr lang="en-US" altLang="zh-CN" i="1">
                                      <a:solidFill>
                                        <a:srgbClr val="FF0000"/>
                                      </a:solidFill>
                                      <a:latin typeface="Cambria Math" panose="02040503050406030204" pitchFamily="18" charset="0"/>
                                      <a:ea typeface="Cambria Math" panose="02040503050406030204" pitchFamily="18" charset="0"/>
                                    </a:rPr>
                                  </m:ctrlPr>
                                </m:dPr>
                                <m:e>
                                  <m:r>
                                    <a:rPr lang="en-US" altLang="zh-CN" i="1">
                                      <a:solidFill>
                                        <a:srgbClr val="FF0000"/>
                                      </a:solidFill>
                                      <a:latin typeface="Cambria Math" panose="02040503050406030204" pitchFamily="18" charset="0"/>
                                      <a:ea typeface="Cambria Math" panose="02040503050406030204" pitchFamily="18" charset="0"/>
                                    </a:rPr>
                                    <m:t>𝑧</m:t>
                                  </m:r>
                                </m:e>
                                <m:e>
                                  <m:r>
                                    <a:rPr lang="en-US" altLang="zh-CN" i="1">
                                      <a:solidFill>
                                        <a:srgbClr val="FF0000"/>
                                      </a:solidFill>
                                      <a:latin typeface="Cambria Math" panose="02040503050406030204" pitchFamily="18" charset="0"/>
                                      <a:ea typeface="Cambria Math" panose="02040503050406030204" pitchFamily="18" charset="0"/>
                                    </a:rPr>
                                    <m:t>𝑦</m:t>
                                  </m:r>
                                </m:e>
                              </m:d>
                              <m:r>
                                <a:rPr lang="en-US" altLang="zh-CN" i="1">
                                  <a:latin typeface="Cambria Math" panose="02040503050406030204" pitchFamily="18" charset="0"/>
                                  <a:ea typeface="Cambria Math" panose="02040503050406030204" pitchFamily="18" charset="0"/>
                                </a:rPr>
                                <m:t>𝑝</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𝑑𝑧</m:t>
                              </m:r>
                            </m:e>
                          </m:nary>
                        </m:e>
                      </m:nary>
                      <m:r>
                        <m:rPr>
                          <m:sty m:val="p"/>
                        </m:rPr>
                        <a:rPr lang="en-US" altLang="zh-CN" b="0" i="0" smtClean="0">
                          <a:solidFill>
                            <a:schemeClr val="tx1"/>
                          </a:solidFill>
                          <a:latin typeface="Cambria Math" panose="02040503050406030204" pitchFamily="18" charset="0"/>
                          <a:ea typeface="Cambria Math" panose="02040503050406030204" pitchFamily="18" charset="0"/>
                        </a:rPr>
                        <m:t>dy</m:t>
                      </m:r>
                    </m:oMath>
                  </m:oMathPara>
                </a14:m>
                <a:endParaRPr lang="zh-CN" altLang="en-US" dirty="0">
                  <a:solidFill>
                    <a:schemeClr val="tx1"/>
                  </a:solidFill>
                </a:endParaRPr>
              </a:p>
            </p:txBody>
          </p:sp>
        </mc:Choice>
        <mc:Fallback xmlns="">
          <p:sp>
            <p:nvSpPr>
              <p:cNvPr id="44" name="文本框 43">
                <a:extLst>
                  <a:ext uri="{FF2B5EF4-FFF2-40B4-BE49-F238E27FC236}">
                    <a16:creationId xmlns:a16="http://schemas.microsoft.com/office/drawing/2014/main" id="{51AA1D36-002F-4C22-B9BF-DDBD3C8CEEB8}"/>
                  </a:ext>
                </a:extLst>
              </p:cNvPr>
              <p:cNvSpPr txBox="1">
                <a:spLocks noRot="1" noChangeAspect="1" noMove="1" noResize="1" noEditPoints="1" noAdjustHandles="1" noChangeArrowheads="1" noChangeShapeType="1" noTextEdit="1"/>
              </p:cNvSpPr>
              <p:nvPr/>
            </p:nvSpPr>
            <p:spPr>
              <a:xfrm>
                <a:off x="1172456" y="4535642"/>
                <a:ext cx="6267485" cy="818879"/>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9A8A7CC7-B200-4DE4-AA09-2A9DB246BF3D}"/>
                  </a:ext>
                </a:extLst>
              </p:cNvPr>
              <p:cNvSpPr txBox="1"/>
              <p:nvPr/>
            </p:nvSpPr>
            <p:spPr>
              <a:xfrm>
                <a:off x="1403637" y="5750533"/>
                <a:ext cx="6368282" cy="7900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𝑝</m:t>
                      </m:r>
                      <m:d>
                        <m:dPr>
                          <m:sepChr m:val="∣"/>
                          <m:ctrlPr>
                            <a:rPr lang="en-US" altLang="zh-CN" sz="2000" b="0" i="1" smtClean="0">
                              <a:solidFill>
                                <a:schemeClr val="tx1"/>
                              </a:solidFill>
                              <a:latin typeface="Cambria Math" panose="02040503050406030204" pitchFamily="18" charset="0"/>
                            </a:rPr>
                          </m:ctrlPr>
                        </m:dPr>
                        <m:e>
                          <m:r>
                            <a:rPr lang="en-US" altLang="zh-CN" sz="2000" b="0" i="1" smtClean="0">
                              <a:solidFill>
                                <a:schemeClr val="tx1"/>
                              </a:solidFill>
                              <a:latin typeface="Cambria Math" panose="02040503050406030204" pitchFamily="18" charset="0"/>
                            </a:rPr>
                            <m:t>𝑦</m:t>
                          </m:r>
                        </m:e>
                        <m:e>
                          <m:r>
                            <a:rPr lang="en-US" altLang="zh-CN" sz="2000" b="0" i="1" smtClean="0">
                              <a:solidFill>
                                <a:schemeClr val="tx1"/>
                              </a:solidFill>
                              <a:latin typeface="Cambria Math" panose="02040503050406030204" pitchFamily="18" charset="0"/>
                            </a:rPr>
                            <m:t>𝑥</m:t>
                          </m:r>
                        </m:e>
                      </m:d>
                      <m:r>
                        <a:rPr lang="en-US" altLang="zh-CN" sz="2000" b="0" i="1" smtClean="0">
                          <a:solidFill>
                            <a:schemeClr val="tx1"/>
                          </a:solidFill>
                          <a:latin typeface="Cambria Math" panose="02040503050406030204" pitchFamily="18" charset="0"/>
                        </a:rPr>
                        <m:t>=</m:t>
                      </m:r>
                      <m:f>
                        <m:fPr>
                          <m:ctrlPr>
                            <a:rPr lang="en-US" altLang="zh-CN" sz="2000" b="0" i="1" smtClean="0">
                              <a:solidFill>
                                <a:schemeClr val="tx1"/>
                              </a:solidFill>
                              <a:latin typeface="Cambria Math" panose="02040503050406030204" pitchFamily="18" charset="0"/>
                            </a:rPr>
                          </m:ctrlPr>
                        </m:fPr>
                        <m:num>
                          <m:r>
                            <a:rPr lang="en-US" altLang="zh-CN" sz="2000" b="0" i="1" smtClean="0">
                              <a:solidFill>
                                <a:schemeClr val="tx1"/>
                              </a:solidFill>
                              <a:latin typeface="Cambria Math" panose="02040503050406030204" pitchFamily="18" charset="0"/>
                            </a:rPr>
                            <m:t>𝑝</m:t>
                          </m:r>
                          <m:d>
                            <m:dPr>
                              <m:sepChr m:val="∣"/>
                              <m:ctrlPr>
                                <a:rPr lang="en-US" altLang="zh-CN" sz="2000" b="0" i="1" smtClean="0">
                                  <a:solidFill>
                                    <a:schemeClr val="tx1"/>
                                  </a:solidFill>
                                  <a:latin typeface="Cambria Math" panose="02040503050406030204" pitchFamily="18" charset="0"/>
                                </a:rPr>
                              </m:ctrlPr>
                            </m:dPr>
                            <m:e>
                              <m:r>
                                <a:rPr lang="en-US" altLang="zh-CN" sz="2000" b="0" i="1" smtClean="0">
                                  <a:solidFill>
                                    <a:schemeClr val="tx1"/>
                                  </a:solidFill>
                                  <a:latin typeface="Cambria Math" panose="02040503050406030204" pitchFamily="18" charset="0"/>
                                </a:rPr>
                                <m:t>𝑥</m:t>
                              </m:r>
                            </m:e>
                            <m:e>
                              <m:r>
                                <a:rPr lang="en-US" altLang="zh-CN" sz="2000" b="0" i="1" smtClean="0">
                                  <a:solidFill>
                                    <a:schemeClr val="tx1"/>
                                  </a:solidFill>
                                  <a:latin typeface="Cambria Math" panose="02040503050406030204" pitchFamily="18" charset="0"/>
                                </a:rPr>
                                <m:t>𝑦</m:t>
                              </m:r>
                            </m:e>
                          </m:d>
                          <m:r>
                            <a:rPr lang="en-US" altLang="zh-CN" sz="2000" b="0" i="1" smtClean="0">
                              <a:solidFill>
                                <a:schemeClr val="tx1"/>
                              </a:solidFill>
                              <a:latin typeface="Cambria Math" panose="02040503050406030204" pitchFamily="18" charset="0"/>
                            </a:rPr>
                            <m:t>𝑝</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𝑦</m:t>
                          </m:r>
                          <m:r>
                            <a:rPr lang="en-US" altLang="zh-CN" sz="2000" b="0" i="1" smtClean="0">
                              <a:solidFill>
                                <a:schemeClr val="tx1"/>
                              </a:solidFill>
                              <a:latin typeface="Cambria Math" panose="02040503050406030204" pitchFamily="18" charset="0"/>
                            </a:rPr>
                            <m:t>)</m:t>
                          </m:r>
                        </m:num>
                        <m:den>
                          <m:r>
                            <a:rPr lang="en-US" altLang="zh-CN" sz="2000" b="0" i="1" smtClean="0">
                              <a:solidFill>
                                <a:schemeClr val="tx1"/>
                              </a:solidFill>
                              <a:latin typeface="Cambria Math" panose="02040503050406030204" pitchFamily="18" charset="0"/>
                            </a:rPr>
                            <m:t>𝑝</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𝑥</m:t>
                          </m:r>
                          <m:r>
                            <a:rPr lang="en-US" altLang="zh-CN" sz="2000" b="0" i="1" smtClean="0">
                              <a:solidFill>
                                <a:schemeClr val="tx1"/>
                              </a:solidFill>
                              <a:latin typeface="Cambria Math" panose="02040503050406030204" pitchFamily="18" charset="0"/>
                            </a:rPr>
                            <m:t>)</m:t>
                          </m:r>
                        </m:den>
                      </m:f>
                      <m:r>
                        <a:rPr lang="en-US" altLang="zh-CN" sz="2000" b="0" i="1" smtClean="0">
                          <a:solidFill>
                            <a:schemeClr val="tx1"/>
                          </a:solidFill>
                          <a:latin typeface="Cambria Math" panose="02040503050406030204" pitchFamily="18" charset="0"/>
                        </a:rPr>
                        <m:t>=</m:t>
                      </m:r>
                      <m:f>
                        <m:fPr>
                          <m:ctrlPr>
                            <a:rPr lang="en-US" altLang="zh-CN" sz="2000" i="1">
                              <a:latin typeface="Cambria Math" panose="02040503050406030204" pitchFamily="18" charset="0"/>
                            </a:rPr>
                          </m:ctrlPr>
                        </m:fPr>
                        <m:num>
                          <m:nary>
                            <m:naryPr>
                              <m:limLoc m:val="undOvr"/>
                              <m:subHide m:val="on"/>
                              <m:supHide m:val="on"/>
                              <m:ctrlPr>
                                <a:rPr lang="en-US" altLang="zh-CN" sz="2000" i="1">
                                  <a:latin typeface="Cambria Math" panose="02040503050406030204" pitchFamily="18" charset="0"/>
                                  <a:ea typeface="Cambria Math" panose="02040503050406030204" pitchFamily="18" charset="0"/>
                                </a:rPr>
                              </m:ctrlPr>
                            </m:naryPr>
                            <m:sub/>
                            <m:sup/>
                            <m:e>
                              <m:nary>
                                <m:naryPr>
                                  <m:limLoc m:val="undOvr"/>
                                  <m:subHide m:val="on"/>
                                  <m:supHide m:val="on"/>
                                  <m:ctrlPr>
                                    <a:rPr lang="en-US" altLang="zh-CN" sz="2000" i="1">
                                      <a:latin typeface="Cambria Math" panose="02040503050406030204" pitchFamily="18" charset="0"/>
                                      <a:ea typeface="Cambria Math" panose="02040503050406030204" pitchFamily="18" charset="0"/>
                                    </a:rPr>
                                  </m:ctrlPr>
                                </m:naryPr>
                                <m:sub/>
                                <m:sup/>
                                <m:e>
                                  <m:r>
                                    <a:rPr lang="en-US" altLang="zh-CN" sz="2000" i="1">
                                      <a:solidFill>
                                        <a:srgbClr val="FF0000"/>
                                      </a:solidFill>
                                      <a:latin typeface="Cambria Math" panose="02040503050406030204" pitchFamily="18" charset="0"/>
                                      <a:ea typeface="Cambria Math" panose="02040503050406030204" pitchFamily="18" charset="0"/>
                                    </a:rPr>
                                    <m:t>𝑝</m:t>
                                  </m:r>
                                  <m:d>
                                    <m:dPr>
                                      <m:sepChr m:val="∣"/>
                                      <m:ctrlPr>
                                        <a:rPr lang="en-US" altLang="zh-CN" sz="2000" i="1">
                                          <a:solidFill>
                                            <a:srgbClr val="FF0000"/>
                                          </a:solidFill>
                                          <a:latin typeface="Cambria Math" panose="02040503050406030204" pitchFamily="18" charset="0"/>
                                          <a:ea typeface="Cambria Math" panose="02040503050406030204" pitchFamily="18" charset="0"/>
                                        </a:rPr>
                                      </m:ctrlPr>
                                    </m:dPr>
                                    <m:e>
                                      <m:r>
                                        <a:rPr lang="en-US" altLang="zh-CN" sz="2000" i="1">
                                          <a:solidFill>
                                            <a:srgbClr val="FF0000"/>
                                          </a:solidFill>
                                          <a:latin typeface="Cambria Math" panose="02040503050406030204" pitchFamily="18" charset="0"/>
                                          <a:ea typeface="Cambria Math" panose="02040503050406030204" pitchFamily="18" charset="0"/>
                                        </a:rPr>
                                        <m:t>𝑥</m:t>
                                      </m:r>
                                    </m:e>
                                    <m:e>
                                      <m:r>
                                        <a:rPr lang="en-US" altLang="zh-CN" sz="2000" i="1">
                                          <a:solidFill>
                                            <a:srgbClr val="FF0000"/>
                                          </a:solidFill>
                                          <a:latin typeface="Cambria Math" panose="02040503050406030204" pitchFamily="18" charset="0"/>
                                          <a:ea typeface="Cambria Math" panose="02040503050406030204" pitchFamily="18" charset="0"/>
                                        </a:rPr>
                                        <m:t>𝑧</m:t>
                                      </m:r>
                                    </m:e>
                                  </m:d>
                                  <m:r>
                                    <a:rPr lang="en-US" altLang="zh-CN" sz="2000" i="1">
                                      <a:solidFill>
                                        <a:srgbClr val="FF0000"/>
                                      </a:solidFill>
                                      <a:latin typeface="Cambria Math" panose="02040503050406030204" pitchFamily="18" charset="0"/>
                                      <a:ea typeface="Cambria Math" panose="02040503050406030204" pitchFamily="18" charset="0"/>
                                    </a:rPr>
                                    <m:t>𝑝</m:t>
                                  </m:r>
                                  <m:d>
                                    <m:dPr>
                                      <m:sepChr m:val="∣"/>
                                      <m:ctrlPr>
                                        <a:rPr lang="en-US" altLang="zh-CN" sz="2000" i="1">
                                          <a:solidFill>
                                            <a:srgbClr val="FF0000"/>
                                          </a:solidFill>
                                          <a:latin typeface="Cambria Math" panose="02040503050406030204" pitchFamily="18" charset="0"/>
                                          <a:ea typeface="Cambria Math" panose="02040503050406030204" pitchFamily="18" charset="0"/>
                                        </a:rPr>
                                      </m:ctrlPr>
                                    </m:dPr>
                                    <m:e>
                                      <m:r>
                                        <a:rPr lang="en-US" altLang="zh-CN" sz="2000" i="1">
                                          <a:solidFill>
                                            <a:srgbClr val="FF0000"/>
                                          </a:solidFill>
                                          <a:latin typeface="Cambria Math" panose="02040503050406030204" pitchFamily="18" charset="0"/>
                                          <a:ea typeface="Cambria Math" panose="02040503050406030204" pitchFamily="18" charset="0"/>
                                        </a:rPr>
                                        <m:t>𝑧</m:t>
                                      </m:r>
                                    </m:e>
                                    <m:e>
                                      <m:r>
                                        <a:rPr lang="en-US" altLang="zh-CN" sz="2000" i="1">
                                          <a:solidFill>
                                            <a:srgbClr val="FF0000"/>
                                          </a:solidFill>
                                          <a:latin typeface="Cambria Math" panose="02040503050406030204" pitchFamily="18" charset="0"/>
                                          <a:ea typeface="Cambria Math" panose="02040503050406030204" pitchFamily="18" charset="0"/>
                                        </a:rPr>
                                        <m:t>𝑦</m:t>
                                      </m:r>
                                    </m:e>
                                  </m:d>
                                  <m:r>
                                    <a:rPr lang="en-US" altLang="zh-CN" sz="2000" i="1">
                                      <a:latin typeface="Cambria Math" panose="02040503050406030204" pitchFamily="18" charset="0"/>
                                      <a:ea typeface="Cambria Math" panose="02040503050406030204" pitchFamily="18" charset="0"/>
                                    </a:rPr>
                                    <m:t>𝑝</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𝑦</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𝑑𝑧</m:t>
                                  </m:r>
                                </m:e>
                              </m:nary>
                            </m:e>
                          </m:nary>
                        </m:num>
                        <m:den>
                          <m:r>
                            <a:rPr lang="en-US" altLang="zh-CN" sz="2000" i="1">
                              <a:latin typeface="Cambria Math" panose="02040503050406030204" pitchFamily="18" charset="0"/>
                            </a:rPr>
                            <m:t>𝑝</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m:t>
                          </m:r>
                        </m:den>
                      </m:f>
                    </m:oMath>
                  </m:oMathPara>
                </a14:m>
                <a:endParaRPr lang="zh-CN" altLang="en-US" sz="2000" dirty="0">
                  <a:solidFill>
                    <a:schemeClr val="tx1"/>
                  </a:solidFill>
                </a:endParaRPr>
              </a:p>
            </p:txBody>
          </p:sp>
        </mc:Choice>
        <mc:Fallback xmlns="">
          <p:sp>
            <p:nvSpPr>
              <p:cNvPr id="45" name="文本框 44">
                <a:extLst>
                  <a:ext uri="{FF2B5EF4-FFF2-40B4-BE49-F238E27FC236}">
                    <a16:creationId xmlns:a16="http://schemas.microsoft.com/office/drawing/2014/main" id="{9A8A7CC7-B200-4DE4-AA09-2A9DB246BF3D}"/>
                  </a:ext>
                </a:extLst>
              </p:cNvPr>
              <p:cNvSpPr txBox="1">
                <a:spLocks noRot="1" noChangeAspect="1" noMove="1" noResize="1" noEditPoints="1" noAdjustHandles="1" noChangeArrowheads="1" noChangeShapeType="1" noTextEdit="1"/>
              </p:cNvSpPr>
              <p:nvPr/>
            </p:nvSpPr>
            <p:spPr>
              <a:xfrm>
                <a:off x="1403637" y="5750533"/>
                <a:ext cx="6368282" cy="790088"/>
              </a:xfrm>
              <a:prstGeom prst="rect">
                <a:avLst/>
              </a:prstGeom>
              <a:blipFill>
                <a:blip r:embed="rId7"/>
                <a:stretch>
                  <a:fillRect/>
                </a:stretch>
              </a:blipFill>
            </p:spPr>
            <p:txBody>
              <a:bodyPr/>
              <a:lstStyle/>
              <a:p>
                <a:r>
                  <a:rPr lang="zh-CN" altLang="en-US">
                    <a:noFill/>
                  </a:rPr>
                  <a:t> </a:t>
                </a:r>
              </a:p>
            </p:txBody>
          </p:sp>
        </mc:Fallback>
      </mc:AlternateContent>
      <p:sp>
        <p:nvSpPr>
          <p:cNvPr id="5" name="右大括号 4">
            <a:extLst>
              <a:ext uri="{FF2B5EF4-FFF2-40B4-BE49-F238E27FC236}">
                <a16:creationId xmlns:a16="http://schemas.microsoft.com/office/drawing/2014/main" id="{AD9FBC14-8015-45BC-9573-D7B4D0218EE4}"/>
              </a:ext>
            </a:extLst>
          </p:cNvPr>
          <p:cNvSpPr/>
          <p:nvPr/>
        </p:nvSpPr>
        <p:spPr>
          <a:xfrm>
            <a:off x="7747337" y="4535642"/>
            <a:ext cx="296562" cy="2096087"/>
          </a:xfrm>
          <a:prstGeom prst="rightBrace">
            <a:avLst/>
          </a:prstGeom>
          <a:ln>
            <a:solidFill>
              <a:srgbClr val="C00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5A85E7D-07F0-4886-9853-E74BEC841584}"/>
              </a:ext>
            </a:extLst>
          </p:cNvPr>
          <p:cNvSpPr txBox="1"/>
          <p:nvPr/>
        </p:nvSpPr>
        <p:spPr>
          <a:xfrm>
            <a:off x="8013816" y="4887654"/>
            <a:ext cx="1179349" cy="1200329"/>
          </a:xfrm>
          <a:prstGeom prst="rect">
            <a:avLst/>
          </a:prstGeom>
          <a:noFill/>
        </p:spPr>
        <p:txBody>
          <a:bodyPr wrap="square" rtlCol="0">
            <a:spAutoFit/>
          </a:bodyPr>
          <a:lstStyle/>
          <a:p>
            <a:r>
              <a:rPr lang="zh-CN" altLang="en-US" dirty="0"/>
              <a:t>主要都是积分和条件分布的问题？</a:t>
            </a:r>
          </a:p>
        </p:txBody>
      </p:sp>
    </p:spTree>
    <p:extLst>
      <p:ext uri="{BB962C8B-B14F-4D97-AF65-F5344CB8AC3E}">
        <p14:creationId xmlns:p14="http://schemas.microsoft.com/office/powerpoint/2010/main" val="699076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172" y="429"/>
              <a:ext cx="987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学习方法</a:t>
              </a:r>
            </a:p>
          </p:txBody>
        </p:sp>
      </p:grpSp>
      <p:pic>
        <p:nvPicPr>
          <p:cNvPr id="18" name="图片 17">
            <a:extLst>
              <a:ext uri="{FF2B5EF4-FFF2-40B4-BE49-F238E27FC236}">
                <a16:creationId xmlns:a16="http://schemas.microsoft.com/office/drawing/2014/main" id="{932BA91D-EF71-48E9-ADAF-04A94295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596" y="1365163"/>
            <a:ext cx="4425701" cy="2063837"/>
          </a:xfrm>
          <a:prstGeom prst="rect">
            <a:avLst/>
          </a:prstGeom>
        </p:spPr>
      </p:pic>
      <p:grpSp>
        <p:nvGrpSpPr>
          <p:cNvPr id="22" name="组合 21">
            <a:extLst>
              <a:ext uri="{FF2B5EF4-FFF2-40B4-BE49-F238E27FC236}">
                <a16:creationId xmlns:a16="http://schemas.microsoft.com/office/drawing/2014/main" id="{EE0ED7D5-FD7D-4183-929D-FE9B270463D3}"/>
              </a:ext>
            </a:extLst>
          </p:cNvPr>
          <p:cNvGrpSpPr/>
          <p:nvPr/>
        </p:nvGrpSpPr>
        <p:grpSpPr>
          <a:xfrm>
            <a:off x="5216123" y="1630531"/>
            <a:ext cx="3704992" cy="815316"/>
            <a:chOff x="1707267" y="4269490"/>
            <a:chExt cx="5929637" cy="1217141"/>
          </a:xfrm>
        </p:grpSpPr>
        <p:sp>
          <p:nvSpPr>
            <p:cNvPr id="23" name="矩形 22">
              <a:extLst>
                <a:ext uri="{FF2B5EF4-FFF2-40B4-BE49-F238E27FC236}">
                  <a16:creationId xmlns:a16="http://schemas.microsoft.com/office/drawing/2014/main" id="{9FD24994-C730-4EC6-A6A0-31165C3DE54E}"/>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6544203-1ACC-4526-8D18-079E7CA1F467}"/>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25" name="椭圆 24">
              <a:extLst>
                <a:ext uri="{FF2B5EF4-FFF2-40B4-BE49-F238E27FC236}">
                  <a16:creationId xmlns:a16="http://schemas.microsoft.com/office/drawing/2014/main" id="{9440851B-C576-4D41-9DBD-5C9E3737AE1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6" name="直接箭头连接符 25">
              <a:extLst>
                <a:ext uri="{FF2B5EF4-FFF2-40B4-BE49-F238E27FC236}">
                  <a16:creationId xmlns:a16="http://schemas.microsoft.com/office/drawing/2014/main" id="{C516BB17-BE9E-4FF7-935C-948C069BA9F0}"/>
                </a:ext>
              </a:extLst>
            </p:cNvPr>
            <p:cNvCxnSpPr>
              <a:cxnSpLocks/>
              <a:stCxn id="24" idx="6"/>
              <a:endCxn id="27"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椭圆 26">
              <a:extLst>
                <a:ext uri="{FF2B5EF4-FFF2-40B4-BE49-F238E27FC236}">
                  <a16:creationId xmlns:a16="http://schemas.microsoft.com/office/drawing/2014/main" id="{B13E8350-B9DF-442D-BE40-1FCB49912C05}"/>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8" name="直接箭头连接符 27">
              <a:extLst>
                <a:ext uri="{FF2B5EF4-FFF2-40B4-BE49-F238E27FC236}">
                  <a16:creationId xmlns:a16="http://schemas.microsoft.com/office/drawing/2014/main" id="{52D061E0-62D8-4728-843E-7976A2CD8FC3}"/>
                </a:ext>
              </a:extLst>
            </p:cNvPr>
            <p:cNvCxnSpPr>
              <a:cxnSpLocks/>
              <a:stCxn id="27" idx="6"/>
              <a:endCxn id="25"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7D0D9E6-4BFB-4313-81F4-C4727CD0B4D3}"/>
                  </a:ext>
                </a:extLst>
              </p:cNvPr>
              <p:cNvSpPr txBox="1"/>
              <p:nvPr/>
            </p:nvSpPr>
            <p:spPr>
              <a:xfrm>
                <a:off x="6577843" y="2243990"/>
                <a:ext cx="981551" cy="830997"/>
              </a:xfrm>
              <a:prstGeom prst="rect">
                <a:avLst/>
              </a:prstGeom>
              <a:noFill/>
            </p:spPr>
            <p:txBody>
              <a:bodyPr wrap="none" rtlCol="0">
                <a:spAutoFit/>
              </a:bodyPr>
              <a:lstStyle/>
              <a:p>
                <a14:m>
                  <m:oMath xmlns:m="http://schemas.openxmlformats.org/officeDocument/2006/math">
                    <m:r>
                      <a:rPr lang="en-US" altLang="zh-CN" sz="1600" i="1" dirty="0" smtClean="0">
                        <a:latin typeface="Cambria Math" panose="02040503050406030204" pitchFamily="18" charset="0"/>
                      </a:rPr>
                      <m:t>𝑋</m:t>
                    </m:r>
                  </m:oMath>
                </a14:m>
                <a:r>
                  <a:rPr lang="en-US" altLang="zh-CN" sz="1600" dirty="0"/>
                  <a:t>:</a:t>
                </a:r>
                <a:r>
                  <a:rPr lang="zh-CN" altLang="en-US" sz="1600" dirty="0"/>
                  <a:t>图片</a:t>
                </a:r>
                <a:endParaRPr lang="en-US" altLang="zh-CN" sz="1600" dirty="0"/>
              </a:p>
              <a:p>
                <a14:m>
                  <m:oMath xmlns:m="http://schemas.openxmlformats.org/officeDocument/2006/math">
                    <m:r>
                      <a:rPr lang="en-US" altLang="zh-CN" sz="1600" i="1" dirty="0" smtClean="0">
                        <a:latin typeface="Cambria Math" panose="02040503050406030204" pitchFamily="18" charset="0"/>
                      </a:rPr>
                      <m:t>𝑍</m:t>
                    </m:r>
                  </m:oMath>
                </a14:m>
                <a:r>
                  <a:rPr lang="en-US" altLang="zh-CN" sz="1600" dirty="0"/>
                  <a:t>:</a:t>
                </a:r>
                <a:r>
                  <a:rPr lang="zh-CN" altLang="en-US" sz="1600" dirty="0"/>
                  <a:t>隐向量</a:t>
                </a:r>
                <a:endParaRPr lang="en-US" altLang="zh-CN" sz="1600" dirty="0"/>
              </a:p>
              <a:p>
                <a14:m>
                  <m:oMath xmlns:m="http://schemas.openxmlformats.org/officeDocument/2006/math">
                    <m:r>
                      <a:rPr lang="en-US" altLang="zh-CN" sz="1600" i="1" dirty="0" smtClean="0">
                        <a:latin typeface="Cambria Math" panose="02040503050406030204" pitchFamily="18" charset="0"/>
                      </a:rPr>
                      <m:t>𝑌</m:t>
                    </m:r>
                  </m:oMath>
                </a14:m>
                <a:r>
                  <a:rPr lang="en-US" altLang="zh-CN" sz="1600" dirty="0"/>
                  <a:t>:</a:t>
                </a:r>
                <a:r>
                  <a:rPr lang="zh-CN" altLang="en-US" sz="1600" dirty="0"/>
                  <a:t>标签</a:t>
                </a:r>
              </a:p>
            </p:txBody>
          </p:sp>
        </mc:Choice>
        <mc:Fallback xmlns="">
          <p:sp>
            <p:nvSpPr>
              <p:cNvPr id="2" name="文本框 1">
                <a:extLst>
                  <a:ext uri="{FF2B5EF4-FFF2-40B4-BE49-F238E27FC236}">
                    <a16:creationId xmlns:a16="http://schemas.microsoft.com/office/drawing/2014/main" id="{D7D0D9E6-4BFB-4313-81F4-C4727CD0B4D3}"/>
                  </a:ext>
                </a:extLst>
              </p:cNvPr>
              <p:cNvSpPr txBox="1">
                <a:spLocks noRot="1" noChangeAspect="1" noMove="1" noResize="1" noEditPoints="1" noAdjustHandles="1" noChangeArrowheads="1" noChangeShapeType="1" noTextEdit="1"/>
              </p:cNvSpPr>
              <p:nvPr/>
            </p:nvSpPr>
            <p:spPr>
              <a:xfrm>
                <a:off x="6577843" y="2243990"/>
                <a:ext cx="981551" cy="830997"/>
              </a:xfrm>
              <a:prstGeom prst="rect">
                <a:avLst/>
              </a:prstGeom>
              <a:blipFill>
                <a:blip r:embed="rId4"/>
                <a:stretch>
                  <a:fillRect t="-3676" r="-2484" b="-9559"/>
                </a:stretch>
              </a:blipFill>
            </p:spPr>
            <p:txBody>
              <a:bodyPr/>
              <a:lstStyle/>
              <a:p>
                <a:r>
                  <a:rPr lang="zh-CN" altLang="en-US">
                    <a:noFill/>
                  </a:rPr>
                  <a:t> </a:t>
                </a:r>
              </a:p>
            </p:txBody>
          </p:sp>
        </mc:Fallback>
      </mc:AlternateContent>
      <p:sp>
        <p:nvSpPr>
          <p:cNvPr id="3" name="箭头: 右 2">
            <a:extLst>
              <a:ext uri="{FF2B5EF4-FFF2-40B4-BE49-F238E27FC236}">
                <a16:creationId xmlns:a16="http://schemas.microsoft.com/office/drawing/2014/main" id="{DAB825D9-F2DC-4C3F-A233-7889B1083CD2}"/>
              </a:ext>
            </a:extLst>
          </p:cNvPr>
          <p:cNvSpPr/>
          <p:nvPr/>
        </p:nvSpPr>
        <p:spPr>
          <a:xfrm>
            <a:off x="5096476" y="2214553"/>
            <a:ext cx="543698" cy="358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3AD65320-A95A-4A9F-96DB-DFD99A2C5DB6}"/>
              </a:ext>
            </a:extLst>
          </p:cNvPr>
          <p:cNvGrpSpPr/>
          <p:nvPr/>
        </p:nvGrpSpPr>
        <p:grpSpPr>
          <a:xfrm>
            <a:off x="454073" y="3580838"/>
            <a:ext cx="8235854" cy="400050"/>
            <a:chOff x="652" y="2101"/>
            <a:chExt cx="12970" cy="630"/>
          </a:xfrm>
        </p:grpSpPr>
        <p:sp>
          <p:nvSpPr>
            <p:cNvPr id="42" name="椭圆 41">
              <a:extLst>
                <a:ext uri="{FF2B5EF4-FFF2-40B4-BE49-F238E27FC236}">
                  <a16:creationId xmlns:a16="http://schemas.microsoft.com/office/drawing/2014/main" id="{E50756E3-C9AF-44BE-96A3-147E4D512CF2}"/>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621C4A4-8B07-4F8F-B412-165270208860}"/>
                    </a:ext>
                  </a:extLst>
                </p:cNvPr>
                <p:cNvSpPr txBox="1"/>
                <p:nvPr/>
              </p:nvSpPr>
              <p:spPr>
                <a:xfrm>
                  <a:off x="902" y="2101"/>
                  <a:ext cx="12720" cy="630"/>
                </a:xfrm>
                <a:prstGeom prst="rect">
                  <a:avLst/>
                </a:prstGeom>
                <a:noFill/>
              </p:spPr>
              <p:txBody>
                <a:bodyPr wrap="square" rtlCol="0" anchor="t">
                  <a:spAutoFit/>
                </a:bodyPr>
                <a:lstStyle/>
                <a:p>
                  <a:pPr algn="just"/>
                  <a:r>
                    <a:rPr lang="zh-CN" altLang="en-US" sz="2000" dirty="0">
                      <a:latin typeface="宋体" panose="02010600030101010101" pitchFamily="2" charset="-122"/>
                      <a:ea typeface="宋体" panose="02010600030101010101" pitchFamily="2" charset="-122"/>
                      <a:sym typeface="+mn-ea"/>
                    </a:rPr>
                    <a:t>如何给出隐变量分布：</a:t>
                  </a:r>
                  <a14:m>
                    <m:oMath xmlns:m="http://schemas.openxmlformats.org/officeDocument/2006/math">
                      <m:r>
                        <a:rPr lang="en-US" altLang="zh-CN" sz="2000" b="0" i="1" smtClean="0">
                          <a:latin typeface="Cambria Math" panose="02040503050406030204" pitchFamily="18" charset="0"/>
                          <a:ea typeface="宋体" panose="02010600030101010101" pitchFamily="2" charset="-122"/>
                          <a:sym typeface="+mn-ea"/>
                        </a:rPr>
                        <m:t>𝑝</m:t>
                      </m:r>
                      <m:r>
                        <a:rPr lang="en-US" altLang="zh-CN" sz="2000" b="0" i="1" smtClean="0">
                          <a:latin typeface="Cambria Math" panose="02040503050406030204" pitchFamily="18" charset="0"/>
                          <a:ea typeface="宋体" panose="02010600030101010101" pitchFamily="2" charset="-122"/>
                          <a:sym typeface="+mn-ea"/>
                        </a:rPr>
                        <m:t>(</m:t>
                      </m:r>
                      <m:r>
                        <a:rPr lang="en-US" altLang="zh-CN" sz="2000" b="0" i="1" smtClean="0">
                          <a:latin typeface="Cambria Math" panose="02040503050406030204" pitchFamily="18" charset="0"/>
                          <a:ea typeface="宋体" panose="02010600030101010101" pitchFamily="2" charset="-122"/>
                          <a:sym typeface="+mn-ea"/>
                        </a:rPr>
                        <m:t>𝑧</m:t>
                      </m:r>
                      <m:r>
                        <a:rPr lang="en-US" altLang="zh-CN" sz="2000" b="0" i="1" smtClean="0">
                          <a:latin typeface="Cambria Math" panose="02040503050406030204" pitchFamily="18" charset="0"/>
                          <a:ea typeface="宋体" panose="02010600030101010101" pitchFamily="2" charset="-122"/>
                          <a:sym typeface="+mn-ea"/>
                        </a:rPr>
                        <m:t>)</m:t>
                      </m:r>
                    </m:oMath>
                  </a14:m>
                  <a:endParaRPr lang="zh-CN" altLang="en-US" sz="2000" dirty="0">
                    <a:latin typeface="宋体" panose="02010600030101010101" pitchFamily="2" charset="-122"/>
                    <a:ea typeface="宋体" panose="02010600030101010101" pitchFamily="2" charset="-122"/>
                    <a:sym typeface="+mn-ea"/>
                  </a:endParaRPr>
                </a:p>
              </p:txBody>
            </p:sp>
          </mc:Choice>
          <mc:Fallback xmlns="">
            <p:sp>
              <p:nvSpPr>
                <p:cNvPr id="43" name="文本框 42">
                  <a:extLst>
                    <a:ext uri="{FF2B5EF4-FFF2-40B4-BE49-F238E27FC236}">
                      <a16:creationId xmlns:a16="http://schemas.microsoft.com/office/drawing/2014/main" id="{B621C4A4-8B07-4F8F-B412-165270208860}"/>
                    </a:ext>
                  </a:extLst>
                </p:cNvPr>
                <p:cNvSpPr txBox="1">
                  <a:spLocks noRot="1" noChangeAspect="1" noMove="1" noResize="1" noEditPoints="1" noAdjustHandles="1" noChangeArrowheads="1" noChangeShapeType="1" noTextEdit="1"/>
                </p:cNvSpPr>
                <p:nvPr/>
              </p:nvSpPr>
              <p:spPr>
                <a:xfrm>
                  <a:off x="902" y="2101"/>
                  <a:ext cx="12720" cy="630"/>
                </a:xfrm>
                <a:prstGeom prst="rect">
                  <a:avLst/>
                </a:prstGeom>
                <a:blipFill>
                  <a:blip r:embed="rId5"/>
                  <a:stretch>
                    <a:fillRect l="-830" t="-10606" b="-22727"/>
                  </a:stretch>
                </a:blipFill>
              </p:spPr>
              <p:txBody>
                <a:bodyPr/>
                <a:lstStyle/>
                <a:p>
                  <a:r>
                    <a:rPr lang="zh-CN" altLang="en-US">
                      <a:noFill/>
                    </a:rPr>
                    <a:t> </a:t>
                  </a:r>
                </a:p>
              </p:txBody>
            </p:sp>
          </mc:Fallback>
        </mc:AlternateContent>
      </p:grpSp>
      <p:grpSp>
        <p:nvGrpSpPr>
          <p:cNvPr id="44" name="组合 43">
            <a:extLst>
              <a:ext uri="{FF2B5EF4-FFF2-40B4-BE49-F238E27FC236}">
                <a16:creationId xmlns:a16="http://schemas.microsoft.com/office/drawing/2014/main" id="{D2A5EF01-B0C7-47C9-BDC2-30C6213994CB}"/>
              </a:ext>
            </a:extLst>
          </p:cNvPr>
          <p:cNvGrpSpPr/>
          <p:nvPr/>
        </p:nvGrpSpPr>
        <p:grpSpPr>
          <a:xfrm>
            <a:off x="454073" y="4101266"/>
            <a:ext cx="8233949" cy="400050"/>
            <a:chOff x="652" y="2022"/>
            <a:chExt cx="12967" cy="630"/>
          </a:xfrm>
        </p:grpSpPr>
        <p:sp>
          <p:nvSpPr>
            <p:cNvPr id="45" name="椭圆 44">
              <a:extLst>
                <a:ext uri="{FF2B5EF4-FFF2-40B4-BE49-F238E27FC236}">
                  <a16:creationId xmlns:a16="http://schemas.microsoft.com/office/drawing/2014/main" id="{CB6F8D7B-8468-49B0-872B-8A7D8030F37B}"/>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53496DA4-95E4-4CD9-9D44-75D63696CBD3}"/>
                </a:ext>
              </a:extLst>
            </p:cNvPr>
            <p:cNvSpPr txBox="1"/>
            <p:nvPr/>
          </p:nvSpPr>
          <p:spPr>
            <a:xfrm>
              <a:off x="899" y="2022"/>
              <a:ext cx="12720" cy="630"/>
            </a:xfrm>
            <a:prstGeom prst="rect">
              <a:avLst/>
            </a:prstGeom>
            <a:noFill/>
          </p:spPr>
          <p:txBody>
            <a:bodyPr wrap="square" rtlCol="0" anchor="t">
              <a:spAutoFit/>
            </a:bodyPr>
            <a:lstStyle/>
            <a:p>
              <a:pPr algn="just"/>
              <a:r>
                <a:rPr lang="zh-CN" altLang="en-US" sz="2000" dirty="0">
                  <a:latin typeface="宋体" panose="02010600030101010101" pitchFamily="2" charset="-122"/>
                  <a:ea typeface="宋体" panose="02010600030101010101" pitchFamily="2" charset="-122"/>
                  <a:sym typeface="+mn-ea"/>
                </a:rPr>
                <a:t>方法</a:t>
              </a:r>
              <a:r>
                <a:rPr lang="en-US" altLang="zh-CN" sz="2000" dirty="0">
                  <a:latin typeface="宋体" panose="02010600030101010101" pitchFamily="2" charset="-122"/>
                  <a:ea typeface="宋体" panose="02010600030101010101" pitchFamily="2" charset="-122"/>
                  <a:sym typeface="+mn-ea"/>
                </a:rPr>
                <a:t>I</a:t>
              </a:r>
              <a:r>
                <a:rPr lang="zh-CN" altLang="en-US" sz="2000" dirty="0">
                  <a:latin typeface="宋体" panose="02010600030101010101" pitchFamily="2" charset="-122"/>
                  <a:ea typeface="宋体" panose="02010600030101010101" pitchFamily="2" charset="-122"/>
                  <a:sym typeface="+mn-ea"/>
                </a:rPr>
                <a:t>：精确推断法</a:t>
              </a:r>
              <a:endParaRPr lang="en-US" altLang="zh-CN" sz="2000" dirty="0">
                <a:latin typeface="宋体" panose="02010600030101010101" pitchFamily="2" charset="-122"/>
                <a:ea typeface="宋体" panose="02010600030101010101" pitchFamily="2" charset="-122"/>
                <a:sym typeface="+mn-ea"/>
              </a:endParaRPr>
            </a:p>
          </p:txBody>
        </p:sp>
      </p:gr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F2A804D-108E-4DC6-9420-9B271F89967F}"/>
                  </a:ext>
                </a:extLst>
              </p:cNvPr>
              <p:cNvSpPr txBox="1"/>
              <p:nvPr/>
            </p:nvSpPr>
            <p:spPr>
              <a:xfrm>
                <a:off x="717089" y="4621694"/>
                <a:ext cx="1978810" cy="764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𝑧</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𝑥</m:t>
                          </m:r>
                        </m:sub>
                        <m:sup/>
                        <m:e>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nary>
                    </m:oMath>
                  </m:oMathPara>
                </a14:m>
                <a:endParaRPr lang="zh-CN" altLang="en-US" dirty="0"/>
              </a:p>
            </p:txBody>
          </p:sp>
        </mc:Choice>
        <mc:Fallback xmlns="">
          <p:sp>
            <p:nvSpPr>
              <p:cNvPr id="5" name="文本框 4">
                <a:extLst>
                  <a:ext uri="{FF2B5EF4-FFF2-40B4-BE49-F238E27FC236}">
                    <a16:creationId xmlns:a16="http://schemas.microsoft.com/office/drawing/2014/main" id="{AF2A804D-108E-4DC6-9420-9B271F89967F}"/>
                  </a:ext>
                </a:extLst>
              </p:cNvPr>
              <p:cNvSpPr txBox="1">
                <a:spLocks noRot="1" noChangeAspect="1" noMove="1" noResize="1" noEditPoints="1" noAdjustHandles="1" noChangeArrowheads="1" noChangeShapeType="1" noTextEdit="1"/>
              </p:cNvSpPr>
              <p:nvPr/>
            </p:nvSpPr>
            <p:spPr>
              <a:xfrm>
                <a:off x="717089" y="4621694"/>
                <a:ext cx="1978810" cy="764505"/>
              </a:xfrm>
              <a:prstGeom prst="rect">
                <a:avLst/>
              </a:prstGeom>
              <a:blipFill>
                <a:blip r:embed="rId6"/>
                <a:stretch>
                  <a:fillRect/>
                </a:stretch>
              </a:blipFill>
            </p:spPr>
            <p:txBody>
              <a:bodyPr/>
              <a:lstStyle/>
              <a:p>
                <a:r>
                  <a:rPr lang="zh-CN" altLang="en-US">
                    <a:noFill/>
                  </a:rPr>
                  <a:t> </a:t>
                </a:r>
              </a:p>
            </p:txBody>
          </p:sp>
        </mc:Fallback>
      </mc:AlternateContent>
      <p:sp>
        <p:nvSpPr>
          <p:cNvPr id="6" name="右大括号 5">
            <a:extLst>
              <a:ext uri="{FF2B5EF4-FFF2-40B4-BE49-F238E27FC236}">
                <a16:creationId xmlns:a16="http://schemas.microsoft.com/office/drawing/2014/main" id="{4522914F-3075-4923-ACDA-23046BB5841D}"/>
              </a:ext>
            </a:extLst>
          </p:cNvPr>
          <p:cNvSpPr/>
          <p:nvPr/>
        </p:nvSpPr>
        <p:spPr>
          <a:xfrm rot="5400000">
            <a:off x="1847848" y="4890224"/>
            <a:ext cx="351482" cy="1083943"/>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AA05D0ED-8CCE-4A95-81E2-50CE3307BB6A}"/>
              </a:ext>
            </a:extLst>
          </p:cNvPr>
          <p:cNvSpPr txBox="1"/>
          <p:nvPr/>
        </p:nvSpPr>
        <p:spPr>
          <a:xfrm>
            <a:off x="671505" y="5651627"/>
            <a:ext cx="3828083" cy="646331"/>
          </a:xfrm>
          <a:prstGeom prst="rect">
            <a:avLst/>
          </a:prstGeom>
          <a:noFill/>
        </p:spPr>
        <p:txBody>
          <a:bodyPr wrap="square" rtlCol="0">
            <a:spAutoFit/>
          </a:bodyPr>
          <a:lstStyle/>
          <a:p>
            <a:r>
              <a:rPr lang="zh-CN" altLang="en-US" dirty="0"/>
              <a:t>可遍历即可对所有情况都进行计数，像前面的查表和统计方法</a:t>
            </a:r>
          </a:p>
        </p:txBody>
      </p:sp>
      <p:sp>
        <p:nvSpPr>
          <p:cNvPr id="31" name="右大括号 30">
            <a:extLst>
              <a:ext uri="{FF2B5EF4-FFF2-40B4-BE49-F238E27FC236}">
                <a16:creationId xmlns:a16="http://schemas.microsoft.com/office/drawing/2014/main" id="{65C436CF-C681-4F71-86C3-2E25AE2DD63B}"/>
              </a:ext>
            </a:extLst>
          </p:cNvPr>
          <p:cNvSpPr/>
          <p:nvPr/>
        </p:nvSpPr>
        <p:spPr>
          <a:xfrm>
            <a:off x="4522109" y="4789044"/>
            <a:ext cx="351482" cy="1083943"/>
          </a:xfrm>
          <a:prstGeom prst="righ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F19FD7E9-1E92-4B55-BC85-73946B12AA86}"/>
                  </a:ext>
                </a:extLst>
              </p:cNvPr>
              <p:cNvSpPr txBox="1"/>
              <p:nvPr/>
            </p:nvSpPr>
            <p:spPr>
              <a:xfrm>
                <a:off x="4896112" y="5063033"/>
                <a:ext cx="3969861" cy="646331"/>
              </a:xfrm>
              <a:prstGeom prst="rect">
                <a:avLst/>
              </a:prstGeom>
              <a:noFill/>
            </p:spPr>
            <p:txBody>
              <a:bodyPr wrap="square" rtlCol="0">
                <a:spAutoFit/>
              </a:bodyPr>
              <a:lstStyle/>
              <a:p>
                <a:r>
                  <a:rPr lang="zh-CN" altLang="en-US" dirty="0"/>
                  <a:t>在当前许多任务中都很难应用，因为</a:t>
                </a:r>
                <a14:m>
                  <m:oMath xmlns:m="http://schemas.openxmlformats.org/officeDocument/2006/math">
                    <m:r>
                      <a:rPr lang="en-US" altLang="zh-CN" i="1" dirty="0" smtClean="0">
                        <a:latin typeface="Cambria Math" panose="02040503050406030204" pitchFamily="18" charset="0"/>
                      </a:rPr>
                      <m:t>𝑧</m:t>
                    </m:r>
                  </m:oMath>
                </a14:m>
                <a:r>
                  <a:rPr lang="zh-CN" altLang="en-US" dirty="0"/>
                  <a:t>是高维连续变量</a:t>
                </a:r>
              </a:p>
            </p:txBody>
          </p:sp>
        </mc:Choice>
        <mc:Fallback xmlns="">
          <p:sp>
            <p:nvSpPr>
              <p:cNvPr id="32" name="文本框 31">
                <a:extLst>
                  <a:ext uri="{FF2B5EF4-FFF2-40B4-BE49-F238E27FC236}">
                    <a16:creationId xmlns:a16="http://schemas.microsoft.com/office/drawing/2014/main" id="{F19FD7E9-1E92-4B55-BC85-73946B12AA86}"/>
                  </a:ext>
                </a:extLst>
              </p:cNvPr>
              <p:cNvSpPr txBox="1">
                <a:spLocks noRot="1" noChangeAspect="1" noMove="1" noResize="1" noEditPoints="1" noAdjustHandles="1" noChangeArrowheads="1" noChangeShapeType="1" noTextEdit="1"/>
              </p:cNvSpPr>
              <p:nvPr/>
            </p:nvSpPr>
            <p:spPr>
              <a:xfrm>
                <a:off x="4896112" y="5063033"/>
                <a:ext cx="3969861" cy="646331"/>
              </a:xfrm>
              <a:prstGeom prst="rect">
                <a:avLst/>
              </a:prstGeom>
              <a:blipFill>
                <a:blip r:embed="rId7"/>
                <a:stretch>
                  <a:fillRect l="-1229" t="-7547" b="-11321"/>
                </a:stretch>
              </a:blipFill>
            </p:spPr>
            <p:txBody>
              <a:bodyPr/>
              <a:lstStyle/>
              <a:p>
                <a:r>
                  <a:rPr lang="zh-CN" altLang="en-US">
                    <a:noFill/>
                  </a:rPr>
                  <a:t> </a:t>
                </a:r>
              </a:p>
            </p:txBody>
          </p:sp>
        </mc:Fallback>
      </mc:AlternateContent>
      <p:sp>
        <p:nvSpPr>
          <p:cNvPr id="4" name="矩形: 圆角 3">
            <a:extLst>
              <a:ext uri="{FF2B5EF4-FFF2-40B4-BE49-F238E27FC236}">
                <a16:creationId xmlns:a16="http://schemas.microsoft.com/office/drawing/2014/main" id="{026F13C5-EE6F-4E68-8526-9E92DFF85370}"/>
              </a:ext>
            </a:extLst>
          </p:cNvPr>
          <p:cNvSpPr/>
          <p:nvPr/>
        </p:nvSpPr>
        <p:spPr>
          <a:xfrm>
            <a:off x="2854411" y="1365163"/>
            <a:ext cx="376881" cy="2071744"/>
          </a:xfrm>
          <a:prstGeom prst="round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B58EA72-FC11-41A2-8031-FB514938FF6A}"/>
                  </a:ext>
                </a:extLst>
              </p:cNvPr>
              <p:cNvSpPr txBox="1"/>
              <p:nvPr/>
            </p:nvSpPr>
            <p:spPr>
              <a:xfrm>
                <a:off x="2885506" y="999263"/>
                <a:ext cx="35375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𝑧</m:t>
                      </m:r>
                    </m:oMath>
                  </m:oMathPara>
                </a14:m>
                <a:endParaRPr lang="zh-CN" altLang="en-US" dirty="0"/>
              </a:p>
            </p:txBody>
          </p:sp>
        </mc:Choice>
        <mc:Fallback xmlns="">
          <p:sp>
            <p:nvSpPr>
              <p:cNvPr id="8" name="文本框 7">
                <a:extLst>
                  <a:ext uri="{FF2B5EF4-FFF2-40B4-BE49-F238E27FC236}">
                    <a16:creationId xmlns:a16="http://schemas.microsoft.com/office/drawing/2014/main" id="{DB58EA72-FC11-41A2-8031-FB514938FF6A}"/>
                  </a:ext>
                </a:extLst>
              </p:cNvPr>
              <p:cNvSpPr txBox="1">
                <a:spLocks noRot="1" noChangeAspect="1" noMove="1" noResize="1" noEditPoints="1" noAdjustHandles="1" noChangeArrowheads="1" noChangeShapeType="1" noTextEdit="1"/>
              </p:cNvSpPr>
              <p:nvPr/>
            </p:nvSpPr>
            <p:spPr>
              <a:xfrm>
                <a:off x="2885506" y="999263"/>
                <a:ext cx="353751" cy="369332"/>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6024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221" y="429"/>
              <a:ext cx="9826"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443"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学习方法</a:t>
              </a:r>
            </a:p>
          </p:txBody>
        </p:sp>
      </p:grpSp>
      <p:pic>
        <p:nvPicPr>
          <p:cNvPr id="18" name="图片 17">
            <a:extLst>
              <a:ext uri="{FF2B5EF4-FFF2-40B4-BE49-F238E27FC236}">
                <a16:creationId xmlns:a16="http://schemas.microsoft.com/office/drawing/2014/main" id="{932BA91D-EF71-48E9-ADAF-04A942950F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596" y="1365163"/>
            <a:ext cx="4425701" cy="2063837"/>
          </a:xfrm>
          <a:prstGeom prst="rect">
            <a:avLst/>
          </a:prstGeom>
        </p:spPr>
      </p:pic>
      <p:grpSp>
        <p:nvGrpSpPr>
          <p:cNvPr id="22" name="组合 21">
            <a:extLst>
              <a:ext uri="{FF2B5EF4-FFF2-40B4-BE49-F238E27FC236}">
                <a16:creationId xmlns:a16="http://schemas.microsoft.com/office/drawing/2014/main" id="{EE0ED7D5-FD7D-4183-929D-FE9B270463D3}"/>
              </a:ext>
            </a:extLst>
          </p:cNvPr>
          <p:cNvGrpSpPr/>
          <p:nvPr/>
        </p:nvGrpSpPr>
        <p:grpSpPr>
          <a:xfrm>
            <a:off x="5216123" y="1630531"/>
            <a:ext cx="3704992" cy="815316"/>
            <a:chOff x="1707267" y="4269490"/>
            <a:chExt cx="5929637" cy="1217141"/>
          </a:xfrm>
        </p:grpSpPr>
        <p:sp>
          <p:nvSpPr>
            <p:cNvPr id="23" name="矩形 22">
              <a:extLst>
                <a:ext uri="{FF2B5EF4-FFF2-40B4-BE49-F238E27FC236}">
                  <a16:creationId xmlns:a16="http://schemas.microsoft.com/office/drawing/2014/main" id="{9FD24994-C730-4EC6-A6A0-31165C3DE54E}"/>
                </a:ext>
              </a:extLst>
            </p:cNvPr>
            <p:cNvSpPr/>
            <p:nvPr/>
          </p:nvSpPr>
          <p:spPr>
            <a:xfrm>
              <a:off x="1707267" y="4269490"/>
              <a:ext cx="5929637" cy="12171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6544203-1ACC-4526-8D18-079E7CA1F467}"/>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Y</a:t>
              </a:r>
              <a:endParaRPr lang="zh-CN" altLang="en-US" dirty="0"/>
            </a:p>
          </p:txBody>
        </p:sp>
        <p:sp>
          <p:nvSpPr>
            <p:cNvPr id="25" name="椭圆 24">
              <a:extLst>
                <a:ext uri="{FF2B5EF4-FFF2-40B4-BE49-F238E27FC236}">
                  <a16:creationId xmlns:a16="http://schemas.microsoft.com/office/drawing/2014/main" id="{9440851B-C576-4D41-9DBD-5C9E3737AE1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6" name="直接箭头连接符 25">
              <a:extLst>
                <a:ext uri="{FF2B5EF4-FFF2-40B4-BE49-F238E27FC236}">
                  <a16:creationId xmlns:a16="http://schemas.microsoft.com/office/drawing/2014/main" id="{C516BB17-BE9E-4FF7-935C-948C069BA9F0}"/>
                </a:ext>
              </a:extLst>
            </p:cNvPr>
            <p:cNvCxnSpPr>
              <a:cxnSpLocks/>
              <a:stCxn id="24" idx="6"/>
              <a:endCxn id="27"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7" name="椭圆 26">
              <a:extLst>
                <a:ext uri="{FF2B5EF4-FFF2-40B4-BE49-F238E27FC236}">
                  <a16:creationId xmlns:a16="http://schemas.microsoft.com/office/drawing/2014/main" id="{B13E8350-B9DF-442D-BE40-1FCB49912C05}"/>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8" name="直接箭头连接符 27">
              <a:extLst>
                <a:ext uri="{FF2B5EF4-FFF2-40B4-BE49-F238E27FC236}">
                  <a16:creationId xmlns:a16="http://schemas.microsoft.com/office/drawing/2014/main" id="{52D061E0-62D8-4728-843E-7976A2CD8FC3}"/>
                </a:ext>
              </a:extLst>
            </p:cNvPr>
            <p:cNvCxnSpPr>
              <a:cxnSpLocks/>
              <a:stCxn id="27" idx="6"/>
              <a:endCxn id="25"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2" name="文本框 1">
            <a:extLst>
              <a:ext uri="{FF2B5EF4-FFF2-40B4-BE49-F238E27FC236}">
                <a16:creationId xmlns:a16="http://schemas.microsoft.com/office/drawing/2014/main" id="{D7D0D9E6-4BFB-4313-81F4-C4727CD0B4D3}"/>
              </a:ext>
            </a:extLst>
          </p:cNvPr>
          <p:cNvSpPr txBox="1"/>
          <p:nvPr/>
        </p:nvSpPr>
        <p:spPr>
          <a:xfrm>
            <a:off x="6591159" y="2231907"/>
            <a:ext cx="1165704" cy="830997"/>
          </a:xfrm>
          <a:prstGeom prst="rect">
            <a:avLst/>
          </a:prstGeom>
          <a:noFill/>
        </p:spPr>
        <p:txBody>
          <a:bodyPr wrap="none" rtlCol="0">
            <a:spAutoFit/>
          </a:bodyPr>
          <a:lstStyle/>
          <a:p>
            <a:r>
              <a:rPr lang="en-US" altLang="zh-CN" sz="1600" dirty="0"/>
              <a:t>X:</a:t>
            </a:r>
            <a:r>
              <a:rPr lang="zh-CN" altLang="en-US" sz="1600" dirty="0"/>
              <a:t>输入图片</a:t>
            </a:r>
            <a:endParaRPr lang="en-US" altLang="zh-CN" sz="1600" dirty="0"/>
          </a:p>
          <a:p>
            <a:r>
              <a:rPr lang="en-US" altLang="zh-CN" sz="1600" dirty="0"/>
              <a:t>Z:</a:t>
            </a:r>
            <a:r>
              <a:rPr lang="zh-CN" altLang="en-US" sz="1600" dirty="0"/>
              <a:t>隐向量</a:t>
            </a:r>
            <a:endParaRPr lang="en-US" altLang="zh-CN" sz="1600" dirty="0"/>
          </a:p>
          <a:p>
            <a:r>
              <a:rPr lang="en-US" altLang="zh-CN" sz="1600" dirty="0"/>
              <a:t>Y:</a:t>
            </a:r>
            <a:r>
              <a:rPr lang="zh-CN" altLang="en-US" sz="1600" dirty="0"/>
              <a:t>标签</a:t>
            </a:r>
          </a:p>
        </p:txBody>
      </p:sp>
      <p:sp>
        <p:nvSpPr>
          <p:cNvPr id="3" name="箭头: 右 2">
            <a:extLst>
              <a:ext uri="{FF2B5EF4-FFF2-40B4-BE49-F238E27FC236}">
                <a16:creationId xmlns:a16="http://schemas.microsoft.com/office/drawing/2014/main" id="{DAB825D9-F2DC-4C3F-A233-7889B1083CD2}"/>
              </a:ext>
            </a:extLst>
          </p:cNvPr>
          <p:cNvSpPr/>
          <p:nvPr/>
        </p:nvSpPr>
        <p:spPr>
          <a:xfrm>
            <a:off x="5096476" y="2214553"/>
            <a:ext cx="543698" cy="3583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a:extLst>
              <a:ext uri="{FF2B5EF4-FFF2-40B4-BE49-F238E27FC236}">
                <a16:creationId xmlns:a16="http://schemas.microsoft.com/office/drawing/2014/main" id="{3AD65320-A95A-4A9F-96DB-DFD99A2C5DB6}"/>
              </a:ext>
            </a:extLst>
          </p:cNvPr>
          <p:cNvGrpSpPr/>
          <p:nvPr/>
        </p:nvGrpSpPr>
        <p:grpSpPr>
          <a:xfrm>
            <a:off x="454073" y="3514352"/>
            <a:ext cx="8235854" cy="494665"/>
            <a:chOff x="652" y="2101"/>
            <a:chExt cx="12970" cy="779"/>
          </a:xfrm>
        </p:grpSpPr>
        <p:sp>
          <p:nvSpPr>
            <p:cNvPr id="42" name="椭圆 41">
              <a:extLst>
                <a:ext uri="{FF2B5EF4-FFF2-40B4-BE49-F238E27FC236}">
                  <a16:creationId xmlns:a16="http://schemas.microsoft.com/office/drawing/2014/main" id="{E50756E3-C9AF-44BE-96A3-147E4D512CF2}"/>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621C4A4-8B07-4F8F-B412-165270208860}"/>
                    </a:ext>
                  </a:extLst>
                </p:cNvPr>
                <p:cNvSpPr txBox="1"/>
                <p:nvPr/>
              </p:nvSpPr>
              <p:spPr>
                <a:xfrm>
                  <a:off x="902" y="2101"/>
                  <a:ext cx="12720" cy="779"/>
                </a:xfrm>
                <a:prstGeom prst="rect">
                  <a:avLst/>
                </a:prstGeom>
                <a:noFill/>
              </p:spPr>
              <p:txBody>
                <a:bodyPr wrap="square" rtlCol="0" anchor="t">
                  <a:spAutoFit/>
                </a:bodyPr>
                <a:lstStyle/>
                <a:p>
                  <a:pPr algn="just"/>
                  <a:r>
                    <a:rPr lang="zh-CN" altLang="en-US" sz="2400" dirty="0">
                      <a:latin typeface="宋体" panose="02010600030101010101" pitchFamily="2" charset="-122"/>
                      <a:ea typeface="宋体" panose="02010600030101010101" pitchFamily="2" charset="-122"/>
                      <a:sym typeface="+mn-ea"/>
                    </a:rPr>
                    <a:t>学习出隐变量的分布参数：</a:t>
                  </a:r>
                  <a14:m>
                    <m:oMath xmlns:m="http://schemas.openxmlformats.org/officeDocument/2006/math">
                      <m:sSub>
                        <m:sSubPr>
                          <m:ctrlPr>
                            <a:rPr lang="en-US" altLang="zh-CN" sz="2400" b="0" i="1" smtClean="0">
                              <a:latin typeface="Cambria Math" panose="02040503050406030204" pitchFamily="18" charset="0"/>
                              <a:ea typeface="宋体" panose="02010600030101010101" pitchFamily="2" charset="-122"/>
                              <a:sym typeface="+mn-ea"/>
                            </a:rPr>
                          </m:ctrlPr>
                        </m:sSubPr>
                        <m:e>
                          <m:r>
                            <a:rPr lang="en-US" altLang="zh-CN" sz="2400" b="0" i="1" smtClean="0">
                              <a:latin typeface="Cambria Math" panose="02040503050406030204" pitchFamily="18" charset="0"/>
                              <a:ea typeface="宋体" panose="02010600030101010101" pitchFamily="2" charset="-122"/>
                              <a:sym typeface="+mn-ea"/>
                            </a:rPr>
                            <m:t>𝑝</m:t>
                          </m:r>
                        </m:e>
                        <m:sub>
                          <m:r>
                            <a:rPr lang="en-US" altLang="zh-CN" sz="2400" b="0" i="1" smtClean="0">
                              <a:latin typeface="Cambria Math" panose="02040503050406030204" pitchFamily="18" charset="0"/>
                              <a:ea typeface="宋体" panose="02010600030101010101" pitchFamily="2" charset="-122"/>
                              <a:sym typeface="+mn-ea"/>
                            </a:rPr>
                            <m:t>𝜙</m:t>
                          </m:r>
                        </m:sub>
                      </m:sSub>
                      <m:r>
                        <a:rPr lang="en-US" altLang="zh-CN" sz="2400" b="0" i="1" smtClean="0">
                          <a:latin typeface="Cambria Math" panose="02040503050406030204" pitchFamily="18" charset="0"/>
                          <a:ea typeface="宋体" panose="02010600030101010101" pitchFamily="2" charset="-122"/>
                          <a:sym typeface="+mn-ea"/>
                        </a:rPr>
                        <m:t>(</m:t>
                      </m:r>
                      <m:r>
                        <a:rPr lang="en-US" altLang="zh-CN" sz="2400" b="0" i="1" smtClean="0">
                          <a:latin typeface="Cambria Math" panose="02040503050406030204" pitchFamily="18" charset="0"/>
                          <a:ea typeface="宋体" panose="02010600030101010101" pitchFamily="2" charset="-122"/>
                          <a:sym typeface="+mn-ea"/>
                        </a:rPr>
                        <m:t>𝑧</m:t>
                      </m:r>
                      <m:r>
                        <a:rPr lang="en-US" altLang="zh-CN" sz="2400" b="0" i="1" smtClean="0">
                          <a:latin typeface="Cambria Math" panose="02040503050406030204" pitchFamily="18" charset="0"/>
                          <a:ea typeface="宋体" panose="02010600030101010101" pitchFamily="2" charset="-122"/>
                          <a:sym typeface="+mn-ea"/>
                        </a:rPr>
                        <m:t>)</m:t>
                      </m:r>
                    </m:oMath>
                  </a14:m>
                  <a:endParaRPr lang="zh-CN" altLang="en-US" sz="2400" dirty="0">
                    <a:latin typeface="宋体" panose="02010600030101010101" pitchFamily="2" charset="-122"/>
                    <a:ea typeface="宋体" panose="02010600030101010101" pitchFamily="2" charset="-122"/>
                    <a:sym typeface="+mn-ea"/>
                  </a:endParaRPr>
                </a:p>
              </p:txBody>
            </p:sp>
          </mc:Choice>
          <mc:Fallback xmlns="">
            <p:sp>
              <p:nvSpPr>
                <p:cNvPr id="43" name="文本框 42">
                  <a:extLst>
                    <a:ext uri="{FF2B5EF4-FFF2-40B4-BE49-F238E27FC236}">
                      <a16:creationId xmlns:a16="http://schemas.microsoft.com/office/drawing/2014/main" id="{B621C4A4-8B07-4F8F-B412-165270208860}"/>
                    </a:ext>
                  </a:extLst>
                </p:cNvPr>
                <p:cNvSpPr txBox="1">
                  <a:spLocks noRot="1" noChangeAspect="1" noMove="1" noResize="1" noEditPoints="1" noAdjustHandles="1" noChangeArrowheads="1" noChangeShapeType="1" noTextEdit="1"/>
                </p:cNvSpPr>
                <p:nvPr/>
              </p:nvSpPr>
              <p:spPr>
                <a:xfrm>
                  <a:off x="902" y="2101"/>
                  <a:ext cx="12720" cy="779"/>
                </a:xfrm>
                <a:prstGeom prst="rect">
                  <a:avLst/>
                </a:prstGeom>
                <a:blipFill>
                  <a:blip r:embed="rId4"/>
                  <a:stretch>
                    <a:fillRect l="-1208" t="-13580" b="-17284"/>
                  </a:stretch>
                </a:blipFill>
              </p:spPr>
              <p:txBody>
                <a:bodyPr/>
                <a:lstStyle/>
                <a:p>
                  <a:r>
                    <a:rPr lang="zh-CN" altLang="en-US">
                      <a:noFill/>
                    </a:rPr>
                    <a:t> </a:t>
                  </a:r>
                </a:p>
              </p:txBody>
            </p:sp>
          </mc:Fallback>
        </mc:AlternateContent>
      </p:grpSp>
      <p:grpSp>
        <p:nvGrpSpPr>
          <p:cNvPr id="44" name="组合 43">
            <a:extLst>
              <a:ext uri="{FF2B5EF4-FFF2-40B4-BE49-F238E27FC236}">
                <a16:creationId xmlns:a16="http://schemas.microsoft.com/office/drawing/2014/main" id="{D2A5EF01-B0C7-47C9-BDC2-30C6213994CB}"/>
              </a:ext>
            </a:extLst>
          </p:cNvPr>
          <p:cNvGrpSpPr/>
          <p:nvPr/>
        </p:nvGrpSpPr>
        <p:grpSpPr>
          <a:xfrm>
            <a:off x="454073" y="4162949"/>
            <a:ext cx="8233949" cy="461645"/>
            <a:chOff x="652" y="2022"/>
            <a:chExt cx="12967" cy="727"/>
          </a:xfrm>
        </p:grpSpPr>
        <p:sp>
          <p:nvSpPr>
            <p:cNvPr id="45" name="椭圆 44">
              <a:extLst>
                <a:ext uri="{FF2B5EF4-FFF2-40B4-BE49-F238E27FC236}">
                  <a16:creationId xmlns:a16="http://schemas.microsoft.com/office/drawing/2014/main" id="{CB6F8D7B-8468-49B0-872B-8A7D8030F37B}"/>
                </a:ext>
              </a:extLst>
            </p:cNvPr>
            <p:cNvSpPr/>
            <p:nvPr/>
          </p:nvSpPr>
          <p:spPr>
            <a:xfrm>
              <a:off x="652" y="2261"/>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cs typeface="+mn-ea"/>
                <a:sym typeface="+mn-lt"/>
              </a:endParaRPr>
            </a:p>
          </p:txBody>
        </p:sp>
        <p:sp>
          <p:nvSpPr>
            <p:cNvPr id="46" name="文本框 45">
              <a:extLst>
                <a:ext uri="{FF2B5EF4-FFF2-40B4-BE49-F238E27FC236}">
                  <a16:creationId xmlns:a16="http://schemas.microsoft.com/office/drawing/2014/main" id="{53496DA4-95E4-4CD9-9D44-75D63696CBD3}"/>
                </a:ext>
              </a:extLst>
            </p:cNvPr>
            <p:cNvSpPr txBox="1"/>
            <p:nvPr/>
          </p:nvSpPr>
          <p:spPr>
            <a:xfrm>
              <a:off x="899" y="2022"/>
              <a:ext cx="12720" cy="727"/>
            </a:xfrm>
            <a:prstGeom prst="rect">
              <a:avLst/>
            </a:prstGeom>
            <a:noFill/>
          </p:spPr>
          <p:txBody>
            <a:bodyPr wrap="square" rtlCol="0" anchor="t">
              <a:spAutoFit/>
            </a:bodyPr>
            <a:lstStyle/>
            <a:p>
              <a:pPr algn="just"/>
              <a:r>
                <a:rPr lang="zh-CN" altLang="en-US" sz="2400" dirty="0">
                  <a:latin typeface="宋体" panose="02010600030101010101" pitchFamily="2" charset="-122"/>
                  <a:ea typeface="宋体" panose="02010600030101010101" pitchFamily="2" charset="-122"/>
                  <a:sym typeface="+mn-ea"/>
                </a:rPr>
                <a:t>近似估计法</a:t>
              </a:r>
              <a:endParaRPr lang="en-US" altLang="zh-CN" sz="2400" dirty="0">
                <a:latin typeface="宋体" panose="02010600030101010101" pitchFamily="2" charset="-122"/>
                <a:ea typeface="宋体" panose="02010600030101010101" pitchFamily="2" charset="-122"/>
                <a:sym typeface="+mn-ea"/>
              </a:endParaRPr>
            </a:p>
          </p:txBody>
        </p:sp>
      </p:grpSp>
      <p:sp>
        <p:nvSpPr>
          <p:cNvPr id="29" name="文本框 28">
            <a:extLst>
              <a:ext uri="{FF2B5EF4-FFF2-40B4-BE49-F238E27FC236}">
                <a16:creationId xmlns:a16="http://schemas.microsoft.com/office/drawing/2014/main" id="{DAA5E893-0177-4537-9356-8C32BC277F8D}"/>
              </a:ext>
            </a:extLst>
          </p:cNvPr>
          <p:cNvSpPr txBox="1"/>
          <p:nvPr/>
        </p:nvSpPr>
        <p:spPr>
          <a:xfrm>
            <a:off x="3625335" y="4209105"/>
            <a:ext cx="2942282" cy="369332"/>
          </a:xfrm>
          <a:prstGeom prst="rect">
            <a:avLst/>
          </a:prstGeom>
          <a:noFill/>
        </p:spPr>
        <p:txBody>
          <a:bodyPr wrap="square" rtlCol="0" anchor="t">
            <a:spAutoFit/>
          </a:bodyPr>
          <a:lstStyle/>
          <a:p>
            <a:pPr algn="just"/>
            <a:r>
              <a:rPr lang="zh-CN" altLang="en-US" dirty="0">
                <a:solidFill>
                  <a:srgbClr val="FF0000"/>
                </a:solidFill>
                <a:latin typeface="宋体" panose="02010600030101010101" pitchFamily="2" charset="-122"/>
                <a:ea typeface="宋体" panose="02010600030101010101" pitchFamily="2" charset="-122"/>
                <a:sym typeface="+mn-ea"/>
              </a:rPr>
              <a:t>本节课程重点中的重点！！</a:t>
            </a:r>
            <a:endParaRPr lang="en-US" altLang="zh-CN" dirty="0">
              <a:solidFill>
                <a:srgbClr val="FF0000"/>
              </a:solidFill>
              <a:latin typeface="宋体" panose="02010600030101010101" pitchFamily="2" charset="-122"/>
              <a:ea typeface="宋体" panose="02010600030101010101" pitchFamily="2" charset="-122"/>
              <a:sym typeface="+mn-ea"/>
            </a:endParaRPr>
          </a:p>
        </p:txBody>
      </p:sp>
    </p:spTree>
    <p:extLst>
      <p:ext uri="{BB962C8B-B14F-4D97-AF65-F5344CB8AC3E}">
        <p14:creationId xmlns:p14="http://schemas.microsoft.com/office/powerpoint/2010/main" val="115792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6826" y="429"/>
              <a:ext cx="72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590"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含隐变量的参数学习</a:t>
              </a:r>
            </a:p>
          </p:txBody>
        </p:sp>
      </p:grpSp>
      <p:grpSp>
        <p:nvGrpSpPr>
          <p:cNvPr id="3" name="组合 2"/>
          <p:cNvGrpSpPr/>
          <p:nvPr/>
        </p:nvGrpSpPr>
        <p:grpSpPr>
          <a:xfrm>
            <a:off x="603250" y="1061085"/>
            <a:ext cx="7954010" cy="460375"/>
            <a:chOff x="814" y="3480"/>
            <a:chExt cx="12526" cy="725"/>
          </a:xfrm>
        </p:grpSpPr>
        <p:sp>
          <p:nvSpPr>
            <p:cNvPr id="5" name="椭圆 4"/>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sym typeface="+mn-ea"/>
                </a:rPr>
                <a:t>隐变量即变量是不可观测的</a:t>
              </a:r>
            </a:p>
          </p:txBody>
        </p:sp>
      </p:grpSp>
      <p:grpSp>
        <p:nvGrpSpPr>
          <p:cNvPr id="2" name="组合 1"/>
          <p:cNvGrpSpPr/>
          <p:nvPr/>
        </p:nvGrpSpPr>
        <p:grpSpPr>
          <a:xfrm>
            <a:off x="603250" y="2487899"/>
            <a:ext cx="7954010" cy="460375"/>
            <a:chOff x="814" y="3480"/>
            <a:chExt cx="12526" cy="725"/>
          </a:xfrm>
        </p:grpSpPr>
        <p:sp>
          <p:nvSpPr>
            <p:cNvPr id="4" name="椭圆 3"/>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点估计：最大似然和最大后验法</a:t>
              </a:r>
            </a:p>
          </p:txBody>
        </p:sp>
      </p:grpSp>
      <p:grpSp>
        <p:nvGrpSpPr>
          <p:cNvPr id="20" name="组合 19"/>
          <p:cNvGrpSpPr/>
          <p:nvPr/>
        </p:nvGrpSpPr>
        <p:grpSpPr>
          <a:xfrm>
            <a:off x="5448935" y="3188818"/>
            <a:ext cx="3357880" cy="563880"/>
            <a:chOff x="300" y="2124"/>
            <a:chExt cx="5288" cy="888"/>
          </a:xfrm>
        </p:grpSpPr>
        <p:sp>
          <p:nvSpPr>
            <p:cNvPr id="21" name="矩形 20"/>
            <p:cNvSpPr/>
            <p:nvPr/>
          </p:nvSpPr>
          <p:spPr>
            <a:xfrm>
              <a:off x="300" y="2124"/>
              <a:ext cx="5226" cy="888"/>
            </a:xfrm>
            <a:prstGeom prst="rect">
              <a:avLst/>
            </a:prstGeom>
            <a:solidFill>
              <a:schemeClr val="accent1">
                <a:alpha val="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300" y="2254"/>
              <a:ext cx="5288" cy="628"/>
            </a:xfrm>
            <a:prstGeom prst="rect">
              <a:avLst/>
            </a:prstGeom>
            <a:noFill/>
          </p:spPr>
          <p:txBody>
            <a:bodyPr wrap="none" rtlCol="0">
              <a:spAutoFit/>
            </a:bodyPr>
            <a:lstStyle/>
            <a:p>
              <a:pPr marL="0" lvl="1" algn="l"/>
              <a:r>
                <a:rPr lang="zh-CN" altLang="en-US" sz="2000" dirty="0">
                  <a:sym typeface="+mn-ea"/>
                </a:rPr>
                <a:t>需要用</a:t>
              </a:r>
              <a:r>
                <a:rPr lang="en-US" altLang="zh-CN" sz="2000" dirty="0">
                  <a:latin typeface="Times New Roman" panose="02020603050405020304" charset="0"/>
                  <a:cs typeface="Times New Roman" panose="02020603050405020304" charset="0"/>
                  <a:sym typeface="+mn-ea"/>
                </a:rPr>
                <a:t>EM</a:t>
              </a:r>
              <a:r>
                <a:rPr lang="zh-CN" altLang="en-US" sz="2000" dirty="0">
                  <a:sym typeface="+mn-ea"/>
                </a:rPr>
                <a:t>算法进行参数估计</a:t>
              </a:r>
            </a:p>
          </p:txBody>
        </p:sp>
      </p:grpSp>
      <p:grpSp>
        <p:nvGrpSpPr>
          <p:cNvPr id="22" name="组合 21">
            <a:extLst>
              <a:ext uri="{FF2B5EF4-FFF2-40B4-BE49-F238E27FC236}">
                <a16:creationId xmlns:a16="http://schemas.microsoft.com/office/drawing/2014/main" id="{DE28CAEA-01AA-4BAF-A9CD-6A44F6EE22C0}"/>
              </a:ext>
            </a:extLst>
          </p:cNvPr>
          <p:cNvGrpSpPr/>
          <p:nvPr/>
        </p:nvGrpSpPr>
        <p:grpSpPr>
          <a:xfrm>
            <a:off x="2802759" y="1862142"/>
            <a:ext cx="1848462" cy="343509"/>
            <a:chOff x="3107550" y="4541748"/>
            <a:chExt cx="2958363" cy="512806"/>
          </a:xfrm>
        </p:grpSpPr>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88FF3162-8286-4213-B568-B1214FC9F95C}"/>
                    </a:ext>
                  </a:extLst>
                </p:cNvPr>
                <p:cNvSpPr/>
                <p:nvPr/>
              </p:nvSpPr>
              <p:spPr>
                <a:xfrm>
                  <a:off x="3107550" y="4541749"/>
                  <a:ext cx="537519" cy="51280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𝜃</m:t>
                        </m:r>
                      </m:oMath>
                    </m:oMathPara>
                  </a14:m>
                  <a:endParaRPr lang="zh-CN" altLang="en-US" dirty="0"/>
                </a:p>
              </p:txBody>
            </p:sp>
          </mc:Choice>
          <mc:Fallback xmlns="">
            <p:sp>
              <p:nvSpPr>
                <p:cNvPr id="25" name="椭圆 24">
                  <a:extLst>
                    <a:ext uri="{FF2B5EF4-FFF2-40B4-BE49-F238E27FC236}">
                      <a16:creationId xmlns:a16="http://schemas.microsoft.com/office/drawing/2014/main" id="{88FF3162-8286-4213-B568-B1214FC9F95C}"/>
                    </a:ext>
                  </a:extLst>
                </p:cNvPr>
                <p:cNvSpPr>
                  <a:spLocks noRot="1" noChangeAspect="1" noMove="1" noResize="1" noEditPoints="1" noAdjustHandles="1" noChangeArrowheads="1" noChangeShapeType="1" noTextEdit="1"/>
                </p:cNvSpPr>
                <p:nvPr/>
              </p:nvSpPr>
              <p:spPr>
                <a:xfrm>
                  <a:off x="3107550" y="4541749"/>
                  <a:ext cx="537519" cy="512805"/>
                </a:xfrm>
                <a:prstGeom prst="ellipse">
                  <a:avLst/>
                </a:prstGeom>
                <a:blipFill>
                  <a:blip r:embed="rId5"/>
                  <a:stretch>
                    <a:fillRect/>
                  </a:stretch>
                </a:blipFill>
              </p:spPr>
              <p:txBody>
                <a:bodyPr/>
                <a:lstStyle/>
                <a:p>
                  <a:r>
                    <a:rPr lang="zh-CN" altLang="en-US">
                      <a:noFill/>
                    </a:rPr>
                    <a:t> </a:t>
                  </a:r>
                </a:p>
              </p:txBody>
            </p:sp>
          </mc:Fallback>
        </mc:AlternateContent>
        <p:sp>
          <p:nvSpPr>
            <p:cNvPr id="26" name="椭圆 25">
              <a:extLst>
                <a:ext uri="{FF2B5EF4-FFF2-40B4-BE49-F238E27FC236}">
                  <a16:creationId xmlns:a16="http://schemas.microsoft.com/office/drawing/2014/main" id="{749F2118-74B7-478C-BD06-39BF25D642D6}"/>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7" name="直接箭头连接符 26">
              <a:extLst>
                <a:ext uri="{FF2B5EF4-FFF2-40B4-BE49-F238E27FC236}">
                  <a16:creationId xmlns:a16="http://schemas.microsoft.com/office/drawing/2014/main" id="{075F5A95-F582-4CFF-AEED-A7DD1D95EBA3}"/>
                </a:ext>
              </a:extLst>
            </p:cNvPr>
            <p:cNvCxnSpPr>
              <a:cxnSpLocks/>
              <a:stCxn id="25" idx="6"/>
              <a:endCxn id="28"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椭圆 27">
              <a:extLst>
                <a:ext uri="{FF2B5EF4-FFF2-40B4-BE49-F238E27FC236}">
                  <a16:creationId xmlns:a16="http://schemas.microsoft.com/office/drawing/2014/main" id="{C505BF51-71D5-4663-BDD3-DAF3817E07FE}"/>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9" name="直接箭头连接符 28">
              <a:extLst>
                <a:ext uri="{FF2B5EF4-FFF2-40B4-BE49-F238E27FC236}">
                  <a16:creationId xmlns:a16="http://schemas.microsoft.com/office/drawing/2014/main" id="{717448C7-DC9D-4A01-B042-68AFE0DDF9AC}"/>
                </a:ext>
              </a:extLst>
            </p:cNvPr>
            <p:cNvCxnSpPr>
              <a:cxnSpLocks/>
              <a:stCxn id="28" idx="6"/>
              <a:endCxn id="26"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204988D-6319-4CF8-A7A7-C450D40A4BEC}"/>
                  </a:ext>
                </a:extLst>
              </p:cNvPr>
              <p:cNvSpPr txBox="1"/>
              <p:nvPr/>
            </p:nvSpPr>
            <p:spPr>
              <a:xfrm>
                <a:off x="5140155" y="1891567"/>
                <a:ext cx="2976584" cy="369332"/>
              </a:xfrm>
              <a:prstGeom prst="rect">
                <a:avLst/>
              </a:prstGeom>
              <a:noFill/>
            </p:spPr>
            <p:txBody>
              <a:bodyPr wrap="none" rtlCol="0">
                <a:spAutoFit/>
              </a:bodyPr>
              <a:lstStyle/>
              <a:p>
                <a:r>
                  <a:rPr lang="zh-CN" altLang="en-US" i="1" dirty="0"/>
                  <a:t>假设参数</a:t>
                </a:r>
                <a14:m>
                  <m:oMath xmlns:m="http://schemas.openxmlformats.org/officeDocument/2006/math">
                    <m:r>
                      <a:rPr lang="en-US" altLang="zh-CN" b="0" i="1" smtClean="0">
                        <a:latin typeface="Cambria Math" panose="02040503050406030204" pitchFamily="18" charset="0"/>
                      </a:rPr>
                      <m:t>𝑧</m:t>
                    </m:r>
                  </m:oMath>
                </a14:m>
                <a:r>
                  <a:rPr lang="zh-CN" altLang="en-US" i="1" dirty="0"/>
                  <a:t>的分布的参数是</a:t>
                </a:r>
                <a14:m>
                  <m:oMath xmlns:m="http://schemas.openxmlformats.org/officeDocument/2006/math">
                    <m:r>
                      <a:rPr lang="en-US" altLang="zh-CN" b="0" i="1" smtClean="0">
                        <a:latin typeface="Cambria Math" panose="02040503050406030204" pitchFamily="18" charset="0"/>
                      </a:rPr>
                      <m:t>𝜃</m:t>
                    </m:r>
                  </m:oMath>
                </a14:m>
                <a:endParaRPr lang="zh-CN" altLang="en-US" i="1" dirty="0"/>
              </a:p>
            </p:txBody>
          </p:sp>
        </mc:Choice>
        <mc:Fallback xmlns="">
          <p:sp>
            <p:nvSpPr>
              <p:cNvPr id="11" name="文本框 10">
                <a:extLst>
                  <a:ext uri="{FF2B5EF4-FFF2-40B4-BE49-F238E27FC236}">
                    <a16:creationId xmlns:a16="http://schemas.microsoft.com/office/drawing/2014/main" id="{D204988D-6319-4CF8-A7A7-C450D40A4BEC}"/>
                  </a:ext>
                </a:extLst>
              </p:cNvPr>
              <p:cNvSpPr txBox="1">
                <a:spLocks noRot="1" noChangeAspect="1" noMove="1" noResize="1" noEditPoints="1" noAdjustHandles="1" noChangeArrowheads="1" noChangeShapeType="1" noTextEdit="1"/>
              </p:cNvSpPr>
              <p:nvPr/>
            </p:nvSpPr>
            <p:spPr>
              <a:xfrm>
                <a:off x="5140155" y="1891567"/>
                <a:ext cx="2976584" cy="369332"/>
              </a:xfrm>
              <a:prstGeom prst="rect">
                <a:avLst/>
              </a:prstGeom>
              <a:blipFill>
                <a:blip r:embed="rId6"/>
                <a:stretch>
                  <a:fillRect l="-1639" t="-13115" b="-19672"/>
                </a:stretch>
              </a:blipFill>
            </p:spPr>
            <p:txBody>
              <a:bodyPr/>
              <a:lstStyle/>
              <a:p>
                <a:r>
                  <a:rPr lang="zh-CN" altLang="en-US">
                    <a:noFill/>
                  </a:rPr>
                  <a:t> </a:t>
                </a:r>
              </a:p>
            </p:txBody>
          </p:sp>
        </mc:Fallback>
      </mc:AlternateContent>
      <p:grpSp>
        <p:nvGrpSpPr>
          <p:cNvPr id="42" name="组合 41">
            <a:extLst>
              <a:ext uri="{FF2B5EF4-FFF2-40B4-BE49-F238E27FC236}">
                <a16:creationId xmlns:a16="http://schemas.microsoft.com/office/drawing/2014/main" id="{78C7F3A4-E4DF-4A5B-A1B2-D62266706D0F}"/>
              </a:ext>
            </a:extLst>
          </p:cNvPr>
          <p:cNvGrpSpPr/>
          <p:nvPr/>
        </p:nvGrpSpPr>
        <p:grpSpPr>
          <a:xfrm>
            <a:off x="603250" y="4011391"/>
            <a:ext cx="7954010" cy="460375"/>
            <a:chOff x="814" y="3480"/>
            <a:chExt cx="12526" cy="725"/>
          </a:xfrm>
        </p:grpSpPr>
        <p:sp>
          <p:nvSpPr>
            <p:cNvPr id="43" name="椭圆 42">
              <a:extLst>
                <a:ext uri="{FF2B5EF4-FFF2-40B4-BE49-F238E27FC236}">
                  <a16:creationId xmlns:a16="http://schemas.microsoft.com/office/drawing/2014/main" id="{828DC2BE-6D18-4FA1-B8C4-06E538525257}"/>
                </a:ext>
              </a:extLst>
            </p:cNvPr>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44" name="文本框 43">
              <a:extLst>
                <a:ext uri="{FF2B5EF4-FFF2-40B4-BE49-F238E27FC236}">
                  <a16:creationId xmlns:a16="http://schemas.microsoft.com/office/drawing/2014/main" id="{9C22D9C6-4D71-4F66-BF36-10DC3B571F25}"/>
                </a:ext>
              </a:extLst>
            </p:cNvPr>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贝叶斯估计：最大化概率期望</a:t>
              </a:r>
            </a:p>
          </p:txBody>
        </p:sp>
      </p:grpSp>
      <p:pic>
        <p:nvPicPr>
          <p:cNvPr id="12" name="图片 11">
            <a:extLst>
              <a:ext uri="{FF2B5EF4-FFF2-40B4-BE49-F238E27FC236}">
                <a16:creationId xmlns:a16="http://schemas.microsoft.com/office/drawing/2014/main" id="{8CD2759B-9CF4-4DAE-A9E3-17541C85A653}"/>
              </a:ext>
            </a:extLst>
          </p:cNvPr>
          <p:cNvPicPr>
            <a:picLocks noChangeAspect="1"/>
          </p:cNvPicPr>
          <p:nvPr/>
        </p:nvPicPr>
        <p:blipFill>
          <a:blip r:embed="rId7"/>
          <a:stretch>
            <a:fillRect/>
          </a:stretch>
        </p:blipFill>
        <p:spPr>
          <a:xfrm>
            <a:off x="762000" y="3221175"/>
            <a:ext cx="2139390" cy="460375"/>
          </a:xfrm>
          <a:prstGeom prst="rect">
            <a:avLst/>
          </a:prstGeom>
        </p:spPr>
      </p:pic>
      <p:pic>
        <p:nvPicPr>
          <p:cNvPr id="13" name="图片 12">
            <a:extLst>
              <a:ext uri="{FF2B5EF4-FFF2-40B4-BE49-F238E27FC236}">
                <a16:creationId xmlns:a16="http://schemas.microsoft.com/office/drawing/2014/main" id="{09BDA1EF-477C-4A77-8B3D-7C2E6A956406}"/>
              </a:ext>
            </a:extLst>
          </p:cNvPr>
          <p:cNvPicPr>
            <a:picLocks noChangeAspect="1"/>
          </p:cNvPicPr>
          <p:nvPr/>
        </p:nvPicPr>
        <p:blipFill>
          <a:blip r:embed="rId8"/>
          <a:stretch>
            <a:fillRect/>
          </a:stretch>
        </p:blipFill>
        <p:spPr>
          <a:xfrm>
            <a:off x="3031790" y="3226659"/>
            <a:ext cx="2357053" cy="434194"/>
          </a:xfrm>
          <a:prstGeom prst="rect">
            <a:avLst/>
          </a:prstGeom>
        </p:spPr>
      </p:pic>
      <p:pic>
        <p:nvPicPr>
          <p:cNvPr id="14" name="图片 13">
            <a:extLst>
              <a:ext uri="{FF2B5EF4-FFF2-40B4-BE49-F238E27FC236}">
                <a16:creationId xmlns:a16="http://schemas.microsoft.com/office/drawing/2014/main" id="{296BB6CD-B4A3-4D3D-893A-2889864456D5}"/>
              </a:ext>
            </a:extLst>
          </p:cNvPr>
          <p:cNvPicPr>
            <a:picLocks noChangeAspect="1"/>
          </p:cNvPicPr>
          <p:nvPr/>
        </p:nvPicPr>
        <p:blipFill>
          <a:blip r:embed="rId9"/>
          <a:stretch>
            <a:fillRect/>
          </a:stretch>
        </p:blipFill>
        <p:spPr>
          <a:xfrm>
            <a:off x="888831" y="4517386"/>
            <a:ext cx="3593203" cy="1982457"/>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to="" calcmode="lin" valueType="num">
                                      <p:cBhvr>
                                        <p:cTn id="7" dur="1" fill="hold"/>
                                        <p:tgtEl>
                                          <p:spTgt spid="20"/>
                                        </p:tgtEl>
                                      </p:cBhvr>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CE4F1E24-B64E-024C-39D6-5CB9D98288A9}"/>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30A214B8-AB25-079D-512D-C015B02B2249}"/>
              </a:ext>
            </a:extLst>
          </p:cNvPr>
          <p:cNvGrpSpPr/>
          <p:nvPr/>
        </p:nvGrpSpPr>
        <p:grpSpPr>
          <a:xfrm>
            <a:off x="-4445" y="340995"/>
            <a:ext cx="8925560" cy="583565"/>
            <a:chOff x="-9" y="380"/>
            <a:chExt cx="14056" cy="919"/>
          </a:xfrm>
        </p:grpSpPr>
        <p:sp>
          <p:nvSpPr>
            <p:cNvPr id="34" name="矩形 33">
              <a:extLst>
                <a:ext uri="{FF2B5EF4-FFF2-40B4-BE49-F238E27FC236}">
                  <a16:creationId xmlns:a16="http://schemas.microsoft.com/office/drawing/2014/main" id="{3C6BD397-A6E8-B2BE-5B1C-1D8A948606D1}"/>
                </a:ext>
              </a:extLst>
            </p:cNvPr>
            <p:cNvSpPr/>
            <p:nvPr/>
          </p:nvSpPr>
          <p:spPr>
            <a:xfrm>
              <a:off x="6826" y="429"/>
              <a:ext cx="722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48EB16E7-D5FD-1A60-66B5-36206DD053B5}"/>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88AF01B5-3929-B9AD-649D-5D67E0860968}"/>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FDB9A573-D529-4AE9-E130-D82A276CA0A5}"/>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9754B17A-F8E9-4406-86D0-BD5C50B1EE9F}"/>
                </a:ext>
              </a:extLst>
            </p:cNvPr>
            <p:cNvSpPr/>
            <p:nvPr/>
          </p:nvSpPr>
          <p:spPr>
            <a:xfrm>
              <a:off x="733" y="380"/>
              <a:ext cx="6590"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含隐变量的参数学习</a:t>
              </a:r>
            </a:p>
          </p:txBody>
        </p:sp>
      </p:grpSp>
      <p:grpSp>
        <p:nvGrpSpPr>
          <p:cNvPr id="2" name="组合 1">
            <a:extLst>
              <a:ext uri="{FF2B5EF4-FFF2-40B4-BE49-F238E27FC236}">
                <a16:creationId xmlns:a16="http://schemas.microsoft.com/office/drawing/2014/main" id="{597B3504-72D5-CDBA-F5A7-BC1217C598AF}"/>
              </a:ext>
            </a:extLst>
          </p:cNvPr>
          <p:cNvGrpSpPr/>
          <p:nvPr/>
        </p:nvGrpSpPr>
        <p:grpSpPr>
          <a:xfrm>
            <a:off x="480061" y="1009619"/>
            <a:ext cx="7954010" cy="460375"/>
            <a:chOff x="814" y="3480"/>
            <a:chExt cx="12526" cy="725"/>
          </a:xfrm>
        </p:grpSpPr>
        <p:sp>
          <p:nvSpPr>
            <p:cNvPr id="4" name="椭圆 3">
              <a:extLst>
                <a:ext uri="{FF2B5EF4-FFF2-40B4-BE49-F238E27FC236}">
                  <a16:creationId xmlns:a16="http://schemas.microsoft.com/office/drawing/2014/main" id="{AE823E1F-8337-F223-2EE4-6B9F6A35CFD1}"/>
                </a:ext>
              </a:extLst>
            </p:cNvPr>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文本框 8">
              <a:extLst>
                <a:ext uri="{FF2B5EF4-FFF2-40B4-BE49-F238E27FC236}">
                  <a16:creationId xmlns:a16="http://schemas.microsoft.com/office/drawing/2014/main" id="{6999E6D7-28EF-C891-6DB2-4208DA7666FE}"/>
                </a:ext>
              </a:extLst>
            </p:cNvPr>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点估计：最大似然和最大后验法</a:t>
              </a:r>
            </a:p>
          </p:txBody>
        </p:sp>
      </p:grpSp>
      <p:pic>
        <p:nvPicPr>
          <p:cNvPr id="12" name="图片 11">
            <a:extLst>
              <a:ext uri="{FF2B5EF4-FFF2-40B4-BE49-F238E27FC236}">
                <a16:creationId xmlns:a16="http://schemas.microsoft.com/office/drawing/2014/main" id="{DF218D75-59D5-34A5-A0BA-2EFE18BD4703}"/>
              </a:ext>
            </a:extLst>
          </p:cNvPr>
          <p:cNvPicPr>
            <a:picLocks noChangeAspect="1"/>
          </p:cNvPicPr>
          <p:nvPr/>
        </p:nvPicPr>
        <p:blipFill>
          <a:blip r:embed="rId5"/>
          <a:stretch>
            <a:fillRect/>
          </a:stretch>
        </p:blipFill>
        <p:spPr>
          <a:xfrm>
            <a:off x="1629411" y="1742895"/>
            <a:ext cx="2139390" cy="460375"/>
          </a:xfrm>
          <a:prstGeom prst="rect">
            <a:avLst/>
          </a:prstGeom>
        </p:spPr>
      </p:pic>
      <p:pic>
        <p:nvPicPr>
          <p:cNvPr id="13" name="图片 12">
            <a:extLst>
              <a:ext uri="{FF2B5EF4-FFF2-40B4-BE49-F238E27FC236}">
                <a16:creationId xmlns:a16="http://schemas.microsoft.com/office/drawing/2014/main" id="{7EC5CC10-22A1-55F5-DB33-6D6CD14BD1FC}"/>
              </a:ext>
            </a:extLst>
          </p:cNvPr>
          <p:cNvPicPr>
            <a:picLocks noChangeAspect="1"/>
          </p:cNvPicPr>
          <p:nvPr/>
        </p:nvPicPr>
        <p:blipFill>
          <a:blip r:embed="rId6"/>
          <a:stretch>
            <a:fillRect/>
          </a:stretch>
        </p:blipFill>
        <p:spPr>
          <a:xfrm>
            <a:off x="5567981" y="1769076"/>
            <a:ext cx="2357053" cy="434194"/>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D5266B8-4C9C-EC80-597E-24908148E52E}"/>
                  </a:ext>
                </a:extLst>
              </p:cNvPr>
              <p:cNvSpPr txBox="1"/>
              <p:nvPr/>
            </p:nvSpPr>
            <p:spPr>
              <a:xfrm>
                <a:off x="137864" y="2405991"/>
                <a:ext cx="5572358"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𝑝</m:t>
                      </m:r>
                      <m:d>
                        <m:dPr>
                          <m:sepChr m:val="∣"/>
                          <m:ctrlPr>
                            <a:rPr kumimoji="1" lang="en-US" altLang="zh-CN" b="0" i="1" smtClean="0">
                              <a:latin typeface="Cambria Math" panose="02040503050406030204" pitchFamily="18" charset="0"/>
                            </a:rPr>
                          </m:ctrlPr>
                        </m:dPr>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e>
                          <m:r>
                            <a:rPr kumimoji="1" lang="en-US" altLang="zh-CN" b="0" i="1" smtClean="0">
                              <a:latin typeface="Cambria Math" panose="02040503050406030204" pitchFamily="18" charset="0"/>
                            </a:rPr>
                            <m:t>𝑌</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𝑝</m:t>
                      </m:r>
                      <m:d>
                        <m:dPr>
                          <m:sepChr m:val="∣"/>
                          <m:ctrlPr>
                            <a:rPr kumimoji="1" lang="en-US" altLang="zh-CN" b="0" i="1" smtClean="0">
                              <a:latin typeface="Cambria Math" panose="02040503050406030204" pitchFamily="18" charset="0"/>
                            </a:rPr>
                          </m:ctrlPr>
                        </m:dPr>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e>
                          <m:r>
                            <m:rPr>
                              <m:sty m:val="p"/>
                            </m:rPr>
                            <a:rPr kumimoji="1" lang="en-US" altLang="zh-CN" b="0" i="0" smtClean="0">
                              <a:latin typeface="Cambria Math" panose="02040503050406030204" pitchFamily="18" charset="0"/>
                            </a:rPr>
                            <m:t>Θ</m:t>
                          </m:r>
                        </m:e>
                      </m:d>
                      <m:r>
                        <a:rPr kumimoji="1" lang="en-US" altLang="zh-CN" b="0" i="1" smtClean="0">
                          <a:latin typeface="Cambria Math" panose="02040503050406030204" pitchFamily="18" charset="0"/>
                        </a:rPr>
                        <m:t>=</m:t>
                      </m:r>
                      <m:nary>
                        <m:naryPr>
                          <m:chr m:val="∏"/>
                          <m:ctrlPr>
                            <a:rPr kumimoji="1" lang="en-US" altLang="zh-CN" b="0"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=1</m:t>
                          </m:r>
                        </m:sub>
                        <m:sup>
                          <m:r>
                            <a:rPr kumimoji="1" lang="en-US" altLang="zh-CN" b="0" i="1" smtClean="0">
                              <a:latin typeface="Cambria Math" panose="02040503050406030204" pitchFamily="18" charset="0"/>
                            </a:rPr>
                            <m:t>𝑁</m:t>
                          </m:r>
                        </m:sup>
                        <m:e>
                          <m:r>
                            <a:rPr kumimoji="1" lang="en-US" altLang="zh-CN" b="0" i="1" smtClean="0">
                              <a:latin typeface="Cambria Math" panose="02040503050406030204" pitchFamily="18" charset="0"/>
                            </a:rPr>
                            <m:t>𝑝</m:t>
                          </m:r>
                          <m:r>
                            <a:rPr kumimoji="1" lang="en-US" altLang="zh-CN" b="0" i="1" smtClean="0">
                              <a:latin typeface="Cambria Math" panose="02040503050406030204" pitchFamily="18" charset="0"/>
                            </a:rPr>
                            <m:t>(</m:t>
                          </m:r>
                          <m:sSub>
                            <m:sSubPr>
                              <m:ctrlPr>
                                <a:rPr kumimoji="1" lang="en-US" altLang="zh-CN" b="0" i="1" smtClean="0">
                                  <a:latin typeface="Cambria Math" panose="02040503050406030204" pitchFamily="18" charset="0"/>
                                </a:rPr>
                              </m:ctrlPr>
                            </m:sSubPr>
                            <m:e>
                              <m:r>
                                <a:rPr kumimoji="1" lang="en-US" altLang="zh-CN" b="0" i="1" smtClean="0">
                                  <a:latin typeface="Cambria Math" panose="02040503050406030204" pitchFamily="18" charset="0"/>
                                </a:rPr>
                                <m:t>𝑥</m:t>
                              </m:r>
                            </m:e>
                            <m:sub>
                              <m:r>
                                <a:rPr kumimoji="1" lang="en-US" altLang="zh-CN" b="0" i="1" smtClean="0">
                                  <a:latin typeface="Cambria Math" panose="02040503050406030204" pitchFamily="18" charset="0"/>
                                </a:rPr>
                                <m:t>𝑖</m:t>
                              </m:r>
                            </m:sub>
                          </m:sSub>
                          <m:r>
                            <a:rPr kumimoji="1" lang="en-US" altLang="zh-CN" b="0" i="1" smtClean="0">
                              <a:latin typeface="Cambria Math" panose="02040503050406030204" pitchFamily="18" charset="0"/>
                            </a:rPr>
                            <m:t>∣</m:t>
                          </m:r>
                          <m:r>
                            <m:rPr>
                              <m:sty m:val="p"/>
                            </m:rPr>
                            <a:rPr kumimoji="1" lang="en-US" altLang="zh-CN" b="0" i="0" smtClean="0">
                              <a:latin typeface="Cambria Math" panose="02040503050406030204" pitchFamily="18" charset="0"/>
                            </a:rPr>
                            <m:t>Θ</m:t>
                          </m:r>
                          <m:r>
                            <a:rPr kumimoji="1" lang="en-US" altLang="zh-CN" b="0" i="1" smtClean="0">
                              <a:latin typeface="Cambria Math" panose="02040503050406030204" pitchFamily="18" charset="0"/>
                            </a:rPr>
                            <m:t>)</m:t>
                          </m:r>
                        </m:e>
                      </m:nary>
                      <m:r>
                        <a:rPr kumimoji="1" lang="en-US" altLang="zh-CN" b="0" i="1" smtClean="0">
                          <a:latin typeface="Cambria Math" panose="02040503050406030204" pitchFamily="18" charset="0"/>
                          <a:ea typeface="Cambria Math" panose="02040503050406030204" pitchFamily="18" charset="0"/>
                        </a:rPr>
                        <m:t>∝</m:t>
                      </m:r>
                      <m:nary>
                        <m:naryPr>
                          <m:chr m:val="∑"/>
                          <m:ctrlPr>
                            <a:rPr kumimoji="1" lang="en-US" altLang="zh-CN" b="0" i="1" smtClean="0">
                              <a:latin typeface="Cambria Math" panose="02040503050406030204" pitchFamily="18" charset="0"/>
                              <a:ea typeface="Cambria Math" panose="02040503050406030204" pitchFamily="18" charset="0"/>
                            </a:rPr>
                          </m:ctrlPr>
                        </m:naryPr>
                        <m:sub>
                          <m:r>
                            <m:rPr>
                              <m:brk m:alnAt="23"/>
                            </m:rPr>
                            <a:rPr kumimoji="1" lang="en-US" altLang="zh-CN" b="0" i="1" smtClean="0">
                              <a:latin typeface="Cambria Math" panose="02040503050406030204" pitchFamily="18" charset="0"/>
                              <a:ea typeface="Cambria Math" panose="02040503050406030204" pitchFamily="18" charset="0"/>
                            </a:rPr>
                            <m:t>𝑖</m:t>
                          </m:r>
                          <m:r>
                            <a:rPr kumimoji="1" lang="en-US" altLang="zh-CN" b="0" i="1" smtClean="0">
                              <a:latin typeface="Cambria Math" panose="02040503050406030204" pitchFamily="18" charset="0"/>
                              <a:ea typeface="Cambria Math" panose="02040503050406030204" pitchFamily="18" charset="0"/>
                            </a:rPr>
                            <m:t>=1</m:t>
                          </m:r>
                        </m:sub>
                        <m:sup>
                          <m:r>
                            <a:rPr kumimoji="1" lang="en-US" altLang="zh-CN" b="0" i="1" smtClean="0">
                              <a:latin typeface="Cambria Math" panose="02040503050406030204" pitchFamily="18" charset="0"/>
                              <a:ea typeface="Cambria Math" panose="02040503050406030204" pitchFamily="18" charset="0"/>
                            </a:rPr>
                            <m:t>𝑁</m:t>
                          </m:r>
                        </m:sup>
                        <m:e>
                          <m:func>
                            <m:funcPr>
                              <m:ctrlPr>
                                <a:rPr kumimoji="1" lang="en-US" altLang="zh-CN" b="0" i="1" smtClean="0">
                                  <a:latin typeface="Cambria Math" panose="02040503050406030204" pitchFamily="18" charset="0"/>
                                  <a:ea typeface="Cambria Math" panose="02040503050406030204" pitchFamily="18" charset="0"/>
                                </a:rPr>
                              </m:ctrlPr>
                            </m:funcPr>
                            <m:fName>
                              <m:r>
                                <m:rPr>
                                  <m:sty m:val="p"/>
                                </m:rPr>
                                <a:rPr kumimoji="1" lang="en-US" altLang="zh-CN" b="0" i="0" smtClean="0">
                                  <a:latin typeface="Cambria Math" panose="02040503050406030204" pitchFamily="18" charset="0"/>
                                  <a:ea typeface="Cambria Math" panose="02040503050406030204" pitchFamily="18" charset="0"/>
                                </a:rPr>
                                <m:t>log</m:t>
                              </m:r>
                            </m:fName>
                            <m:e>
                              <m:r>
                                <a:rPr kumimoji="1" lang="en-US" altLang="zh-CN" b="0" i="1" smtClean="0">
                                  <a:latin typeface="Cambria Math" panose="02040503050406030204" pitchFamily="18" charset="0"/>
                                  <a:ea typeface="Cambria Math" panose="02040503050406030204" pitchFamily="18" charset="0"/>
                                </a:rPr>
                                <m:t>𝑝</m:t>
                              </m:r>
                              <m:r>
                                <a:rPr kumimoji="1" lang="en-US" altLang="zh-CN" b="0" i="1" smtClean="0">
                                  <a:latin typeface="Cambria Math" panose="02040503050406030204" pitchFamily="18" charset="0"/>
                                  <a:ea typeface="Cambria Math" panose="02040503050406030204" pitchFamily="18" charset="0"/>
                                </a:rPr>
                                <m:t>(</m:t>
                              </m:r>
                              <m:sSub>
                                <m:sSubPr>
                                  <m:ctrlPr>
                                    <a:rPr kumimoji="1" lang="en-US" altLang="zh-CN" b="0" i="1" smtClean="0">
                                      <a:latin typeface="Cambria Math" panose="02040503050406030204" pitchFamily="18" charset="0"/>
                                      <a:ea typeface="Cambria Math" panose="02040503050406030204" pitchFamily="18" charset="0"/>
                                    </a:rPr>
                                  </m:ctrlPr>
                                </m:sSubPr>
                                <m:e>
                                  <m:r>
                                    <a:rPr kumimoji="1" lang="en-US" altLang="zh-CN" b="0" i="1" smtClean="0">
                                      <a:latin typeface="Cambria Math" panose="02040503050406030204" pitchFamily="18" charset="0"/>
                                      <a:ea typeface="Cambria Math" panose="02040503050406030204" pitchFamily="18" charset="0"/>
                                    </a:rPr>
                                    <m:t>𝑥</m:t>
                                  </m:r>
                                </m:e>
                                <m:sub>
                                  <m:r>
                                    <a:rPr kumimoji="1" lang="en-US" altLang="zh-CN" b="0" i="1" smtClean="0">
                                      <a:latin typeface="Cambria Math" panose="02040503050406030204" pitchFamily="18" charset="0"/>
                                      <a:ea typeface="Cambria Math" panose="02040503050406030204" pitchFamily="18" charset="0"/>
                                    </a:rPr>
                                    <m:t>𝑖</m:t>
                                  </m:r>
                                </m:sub>
                              </m:sSub>
                              <m:r>
                                <a:rPr kumimoji="1" lang="en-US" altLang="zh-CN" b="0" i="1" smtClean="0">
                                  <a:latin typeface="Cambria Math" panose="02040503050406030204" pitchFamily="18" charset="0"/>
                                  <a:ea typeface="Cambria Math" panose="02040503050406030204" pitchFamily="18" charset="0"/>
                                </a:rPr>
                                <m:t>∣</m:t>
                              </m:r>
                              <m:r>
                                <m:rPr>
                                  <m:sty m:val="p"/>
                                </m:rPr>
                                <a:rPr kumimoji="1" lang="en-US" altLang="zh-CN" b="0" i="0" smtClean="0">
                                  <a:latin typeface="Cambria Math" panose="02040503050406030204" pitchFamily="18" charset="0"/>
                                  <a:ea typeface="Cambria Math" panose="02040503050406030204" pitchFamily="18" charset="0"/>
                                </a:rPr>
                                <m:t>Θ</m:t>
                              </m:r>
                              <m:r>
                                <a:rPr kumimoji="1" lang="en-US" altLang="zh-CN" b="0" i="1" smtClean="0">
                                  <a:latin typeface="Cambria Math" panose="02040503050406030204" pitchFamily="18" charset="0"/>
                                  <a:ea typeface="Cambria Math" panose="02040503050406030204" pitchFamily="18" charset="0"/>
                                </a:rPr>
                                <m:t>)</m:t>
                              </m:r>
                            </m:e>
                          </m:func>
                        </m:e>
                      </m:nary>
                    </m:oMath>
                  </m:oMathPara>
                </a14:m>
                <a:endParaRPr kumimoji="1" lang="zh-CN" altLang="en-US" dirty="0"/>
              </a:p>
            </p:txBody>
          </p:sp>
        </mc:Choice>
        <mc:Fallback xmlns="">
          <p:sp>
            <p:nvSpPr>
              <p:cNvPr id="6" name="文本框 5">
                <a:extLst>
                  <a:ext uri="{FF2B5EF4-FFF2-40B4-BE49-F238E27FC236}">
                    <a16:creationId xmlns:a16="http://schemas.microsoft.com/office/drawing/2014/main" id="{3D5266B8-4C9C-EC80-597E-24908148E52E}"/>
                  </a:ext>
                </a:extLst>
              </p:cNvPr>
              <p:cNvSpPr txBox="1">
                <a:spLocks noRot="1" noChangeAspect="1" noMove="1" noResize="1" noEditPoints="1" noAdjustHandles="1" noChangeArrowheads="1" noChangeShapeType="1" noTextEdit="1"/>
              </p:cNvSpPr>
              <p:nvPr/>
            </p:nvSpPr>
            <p:spPr>
              <a:xfrm>
                <a:off x="137864" y="2405991"/>
                <a:ext cx="5572358" cy="778931"/>
              </a:xfrm>
              <a:prstGeom prst="rect">
                <a:avLst/>
              </a:prstGeom>
              <a:blipFill>
                <a:blip r:embed="rId7"/>
                <a:stretch>
                  <a:fillRect l="-683" t="-111290" r="-1139" b="-174194"/>
                </a:stretch>
              </a:blipFill>
            </p:spPr>
            <p:txBody>
              <a:bodyPr/>
              <a:lstStyle/>
              <a:p>
                <a:r>
                  <a:rPr lang="zh-CN" altLang="en-US">
                    <a:noFill/>
                  </a:rPr>
                  <a:t> </a:t>
                </a:r>
              </a:p>
            </p:txBody>
          </p:sp>
        </mc:Fallback>
      </mc:AlternateContent>
      <p:cxnSp>
        <p:nvCxnSpPr>
          <p:cNvPr id="10" name="直线箭头连接符 9">
            <a:extLst>
              <a:ext uri="{FF2B5EF4-FFF2-40B4-BE49-F238E27FC236}">
                <a16:creationId xmlns:a16="http://schemas.microsoft.com/office/drawing/2014/main" id="{C1A2DAAB-3F52-D40E-51C8-CEDBB985D4E7}"/>
              </a:ext>
            </a:extLst>
          </p:cNvPr>
          <p:cNvCxnSpPr>
            <a:stCxn id="12" idx="2"/>
          </p:cNvCxnSpPr>
          <p:nvPr/>
        </p:nvCxnSpPr>
        <p:spPr>
          <a:xfrm>
            <a:off x="2699106" y="2203270"/>
            <a:ext cx="0" cy="2027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线箭头连接符 14">
            <a:extLst>
              <a:ext uri="{FF2B5EF4-FFF2-40B4-BE49-F238E27FC236}">
                <a16:creationId xmlns:a16="http://schemas.microsoft.com/office/drawing/2014/main" id="{49CA8B2F-18EB-4ED1-423C-CD6E2368F7BF}"/>
              </a:ext>
            </a:extLst>
          </p:cNvPr>
          <p:cNvCxnSpPr>
            <a:cxnSpLocks/>
          </p:cNvCxnSpPr>
          <p:nvPr/>
        </p:nvCxnSpPr>
        <p:spPr>
          <a:xfrm>
            <a:off x="6755753" y="2206660"/>
            <a:ext cx="0" cy="978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5C127FE-FCCE-27FA-613D-8422CED66290}"/>
                  </a:ext>
                </a:extLst>
              </p:cNvPr>
              <p:cNvSpPr txBox="1"/>
              <p:nvPr/>
            </p:nvSpPr>
            <p:spPr>
              <a:xfrm>
                <a:off x="4967127" y="3285952"/>
                <a:ext cx="3322640"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rPr>
                        <m:t>𝑃</m:t>
                      </m:r>
                      <m:d>
                        <m:dPr>
                          <m:sepChr m:val="∣"/>
                          <m:ctrlPr>
                            <a:rPr kumimoji="1" lang="en-US" altLang="zh-CN" b="0" i="1" smtClean="0">
                              <a:latin typeface="Cambria Math" panose="02040503050406030204" pitchFamily="18" charset="0"/>
                            </a:rPr>
                          </m:ctrlPr>
                        </m:dPr>
                        <m:e>
                          <m:r>
                            <m:rPr>
                              <m:sty m:val="p"/>
                            </m:rPr>
                            <a:rPr kumimoji="1" lang="en-US" altLang="zh-CN" b="0" i="0" smtClean="0">
                              <a:latin typeface="Cambria Math" panose="02040503050406030204" pitchFamily="18" charset="0"/>
                            </a:rPr>
                            <m:t>Θ</m:t>
                          </m:r>
                        </m:e>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d>
                        <m:dPr>
                          <m:sepChr m:val="∣"/>
                          <m:ctrlPr>
                            <a:rPr kumimoji="1" lang="en-US" altLang="zh-CN" b="0" i="1" smtClean="0">
                              <a:latin typeface="Cambria Math" panose="02040503050406030204" pitchFamily="18" charset="0"/>
                            </a:rPr>
                          </m:ctrlPr>
                        </m:dPr>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e>
                          <m:r>
                            <m:rPr>
                              <m:sty m:val="p"/>
                            </m:rPr>
                            <a:rPr kumimoji="1" lang="en-US" altLang="zh-CN" b="0" i="0" smtClean="0">
                              <a:latin typeface="Cambria Math" panose="02040503050406030204" pitchFamily="18" charset="0"/>
                            </a:rPr>
                            <m:t>Θ</m:t>
                          </m:r>
                        </m:e>
                      </m:d>
                      <m:r>
                        <a:rPr kumimoji="1" lang="en-US" altLang="zh-CN" b="0" i="1" smtClean="0">
                          <a:latin typeface="Cambria Math" panose="02040503050406030204" pitchFamily="18" charset="0"/>
                        </a:rPr>
                        <m:t>𝑃</m:t>
                      </m:r>
                      <m:r>
                        <a:rPr kumimoji="1" lang="en-US" altLang="zh-CN" b="0" i="1" smtClean="0">
                          <a:latin typeface="Cambria Math" panose="02040503050406030204" pitchFamily="18" charset="0"/>
                        </a:rPr>
                        <m:t>(</m:t>
                      </m:r>
                      <m:r>
                        <m:rPr>
                          <m:sty m:val="p"/>
                        </m:rPr>
                        <a:rPr kumimoji="1" lang="en-US" altLang="zh-CN" b="0" i="0" smtClean="0">
                          <a:latin typeface="Cambria Math" panose="02040503050406030204" pitchFamily="18" charset="0"/>
                        </a:rPr>
                        <m:t>Θ</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𝑃</m:t>
                      </m:r>
                      <m:r>
                        <a:rPr kumimoji="1" lang="en-US" altLang="zh-CN" b="0" i="1" smtClean="0">
                          <a:latin typeface="Cambria Math" panose="02040503050406030204" pitchFamily="18" charset="0"/>
                        </a:rPr>
                        <m:t>(</m:t>
                      </m:r>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r>
                        <a:rPr kumimoji="1" lang="en-US" altLang="zh-CN" b="0" i="1" smtClean="0">
                          <a:latin typeface="Cambria Math" panose="02040503050406030204" pitchFamily="18" charset="0"/>
                        </a:rPr>
                        <m:t>)</m:t>
                      </m:r>
                    </m:oMath>
                  </m:oMathPara>
                </a14:m>
                <a:endParaRPr kumimoji="1" lang="zh-CN" altLang="en-US" dirty="0"/>
              </a:p>
            </p:txBody>
          </p:sp>
        </mc:Choice>
        <mc:Fallback xmlns="">
          <p:sp>
            <p:nvSpPr>
              <p:cNvPr id="18" name="文本框 17">
                <a:extLst>
                  <a:ext uri="{FF2B5EF4-FFF2-40B4-BE49-F238E27FC236}">
                    <a16:creationId xmlns:a16="http://schemas.microsoft.com/office/drawing/2014/main" id="{75C127FE-FCCE-27FA-613D-8422CED66290}"/>
                  </a:ext>
                </a:extLst>
              </p:cNvPr>
              <p:cNvSpPr txBox="1">
                <a:spLocks noRot="1" noChangeAspect="1" noMove="1" noResize="1" noEditPoints="1" noAdjustHandles="1" noChangeArrowheads="1" noChangeShapeType="1" noTextEdit="1"/>
              </p:cNvSpPr>
              <p:nvPr/>
            </p:nvSpPr>
            <p:spPr>
              <a:xfrm>
                <a:off x="4967127" y="3285952"/>
                <a:ext cx="3322640" cy="312650"/>
              </a:xfrm>
              <a:prstGeom prst="rect">
                <a:avLst/>
              </a:prstGeom>
              <a:blipFill>
                <a:blip r:embed="rId8"/>
                <a:stretch>
                  <a:fillRect l="-1145" t="-3846" r="-2290" b="-2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4BD8B68-F0F0-DD3F-D829-5462D49EDFBB}"/>
                  </a:ext>
                </a:extLst>
              </p:cNvPr>
              <p:cNvSpPr txBox="1"/>
              <p:nvPr/>
            </p:nvSpPr>
            <p:spPr>
              <a:xfrm>
                <a:off x="4807772" y="4079209"/>
                <a:ext cx="3999043"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kumimoji="1" lang="en-US" altLang="zh-CN" b="0" i="1" smtClean="0">
                              <a:latin typeface="Cambria Math" panose="02040503050406030204" pitchFamily="18" charset="0"/>
                            </a:rPr>
                          </m:ctrlPr>
                        </m:funcPr>
                        <m:fName>
                          <m:r>
                            <m:rPr>
                              <m:sty m:val="p"/>
                            </m:rPr>
                            <a:rPr kumimoji="1" lang="en-US" altLang="zh-CN" b="0" i="0" smtClean="0">
                              <a:latin typeface="Cambria Math" panose="02040503050406030204" pitchFamily="18" charset="0"/>
                            </a:rPr>
                            <m:t>log</m:t>
                          </m:r>
                        </m:fName>
                        <m:e>
                          <m:r>
                            <a:rPr kumimoji="1" lang="en-US" altLang="zh-CN" b="0" i="1" smtClean="0">
                              <a:latin typeface="Cambria Math" panose="02040503050406030204" pitchFamily="18" charset="0"/>
                            </a:rPr>
                            <m:t>𝑃</m:t>
                          </m:r>
                          <m:d>
                            <m:dPr>
                              <m:sepChr m:val="∣"/>
                              <m:ctrlPr>
                                <a:rPr kumimoji="1" lang="en-US" altLang="zh-CN" b="0" i="1" smtClean="0">
                                  <a:latin typeface="Cambria Math" panose="02040503050406030204" pitchFamily="18" charset="0"/>
                                </a:rPr>
                              </m:ctrlPr>
                            </m:dPr>
                            <m:e>
                              <m:r>
                                <m:rPr>
                                  <m:sty m:val="p"/>
                                </m:rPr>
                                <a:rPr kumimoji="1" lang="en-US" altLang="zh-CN" b="0" i="0" smtClean="0">
                                  <a:latin typeface="Cambria Math" panose="02040503050406030204" pitchFamily="18" charset="0"/>
                                </a:rPr>
                                <m:t>Θ</m:t>
                              </m:r>
                            </m:e>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d>
                          <m:r>
                            <a:rPr kumimoji="1" lang="en-US" altLang="zh-CN" b="0" i="1" smtClean="0">
                              <a:latin typeface="Cambria Math" panose="02040503050406030204" pitchFamily="18" charset="0"/>
                            </a:rPr>
                            <m:t>=</m:t>
                          </m:r>
                          <m:func>
                            <m:funcPr>
                              <m:ctrlPr>
                                <a:rPr kumimoji="1" lang="en-US" altLang="zh-CN" b="0" i="1" smtClean="0">
                                  <a:latin typeface="Cambria Math" panose="02040503050406030204" pitchFamily="18" charset="0"/>
                                </a:rPr>
                              </m:ctrlPr>
                            </m:funcPr>
                            <m:fName>
                              <m:r>
                                <m:rPr>
                                  <m:sty m:val="p"/>
                                </m:rPr>
                                <a:rPr kumimoji="1" lang="en-US" altLang="zh-CN" b="0" i="0" smtClean="0">
                                  <a:latin typeface="Cambria Math" panose="02040503050406030204" pitchFamily="18" charset="0"/>
                                </a:rPr>
                                <m:t>log</m:t>
                              </m:r>
                            </m:fName>
                            <m:e>
                              <m:r>
                                <a:rPr kumimoji="1" lang="en-US" altLang="zh-CN" b="0" i="1" smtClean="0">
                                  <a:latin typeface="Cambria Math" panose="02040503050406030204" pitchFamily="18" charset="0"/>
                                </a:rPr>
                                <m:t>𝑃</m:t>
                              </m:r>
                              <m:d>
                                <m:dPr>
                                  <m:sepChr m:val="∣"/>
                                  <m:ctrlPr>
                                    <a:rPr kumimoji="1" lang="en-US" altLang="zh-CN" b="0" i="1" smtClean="0">
                                      <a:latin typeface="Cambria Math" panose="02040503050406030204" pitchFamily="18" charset="0"/>
                                    </a:rPr>
                                  </m:ctrlPr>
                                </m:dPr>
                                <m:e>
                                  <m:acc>
                                    <m:accPr>
                                      <m:chr m:val="̃"/>
                                      <m:ctrlPr>
                                        <a:rPr kumimoji="1" lang="en-US" altLang="zh-CN" b="0" i="1" smtClean="0">
                                          <a:latin typeface="Cambria Math" panose="02040503050406030204" pitchFamily="18" charset="0"/>
                                        </a:rPr>
                                      </m:ctrlPr>
                                    </m:accPr>
                                    <m:e>
                                      <m:r>
                                        <a:rPr kumimoji="1" lang="en-US" altLang="zh-CN" b="0" i="1" smtClean="0">
                                          <a:latin typeface="Cambria Math" panose="02040503050406030204" pitchFamily="18" charset="0"/>
                                        </a:rPr>
                                        <m:t>𝑋</m:t>
                                      </m:r>
                                    </m:e>
                                  </m:acc>
                                </m:e>
                                <m:e>
                                  <m:r>
                                    <m:rPr>
                                      <m:sty m:val="p"/>
                                    </m:rPr>
                                    <a:rPr kumimoji="1" lang="en-US" altLang="zh-CN" b="0" i="0" smtClean="0">
                                      <a:latin typeface="Cambria Math" panose="02040503050406030204" pitchFamily="18" charset="0"/>
                                    </a:rPr>
                                    <m:t>Θ</m:t>
                                  </m:r>
                                </m:e>
                              </m:d>
                              <m:r>
                                <a:rPr kumimoji="1" lang="en-US" altLang="zh-CN" b="0" i="1" smtClean="0">
                                  <a:latin typeface="Cambria Math" panose="02040503050406030204" pitchFamily="18" charset="0"/>
                                </a:rPr>
                                <m:t>+</m:t>
                              </m:r>
                              <m:func>
                                <m:funcPr>
                                  <m:ctrlPr>
                                    <a:rPr kumimoji="1" lang="en-US" altLang="zh-CN" b="0" i="1" smtClean="0">
                                      <a:latin typeface="Cambria Math" panose="02040503050406030204" pitchFamily="18" charset="0"/>
                                    </a:rPr>
                                  </m:ctrlPr>
                                </m:funcPr>
                                <m:fName>
                                  <m:r>
                                    <m:rPr>
                                      <m:sty m:val="p"/>
                                    </m:rPr>
                                    <a:rPr kumimoji="1" lang="en-US" altLang="zh-CN" b="0" i="0" smtClean="0">
                                      <a:latin typeface="Cambria Math" panose="02040503050406030204" pitchFamily="18" charset="0"/>
                                    </a:rPr>
                                    <m:t>log</m:t>
                                  </m:r>
                                </m:fName>
                                <m:e>
                                  <m:r>
                                    <a:rPr kumimoji="1" lang="en-US" altLang="zh-CN" b="0" i="1" smtClean="0">
                                      <a:latin typeface="Cambria Math" panose="02040503050406030204" pitchFamily="18" charset="0"/>
                                    </a:rPr>
                                    <m:t>𝑃</m:t>
                                  </m:r>
                                  <m:r>
                                    <a:rPr kumimoji="1" lang="en-US" altLang="zh-CN" b="0" i="1" smtClean="0">
                                      <a:latin typeface="Cambria Math" panose="02040503050406030204" pitchFamily="18" charset="0"/>
                                    </a:rPr>
                                    <m:t>(</m:t>
                                  </m:r>
                                  <m:r>
                                    <m:rPr>
                                      <m:sty m:val="p"/>
                                    </m:rPr>
                                    <a:rPr kumimoji="1" lang="en-US" altLang="zh-CN" b="0" i="0" smtClean="0">
                                      <a:latin typeface="Cambria Math" panose="02040503050406030204" pitchFamily="18" charset="0"/>
                                    </a:rPr>
                                    <m:t>Θ</m:t>
                                  </m:r>
                                  <m:r>
                                    <a:rPr kumimoji="1" lang="en-US" altLang="zh-CN" b="0" i="1" smtClean="0">
                                      <a:latin typeface="Cambria Math" panose="02040503050406030204" pitchFamily="18" charset="0"/>
                                    </a:rPr>
                                    <m:t>)</m:t>
                                  </m:r>
                                </m:e>
                              </m:func>
                            </m:e>
                          </m:func>
                        </m:e>
                      </m:func>
                    </m:oMath>
                  </m:oMathPara>
                </a14:m>
                <a:endParaRPr kumimoji="1" lang="zh-CN" altLang="en-US" dirty="0"/>
              </a:p>
            </p:txBody>
          </p:sp>
        </mc:Choice>
        <mc:Fallback xmlns="">
          <p:sp>
            <p:nvSpPr>
              <p:cNvPr id="19" name="文本框 18">
                <a:extLst>
                  <a:ext uri="{FF2B5EF4-FFF2-40B4-BE49-F238E27FC236}">
                    <a16:creationId xmlns:a16="http://schemas.microsoft.com/office/drawing/2014/main" id="{D4BD8B68-F0F0-DD3F-D829-5462D49EDFBB}"/>
                  </a:ext>
                </a:extLst>
              </p:cNvPr>
              <p:cNvSpPr txBox="1">
                <a:spLocks noRot="1" noChangeAspect="1" noMove="1" noResize="1" noEditPoints="1" noAdjustHandles="1" noChangeArrowheads="1" noChangeShapeType="1" noTextEdit="1"/>
              </p:cNvSpPr>
              <p:nvPr/>
            </p:nvSpPr>
            <p:spPr>
              <a:xfrm>
                <a:off x="4807772" y="4079209"/>
                <a:ext cx="3999043" cy="312650"/>
              </a:xfrm>
              <a:prstGeom prst="rect">
                <a:avLst/>
              </a:prstGeom>
              <a:blipFill>
                <a:blip r:embed="rId9"/>
                <a:stretch>
                  <a:fillRect l="-1582" t="-8000" r="-1582" b="-28000"/>
                </a:stretch>
              </a:blipFill>
            </p:spPr>
            <p:txBody>
              <a:bodyPr/>
              <a:lstStyle/>
              <a:p>
                <a:r>
                  <a:rPr lang="zh-CN" altLang="en-US">
                    <a:noFill/>
                  </a:rPr>
                  <a:t> </a:t>
                </a:r>
              </a:p>
            </p:txBody>
          </p:sp>
        </mc:Fallback>
      </mc:AlternateContent>
      <p:cxnSp>
        <p:nvCxnSpPr>
          <p:cNvPr id="24" name="直线箭头连接符 23">
            <a:extLst>
              <a:ext uri="{FF2B5EF4-FFF2-40B4-BE49-F238E27FC236}">
                <a16:creationId xmlns:a16="http://schemas.microsoft.com/office/drawing/2014/main" id="{594DE366-8478-2604-B72C-2354E9FE2C06}"/>
              </a:ext>
            </a:extLst>
          </p:cNvPr>
          <p:cNvCxnSpPr>
            <a:cxnSpLocks/>
            <a:endCxn id="19" idx="0"/>
          </p:cNvCxnSpPr>
          <p:nvPr/>
        </p:nvCxnSpPr>
        <p:spPr>
          <a:xfrm>
            <a:off x="6807294" y="3699632"/>
            <a:ext cx="0" cy="3795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圆角矩形 32">
            <a:extLst>
              <a:ext uri="{FF2B5EF4-FFF2-40B4-BE49-F238E27FC236}">
                <a16:creationId xmlns:a16="http://schemas.microsoft.com/office/drawing/2014/main" id="{841CCD5D-E243-A5C4-C969-9BD2E099DF81}"/>
              </a:ext>
            </a:extLst>
          </p:cNvPr>
          <p:cNvSpPr/>
          <p:nvPr/>
        </p:nvSpPr>
        <p:spPr>
          <a:xfrm>
            <a:off x="6393180" y="4079209"/>
            <a:ext cx="1287780" cy="31265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0" name="肘形连接符 39">
            <a:extLst>
              <a:ext uri="{FF2B5EF4-FFF2-40B4-BE49-F238E27FC236}">
                <a16:creationId xmlns:a16="http://schemas.microsoft.com/office/drawing/2014/main" id="{694C456B-42F8-EE85-4B55-AD3E4694E354}"/>
              </a:ext>
            </a:extLst>
          </p:cNvPr>
          <p:cNvCxnSpPr>
            <a:stCxn id="33" idx="2"/>
            <a:endCxn id="6" idx="2"/>
          </p:cNvCxnSpPr>
          <p:nvPr/>
        </p:nvCxnSpPr>
        <p:spPr>
          <a:xfrm rot="5400000" flipH="1">
            <a:off x="4377088" y="1731878"/>
            <a:ext cx="1206937" cy="4113027"/>
          </a:xfrm>
          <a:prstGeom prst="bentConnector3">
            <a:avLst>
              <a:gd name="adj1" fmla="val -1894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41" name="文本框 40">
            <a:extLst>
              <a:ext uri="{FF2B5EF4-FFF2-40B4-BE49-F238E27FC236}">
                <a16:creationId xmlns:a16="http://schemas.microsoft.com/office/drawing/2014/main" id="{39F990A5-A289-A6DC-1AA2-85074B407E24}"/>
              </a:ext>
            </a:extLst>
          </p:cNvPr>
          <p:cNvSpPr txBox="1"/>
          <p:nvPr/>
        </p:nvSpPr>
        <p:spPr>
          <a:xfrm>
            <a:off x="1876863" y="4727182"/>
            <a:ext cx="6553397" cy="646331"/>
          </a:xfrm>
          <a:prstGeom prst="rect">
            <a:avLst/>
          </a:prstGeom>
          <a:noFill/>
        </p:spPr>
        <p:txBody>
          <a:bodyPr wrap="none" rtlCol="0">
            <a:spAutoFit/>
          </a:bodyPr>
          <a:lstStyle/>
          <a:p>
            <a:r>
              <a:rPr lang="zh-CN" altLang="en-US" dirty="0"/>
              <a:t>在参数估计时都是最大似然；</a:t>
            </a:r>
            <a:endParaRPr lang="en-US" altLang="zh-CN" dirty="0"/>
          </a:p>
          <a:p>
            <a:r>
              <a:rPr lang="zh-CN" altLang="en-US" dirty="0"/>
              <a:t>在进行概率值推断的时候，最大后验需要加上参数的先验分布</a:t>
            </a:r>
          </a:p>
        </p:txBody>
      </p:sp>
    </p:spTree>
    <p:extLst>
      <p:ext uri="{BB962C8B-B14F-4D97-AF65-F5344CB8AC3E}">
        <p14:creationId xmlns:p14="http://schemas.microsoft.com/office/powerpoint/2010/main" val="4196374784"/>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p:pic>
        <p:nvPicPr>
          <p:cNvPr id="4" name="图片 3">
            <a:extLst>
              <a:ext uri="{FF2B5EF4-FFF2-40B4-BE49-F238E27FC236}">
                <a16:creationId xmlns:a16="http://schemas.microsoft.com/office/drawing/2014/main" id="{EDB31FD7-915C-49A6-809D-32E9C4DD445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80061" y="1365421"/>
            <a:ext cx="6623222" cy="4207694"/>
          </a:xfrm>
          <a:prstGeom prst="rect">
            <a:avLst/>
          </a:prstGeom>
        </p:spPr>
      </p:pic>
      <p:sp>
        <p:nvSpPr>
          <p:cNvPr id="6" name="文本框 5">
            <a:extLst>
              <a:ext uri="{FF2B5EF4-FFF2-40B4-BE49-F238E27FC236}">
                <a16:creationId xmlns:a16="http://schemas.microsoft.com/office/drawing/2014/main" id="{553DF9CC-0E93-4970-B30B-2607014C0EA9}"/>
              </a:ext>
            </a:extLst>
          </p:cNvPr>
          <p:cNvSpPr txBox="1"/>
          <p:nvPr/>
        </p:nvSpPr>
        <p:spPr>
          <a:xfrm>
            <a:off x="1385927" y="1421009"/>
            <a:ext cx="1107996" cy="369332"/>
          </a:xfrm>
          <a:prstGeom prst="rect">
            <a:avLst/>
          </a:prstGeom>
          <a:noFill/>
        </p:spPr>
        <p:txBody>
          <a:bodyPr wrap="none" rtlCol="0">
            <a:spAutoFit/>
          </a:bodyPr>
          <a:lstStyle/>
          <a:p>
            <a:r>
              <a:rPr lang="zh-CN" altLang="en-US" dirty="0"/>
              <a:t>最大后验</a:t>
            </a:r>
          </a:p>
        </p:txBody>
      </p:sp>
      <p:sp>
        <p:nvSpPr>
          <p:cNvPr id="9" name="右大括号 8">
            <a:extLst>
              <a:ext uri="{FF2B5EF4-FFF2-40B4-BE49-F238E27FC236}">
                <a16:creationId xmlns:a16="http://schemas.microsoft.com/office/drawing/2014/main" id="{924428C6-3C3E-47F0-9B76-500F1F2FA52D}"/>
              </a:ext>
            </a:extLst>
          </p:cNvPr>
          <p:cNvSpPr/>
          <p:nvPr/>
        </p:nvSpPr>
        <p:spPr>
          <a:xfrm rot="5400000">
            <a:off x="4706378" y="4891732"/>
            <a:ext cx="339811" cy="1541506"/>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C6CAB4D-A3F9-456D-898A-02444B241FB4}"/>
              </a:ext>
            </a:extLst>
          </p:cNvPr>
          <p:cNvSpPr txBox="1"/>
          <p:nvPr/>
        </p:nvSpPr>
        <p:spPr>
          <a:xfrm>
            <a:off x="4386649" y="5832391"/>
            <a:ext cx="1148135" cy="369332"/>
          </a:xfrm>
          <a:prstGeom prst="rect">
            <a:avLst/>
          </a:prstGeom>
          <a:noFill/>
        </p:spPr>
        <p:txBody>
          <a:bodyPr wrap="none" rtlCol="0">
            <a:spAutoFit/>
          </a:bodyPr>
          <a:lstStyle/>
          <a:p>
            <a:r>
              <a:rPr lang="zh-CN" altLang="en-US" dirty="0"/>
              <a:t>最大似然</a:t>
            </a:r>
          </a:p>
        </p:txBody>
      </p:sp>
      <p:sp>
        <p:nvSpPr>
          <p:cNvPr id="17" name="右大括号 16">
            <a:extLst>
              <a:ext uri="{FF2B5EF4-FFF2-40B4-BE49-F238E27FC236}">
                <a16:creationId xmlns:a16="http://schemas.microsoft.com/office/drawing/2014/main" id="{100239E1-40D0-4862-A167-717D9A0A7E43}"/>
              </a:ext>
            </a:extLst>
          </p:cNvPr>
          <p:cNvSpPr/>
          <p:nvPr/>
        </p:nvSpPr>
        <p:spPr>
          <a:xfrm rot="5400000">
            <a:off x="6330263" y="5279940"/>
            <a:ext cx="339811" cy="765091"/>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85F81DEE-088A-41E6-B14B-ADC615D65D1B}"/>
              </a:ext>
            </a:extLst>
          </p:cNvPr>
          <p:cNvSpPr txBox="1"/>
          <p:nvPr/>
        </p:nvSpPr>
        <p:spPr>
          <a:xfrm>
            <a:off x="6013823" y="5829310"/>
            <a:ext cx="1107996" cy="369332"/>
          </a:xfrm>
          <a:prstGeom prst="rect">
            <a:avLst/>
          </a:prstGeom>
          <a:noFill/>
        </p:spPr>
        <p:txBody>
          <a:bodyPr wrap="none" rtlCol="0">
            <a:spAutoFit/>
          </a:bodyPr>
          <a:lstStyle/>
          <a:p>
            <a:r>
              <a:rPr lang="zh-CN" altLang="en-US" dirty="0"/>
              <a:t>先验分布</a:t>
            </a:r>
          </a:p>
        </p:txBody>
      </p:sp>
    </p:spTree>
    <p:extLst>
      <p:ext uri="{BB962C8B-B14F-4D97-AF65-F5344CB8AC3E}">
        <p14:creationId xmlns:p14="http://schemas.microsoft.com/office/powerpoint/2010/main" val="3414723005"/>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p:grpSp>
        <p:nvGrpSpPr>
          <p:cNvPr id="3" name="组合 2"/>
          <p:cNvGrpSpPr/>
          <p:nvPr/>
        </p:nvGrpSpPr>
        <p:grpSpPr>
          <a:xfrm>
            <a:off x="603250" y="1061085"/>
            <a:ext cx="7954010" cy="460375"/>
            <a:chOff x="814" y="3480"/>
            <a:chExt cx="12526" cy="725"/>
          </a:xfrm>
        </p:grpSpPr>
        <p:sp>
          <p:nvSpPr>
            <p:cNvPr id="5" name="椭圆 4"/>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sym typeface="+mn-ea"/>
                </a:rPr>
                <a:t>隐变量即变量是不可观测的</a:t>
              </a:r>
            </a:p>
          </p:txBody>
        </p:sp>
      </p:grpSp>
      <p:grpSp>
        <p:nvGrpSpPr>
          <p:cNvPr id="2" name="组合 1"/>
          <p:cNvGrpSpPr/>
          <p:nvPr/>
        </p:nvGrpSpPr>
        <p:grpSpPr>
          <a:xfrm>
            <a:off x="603250" y="2487899"/>
            <a:ext cx="7954010" cy="460375"/>
            <a:chOff x="814" y="3480"/>
            <a:chExt cx="12526" cy="725"/>
          </a:xfrm>
        </p:grpSpPr>
        <p:sp>
          <p:nvSpPr>
            <p:cNvPr id="4" name="椭圆 3"/>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最大似然法：当不存在隐变量</a:t>
              </a:r>
            </a:p>
          </p:txBody>
        </p:sp>
      </p:grpSp>
      <p:grpSp>
        <p:nvGrpSpPr>
          <p:cNvPr id="22" name="组合 21">
            <a:extLst>
              <a:ext uri="{FF2B5EF4-FFF2-40B4-BE49-F238E27FC236}">
                <a16:creationId xmlns:a16="http://schemas.microsoft.com/office/drawing/2014/main" id="{DE28CAEA-01AA-4BAF-A9CD-6A44F6EE22C0}"/>
              </a:ext>
            </a:extLst>
          </p:cNvPr>
          <p:cNvGrpSpPr/>
          <p:nvPr/>
        </p:nvGrpSpPr>
        <p:grpSpPr>
          <a:xfrm>
            <a:off x="2802759" y="1862142"/>
            <a:ext cx="1848462" cy="343509"/>
            <a:chOff x="3107550" y="4541748"/>
            <a:chExt cx="2958363" cy="512806"/>
          </a:xfrm>
        </p:grpSpPr>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88FF3162-8286-4213-B568-B1214FC9F95C}"/>
                    </a:ext>
                  </a:extLst>
                </p:cNvPr>
                <p:cNvSpPr/>
                <p:nvPr/>
              </p:nvSpPr>
              <p:spPr>
                <a:xfrm>
                  <a:off x="3107550" y="4541749"/>
                  <a:ext cx="537519" cy="51280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𝜃</m:t>
                        </m:r>
                      </m:oMath>
                    </m:oMathPara>
                  </a14:m>
                  <a:endParaRPr lang="zh-CN" altLang="en-US" dirty="0"/>
                </a:p>
              </p:txBody>
            </p:sp>
          </mc:Choice>
          <mc:Fallback xmlns="">
            <p:sp>
              <p:nvSpPr>
                <p:cNvPr id="25" name="椭圆 24">
                  <a:extLst>
                    <a:ext uri="{FF2B5EF4-FFF2-40B4-BE49-F238E27FC236}">
                      <a16:creationId xmlns:a16="http://schemas.microsoft.com/office/drawing/2014/main" id="{88FF3162-8286-4213-B568-B1214FC9F95C}"/>
                    </a:ext>
                  </a:extLst>
                </p:cNvPr>
                <p:cNvSpPr>
                  <a:spLocks noRot="1" noChangeAspect="1" noMove="1" noResize="1" noEditPoints="1" noAdjustHandles="1" noChangeArrowheads="1" noChangeShapeType="1" noTextEdit="1"/>
                </p:cNvSpPr>
                <p:nvPr/>
              </p:nvSpPr>
              <p:spPr>
                <a:xfrm>
                  <a:off x="3107550" y="4541749"/>
                  <a:ext cx="537519" cy="512805"/>
                </a:xfrm>
                <a:prstGeom prst="ellipse">
                  <a:avLst/>
                </a:prstGeom>
                <a:blipFill>
                  <a:blip r:embed="rId5"/>
                  <a:stretch>
                    <a:fillRect/>
                  </a:stretch>
                </a:blipFill>
              </p:spPr>
              <p:txBody>
                <a:bodyPr/>
                <a:lstStyle/>
                <a:p>
                  <a:r>
                    <a:rPr lang="zh-CN" altLang="en-US">
                      <a:noFill/>
                    </a:rPr>
                    <a:t> </a:t>
                  </a:r>
                </a:p>
              </p:txBody>
            </p:sp>
          </mc:Fallback>
        </mc:AlternateContent>
        <p:sp>
          <p:nvSpPr>
            <p:cNvPr id="26" name="椭圆 25">
              <a:extLst>
                <a:ext uri="{FF2B5EF4-FFF2-40B4-BE49-F238E27FC236}">
                  <a16:creationId xmlns:a16="http://schemas.microsoft.com/office/drawing/2014/main" id="{749F2118-74B7-478C-BD06-39BF25D642D6}"/>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7" name="直接箭头连接符 26">
              <a:extLst>
                <a:ext uri="{FF2B5EF4-FFF2-40B4-BE49-F238E27FC236}">
                  <a16:creationId xmlns:a16="http://schemas.microsoft.com/office/drawing/2014/main" id="{075F5A95-F582-4CFF-AEED-A7DD1D95EBA3}"/>
                </a:ext>
              </a:extLst>
            </p:cNvPr>
            <p:cNvCxnSpPr>
              <a:cxnSpLocks/>
              <a:stCxn id="25" idx="6"/>
              <a:endCxn id="28"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椭圆 27">
              <a:extLst>
                <a:ext uri="{FF2B5EF4-FFF2-40B4-BE49-F238E27FC236}">
                  <a16:creationId xmlns:a16="http://schemas.microsoft.com/office/drawing/2014/main" id="{C505BF51-71D5-4663-BDD3-DAF3817E07FE}"/>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9" name="直接箭头连接符 28">
              <a:extLst>
                <a:ext uri="{FF2B5EF4-FFF2-40B4-BE49-F238E27FC236}">
                  <a16:creationId xmlns:a16="http://schemas.microsoft.com/office/drawing/2014/main" id="{717448C7-DC9D-4A01-B042-68AFE0DDF9AC}"/>
                </a:ext>
              </a:extLst>
            </p:cNvPr>
            <p:cNvCxnSpPr>
              <a:cxnSpLocks/>
              <a:stCxn id="28" idx="6"/>
              <a:endCxn id="26"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204988D-6319-4CF8-A7A7-C450D40A4BEC}"/>
                  </a:ext>
                </a:extLst>
              </p:cNvPr>
              <p:cNvSpPr txBox="1"/>
              <p:nvPr/>
            </p:nvSpPr>
            <p:spPr>
              <a:xfrm>
                <a:off x="5140155" y="1891567"/>
                <a:ext cx="2976584" cy="369332"/>
              </a:xfrm>
              <a:prstGeom prst="rect">
                <a:avLst/>
              </a:prstGeom>
              <a:noFill/>
            </p:spPr>
            <p:txBody>
              <a:bodyPr wrap="none" rtlCol="0">
                <a:spAutoFit/>
              </a:bodyPr>
              <a:lstStyle/>
              <a:p>
                <a:r>
                  <a:rPr lang="zh-CN" altLang="en-US" i="1" dirty="0"/>
                  <a:t>假设参数</a:t>
                </a:r>
                <a14:m>
                  <m:oMath xmlns:m="http://schemas.openxmlformats.org/officeDocument/2006/math">
                    <m:r>
                      <a:rPr lang="en-US" altLang="zh-CN" b="0" i="1" smtClean="0">
                        <a:latin typeface="Cambria Math" panose="02040503050406030204" pitchFamily="18" charset="0"/>
                      </a:rPr>
                      <m:t>𝑧</m:t>
                    </m:r>
                  </m:oMath>
                </a14:m>
                <a:r>
                  <a:rPr lang="zh-CN" altLang="en-US" i="1" dirty="0"/>
                  <a:t>的分布的参数是</a:t>
                </a:r>
                <a14:m>
                  <m:oMath xmlns:m="http://schemas.openxmlformats.org/officeDocument/2006/math">
                    <m:r>
                      <a:rPr lang="en-US" altLang="zh-CN" b="0" i="1" smtClean="0">
                        <a:latin typeface="Cambria Math" panose="02040503050406030204" pitchFamily="18" charset="0"/>
                      </a:rPr>
                      <m:t>𝜃</m:t>
                    </m:r>
                  </m:oMath>
                </a14:m>
                <a:endParaRPr lang="zh-CN" altLang="en-US" i="1" dirty="0"/>
              </a:p>
            </p:txBody>
          </p:sp>
        </mc:Choice>
        <mc:Fallback xmlns="">
          <p:sp>
            <p:nvSpPr>
              <p:cNvPr id="11" name="文本框 10">
                <a:extLst>
                  <a:ext uri="{FF2B5EF4-FFF2-40B4-BE49-F238E27FC236}">
                    <a16:creationId xmlns:a16="http://schemas.microsoft.com/office/drawing/2014/main" id="{D204988D-6319-4CF8-A7A7-C450D40A4BEC}"/>
                  </a:ext>
                </a:extLst>
              </p:cNvPr>
              <p:cNvSpPr txBox="1">
                <a:spLocks noRot="1" noChangeAspect="1" noMove="1" noResize="1" noEditPoints="1" noAdjustHandles="1" noChangeArrowheads="1" noChangeShapeType="1" noTextEdit="1"/>
              </p:cNvSpPr>
              <p:nvPr/>
            </p:nvSpPr>
            <p:spPr>
              <a:xfrm>
                <a:off x="5140155" y="1891567"/>
                <a:ext cx="2976584" cy="369332"/>
              </a:xfrm>
              <a:prstGeom prst="rect">
                <a:avLst/>
              </a:prstGeom>
              <a:blipFill>
                <a:blip r:embed="rId6"/>
                <a:stretch>
                  <a:fillRect l="-1639" t="-13115" b="-1967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F2DBFCE-9776-42D5-8B5D-7315765E9BFD}"/>
              </a:ext>
            </a:extLst>
          </p:cNvPr>
          <p:cNvPicPr>
            <a:picLocks noChangeAspect="1"/>
          </p:cNvPicPr>
          <p:nvPr/>
        </p:nvPicPr>
        <p:blipFill rotWithShape="1">
          <a:blip r:embed="rId7">
            <a:clrChange>
              <a:clrFrom>
                <a:srgbClr val="FFFFFF"/>
              </a:clrFrom>
              <a:clrTo>
                <a:srgbClr val="FFFFFF">
                  <a:alpha val="0"/>
                </a:srgbClr>
              </a:clrTo>
            </a:clrChange>
          </a:blip>
          <a:srcRect l="4480" t="16656" r="10270" b="3616"/>
          <a:stretch/>
        </p:blipFill>
        <p:spPr>
          <a:xfrm>
            <a:off x="183713" y="3595123"/>
            <a:ext cx="7061902" cy="2530255"/>
          </a:xfrm>
          <a:prstGeom prst="rect">
            <a:avLst/>
          </a:prstGeom>
        </p:spPr>
      </p:pic>
      <p:sp>
        <p:nvSpPr>
          <p:cNvPr id="8" name="文本框 7">
            <a:extLst>
              <a:ext uri="{FF2B5EF4-FFF2-40B4-BE49-F238E27FC236}">
                <a16:creationId xmlns:a16="http://schemas.microsoft.com/office/drawing/2014/main" id="{ADE3A87F-4391-4ADF-95DD-86B40481E4C4}"/>
              </a:ext>
            </a:extLst>
          </p:cNvPr>
          <p:cNvSpPr txBox="1"/>
          <p:nvPr/>
        </p:nvSpPr>
        <p:spPr>
          <a:xfrm>
            <a:off x="762000" y="3114142"/>
            <a:ext cx="2781531" cy="369332"/>
          </a:xfrm>
          <a:prstGeom prst="rect">
            <a:avLst/>
          </a:prstGeom>
          <a:noFill/>
        </p:spPr>
        <p:txBody>
          <a:bodyPr wrap="none" rtlCol="0">
            <a:spAutoFit/>
          </a:bodyPr>
          <a:lstStyle/>
          <a:p>
            <a:pPr marL="285750" indent="-285750">
              <a:buFont typeface="Wingdings" pitchFamily="2" charset="2"/>
              <a:buChar char="Ø"/>
            </a:pPr>
            <a:r>
              <a:rPr lang="zh-CN" altLang="en-US" dirty="0"/>
              <a:t>直接利用求导为零求解</a:t>
            </a:r>
          </a:p>
        </p:txBody>
      </p:sp>
    </p:spTree>
    <p:extLst>
      <p:ext uri="{BB962C8B-B14F-4D97-AF65-F5344CB8AC3E}">
        <p14:creationId xmlns:p14="http://schemas.microsoft.com/office/powerpoint/2010/main" val="305201396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13AD2122-D66A-9813-7ED0-8EF130F48D17}"/>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B9A86449-1D79-1A49-53C4-D64C325DB99E}"/>
              </a:ext>
            </a:extLst>
          </p:cNvPr>
          <p:cNvGrpSpPr/>
          <p:nvPr/>
        </p:nvGrpSpPr>
        <p:grpSpPr>
          <a:xfrm>
            <a:off x="-4445" y="340995"/>
            <a:ext cx="8925560" cy="583565"/>
            <a:chOff x="-9" y="380"/>
            <a:chExt cx="14056" cy="919"/>
          </a:xfrm>
        </p:grpSpPr>
        <p:sp>
          <p:nvSpPr>
            <p:cNvPr id="34" name="矩形 33">
              <a:extLst>
                <a:ext uri="{FF2B5EF4-FFF2-40B4-BE49-F238E27FC236}">
                  <a16:creationId xmlns:a16="http://schemas.microsoft.com/office/drawing/2014/main" id="{939502A1-DBFB-DB04-B228-195C0B7F10A9}"/>
                </a:ext>
              </a:extLst>
            </p:cNvPr>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FA5C1F91-38B9-5B0C-530E-8D8C0D1C33DE}"/>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3E8AD9D5-1359-74A5-96A5-1E629416C811}"/>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401D9DE5-DC0F-7A8C-DF63-82D2B601B67A}"/>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B4E0451C-F518-6372-FE27-113EC9A3BD3E}"/>
                </a:ext>
              </a:extLst>
            </p:cNvPr>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p:grpSp>
        <p:nvGrpSpPr>
          <p:cNvPr id="3" name="组合 2">
            <a:extLst>
              <a:ext uri="{FF2B5EF4-FFF2-40B4-BE49-F238E27FC236}">
                <a16:creationId xmlns:a16="http://schemas.microsoft.com/office/drawing/2014/main" id="{9EDAA9CD-7B8D-0C11-D7FE-4BD354680DF9}"/>
              </a:ext>
            </a:extLst>
          </p:cNvPr>
          <p:cNvGrpSpPr/>
          <p:nvPr/>
        </p:nvGrpSpPr>
        <p:grpSpPr>
          <a:xfrm>
            <a:off x="603250" y="1061085"/>
            <a:ext cx="7954010" cy="460375"/>
            <a:chOff x="814" y="3480"/>
            <a:chExt cx="12526" cy="725"/>
          </a:xfrm>
        </p:grpSpPr>
        <p:sp>
          <p:nvSpPr>
            <p:cNvPr id="5" name="椭圆 4">
              <a:extLst>
                <a:ext uri="{FF2B5EF4-FFF2-40B4-BE49-F238E27FC236}">
                  <a16:creationId xmlns:a16="http://schemas.microsoft.com/office/drawing/2014/main" id="{3AC6EE98-1A77-FFF7-1115-B791F57D491D}"/>
                </a:ext>
              </a:extLst>
            </p:cNvPr>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941B27AC-1130-4D82-C7B6-545B0DC2D330}"/>
                </a:ext>
              </a:extLst>
            </p:cNvPr>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sym typeface="+mn-ea"/>
                </a:rPr>
                <a:t>隐变量即变量是不可观测的</a:t>
              </a:r>
            </a:p>
          </p:txBody>
        </p:sp>
      </p:grpSp>
      <p:grpSp>
        <p:nvGrpSpPr>
          <p:cNvPr id="22" name="组合 21">
            <a:extLst>
              <a:ext uri="{FF2B5EF4-FFF2-40B4-BE49-F238E27FC236}">
                <a16:creationId xmlns:a16="http://schemas.microsoft.com/office/drawing/2014/main" id="{7D66FC26-C27F-E6E3-ABA9-C83DBD79DE1C}"/>
              </a:ext>
            </a:extLst>
          </p:cNvPr>
          <p:cNvGrpSpPr/>
          <p:nvPr/>
        </p:nvGrpSpPr>
        <p:grpSpPr>
          <a:xfrm>
            <a:off x="2802759" y="1862142"/>
            <a:ext cx="1848462" cy="343509"/>
            <a:chOff x="3107550" y="4541748"/>
            <a:chExt cx="2958363" cy="512806"/>
          </a:xfrm>
        </p:grpSpPr>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D6EE4016-56B7-7951-5279-4BA52FCF2E3E}"/>
                    </a:ext>
                  </a:extLst>
                </p:cNvPr>
                <p:cNvSpPr/>
                <p:nvPr/>
              </p:nvSpPr>
              <p:spPr>
                <a:xfrm>
                  <a:off x="3107550" y="4541749"/>
                  <a:ext cx="537519" cy="51280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𝜃</m:t>
                        </m:r>
                      </m:oMath>
                    </m:oMathPara>
                  </a14:m>
                  <a:endParaRPr lang="zh-CN" altLang="en-US" dirty="0"/>
                </a:p>
              </p:txBody>
            </p:sp>
          </mc:Choice>
          <mc:Fallback xmlns="">
            <p:sp>
              <p:nvSpPr>
                <p:cNvPr id="25" name="椭圆 24">
                  <a:extLst>
                    <a:ext uri="{FF2B5EF4-FFF2-40B4-BE49-F238E27FC236}">
                      <a16:creationId xmlns:a16="http://schemas.microsoft.com/office/drawing/2014/main" id="{D6EE4016-56B7-7951-5279-4BA52FCF2E3E}"/>
                    </a:ext>
                  </a:extLst>
                </p:cNvPr>
                <p:cNvSpPr>
                  <a:spLocks noRot="1" noChangeAspect="1" noMove="1" noResize="1" noEditPoints="1" noAdjustHandles="1" noChangeArrowheads="1" noChangeShapeType="1" noTextEdit="1"/>
                </p:cNvSpPr>
                <p:nvPr/>
              </p:nvSpPr>
              <p:spPr>
                <a:xfrm>
                  <a:off x="3107550" y="4541749"/>
                  <a:ext cx="537519" cy="512805"/>
                </a:xfrm>
                <a:prstGeom prst="ellipse">
                  <a:avLst/>
                </a:prstGeom>
                <a:blipFill>
                  <a:blip r:embed="rId5"/>
                  <a:stretch>
                    <a:fillRect/>
                  </a:stretch>
                </a:blipFill>
              </p:spPr>
              <p:txBody>
                <a:bodyPr/>
                <a:lstStyle/>
                <a:p>
                  <a:r>
                    <a:rPr lang="zh-CN" altLang="en-US">
                      <a:noFill/>
                    </a:rPr>
                    <a:t> </a:t>
                  </a:r>
                </a:p>
              </p:txBody>
            </p:sp>
          </mc:Fallback>
        </mc:AlternateContent>
        <p:sp>
          <p:nvSpPr>
            <p:cNvPr id="26" name="椭圆 25">
              <a:extLst>
                <a:ext uri="{FF2B5EF4-FFF2-40B4-BE49-F238E27FC236}">
                  <a16:creationId xmlns:a16="http://schemas.microsoft.com/office/drawing/2014/main" id="{E59FEFDB-B544-E35A-0FDE-1262BA080988}"/>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7" name="直接箭头连接符 26">
              <a:extLst>
                <a:ext uri="{FF2B5EF4-FFF2-40B4-BE49-F238E27FC236}">
                  <a16:creationId xmlns:a16="http://schemas.microsoft.com/office/drawing/2014/main" id="{50DAFC3C-755F-0358-CBDC-E7B6CBA8F29A}"/>
                </a:ext>
              </a:extLst>
            </p:cNvPr>
            <p:cNvCxnSpPr>
              <a:cxnSpLocks/>
              <a:stCxn id="25" idx="6"/>
              <a:endCxn id="28"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椭圆 27">
              <a:extLst>
                <a:ext uri="{FF2B5EF4-FFF2-40B4-BE49-F238E27FC236}">
                  <a16:creationId xmlns:a16="http://schemas.microsoft.com/office/drawing/2014/main" id="{282C1083-D38A-F186-13D0-A07EBA799C63}"/>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9" name="直接箭头连接符 28">
              <a:extLst>
                <a:ext uri="{FF2B5EF4-FFF2-40B4-BE49-F238E27FC236}">
                  <a16:creationId xmlns:a16="http://schemas.microsoft.com/office/drawing/2014/main" id="{873FD334-E8EC-209E-DDA3-EFBC2B7AF528}"/>
                </a:ext>
              </a:extLst>
            </p:cNvPr>
            <p:cNvCxnSpPr>
              <a:cxnSpLocks/>
              <a:stCxn id="28" idx="6"/>
              <a:endCxn id="26"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EF24323-40E7-DBE7-2E44-014530A0761E}"/>
                  </a:ext>
                </a:extLst>
              </p:cNvPr>
              <p:cNvSpPr txBox="1"/>
              <p:nvPr/>
            </p:nvSpPr>
            <p:spPr>
              <a:xfrm>
                <a:off x="5140155" y="1891567"/>
                <a:ext cx="2976584" cy="369332"/>
              </a:xfrm>
              <a:prstGeom prst="rect">
                <a:avLst/>
              </a:prstGeom>
              <a:noFill/>
            </p:spPr>
            <p:txBody>
              <a:bodyPr wrap="none" rtlCol="0">
                <a:spAutoFit/>
              </a:bodyPr>
              <a:lstStyle/>
              <a:p>
                <a:r>
                  <a:rPr lang="zh-CN" altLang="en-US" i="1" dirty="0"/>
                  <a:t>假设参数</a:t>
                </a:r>
                <a14:m>
                  <m:oMath xmlns:m="http://schemas.openxmlformats.org/officeDocument/2006/math">
                    <m:r>
                      <a:rPr lang="en-US" altLang="zh-CN" b="0" i="1" smtClean="0">
                        <a:latin typeface="Cambria Math" panose="02040503050406030204" pitchFamily="18" charset="0"/>
                      </a:rPr>
                      <m:t>𝑧</m:t>
                    </m:r>
                  </m:oMath>
                </a14:m>
                <a:r>
                  <a:rPr lang="zh-CN" altLang="en-US" i="1" dirty="0"/>
                  <a:t>的分布的参数是</a:t>
                </a:r>
                <a14:m>
                  <m:oMath xmlns:m="http://schemas.openxmlformats.org/officeDocument/2006/math">
                    <m:r>
                      <a:rPr lang="en-US" altLang="zh-CN" b="0" i="1" smtClean="0">
                        <a:latin typeface="Cambria Math" panose="02040503050406030204" pitchFamily="18" charset="0"/>
                      </a:rPr>
                      <m:t>𝜃</m:t>
                    </m:r>
                  </m:oMath>
                </a14:m>
                <a:endParaRPr lang="zh-CN" altLang="en-US" i="1" dirty="0"/>
              </a:p>
            </p:txBody>
          </p:sp>
        </mc:Choice>
        <mc:Fallback xmlns="">
          <p:sp>
            <p:nvSpPr>
              <p:cNvPr id="11" name="文本框 10">
                <a:extLst>
                  <a:ext uri="{FF2B5EF4-FFF2-40B4-BE49-F238E27FC236}">
                    <a16:creationId xmlns:a16="http://schemas.microsoft.com/office/drawing/2014/main" id="{DEF24323-40E7-DBE7-2E44-014530A0761E}"/>
                  </a:ext>
                </a:extLst>
              </p:cNvPr>
              <p:cNvSpPr txBox="1">
                <a:spLocks noRot="1" noChangeAspect="1" noMove="1" noResize="1" noEditPoints="1" noAdjustHandles="1" noChangeArrowheads="1" noChangeShapeType="1" noTextEdit="1"/>
              </p:cNvSpPr>
              <p:nvPr/>
            </p:nvSpPr>
            <p:spPr>
              <a:xfrm>
                <a:off x="5140155" y="1891567"/>
                <a:ext cx="2976584" cy="369332"/>
              </a:xfrm>
              <a:prstGeom prst="rect">
                <a:avLst/>
              </a:prstGeom>
              <a:blipFill>
                <a:blip r:embed="rId6"/>
                <a:stretch>
                  <a:fillRect l="-1702" t="-12903" b="-16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0B58EB2-F9B8-E861-27B6-30786CA7D713}"/>
                  </a:ext>
                </a:extLst>
              </p:cNvPr>
              <p:cNvSpPr txBox="1"/>
              <p:nvPr/>
            </p:nvSpPr>
            <p:spPr>
              <a:xfrm>
                <a:off x="603250" y="2432002"/>
                <a:ext cx="7889083" cy="1200329"/>
              </a:xfrm>
              <a:prstGeom prst="rect">
                <a:avLst/>
              </a:prstGeom>
              <a:noFill/>
            </p:spPr>
            <p:txBody>
              <a:bodyPr wrap="square">
                <a:spAutoFit/>
              </a:bodyPr>
              <a:lstStyle/>
              <a:p>
                <a:r>
                  <a:rPr lang="zh-CN" altLang="en-US" b="0" i="0" dirty="0">
                    <a:solidFill>
                      <a:srgbClr val="191B1F"/>
                    </a:solidFill>
                    <a:effectLst/>
                    <a:latin typeface="-apple-system"/>
                  </a:rPr>
                  <a:t>现在有两个硬币</a:t>
                </a:r>
                <a:r>
                  <a:rPr lang="en" altLang="zh-CN" b="0" i="0" dirty="0">
                    <a:solidFill>
                      <a:srgbClr val="191B1F"/>
                    </a:solidFill>
                    <a:effectLst/>
                    <a:latin typeface="-apple-system"/>
                  </a:rPr>
                  <a:t>A</a:t>
                </a:r>
                <a:r>
                  <a:rPr lang="zh-CN" altLang="en-US" b="0" i="0" dirty="0">
                    <a:solidFill>
                      <a:srgbClr val="191B1F"/>
                    </a:solidFill>
                    <a:effectLst/>
                    <a:latin typeface="-apple-system"/>
                  </a:rPr>
                  <a:t>和</a:t>
                </a:r>
                <a:r>
                  <a:rPr lang="en" altLang="zh-CN" b="0" i="0" dirty="0">
                    <a:solidFill>
                      <a:srgbClr val="191B1F"/>
                    </a:solidFill>
                    <a:effectLst/>
                    <a:latin typeface="-apple-system"/>
                  </a:rPr>
                  <a:t>B</a:t>
                </a:r>
                <a:r>
                  <a:rPr lang="zh-CN" altLang="en" b="0" i="0" dirty="0">
                    <a:solidFill>
                      <a:srgbClr val="191B1F"/>
                    </a:solidFill>
                    <a:effectLst/>
                    <a:latin typeface="-apple-system"/>
                  </a:rPr>
                  <a:t>，</a:t>
                </a:r>
                <a:r>
                  <a:rPr lang="zh-CN" altLang="en-US" b="0" i="0" dirty="0">
                    <a:solidFill>
                      <a:srgbClr val="191B1F"/>
                    </a:solidFill>
                    <a:effectLst/>
                    <a:latin typeface="-apple-system"/>
                  </a:rPr>
                  <a:t>这两个硬币投掷朝上朝下的概率都是有偏的，并且两个硬币没有明显的标识。现在要做</a:t>
                </a:r>
                <a:r>
                  <a:rPr lang="en-US" altLang="zh-CN" b="0" i="0" dirty="0">
                    <a:solidFill>
                      <a:srgbClr val="191B1F"/>
                    </a:solidFill>
                    <a:effectLst/>
                    <a:latin typeface="-apple-system"/>
                  </a:rPr>
                  <a:t>5</a:t>
                </a:r>
                <a:r>
                  <a:rPr lang="zh-CN" altLang="en-US" b="0" i="0" dirty="0">
                    <a:solidFill>
                      <a:srgbClr val="191B1F"/>
                    </a:solidFill>
                    <a:effectLst/>
                    <a:latin typeface="-apple-system"/>
                  </a:rPr>
                  <a:t>组实验，每次实验从两个硬币中随机抽取一个，然后连续抛</a:t>
                </a:r>
                <a:r>
                  <a:rPr lang="en-US" altLang="zh-CN" b="0" i="0" dirty="0">
                    <a:solidFill>
                      <a:srgbClr val="191B1F"/>
                    </a:solidFill>
                    <a:effectLst/>
                    <a:latin typeface="-apple-system"/>
                  </a:rPr>
                  <a:t>10</a:t>
                </a:r>
                <a:r>
                  <a:rPr lang="zh-CN" altLang="en-US" b="0" i="0" dirty="0">
                    <a:solidFill>
                      <a:srgbClr val="191B1F"/>
                    </a:solidFill>
                    <a:effectLst/>
                    <a:latin typeface="-apple-system"/>
                  </a:rPr>
                  <a:t>次。设参数 </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l-GR" altLang="zh-CN" i="1" dirty="0">
                            <a:solidFill>
                              <a:srgbClr val="191B1F"/>
                            </a:solidFill>
                            <a:latin typeface="Cambria Math" panose="02040503050406030204" pitchFamily="18" charset="0"/>
                          </a:rPr>
                          <m:t>𝜃</m:t>
                        </m:r>
                      </m:e>
                      <m:sub>
                        <m:r>
                          <a:rPr lang="en-US" altLang="zh-CN" b="0" i="1" dirty="0" smtClean="0">
                            <a:solidFill>
                              <a:srgbClr val="191B1F"/>
                            </a:solidFill>
                            <a:latin typeface="Cambria Math" panose="02040503050406030204" pitchFamily="18" charset="0"/>
                          </a:rPr>
                          <m:t>𝐴</m:t>
                        </m:r>
                        <m:r>
                          <a:rPr lang="en-US" altLang="zh-CN" b="0" i="1" dirty="0" smtClean="0">
                            <a:solidFill>
                              <a:srgbClr val="191B1F"/>
                            </a:solidFill>
                            <a:latin typeface="Cambria Math" panose="02040503050406030204" pitchFamily="18" charset="0"/>
                          </a:rPr>
                          <m:t> </m:t>
                        </m:r>
                      </m:sub>
                    </m:sSub>
                    <m:r>
                      <a:rPr lang="en" altLang="zh-CN" i="1" dirty="0">
                        <a:solidFill>
                          <a:srgbClr val="191B1F"/>
                        </a:solidFill>
                        <a:latin typeface="Cambria Math" panose="02040503050406030204" pitchFamily="18" charset="0"/>
                      </a:rPr>
                      <m:t> </m:t>
                    </m:r>
                  </m:oMath>
                </a14:m>
                <a:r>
                  <a:rPr lang="zh-CN" altLang="en" b="0" i="0" dirty="0">
                    <a:solidFill>
                      <a:srgbClr val="191B1F"/>
                    </a:solidFill>
                    <a:effectLst/>
                    <a:latin typeface="-apple-system"/>
                  </a:rPr>
                  <a:t>、 </a:t>
                </a:r>
                <a14:m>
                  <m:oMath xmlns:m="http://schemas.openxmlformats.org/officeDocument/2006/math">
                    <m:sSub>
                      <m:sSubPr>
                        <m:ctrlPr>
                          <a:rPr lang="en-US" altLang="zh-CN" b="0" i="1" dirty="0" smtClean="0">
                            <a:solidFill>
                              <a:srgbClr val="191B1F"/>
                            </a:solidFill>
                            <a:effectLst/>
                            <a:latin typeface="Cambria Math" panose="02040503050406030204" pitchFamily="18" charset="0"/>
                          </a:rPr>
                        </m:ctrlPr>
                      </m:sSubPr>
                      <m:e>
                        <m:r>
                          <a:rPr lang="el-GR" altLang="zh-CN" b="0" i="1" dirty="0" smtClean="0">
                            <a:solidFill>
                              <a:srgbClr val="191B1F"/>
                            </a:solidFill>
                            <a:effectLst/>
                            <a:latin typeface="Cambria Math" panose="02040503050406030204" pitchFamily="18" charset="0"/>
                          </a:rPr>
                          <m:t>𝜃</m:t>
                        </m:r>
                      </m:e>
                      <m:sub>
                        <m:r>
                          <a:rPr lang="en-US" altLang="zh-CN" b="0" i="1" dirty="0" smtClean="0">
                            <a:solidFill>
                              <a:srgbClr val="191B1F"/>
                            </a:solidFill>
                            <a:effectLst/>
                            <a:latin typeface="Cambria Math" panose="02040503050406030204" pitchFamily="18" charset="0"/>
                          </a:rPr>
                          <m:t>𝐵</m:t>
                        </m:r>
                      </m:sub>
                    </m:sSub>
                    <m:r>
                      <a:rPr lang="en" altLang="zh-CN" b="0" i="1" dirty="0">
                        <a:solidFill>
                          <a:srgbClr val="191B1F"/>
                        </a:solidFill>
                        <a:effectLst/>
                        <a:latin typeface="Cambria Math" panose="02040503050406030204" pitchFamily="18" charset="0"/>
                      </a:rPr>
                      <m:t> </m:t>
                    </m:r>
                  </m:oMath>
                </a14:m>
                <a:r>
                  <a:rPr lang="zh-CN" altLang="en-US" b="0" i="0" dirty="0">
                    <a:solidFill>
                      <a:srgbClr val="191B1F"/>
                    </a:solidFill>
                    <a:effectLst/>
                    <a:latin typeface="-apple-system"/>
                  </a:rPr>
                  <a:t>分别为硬币</a:t>
                </a:r>
                <a:r>
                  <a:rPr lang="en" altLang="zh-CN" b="0" i="0" dirty="0">
                    <a:solidFill>
                      <a:srgbClr val="191B1F"/>
                    </a:solidFill>
                    <a:effectLst/>
                    <a:latin typeface="-apple-system"/>
                  </a:rPr>
                  <a:t>A</a:t>
                </a:r>
                <a:r>
                  <a:rPr lang="zh-CN" altLang="en" b="0" i="0" dirty="0">
                    <a:solidFill>
                      <a:srgbClr val="191B1F"/>
                    </a:solidFill>
                    <a:effectLst/>
                    <a:latin typeface="-apple-system"/>
                  </a:rPr>
                  <a:t>、</a:t>
                </a:r>
                <a:r>
                  <a:rPr lang="en" altLang="zh-CN" b="0" i="0" dirty="0">
                    <a:solidFill>
                      <a:srgbClr val="191B1F"/>
                    </a:solidFill>
                    <a:effectLst/>
                    <a:latin typeface="-apple-system"/>
                  </a:rPr>
                  <a:t>B</a:t>
                </a:r>
                <a:r>
                  <a:rPr lang="zh-CN" altLang="en-US" b="0" i="0" dirty="0">
                    <a:solidFill>
                      <a:srgbClr val="191B1F"/>
                    </a:solidFill>
                    <a:effectLst/>
                    <a:latin typeface="-apple-system"/>
                  </a:rPr>
                  <a:t>正面朝上的概率</a:t>
                </a:r>
                <a:r>
                  <a:rPr lang="zh-CN" altLang="en-US" dirty="0">
                    <a:solidFill>
                      <a:srgbClr val="191B1F"/>
                    </a:solidFill>
                    <a:latin typeface="-apple-system"/>
                  </a:rPr>
                  <a:t>，求解</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l-GR" altLang="zh-CN" i="1" dirty="0">
                            <a:solidFill>
                              <a:srgbClr val="191B1F"/>
                            </a:solidFill>
                            <a:latin typeface="Cambria Math" panose="02040503050406030204" pitchFamily="18" charset="0"/>
                          </a:rPr>
                          <m:t>𝜃</m:t>
                        </m:r>
                      </m:e>
                      <m:sub>
                        <m:r>
                          <a:rPr lang="en-US" altLang="zh-CN" i="1" dirty="0">
                            <a:solidFill>
                              <a:srgbClr val="191B1F"/>
                            </a:solidFill>
                            <a:latin typeface="Cambria Math" panose="02040503050406030204" pitchFamily="18" charset="0"/>
                          </a:rPr>
                          <m:t>𝐴</m:t>
                        </m:r>
                        <m:r>
                          <a:rPr lang="en-US" altLang="zh-CN" i="1" dirty="0">
                            <a:solidFill>
                              <a:srgbClr val="191B1F"/>
                            </a:solidFill>
                            <a:latin typeface="Cambria Math" panose="02040503050406030204" pitchFamily="18" charset="0"/>
                          </a:rPr>
                          <m:t> </m:t>
                        </m:r>
                      </m:sub>
                    </m:sSub>
                    <m:r>
                      <a:rPr lang="en" altLang="zh-CN" i="1" dirty="0">
                        <a:solidFill>
                          <a:srgbClr val="191B1F"/>
                        </a:solidFill>
                        <a:latin typeface="Cambria Math" panose="02040503050406030204" pitchFamily="18" charset="0"/>
                      </a:rPr>
                      <m:t> </m:t>
                    </m:r>
                  </m:oMath>
                </a14:m>
                <a:r>
                  <a:rPr lang="zh-CN" altLang="en-US" dirty="0">
                    <a:solidFill>
                      <a:srgbClr val="191B1F"/>
                    </a:solidFill>
                    <a:latin typeface="-apple-system"/>
                  </a:rPr>
                  <a:t>和</a:t>
                </a:r>
                <a:r>
                  <a:rPr lang="zh-CN" altLang="en" dirty="0">
                    <a:solidFill>
                      <a:srgbClr val="191B1F"/>
                    </a:solidFill>
                    <a:latin typeface="-apple-system"/>
                  </a:rPr>
                  <a:t> </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l-GR" altLang="zh-CN" i="1" dirty="0">
                            <a:solidFill>
                              <a:srgbClr val="191B1F"/>
                            </a:solidFill>
                            <a:latin typeface="Cambria Math" panose="02040503050406030204" pitchFamily="18" charset="0"/>
                          </a:rPr>
                          <m:t>𝜃</m:t>
                        </m:r>
                      </m:e>
                      <m:sub>
                        <m:r>
                          <a:rPr lang="en-US" altLang="zh-CN" i="1" dirty="0">
                            <a:solidFill>
                              <a:srgbClr val="191B1F"/>
                            </a:solidFill>
                            <a:latin typeface="Cambria Math" panose="02040503050406030204" pitchFamily="18" charset="0"/>
                          </a:rPr>
                          <m:t>𝐵</m:t>
                        </m:r>
                      </m:sub>
                    </m:sSub>
                    <m:r>
                      <a:rPr lang="en" altLang="zh-CN" i="1" dirty="0">
                        <a:solidFill>
                          <a:srgbClr val="191B1F"/>
                        </a:solidFill>
                        <a:latin typeface="Cambria Math" panose="02040503050406030204" pitchFamily="18" charset="0"/>
                      </a:rPr>
                      <m:t> </m:t>
                    </m:r>
                  </m:oMath>
                </a14:m>
                <a:endParaRPr lang="zh-CN" altLang="en-US" dirty="0"/>
              </a:p>
            </p:txBody>
          </p:sp>
        </mc:Choice>
        <mc:Fallback xmlns="">
          <p:sp>
            <p:nvSpPr>
              <p:cNvPr id="12" name="文本框 11">
                <a:extLst>
                  <a:ext uri="{FF2B5EF4-FFF2-40B4-BE49-F238E27FC236}">
                    <a16:creationId xmlns:a16="http://schemas.microsoft.com/office/drawing/2014/main" id="{50B58EB2-F9B8-E861-27B6-30786CA7D713}"/>
                  </a:ext>
                </a:extLst>
              </p:cNvPr>
              <p:cNvSpPr txBox="1">
                <a:spLocks noRot="1" noChangeAspect="1" noMove="1" noResize="1" noEditPoints="1" noAdjustHandles="1" noChangeArrowheads="1" noChangeShapeType="1" noTextEdit="1"/>
              </p:cNvSpPr>
              <p:nvPr/>
            </p:nvSpPr>
            <p:spPr>
              <a:xfrm>
                <a:off x="603250" y="2432002"/>
                <a:ext cx="7889083" cy="1200329"/>
              </a:xfrm>
              <a:prstGeom prst="rect">
                <a:avLst/>
              </a:prstGeom>
              <a:blipFill>
                <a:blip r:embed="rId7"/>
                <a:stretch>
                  <a:fillRect l="-643" t="-4167" r="-161" b="-5208"/>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6F2D51DD-5FDB-8170-ABEB-207CAE441BEF}"/>
              </a:ext>
            </a:extLst>
          </p:cNvPr>
          <p:cNvPicPr>
            <a:picLocks noChangeAspect="1"/>
          </p:cNvPicPr>
          <p:nvPr/>
        </p:nvPicPr>
        <p:blipFill>
          <a:blip r:embed="rId8"/>
          <a:stretch>
            <a:fillRect/>
          </a:stretch>
        </p:blipFill>
        <p:spPr>
          <a:xfrm>
            <a:off x="692784" y="3713093"/>
            <a:ext cx="3422015" cy="1946351"/>
          </a:xfrm>
          <a:prstGeom prst="rect">
            <a:avLst/>
          </a:prstGeom>
        </p:spPr>
      </p:pic>
      <p:grpSp>
        <p:nvGrpSpPr>
          <p:cNvPr id="20" name="组合 19">
            <a:extLst>
              <a:ext uri="{FF2B5EF4-FFF2-40B4-BE49-F238E27FC236}">
                <a16:creationId xmlns:a16="http://schemas.microsoft.com/office/drawing/2014/main" id="{D6630097-849F-A0B1-0F38-1BDCC112E48C}"/>
              </a:ext>
            </a:extLst>
          </p:cNvPr>
          <p:cNvGrpSpPr/>
          <p:nvPr/>
        </p:nvGrpSpPr>
        <p:grpSpPr>
          <a:xfrm>
            <a:off x="4659630" y="4442404"/>
            <a:ext cx="1848462" cy="343509"/>
            <a:chOff x="3107550" y="4541748"/>
            <a:chExt cx="2958363" cy="512806"/>
          </a:xfrm>
        </p:grpSpPr>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E23E59E0-93D3-B0A7-596B-3972D2B19024}"/>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Y</m:t>
                        </m:r>
                      </m:oMath>
                    </m:oMathPara>
                  </a14:m>
                  <a:endParaRPr lang="zh-CN" altLang="en-US" dirty="0"/>
                </a:p>
              </p:txBody>
            </p:sp>
          </mc:Choice>
          <mc:Fallback xmlns="">
            <p:sp>
              <p:nvSpPr>
                <p:cNvPr id="21" name="椭圆 20">
                  <a:extLst>
                    <a:ext uri="{FF2B5EF4-FFF2-40B4-BE49-F238E27FC236}">
                      <a16:creationId xmlns:a16="http://schemas.microsoft.com/office/drawing/2014/main" id="{E23E59E0-93D3-B0A7-596B-3972D2B19024}"/>
                    </a:ext>
                  </a:extLst>
                </p:cNvPr>
                <p:cNvSpPr>
                  <a:spLocks noRot="1" noChangeAspect="1" noMove="1" noResize="1" noEditPoints="1" noAdjustHandles="1" noChangeArrowheads="1" noChangeShapeType="1" noTextEdit="1"/>
                </p:cNvSpPr>
                <p:nvPr/>
              </p:nvSpPr>
              <p:spPr>
                <a:xfrm>
                  <a:off x="3107550" y="4541749"/>
                  <a:ext cx="537519" cy="512805"/>
                </a:xfrm>
                <a:prstGeom prst="ellipse">
                  <a:avLst/>
                </a:prstGeom>
                <a:blipFill>
                  <a:blip r:embed="rId9"/>
                  <a:stretch>
                    <a:fillRect/>
                  </a:stretch>
                </a:blipFill>
              </p:spPr>
              <p:txBody>
                <a:bodyPr/>
                <a:lstStyle/>
                <a:p>
                  <a:r>
                    <a:rPr lang="zh-CN" altLang="en-US">
                      <a:noFill/>
                    </a:rPr>
                    <a:t> </a:t>
                  </a:r>
                </a:p>
              </p:txBody>
            </p:sp>
          </mc:Fallback>
        </mc:AlternateContent>
        <p:sp>
          <p:nvSpPr>
            <p:cNvPr id="23" name="椭圆 22">
              <a:extLst>
                <a:ext uri="{FF2B5EF4-FFF2-40B4-BE49-F238E27FC236}">
                  <a16:creationId xmlns:a16="http://schemas.microsoft.com/office/drawing/2014/main" id="{A9A6479E-184B-A07A-171D-BA54D63BCE09}"/>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4" name="直接箭头连接符 26">
              <a:extLst>
                <a:ext uri="{FF2B5EF4-FFF2-40B4-BE49-F238E27FC236}">
                  <a16:creationId xmlns:a16="http://schemas.microsoft.com/office/drawing/2014/main" id="{E8FE570E-7920-19D8-25A4-F4D902BC6910}"/>
                </a:ext>
              </a:extLst>
            </p:cNvPr>
            <p:cNvCxnSpPr>
              <a:cxnSpLocks/>
              <a:stCxn id="21" idx="6"/>
              <a:endCxn id="31"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1" name="椭圆 30">
              <a:extLst>
                <a:ext uri="{FF2B5EF4-FFF2-40B4-BE49-F238E27FC236}">
                  <a16:creationId xmlns:a16="http://schemas.microsoft.com/office/drawing/2014/main" id="{0904F3EF-2D20-8390-96AF-40F9ABDDBE9A}"/>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32" name="直接箭头连接符 28">
              <a:extLst>
                <a:ext uri="{FF2B5EF4-FFF2-40B4-BE49-F238E27FC236}">
                  <a16:creationId xmlns:a16="http://schemas.microsoft.com/office/drawing/2014/main" id="{CC063248-D42B-6CFA-804A-6A6E11CFF594}"/>
                </a:ext>
              </a:extLst>
            </p:cNvPr>
            <p:cNvCxnSpPr>
              <a:cxnSpLocks/>
              <a:stCxn id="31" idx="6"/>
              <a:endCxn id="23"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33" name="文本框 32">
            <a:extLst>
              <a:ext uri="{FF2B5EF4-FFF2-40B4-BE49-F238E27FC236}">
                <a16:creationId xmlns:a16="http://schemas.microsoft.com/office/drawing/2014/main" id="{396A6393-4C72-C2BF-BC64-7368F3D271EB}"/>
              </a:ext>
            </a:extLst>
          </p:cNvPr>
          <p:cNvSpPr txBox="1"/>
          <p:nvPr/>
        </p:nvSpPr>
        <p:spPr>
          <a:xfrm>
            <a:off x="4283550" y="4876800"/>
            <a:ext cx="1135247" cy="369332"/>
          </a:xfrm>
          <a:prstGeom prst="rect">
            <a:avLst/>
          </a:prstGeom>
          <a:noFill/>
        </p:spPr>
        <p:txBody>
          <a:bodyPr wrap="none" rtlCol="0">
            <a:spAutoFit/>
          </a:bodyPr>
          <a:lstStyle/>
          <a:p>
            <a:r>
              <a:rPr kumimoji="1" lang="zh-CN" altLang="en-US" dirty="0"/>
              <a:t>硬币</a:t>
            </a:r>
            <a:r>
              <a:rPr kumimoji="1" lang="en-US" altLang="zh-CN" dirty="0"/>
              <a:t>A</a:t>
            </a:r>
            <a:r>
              <a:rPr kumimoji="1" lang="zh-CN" altLang="en-US" dirty="0"/>
              <a:t>和</a:t>
            </a:r>
            <a:r>
              <a:rPr kumimoji="1" lang="en-US" altLang="zh-CN" dirty="0"/>
              <a:t>B</a:t>
            </a:r>
            <a:endParaRPr kumimoji="1" lang="zh-CN" altLang="en-US" dirty="0"/>
          </a:p>
        </p:txBody>
      </p:sp>
      <p:sp>
        <p:nvSpPr>
          <p:cNvPr id="35" name="文本框 34">
            <a:extLst>
              <a:ext uri="{FF2B5EF4-FFF2-40B4-BE49-F238E27FC236}">
                <a16:creationId xmlns:a16="http://schemas.microsoft.com/office/drawing/2014/main" id="{52F9528A-C5CB-8473-12D4-ACAAB8B8CD03}"/>
              </a:ext>
            </a:extLst>
          </p:cNvPr>
          <p:cNvSpPr txBox="1"/>
          <p:nvPr/>
        </p:nvSpPr>
        <p:spPr>
          <a:xfrm>
            <a:off x="5079648" y="4073072"/>
            <a:ext cx="877163" cy="369332"/>
          </a:xfrm>
          <a:prstGeom prst="rect">
            <a:avLst/>
          </a:prstGeom>
          <a:noFill/>
        </p:spPr>
        <p:txBody>
          <a:bodyPr wrap="none" rtlCol="0">
            <a:spAutoFit/>
          </a:bodyPr>
          <a:lstStyle/>
          <a:p>
            <a:r>
              <a:rPr kumimoji="1" lang="zh-CN" altLang="en-US" dirty="0"/>
              <a:t>抽硬币</a:t>
            </a:r>
          </a:p>
        </p:txBody>
      </p:sp>
      <p:sp>
        <p:nvSpPr>
          <p:cNvPr id="40" name="文本框 39">
            <a:extLst>
              <a:ext uri="{FF2B5EF4-FFF2-40B4-BE49-F238E27FC236}">
                <a16:creationId xmlns:a16="http://schemas.microsoft.com/office/drawing/2014/main" id="{4AA50B07-D65B-0CC5-3835-6E1E44E0FE4D}"/>
              </a:ext>
            </a:extLst>
          </p:cNvPr>
          <p:cNvSpPr txBox="1"/>
          <p:nvPr/>
        </p:nvSpPr>
        <p:spPr>
          <a:xfrm>
            <a:off x="5818209" y="4876800"/>
            <a:ext cx="2520242" cy="369332"/>
          </a:xfrm>
          <a:prstGeom prst="rect">
            <a:avLst/>
          </a:prstGeom>
          <a:noFill/>
        </p:spPr>
        <p:txBody>
          <a:bodyPr wrap="none" rtlCol="0">
            <a:spAutoFit/>
          </a:bodyPr>
          <a:lstStyle/>
          <a:p>
            <a:r>
              <a:rPr kumimoji="1" lang="en-US" altLang="zh-CN" dirty="0"/>
              <a:t>AB</a:t>
            </a:r>
            <a:r>
              <a:rPr kumimoji="1" lang="zh-CN" altLang="en-US" dirty="0"/>
              <a:t>硬币正面朝上的状态</a:t>
            </a:r>
          </a:p>
        </p:txBody>
      </p:sp>
    </p:spTree>
    <p:extLst>
      <p:ext uri="{BB962C8B-B14F-4D97-AF65-F5344CB8AC3E}">
        <p14:creationId xmlns:p14="http://schemas.microsoft.com/office/powerpoint/2010/main" val="237912448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71D247C3-8307-475A-D2DE-EE77A6734BB2}"/>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39032438-0650-BAC0-A456-5156DF5A9856}"/>
              </a:ext>
            </a:extLst>
          </p:cNvPr>
          <p:cNvGrpSpPr/>
          <p:nvPr/>
        </p:nvGrpSpPr>
        <p:grpSpPr>
          <a:xfrm>
            <a:off x="-4445" y="340995"/>
            <a:ext cx="8925560" cy="583565"/>
            <a:chOff x="-9" y="380"/>
            <a:chExt cx="14056" cy="919"/>
          </a:xfrm>
        </p:grpSpPr>
        <p:sp>
          <p:nvSpPr>
            <p:cNvPr id="34" name="矩形 33">
              <a:extLst>
                <a:ext uri="{FF2B5EF4-FFF2-40B4-BE49-F238E27FC236}">
                  <a16:creationId xmlns:a16="http://schemas.microsoft.com/office/drawing/2014/main" id="{B1146AEA-C592-F72E-7D2A-411E7A6F78D7}"/>
                </a:ext>
              </a:extLst>
            </p:cNvPr>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8F1E29FB-101C-018D-DF0B-F492FB9A6757}"/>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37CE1759-2DED-742F-D9B5-5E9794D1ABDF}"/>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75FF6CFA-F6FC-6176-1B19-58D9FBB285AC}"/>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723073A9-F315-9295-46D8-DD60583F1952}"/>
                </a:ext>
              </a:extLst>
            </p:cNvPr>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p:grpSp>
        <p:nvGrpSpPr>
          <p:cNvPr id="3" name="组合 2">
            <a:extLst>
              <a:ext uri="{FF2B5EF4-FFF2-40B4-BE49-F238E27FC236}">
                <a16:creationId xmlns:a16="http://schemas.microsoft.com/office/drawing/2014/main" id="{42C51438-4FC4-C010-7CB7-0EB84F4C80A4}"/>
              </a:ext>
            </a:extLst>
          </p:cNvPr>
          <p:cNvGrpSpPr/>
          <p:nvPr/>
        </p:nvGrpSpPr>
        <p:grpSpPr>
          <a:xfrm>
            <a:off x="603250" y="1061085"/>
            <a:ext cx="7954010" cy="460375"/>
            <a:chOff x="814" y="3480"/>
            <a:chExt cx="12526" cy="725"/>
          </a:xfrm>
        </p:grpSpPr>
        <p:sp>
          <p:nvSpPr>
            <p:cNvPr id="5" name="椭圆 4">
              <a:extLst>
                <a:ext uri="{FF2B5EF4-FFF2-40B4-BE49-F238E27FC236}">
                  <a16:creationId xmlns:a16="http://schemas.microsoft.com/office/drawing/2014/main" id="{FFC12576-E42D-AD80-3D83-3242A5EC894C}"/>
                </a:ext>
              </a:extLst>
            </p:cNvPr>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 name="文本框 6">
              <a:extLst>
                <a:ext uri="{FF2B5EF4-FFF2-40B4-BE49-F238E27FC236}">
                  <a16:creationId xmlns:a16="http://schemas.microsoft.com/office/drawing/2014/main" id="{89F4E50D-F8DF-74E4-B080-191AB11942D1}"/>
                </a:ext>
              </a:extLst>
            </p:cNvPr>
            <p:cNvSpPr txBox="1"/>
            <p:nvPr/>
          </p:nvSpPr>
          <p:spPr>
            <a:xfrm>
              <a:off x="1064" y="3480"/>
              <a:ext cx="12276" cy="725"/>
            </a:xfrm>
            <a:prstGeom prst="rect">
              <a:avLst/>
            </a:prstGeom>
            <a:noFill/>
          </p:spPr>
          <p:txBody>
            <a:bodyPr wrap="square" rtlCol="0" anchor="t">
              <a:spAutoFit/>
            </a:bodyPr>
            <a:lstStyle/>
            <a:p>
              <a:pPr marL="0" lvl="1" algn="just">
                <a:buClrTx/>
                <a:buSzTx/>
                <a:buFontTx/>
              </a:pPr>
              <a:r>
                <a:rPr lang="zh-CN" altLang="en-US" sz="2400" dirty="0">
                  <a:sym typeface="+mn-ea"/>
                </a:rPr>
                <a:t>隐变量即变量是不可观测的</a:t>
              </a:r>
            </a:p>
          </p:txBody>
        </p:sp>
      </p:grpSp>
      <p:grpSp>
        <p:nvGrpSpPr>
          <p:cNvPr id="22" name="组合 21">
            <a:extLst>
              <a:ext uri="{FF2B5EF4-FFF2-40B4-BE49-F238E27FC236}">
                <a16:creationId xmlns:a16="http://schemas.microsoft.com/office/drawing/2014/main" id="{DCBA8ACF-0C52-60AF-2B88-7A8B26286894}"/>
              </a:ext>
            </a:extLst>
          </p:cNvPr>
          <p:cNvGrpSpPr/>
          <p:nvPr/>
        </p:nvGrpSpPr>
        <p:grpSpPr>
          <a:xfrm>
            <a:off x="2802759" y="1862142"/>
            <a:ext cx="1848462" cy="343509"/>
            <a:chOff x="3107550" y="4541748"/>
            <a:chExt cx="2958363" cy="512806"/>
          </a:xfrm>
        </p:grpSpPr>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8FDF386C-6726-7344-7EC4-5779C24DB772}"/>
                    </a:ext>
                  </a:extLst>
                </p:cNvPr>
                <p:cNvSpPr/>
                <p:nvPr/>
              </p:nvSpPr>
              <p:spPr>
                <a:xfrm>
                  <a:off x="3107550" y="4541749"/>
                  <a:ext cx="537519" cy="51280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𝜃</m:t>
                        </m:r>
                      </m:oMath>
                    </m:oMathPara>
                  </a14:m>
                  <a:endParaRPr lang="zh-CN" altLang="en-US" dirty="0"/>
                </a:p>
              </p:txBody>
            </p:sp>
          </mc:Choice>
          <mc:Fallback xmlns="">
            <p:sp>
              <p:nvSpPr>
                <p:cNvPr id="25" name="椭圆 24">
                  <a:extLst>
                    <a:ext uri="{FF2B5EF4-FFF2-40B4-BE49-F238E27FC236}">
                      <a16:creationId xmlns:a16="http://schemas.microsoft.com/office/drawing/2014/main" id="{8FDF386C-6726-7344-7EC4-5779C24DB772}"/>
                    </a:ext>
                  </a:extLst>
                </p:cNvPr>
                <p:cNvSpPr>
                  <a:spLocks noRot="1" noChangeAspect="1" noMove="1" noResize="1" noEditPoints="1" noAdjustHandles="1" noChangeArrowheads="1" noChangeShapeType="1" noTextEdit="1"/>
                </p:cNvSpPr>
                <p:nvPr/>
              </p:nvSpPr>
              <p:spPr>
                <a:xfrm>
                  <a:off x="3107550" y="4541749"/>
                  <a:ext cx="537519" cy="512805"/>
                </a:xfrm>
                <a:prstGeom prst="ellipse">
                  <a:avLst/>
                </a:prstGeom>
                <a:blipFill>
                  <a:blip r:embed="rId5"/>
                  <a:stretch>
                    <a:fillRect/>
                  </a:stretch>
                </a:blipFill>
              </p:spPr>
              <p:txBody>
                <a:bodyPr/>
                <a:lstStyle/>
                <a:p>
                  <a:r>
                    <a:rPr lang="zh-CN" altLang="en-US">
                      <a:noFill/>
                    </a:rPr>
                    <a:t> </a:t>
                  </a:r>
                </a:p>
              </p:txBody>
            </p:sp>
          </mc:Fallback>
        </mc:AlternateContent>
        <p:sp>
          <p:nvSpPr>
            <p:cNvPr id="26" name="椭圆 25">
              <a:extLst>
                <a:ext uri="{FF2B5EF4-FFF2-40B4-BE49-F238E27FC236}">
                  <a16:creationId xmlns:a16="http://schemas.microsoft.com/office/drawing/2014/main" id="{4742C8E8-DCCB-F5D3-3F31-DF0782FBBFCD}"/>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7" name="直接箭头连接符 26">
              <a:extLst>
                <a:ext uri="{FF2B5EF4-FFF2-40B4-BE49-F238E27FC236}">
                  <a16:creationId xmlns:a16="http://schemas.microsoft.com/office/drawing/2014/main" id="{67106A48-A06C-15F1-2AA7-181B10F280F2}"/>
                </a:ext>
              </a:extLst>
            </p:cNvPr>
            <p:cNvCxnSpPr>
              <a:cxnSpLocks/>
              <a:stCxn id="25" idx="6"/>
              <a:endCxn id="28"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椭圆 27">
              <a:extLst>
                <a:ext uri="{FF2B5EF4-FFF2-40B4-BE49-F238E27FC236}">
                  <a16:creationId xmlns:a16="http://schemas.microsoft.com/office/drawing/2014/main" id="{2C2A2312-21B7-4533-8EF2-FF81547F170E}"/>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29" name="直接箭头连接符 28">
              <a:extLst>
                <a:ext uri="{FF2B5EF4-FFF2-40B4-BE49-F238E27FC236}">
                  <a16:creationId xmlns:a16="http://schemas.microsoft.com/office/drawing/2014/main" id="{1461C92C-8C85-D5EF-2B7A-EBE10FFAD8EA}"/>
                </a:ext>
              </a:extLst>
            </p:cNvPr>
            <p:cNvCxnSpPr>
              <a:cxnSpLocks/>
              <a:stCxn id="28" idx="6"/>
              <a:endCxn id="26"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55107FB-E84F-FE4C-F905-408DE7F72589}"/>
                  </a:ext>
                </a:extLst>
              </p:cNvPr>
              <p:cNvSpPr txBox="1"/>
              <p:nvPr/>
            </p:nvSpPr>
            <p:spPr>
              <a:xfrm>
                <a:off x="5140155" y="1891567"/>
                <a:ext cx="2976584" cy="369332"/>
              </a:xfrm>
              <a:prstGeom prst="rect">
                <a:avLst/>
              </a:prstGeom>
              <a:noFill/>
            </p:spPr>
            <p:txBody>
              <a:bodyPr wrap="none" rtlCol="0">
                <a:spAutoFit/>
              </a:bodyPr>
              <a:lstStyle/>
              <a:p>
                <a:r>
                  <a:rPr lang="zh-CN" altLang="en-US" i="1" dirty="0"/>
                  <a:t>假设参数</a:t>
                </a:r>
                <a14:m>
                  <m:oMath xmlns:m="http://schemas.openxmlformats.org/officeDocument/2006/math">
                    <m:r>
                      <a:rPr lang="en-US" altLang="zh-CN" b="0" i="1" smtClean="0">
                        <a:latin typeface="Cambria Math" panose="02040503050406030204" pitchFamily="18" charset="0"/>
                      </a:rPr>
                      <m:t>𝑧</m:t>
                    </m:r>
                  </m:oMath>
                </a14:m>
                <a:r>
                  <a:rPr lang="zh-CN" altLang="en-US" i="1" dirty="0"/>
                  <a:t>的分布的参数是</a:t>
                </a:r>
                <a14:m>
                  <m:oMath xmlns:m="http://schemas.openxmlformats.org/officeDocument/2006/math">
                    <m:r>
                      <a:rPr lang="en-US" altLang="zh-CN" b="0" i="1" smtClean="0">
                        <a:latin typeface="Cambria Math" panose="02040503050406030204" pitchFamily="18" charset="0"/>
                      </a:rPr>
                      <m:t>𝜃</m:t>
                    </m:r>
                  </m:oMath>
                </a14:m>
                <a:endParaRPr lang="zh-CN" altLang="en-US" i="1" dirty="0"/>
              </a:p>
            </p:txBody>
          </p:sp>
        </mc:Choice>
        <mc:Fallback xmlns="">
          <p:sp>
            <p:nvSpPr>
              <p:cNvPr id="11" name="文本框 10">
                <a:extLst>
                  <a:ext uri="{FF2B5EF4-FFF2-40B4-BE49-F238E27FC236}">
                    <a16:creationId xmlns:a16="http://schemas.microsoft.com/office/drawing/2014/main" id="{F55107FB-E84F-FE4C-F905-408DE7F72589}"/>
                  </a:ext>
                </a:extLst>
              </p:cNvPr>
              <p:cNvSpPr txBox="1">
                <a:spLocks noRot="1" noChangeAspect="1" noMove="1" noResize="1" noEditPoints="1" noAdjustHandles="1" noChangeArrowheads="1" noChangeShapeType="1" noTextEdit="1"/>
              </p:cNvSpPr>
              <p:nvPr/>
            </p:nvSpPr>
            <p:spPr>
              <a:xfrm>
                <a:off x="5140155" y="1891567"/>
                <a:ext cx="2976584" cy="369332"/>
              </a:xfrm>
              <a:prstGeom prst="rect">
                <a:avLst/>
              </a:prstGeom>
              <a:blipFill>
                <a:blip r:embed="rId6"/>
                <a:stretch>
                  <a:fillRect l="-1702" t="-12903" b="-16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166F28A6-745A-5324-82A2-26D7A6C8503E}"/>
                  </a:ext>
                </a:extLst>
              </p:cNvPr>
              <p:cNvSpPr txBox="1"/>
              <p:nvPr/>
            </p:nvSpPr>
            <p:spPr>
              <a:xfrm>
                <a:off x="603250" y="2551149"/>
                <a:ext cx="7889083" cy="957121"/>
              </a:xfrm>
              <a:prstGeom prst="rect">
                <a:avLst/>
              </a:prstGeom>
              <a:noFill/>
            </p:spPr>
            <p:txBody>
              <a:bodyPr wrap="square">
                <a:spAutoFit/>
              </a:bodyPr>
              <a:lstStyle/>
              <a:p>
                <a:r>
                  <a:rPr lang="zh-CN" altLang="en-US" b="0" i="0" dirty="0">
                    <a:solidFill>
                      <a:srgbClr val="191B1F"/>
                    </a:solidFill>
                    <a:effectLst/>
                    <a:latin typeface="-apple-system"/>
                  </a:rPr>
                  <a:t>现在有两个硬币</a:t>
                </a:r>
                <a:r>
                  <a:rPr lang="en" altLang="zh-CN" b="0" i="0" dirty="0">
                    <a:solidFill>
                      <a:srgbClr val="191B1F"/>
                    </a:solidFill>
                    <a:effectLst/>
                    <a:latin typeface="-apple-system"/>
                  </a:rPr>
                  <a:t>A</a:t>
                </a:r>
                <a:r>
                  <a:rPr lang="zh-CN" altLang="en-US" b="0" i="0" dirty="0">
                    <a:solidFill>
                      <a:srgbClr val="191B1F"/>
                    </a:solidFill>
                    <a:effectLst/>
                    <a:latin typeface="-apple-system"/>
                  </a:rPr>
                  <a:t>和</a:t>
                </a:r>
                <a:r>
                  <a:rPr lang="en" altLang="zh-CN" b="0" i="0" dirty="0">
                    <a:solidFill>
                      <a:srgbClr val="191B1F"/>
                    </a:solidFill>
                    <a:effectLst/>
                    <a:latin typeface="-apple-system"/>
                  </a:rPr>
                  <a:t>B</a:t>
                </a:r>
                <a:r>
                  <a:rPr lang="zh-CN" altLang="en" b="0" i="0" dirty="0">
                    <a:solidFill>
                      <a:srgbClr val="191B1F"/>
                    </a:solidFill>
                    <a:effectLst/>
                    <a:latin typeface="-apple-system"/>
                  </a:rPr>
                  <a:t>，</a:t>
                </a:r>
                <a:r>
                  <a:rPr lang="zh-CN" altLang="en-US" b="0" i="0" dirty="0">
                    <a:solidFill>
                      <a:srgbClr val="191B1F"/>
                    </a:solidFill>
                    <a:effectLst/>
                    <a:latin typeface="-apple-system"/>
                  </a:rPr>
                  <a:t>这两个硬币都是有偏的。现在要做</a:t>
                </a:r>
                <a:r>
                  <a:rPr lang="en-US" altLang="zh-CN" b="0" i="0" dirty="0">
                    <a:solidFill>
                      <a:srgbClr val="191B1F"/>
                    </a:solidFill>
                    <a:effectLst/>
                    <a:latin typeface="-apple-system"/>
                  </a:rPr>
                  <a:t>5</a:t>
                </a:r>
                <a:r>
                  <a:rPr lang="zh-CN" altLang="en-US" b="0" i="0" dirty="0">
                    <a:solidFill>
                      <a:srgbClr val="191B1F"/>
                    </a:solidFill>
                    <a:effectLst/>
                    <a:latin typeface="-apple-system"/>
                  </a:rPr>
                  <a:t>组实验，每次实验从两个硬币中随机抽取一个，然后连续抛</a:t>
                </a:r>
                <a:r>
                  <a:rPr lang="en-US" altLang="zh-CN" b="0" i="0" dirty="0">
                    <a:solidFill>
                      <a:srgbClr val="191B1F"/>
                    </a:solidFill>
                    <a:effectLst/>
                    <a:latin typeface="-apple-system"/>
                  </a:rPr>
                  <a:t>10</a:t>
                </a:r>
                <a:r>
                  <a:rPr lang="zh-CN" altLang="en-US" b="0" i="0" dirty="0">
                    <a:solidFill>
                      <a:srgbClr val="191B1F"/>
                    </a:solidFill>
                    <a:effectLst/>
                    <a:latin typeface="-apple-system"/>
                  </a:rPr>
                  <a:t>次。设参数 </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l-GR" altLang="zh-CN" i="1" dirty="0">
                            <a:solidFill>
                              <a:srgbClr val="191B1F"/>
                            </a:solidFill>
                            <a:latin typeface="Cambria Math" panose="02040503050406030204" pitchFamily="18" charset="0"/>
                          </a:rPr>
                          <m:t>𝜃</m:t>
                        </m:r>
                      </m:e>
                      <m:sub>
                        <m:r>
                          <a:rPr lang="en-US" altLang="zh-CN" b="0" i="1" dirty="0" smtClean="0">
                            <a:solidFill>
                              <a:srgbClr val="191B1F"/>
                            </a:solidFill>
                            <a:latin typeface="Cambria Math" panose="02040503050406030204" pitchFamily="18" charset="0"/>
                          </a:rPr>
                          <m:t>𝐴</m:t>
                        </m:r>
                        <m:r>
                          <a:rPr lang="en-US" altLang="zh-CN" b="0" i="1" dirty="0" smtClean="0">
                            <a:solidFill>
                              <a:srgbClr val="191B1F"/>
                            </a:solidFill>
                            <a:latin typeface="Cambria Math" panose="02040503050406030204" pitchFamily="18" charset="0"/>
                          </a:rPr>
                          <m:t> </m:t>
                        </m:r>
                      </m:sub>
                    </m:sSub>
                    <m:r>
                      <a:rPr lang="en" altLang="zh-CN" i="1" dirty="0">
                        <a:solidFill>
                          <a:srgbClr val="191B1F"/>
                        </a:solidFill>
                        <a:latin typeface="Cambria Math" panose="02040503050406030204" pitchFamily="18" charset="0"/>
                      </a:rPr>
                      <m:t> </m:t>
                    </m:r>
                  </m:oMath>
                </a14:m>
                <a:r>
                  <a:rPr lang="zh-CN" altLang="en" b="0" i="0" dirty="0">
                    <a:solidFill>
                      <a:srgbClr val="191B1F"/>
                    </a:solidFill>
                    <a:effectLst/>
                    <a:latin typeface="-apple-system"/>
                  </a:rPr>
                  <a:t>、 </a:t>
                </a:r>
                <a14:m>
                  <m:oMath xmlns:m="http://schemas.openxmlformats.org/officeDocument/2006/math">
                    <m:sSub>
                      <m:sSubPr>
                        <m:ctrlPr>
                          <a:rPr lang="en-US" altLang="zh-CN" b="0" i="1" dirty="0" smtClean="0">
                            <a:solidFill>
                              <a:srgbClr val="191B1F"/>
                            </a:solidFill>
                            <a:effectLst/>
                            <a:latin typeface="Cambria Math" panose="02040503050406030204" pitchFamily="18" charset="0"/>
                          </a:rPr>
                        </m:ctrlPr>
                      </m:sSubPr>
                      <m:e>
                        <m:r>
                          <a:rPr lang="el-GR" altLang="zh-CN" b="0" i="1" dirty="0" smtClean="0">
                            <a:solidFill>
                              <a:srgbClr val="191B1F"/>
                            </a:solidFill>
                            <a:effectLst/>
                            <a:latin typeface="Cambria Math" panose="02040503050406030204" pitchFamily="18" charset="0"/>
                          </a:rPr>
                          <m:t>𝜃</m:t>
                        </m:r>
                      </m:e>
                      <m:sub>
                        <m:r>
                          <a:rPr lang="en-US" altLang="zh-CN" b="0" i="1" dirty="0" smtClean="0">
                            <a:solidFill>
                              <a:srgbClr val="191B1F"/>
                            </a:solidFill>
                            <a:effectLst/>
                            <a:latin typeface="Cambria Math" panose="02040503050406030204" pitchFamily="18" charset="0"/>
                          </a:rPr>
                          <m:t>𝐵</m:t>
                        </m:r>
                      </m:sub>
                    </m:sSub>
                    <m:r>
                      <a:rPr lang="en" altLang="zh-CN" b="0" i="1" dirty="0">
                        <a:solidFill>
                          <a:srgbClr val="191B1F"/>
                        </a:solidFill>
                        <a:effectLst/>
                        <a:latin typeface="Cambria Math" panose="02040503050406030204" pitchFamily="18" charset="0"/>
                      </a:rPr>
                      <m:t> </m:t>
                    </m:r>
                  </m:oMath>
                </a14:m>
                <a:r>
                  <a:rPr lang="zh-CN" altLang="en-US" b="0" i="0" dirty="0">
                    <a:solidFill>
                      <a:srgbClr val="191B1F"/>
                    </a:solidFill>
                    <a:effectLst/>
                    <a:latin typeface="-apple-system"/>
                  </a:rPr>
                  <a:t>分别为硬币</a:t>
                </a:r>
                <a:r>
                  <a:rPr lang="en" altLang="zh-CN" b="0" i="0" dirty="0">
                    <a:solidFill>
                      <a:srgbClr val="191B1F"/>
                    </a:solidFill>
                    <a:effectLst/>
                    <a:latin typeface="-apple-system"/>
                  </a:rPr>
                  <a:t>A</a:t>
                </a:r>
                <a:r>
                  <a:rPr lang="zh-CN" altLang="en" b="0" i="0" dirty="0">
                    <a:solidFill>
                      <a:srgbClr val="191B1F"/>
                    </a:solidFill>
                    <a:effectLst/>
                    <a:latin typeface="-apple-system"/>
                  </a:rPr>
                  <a:t>、</a:t>
                </a:r>
                <a:r>
                  <a:rPr lang="en" altLang="zh-CN" b="0" i="0" dirty="0">
                    <a:solidFill>
                      <a:srgbClr val="191B1F"/>
                    </a:solidFill>
                    <a:effectLst/>
                    <a:latin typeface="-apple-system"/>
                  </a:rPr>
                  <a:t>B</a:t>
                </a:r>
                <a:r>
                  <a:rPr lang="zh-CN" altLang="en-US" b="0" i="0" dirty="0">
                    <a:solidFill>
                      <a:srgbClr val="191B1F"/>
                    </a:solidFill>
                    <a:effectLst/>
                    <a:latin typeface="-apple-system"/>
                  </a:rPr>
                  <a:t>正面朝上的概率</a:t>
                </a:r>
                <a:r>
                  <a:rPr lang="zh-CN" altLang="en-US" dirty="0">
                    <a:solidFill>
                      <a:srgbClr val="191B1F"/>
                    </a:solidFill>
                    <a:latin typeface="-apple-system"/>
                  </a:rPr>
                  <a:t>，求解</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l-GR" altLang="zh-CN" i="1" dirty="0">
                            <a:solidFill>
                              <a:srgbClr val="191B1F"/>
                            </a:solidFill>
                            <a:latin typeface="Cambria Math" panose="02040503050406030204" pitchFamily="18" charset="0"/>
                          </a:rPr>
                          <m:t>𝜃</m:t>
                        </m:r>
                      </m:e>
                      <m:sub>
                        <m:r>
                          <a:rPr lang="en-US" altLang="zh-CN" i="1" dirty="0">
                            <a:solidFill>
                              <a:srgbClr val="191B1F"/>
                            </a:solidFill>
                            <a:latin typeface="Cambria Math" panose="02040503050406030204" pitchFamily="18" charset="0"/>
                          </a:rPr>
                          <m:t>𝐴</m:t>
                        </m:r>
                        <m:r>
                          <a:rPr lang="en-US" altLang="zh-CN" i="1" dirty="0">
                            <a:solidFill>
                              <a:srgbClr val="191B1F"/>
                            </a:solidFill>
                            <a:latin typeface="Cambria Math" panose="02040503050406030204" pitchFamily="18" charset="0"/>
                          </a:rPr>
                          <m:t> </m:t>
                        </m:r>
                      </m:sub>
                    </m:sSub>
                    <m:r>
                      <a:rPr lang="en" altLang="zh-CN" i="1" dirty="0">
                        <a:solidFill>
                          <a:srgbClr val="191B1F"/>
                        </a:solidFill>
                        <a:latin typeface="Cambria Math" panose="02040503050406030204" pitchFamily="18" charset="0"/>
                      </a:rPr>
                      <m:t> </m:t>
                    </m:r>
                  </m:oMath>
                </a14:m>
                <a:r>
                  <a:rPr lang="zh-CN" altLang="en-US" dirty="0">
                    <a:solidFill>
                      <a:srgbClr val="191B1F"/>
                    </a:solidFill>
                    <a:latin typeface="-apple-system"/>
                  </a:rPr>
                  <a:t>和</a:t>
                </a:r>
                <a:r>
                  <a:rPr lang="zh-CN" altLang="en" dirty="0">
                    <a:solidFill>
                      <a:srgbClr val="191B1F"/>
                    </a:solidFill>
                    <a:latin typeface="-apple-system"/>
                  </a:rPr>
                  <a:t> </a:t>
                </a:r>
                <a14:m>
                  <m:oMath xmlns:m="http://schemas.openxmlformats.org/officeDocument/2006/math">
                    <m:sSub>
                      <m:sSubPr>
                        <m:ctrlPr>
                          <a:rPr lang="en-US" altLang="zh-CN" i="1" dirty="0">
                            <a:solidFill>
                              <a:srgbClr val="191B1F"/>
                            </a:solidFill>
                            <a:latin typeface="Cambria Math" panose="02040503050406030204" pitchFamily="18" charset="0"/>
                          </a:rPr>
                        </m:ctrlPr>
                      </m:sSubPr>
                      <m:e>
                        <m:r>
                          <a:rPr lang="el-GR" altLang="zh-CN" i="1" dirty="0">
                            <a:solidFill>
                              <a:srgbClr val="191B1F"/>
                            </a:solidFill>
                            <a:latin typeface="Cambria Math" panose="02040503050406030204" pitchFamily="18" charset="0"/>
                          </a:rPr>
                          <m:t>𝜃</m:t>
                        </m:r>
                      </m:e>
                      <m:sub>
                        <m:r>
                          <a:rPr lang="en-US" altLang="zh-CN" i="1" dirty="0">
                            <a:solidFill>
                              <a:srgbClr val="191B1F"/>
                            </a:solidFill>
                            <a:latin typeface="Cambria Math" panose="02040503050406030204" pitchFamily="18" charset="0"/>
                          </a:rPr>
                          <m:t>𝐵</m:t>
                        </m:r>
                      </m:sub>
                    </m:sSub>
                    <m:r>
                      <a:rPr lang="en" altLang="zh-CN" i="1" dirty="0">
                        <a:solidFill>
                          <a:srgbClr val="191B1F"/>
                        </a:solidFill>
                        <a:latin typeface="Cambria Math" panose="02040503050406030204" pitchFamily="18" charset="0"/>
                      </a:rPr>
                      <m:t> </m:t>
                    </m:r>
                  </m:oMath>
                </a14:m>
                <a:endParaRPr lang="zh-CN" altLang="en-US" dirty="0"/>
              </a:p>
            </p:txBody>
          </p:sp>
        </mc:Choice>
        <mc:Fallback xmlns="">
          <p:sp>
            <p:nvSpPr>
              <p:cNvPr id="12" name="文本框 11">
                <a:extLst>
                  <a:ext uri="{FF2B5EF4-FFF2-40B4-BE49-F238E27FC236}">
                    <a16:creationId xmlns:a16="http://schemas.microsoft.com/office/drawing/2014/main" id="{166F28A6-745A-5324-82A2-26D7A6C8503E}"/>
                  </a:ext>
                </a:extLst>
              </p:cNvPr>
              <p:cNvSpPr txBox="1">
                <a:spLocks noRot="1" noChangeAspect="1" noMove="1" noResize="1" noEditPoints="1" noAdjustHandles="1" noChangeArrowheads="1" noChangeShapeType="1" noTextEdit="1"/>
              </p:cNvSpPr>
              <p:nvPr/>
            </p:nvSpPr>
            <p:spPr>
              <a:xfrm>
                <a:off x="603250" y="2551149"/>
                <a:ext cx="7889083" cy="957121"/>
              </a:xfrm>
              <a:prstGeom prst="rect">
                <a:avLst/>
              </a:prstGeom>
              <a:blipFill>
                <a:blip r:embed="rId7"/>
                <a:stretch>
                  <a:fillRect l="-643" t="-5195" r="-482" b="-5195"/>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64359561-7444-73AC-9F8B-AAD5A473A2D3}"/>
              </a:ext>
            </a:extLst>
          </p:cNvPr>
          <p:cNvPicPr>
            <a:picLocks noChangeAspect="1"/>
          </p:cNvPicPr>
          <p:nvPr/>
        </p:nvPicPr>
        <p:blipFill>
          <a:blip r:embed="rId8"/>
          <a:stretch>
            <a:fillRect/>
          </a:stretch>
        </p:blipFill>
        <p:spPr>
          <a:xfrm>
            <a:off x="655913" y="3564783"/>
            <a:ext cx="3422015" cy="1946351"/>
          </a:xfrm>
          <a:prstGeom prst="rect">
            <a:avLst/>
          </a:prstGeom>
        </p:spPr>
      </p:pic>
      <p:grpSp>
        <p:nvGrpSpPr>
          <p:cNvPr id="20" name="组合 19">
            <a:extLst>
              <a:ext uri="{FF2B5EF4-FFF2-40B4-BE49-F238E27FC236}">
                <a16:creationId xmlns:a16="http://schemas.microsoft.com/office/drawing/2014/main" id="{327F5D46-F3A7-BB72-B92A-FBF1795BE6C7}"/>
              </a:ext>
            </a:extLst>
          </p:cNvPr>
          <p:cNvGrpSpPr/>
          <p:nvPr/>
        </p:nvGrpSpPr>
        <p:grpSpPr>
          <a:xfrm>
            <a:off x="3573123" y="5920842"/>
            <a:ext cx="1848462" cy="343509"/>
            <a:chOff x="3107550" y="4541748"/>
            <a:chExt cx="2958363" cy="512806"/>
          </a:xfrm>
        </p:grpSpPr>
        <mc:AlternateContent xmlns:mc="http://schemas.openxmlformats.org/markup-compatibility/2006" xmlns:a14="http://schemas.microsoft.com/office/drawing/2010/main">
          <mc:Choice Requires="a14">
            <p:sp>
              <p:nvSpPr>
                <p:cNvPr id="21" name="椭圆 20">
                  <a:extLst>
                    <a:ext uri="{FF2B5EF4-FFF2-40B4-BE49-F238E27FC236}">
                      <a16:creationId xmlns:a16="http://schemas.microsoft.com/office/drawing/2014/main" id="{A2EA1C6E-D781-E900-63F2-677C9ED8FA90}"/>
                    </a:ext>
                  </a:extLst>
                </p:cNvPr>
                <p:cNvSpPr/>
                <p:nvPr/>
              </p:nvSpPr>
              <p:spPr>
                <a:xfrm>
                  <a:off x="3107550"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Y</m:t>
                        </m:r>
                      </m:oMath>
                    </m:oMathPara>
                  </a14:m>
                  <a:endParaRPr lang="zh-CN" altLang="en-US" dirty="0"/>
                </a:p>
              </p:txBody>
            </p:sp>
          </mc:Choice>
          <mc:Fallback xmlns="">
            <p:sp>
              <p:nvSpPr>
                <p:cNvPr id="21" name="椭圆 20">
                  <a:extLst>
                    <a:ext uri="{FF2B5EF4-FFF2-40B4-BE49-F238E27FC236}">
                      <a16:creationId xmlns:a16="http://schemas.microsoft.com/office/drawing/2014/main" id="{A2EA1C6E-D781-E900-63F2-677C9ED8FA90}"/>
                    </a:ext>
                  </a:extLst>
                </p:cNvPr>
                <p:cNvSpPr>
                  <a:spLocks noRot="1" noChangeAspect="1" noMove="1" noResize="1" noEditPoints="1" noAdjustHandles="1" noChangeArrowheads="1" noChangeShapeType="1" noTextEdit="1"/>
                </p:cNvSpPr>
                <p:nvPr/>
              </p:nvSpPr>
              <p:spPr>
                <a:xfrm>
                  <a:off x="3107550" y="4541749"/>
                  <a:ext cx="537519" cy="512805"/>
                </a:xfrm>
                <a:prstGeom prst="ellipse">
                  <a:avLst/>
                </a:prstGeom>
                <a:blipFill>
                  <a:blip r:embed="rId9"/>
                  <a:stretch>
                    <a:fillRect/>
                  </a:stretch>
                </a:blipFill>
              </p:spPr>
              <p:txBody>
                <a:bodyPr/>
                <a:lstStyle/>
                <a:p>
                  <a:r>
                    <a:rPr lang="zh-CN" altLang="en-US">
                      <a:noFill/>
                    </a:rPr>
                    <a:t> </a:t>
                  </a:r>
                </a:p>
              </p:txBody>
            </p:sp>
          </mc:Fallback>
        </mc:AlternateContent>
        <p:sp>
          <p:nvSpPr>
            <p:cNvPr id="23" name="椭圆 22">
              <a:extLst>
                <a:ext uri="{FF2B5EF4-FFF2-40B4-BE49-F238E27FC236}">
                  <a16:creationId xmlns:a16="http://schemas.microsoft.com/office/drawing/2014/main" id="{E6750452-2E9F-4B11-5C72-DACCAD7A52AB}"/>
                </a:ext>
              </a:extLst>
            </p:cNvPr>
            <p:cNvSpPr/>
            <p:nvPr/>
          </p:nvSpPr>
          <p:spPr>
            <a:xfrm>
              <a:off x="5528394" y="4541749"/>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X</a:t>
              </a:r>
              <a:endParaRPr lang="zh-CN" altLang="en-US" dirty="0"/>
            </a:p>
          </p:txBody>
        </p:sp>
        <p:cxnSp>
          <p:nvCxnSpPr>
            <p:cNvPr id="24" name="直接箭头连接符 26">
              <a:extLst>
                <a:ext uri="{FF2B5EF4-FFF2-40B4-BE49-F238E27FC236}">
                  <a16:creationId xmlns:a16="http://schemas.microsoft.com/office/drawing/2014/main" id="{2B8B4046-9161-4C97-7F94-E5683CFCD646}"/>
                </a:ext>
              </a:extLst>
            </p:cNvPr>
            <p:cNvCxnSpPr>
              <a:cxnSpLocks/>
              <a:stCxn id="21" idx="6"/>
              <a:endCxn id="31" idx="2"/>
            </p:cNvCxnSpPr>
            <p:nvPr/>
          </p:nvCxnSpPr>
          <p:spPr>
            <a:xfrm flipV="1">
              <a:off x="3645069" y="4798151"/>
              <a:ext cx="658172"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1" name="椭圆 30">
              <a:extLst>
                <a:ext uri="{FF2B5EF4-FFF2-40B4-BE49-F238E27FC236}">
                  <a16:creationId xmlns:a16="http://schemas.microsoft.com/office/drawing/2014/main" id="{95C2BC38-64BA-E023-1568-2962D74999E4}"/>
                </a:ext>
              </a:extLst>
            </p:cNvPr>
            <p:cNvSpPr/>
            <p:nvPr/>
          </p:nvSpPr>
          <p:spPr>
            <a:xfrm>
              <a:off x="4303241" y="4541748"/>
              <a:ext cx="537519" cy="51280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a:t>Z</a:t>
              </a:r>
              <a:endParaRPr lang="zh-CN" altLang="en-US" dirty="0"/>
            </a:p>
          </p:txBody>
        </p:sp>
        <p:cxnSp>
          <p:nvCxnSpPr>
            <p:cNvPr id="32" name="直接箭头连接符 28">
              <a:extLst>
                <a:ext uri="{FF2B5EF4-FFF2-40B4-BE49-F238E27FC236}">
                  <a16:creationId xmlns:a16="http://schemas.microsoft.com/office/drawing/2014/main" id="{275C5DF5-4C8A-896E-586F-7E5A742966F5}"/>
                </a:ext>
              </a:extLst>
            </p:cNvPr>
            <p:cNvCxnSpPr>
              <a:cxnSpLocks/>
              <a:stCxn id="31" idx="6"/>
              <a:endCxn id="23" idx="2"/>
            </p:cNvCxnSpPr>
            <p:nvPr/>
          </p:nvCxnSpPr>
          <p:spPr>
            <a:xfrm>
              <a:off x="4840760" y="4798151"/>
              <a:ext cx="687634" cy="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33" name="文本框 32">
            <a:extLst>
              <a:ext uri="{FF2B5EF4-FFF2-40B4-BE49-F238E27FC236}">
                <a16:creationId xmlns:a16="http://schemas.microsoft.com/office/drawing/2014/main" id="{EAD37240-CDC8-C873-E419-7F12254A2C08}"/>
              </a:ext>
            </a:extLst>
          </p:cNvPr>
          <p:cNvSpPr txBox="1"/>
          <p:nvPr/>
        </p:nvSpPr>
        <p:spPr>
          <a:xfrm>
            <a:off x="3197043" y="6355238"/>
            <a:ext cx="1135247" cy="369332"/>
          </a:xfrm>
          <a:prstGeom prst="rect">
            <a:avLst/>
          </a:prstGeom>
          <a:noFill/>
        </p:spPr>
        <p:txBody>
          <a:bodyPr wrap="none" rtlCol="0">
            <a:spAutoFit/>
          </a:bodyPr>
          <a:lstStyle/>
          <a:p>
            <a:r>
              <a:rPr kumimoji="1" lang="zh-CN" altLang="en-US" dirty="0"/>
              <a:t>硬币</a:t>
            </a:r>
            <a:r>
              <a:rPr kumimoji="1" lang="en-US" altLang="zh-CN" dirty="0"/>
              <a:t>A</a:t>
            </a:r>
            <a:r>
              <a:rPr kumimoji="1" lang="zh-CN" altLang="en-US" dirty="0"/>
              <a:t>和</a:t>
            </a:r>
            <a:r>
              <a:rPr kumimoji="1" lang="en-US" altLang="zh-CN" dirty="0"/>
              <a:t>B</a:t>
            </a:r>
            <a:endParaRPr kumimoji="1" lang="zh-CN" altLang="en-US" dirty="0"/>
          </a:p>
        </p:txBody>
      </p:sp>
      <p:sp>
        <p:nvSpPr>
          <p:cNvPr id="35" name="文本框 34">
            <a:extLst>
              <a:ext uri="{FF2B5EF4-FFF2-40B4-BE49-F238E27FC236}">
                <a16:creationId xmlns:a16="http://schemas.microsoft.com/office/drawing/2014/main" id="{44480D1B-9405-8C43-9DCC-1ACC8BBF9885}"/>
              </a:ext>
            </a:extLst>
          </p:cNvPr>
          <p:cNvSpPr txBox="1"/>
          <p:nvPr/>
        </p:nvSpPr>
        <p:spPr>
          <a:xfrm>
            <a:off x="3993141" y="5551510"/>
            <a:ext cx="877163" cy="369332"/>
          </a:xfrm>
          <a:prstGeom prst="rect">
            <a:avLst/>
          </a:prstGeom>
          <a:noFill/>
        </p:spPr>
        <p:txBody>
          <a:bodyPr wrap="none" rtlCol="0">
            <a:spAutoFit/>
          </a:bodyPr>
          <a:lstStyle/>
          <a:p>
            <a:r>
              <a:rPr kumimoji="1" lang="zh-CN" altLang="en-US" dirty="0"/>
              <a:t>抽硬币</a:t>
            </a:r>
          </a:p>
        </p:txBody>
      </p:sp>
      <p:sp>
        <p:nvSpPr>
          <p:cNvPr id="40" name="文本框 39">
            <a:extLst>
              <a:ext uri="{FF2B5EF4-FFF2-40B4-BE49-F238E27FC236}">
                <a16:creationId xmlns:a16="http://schemas.microsoft.com/office/drawing/2014/main" id="{97A9228C-205C-49FE-B4D9-D19235F775EB}"/>
              </a:ext>
            </a:extLst>
          </p:cNvPr>
          <p:cNvSpPr txBox="1"/>
          <p:nvPr/>
        </p:nvSpPr>
        <p:spPr>
          <a:xfrm>
            <a:off x="4731702" y="6355238"/>
            <a:ext cx="2520242" cy="369332"/>
          </a:xfrm>
          <a:prstGeom prst="rect">
            <a:avLst/>
          </a:prstGeom>
          <a:noFill/>
        </p:spPr>
        <p:txBody>
          <a:bodyPr wrap="none" rtlCol="0">
            <a:spAutoFit/>
          </a:bodyPr>
          <a:lstStyle/>
          <a:p>
            <a:r>
              <a:rPr kumimoji="1" lang="en-US" altLang="zh-CN" dirty="0"/>
              <a:t>AB</a:t>
            </a:r>
            <a:r>
              <a:rPr kumimoji="1" lang="zh-CN" altLang="en-US" dirty="0"/>
              <a:t>硬币正面朝上的状态</a:t>
            </a:r>
          </a:p>
        </p:txBody>
      </p:sp>
      <p:pic>
        <p:nvPicPr>
          <p:cNvPr id="2" name="图片 1">
            <a:extLst>
              <a:ext uri="{FF2B5EF4-FFF2-40B4-BE49-F238E27FC236}">
                <a16:creationId xmlns:a16="http://schemas.microsoft.com/office/drawing/2014/main" id="{D7EDC260-E92F-9309-8FD2-AA4D81ED31DB}"/>
              </a:ext>
            </a:extLst>
          </p:cNvPr>
          <p:cNvPicPr>
            <a:picLocks noChangeAspect="1"/>
          </p:cNvPicPr>
          <p:nvPr/>
        </p:nvPicPr>
        <p:blipFill>
          <a:blip r:embed="rId10"/>
          <a:stretch>
            <a:fillRect/>
          </a:stretch>
        </p:blipFill>
        <p:spPr>
          <a:xfrm>
            <a:off x="5421585" y="3749812"/>
            <a:ext cx="2378025" cy="1576291"/>
          </a:xfrm>
          <a:prstGeom prst="rect">
            <a:avLst/>
          </a:prstGeom>
        </p:spPr>
      </p:pic>
      <p:cxnSp>
        <p:nvCxnSpPr>
          <p:cNvPr id="6" name="直线箭头连接符 5">
            <a:extLst>
              <a:ext uri="{FF2B5EF4-FFF2-40B4-BE49-F238E27FC236}">
                <a16:creationId xmlns:a16="http://schemas.microsoft.com/office/drawing/2014/main" id="{9DAD75AB-D4F4-8DF6-088F-9D5D70F972B8}"/>
              </a:ext>
            </a:extLst>
          </p:cNvPr>
          <p:cNvCxnSpPr>
            <a:cxnSpLocks/>
          </p:cNvCxnSpPr>
          <p:nvPr/>
        </p:nvCxnSpPr>
        <p:spPr>
          <a:xfrm>
            <a:off x="4273743" y="4446518"/>
            <a:ext cx="968817"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线箭头连接符 7">
            <a:extLst>
              <a:ext uri="{FF2B5EF4-FFF2-40B4-BE49-F238E27FC236}">
                <a16:creationId xmlns:a16="http://schemas.microsoft.com/office/drawing/2014/main" id="{E2690E93-A964-3CEE-FC06-5090B9822EDE}"/>
              </a:ext>
            </a:extLst>
          </p:cNvPr>
          <p:cNvCxnSpPr>
            <a:cxnSpLocks/>
            <a:stCxn id="2" idx="2"/>
          </p:cNvCxnSpPr>
          <p:nvPr/>
        </p:nvCxnSpPr>
        <p:spPr>
          <a:xfrm flipH="1">
            <a:off x="6050280" y="5326103"/>
            <a:ext cx="560318" cy="8236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373B0D40-2438-641B-28B1-A3B692C16E85}"/>
              </a:ext>
            </a:extLst>
          </p:cNvPr>
          <p:cNvSpPr txBox="1"/>
          <p:nvPr/>
        </p:nvSpPr>
        <p:spPr>
          <a:xfrm>
            <a:off x="3845211" y="4145581"/>
            <a:ext cx="1877437" cy="276999"/>
          </a:xfrm>
          <a:prstGeom prst="rect">
            <a:avLst/>
          </a:prstGeom>
          <a:noFill/>
        </p:spPr>
        <p:txBody>
          <a:bodyPr wrap="none" rtlCol="0">
            <a:spAutoFit/>
          </a:bodyPr>
          <a:lstStyle/>
          <a:p>
            <a:r>
              <a:rPr kumimoji="1" lang="zh-CN" altLang="en-US" sz="1200" dirty="0"/>
              <a:t>不知道抽中的是哪个硬币</a:t>
            </a:r>
          </a:p>
        </p:txBody>
      </p:sp>
    </p:spTree>
    <p:extLst>
      <p:ext uri="{BB962C8B-B14F-4D97-AF65-F5344CB8AC3E}">
        <p14:creationId xmlns:p14="http://schemas.microsoft.com/office/powerpoint/2010/main" val="19068246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849F6690-735E-B517-5517-F61D8F497F6F}"/>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80754185-750D-FCCF-2BE4-44C6C693F2E5}"/>
              </a:ext>
            </a:extLst>
          </p:cNvPr>
          <p:cNvGrpSpPr/>
          <p:nvPr/>
        </p:nvGrpSpPr>
        <p:grpSpPr>
          <a:xfrm>
            <a:off x="-4445" y="340995"/>
            <a:ext cx="8925560" cy="583565"/>
            <a:chOff x="-9" y="380"/>
            <a:chExt cx="14056" cy="919"/>
          </a:xfrm>
        </p:grpSpPr>
        <p:sp>
          <p:nvSpPr>
            <p:cNvPr id="34" name="矩形 33">
              <a:extLst>
                <a:ext uri="{FF2B5EF4-FFF2-40B4-BE49-F238E27FC236}">
                  <a16:creationId xmlns:a16="http://schemas.microsoft.com/office/drawing/2014/main" id="{FB09427B-E852-6ECA-5EE3-F8B8E67AA494}"/>
                </a:ext>
              </a:extLst>
            </p:cNvPr>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C7823204-1549-F808-E036-6ED31A764FAF}"/>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F80554F3-C76F-1C84-7AAA-C0085782CB7E}"/>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9B757BA4-E4FA-0EFF-13FE-06E5B6E6292C}"/>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C18BD00D-B3E9-A15C-E0BA-ECA4E847C46B}"/>
                </a:ext>
              </a:extLst>
            </p:cNvPr>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54871B95-6DBE-6B91-3634-23844F0DB4E6}"/>
                  </a:ext>
                </a:extLst>
              </p:cNvPr>
              <p:cNvSpPr txBox="1"/>
              <p:nvPr/>
            </p:nvSpPr>
            <p:spPr>
              <a:xfrm>
                <a:off x="443548" y="1072869"/>
                <a:ext cx="7889083" cy="1569660"/>
              </a:xfrm>
              <a:prstGeom prst="rect">
                <a:avLst/>
              </a:prstGeom>
              <a:noFill/>
            </p:spPr>
            <p:txBody>
              <a:bodyPr wrap="square">
                <a:spAutoFit/>
              </a:bodyPr>
              <a:lstStyle/>
              <a:p>
                <a:r>
                  <a:rPr lang="zh-CN" altLang="en-US" sz="2400" b="0" i="0" dirty="0">
                    <a:solidFill>
                      <a:srgbClr val="191B1F"/>
                    </a:solidFill>
                    <a:effectLst/>
                    <a:latin typeface="-apple-system"/>
                  </a:rPr>
                  <a:t>现在有两个硬币</a:t>
                </a:r>
                <a:r>
                  <a:rPr lang="en" altLang="zh-CN" sz="2400" b="0" i="0" dirty="0">
                    <a:solidFill>
                      <a:srgbClr val="191B1F"/>
                    </a:solidFill>
                    <a:effectLst/>
                    <a:latin typeface="-apple-system"/>
                  </a:rPr>
                  <a:t>A</a:t>
                </a:r>
                <a:r>
                  <a:rPr lang="zh-CN" altLang="en-US" sz="2400" b="0" i="0" dirty="0">
                    <a:solidFill>
                      <a:srgbClr val="191B1F"/>
                    </a:solidFill>
                    <a:effectLst/>
                    <a:latin typeface="-apple-system"/>
                  </a:rPr>
                  <a:t>和</a:t>
                </a:r>
                <a:r>
                  <a:rPr lang="en" altLang="zh-CN" sz="2400" b="0" i="0" dirty="0">
                    <a:solidFill>
                      <a:srgbClr val="191B1F"/>
                    </a:solidFill>
                    <a:effectLst/>
                    <a:latin typeface="-apple-system"/>
                  </a:rPr>
                  <a:t>B</a:t>
                </a:r>
                <a:r>
                  <a:rPr lang="zh-CN" altLang="en" sz="2400" b="0" i="0" dirty="0">
                    <a:solidFill>
                      <a:srgbClr val="191B1F"/>
                    </a:solidFill>
                    <a:effectLst/>
                    <a:latin typeface="-apple-system"/>
                  </a:rPr>
                  <a:t>，</a:t>
                </a:r>
                <a:r>
                  <a:rPr lang="zh-CN" altLang="en-US" sz="2400" b="0" i="0" dirty="0">
                    <a:solidFill>
                      <a:srgbClr val="191B1F"/>
                    </a:solidFill>
                    <a:effectLst/>
                    <a:latin typeface="-apple-system"/>
                  </a:rPr>
                  <a:t>这两个硬币都是有偏的。现在要做</a:t>
                </a:r>
                <a:r>
                  <a:rPr lang="en-US" altLang="zh-CN" sz="2400" b="0" i="0" dirty="0">
                    <a:solidFill>
                      <a:srgbClr val="191B1F"/>
                    </a:solidFill>
                    <a:effectLst/>
                    <a:latin typeface="-apple-system"/>
                  </a:rPr>
                  <a:t>5</a:t>
                </a:r>
                <a:r>
                  <a:rPr lang="zh-CN" altLang="en-US" sz="2400" b="0" i="0" dirty="0">
                    <a:solidFill>
                      <a:srgbClr val="191B1F"/>
                    </a:solidFill>
                    <a:effectLst/>
                    <a:latin typeface="-apple-system"/>
                  </a:rPr>
                  <a:t>组实验，每次实验从两个硬币中随机抽取一个，然后连续抛</a:t>
                </a:r>
                <a:r>
                  <a:rPr lang="en-US" altLang="zh-CN" sz="2400" b="0" i="0" dirty="0">
                    <a:solidFill>
                      <a:srgbClr val="191B1F"/>
                    </a:solidFill>
                    <a:effectLst/>
                    <a:latin typeface="-apple-system"/>
                  </a:rPr>
                  <a:t>10</a:t>
                </a:r>
                <a:r>
                  <a:rPr lang="zh-CN" altLang="en-US" sz="2400" b="0" i="0" dirty="0">
                    <a:solidFill>
                      <a:srgbClr val="191B1F"/>
                    </a:solidFill>
                    <a:effectLst/>
                    <a:latin typeface="-apple-system"/>
                  </a:rPr>
                  <a:t>次。设参数 </a:t>
                </a:r>
                <a14:m>
                  <m:oMath xmlns:m="http://schemas.openxmlformats.org/officeDocument/2006/math">
                    <m:sSub>
                      <m:sSubPr>
                        <m:ctrlPr>
                          <a:rPr lang="en-US" altLang="zh-CN" sz="2400" i="1" dirty="0">
                            <a:solidFill>
                              <a:srgbClr val="191B1F"/>
                            </a:solidFill>
                            <a:latin typeface="Cambria Math" panose="02040503050406030204" pitchFamily="18" charset="0"/>
                          </a:rPr>
                        </m:ctrlPr>
                      </m:sSubPr>
                      <m:e>
                        <m:r>
                          <a:rPr lang="el-GR" altLang="zh-CN" sz="2400" i="1" dirty="0">
                            <a:solidFill>
                              <a:srgbClr val="191B1F"/>
                            </a:solidFill>
                            <a:latin typeface="Cambria Math" panose="02040503050406030204" pitchFamily="18" charset="0"/>
                          </a:rPr>
                          <m:t>𝜃</m:t>
                        </m:r>
                      </m:e>
                      <m:sub>
                        <m:r>
                          <a:rPr lang="en-US" altLang="zh-CN" sz="2400" b="0" i="1" dirty="0" smtClean="0">
                            <a:solidFill>
                              <a:srgbClr val="191B1F"/>
                            </a:solidFill>
                            <a:latin typeface="Cambria Math" panose="02040503050406030204" pitchFamily="18" charset="0"/>
                          </a:rPr>
                          <m:t>𝐴</m:t>
                        </m:r>
                        <m:r>
                          <a:rPr lang="en-US" altLang="zh-CN" sz="2400" b="0" i="1" dirty="0" smtClean="0">
                            <a:solidFill>
                              <a:srgbClr val="191B1F"/>
                            </a:solidFill>
                            <a:latin typeface="Cambria Math" panose="02040503050406030204" pitchFamily="18" charset="0"/>
                          </a:rPr>
                          <m:t> </m:t>
                        </m:r>
                      </m:sub>
                    </m:sSub>
                    <m:r>
                      <a:rPr lang="en" altLang="zh-CN" sz="2400" i="1" dirty="0">
                        <a:solidFill>
                          <a:srgbClr val="191B1F"/>
                        </a:solidFill>
                        <a:latin typeface="Cambria Math" panose="02040503050406030204" pitchFamily="18" charset="0"/>
                      </a:rPr>
                      <m:t> </m:t>
                    </m:r>
                  </m:oMath>
                </a14:m>
                <a:r>
                  <a:rPr lang="zh-CN" altLang="en" sz="2400" b="0" i="0" dirty="0">
                    <a:solidFill>
                      <a:srgbClr val="191B1F"/>
                    </a:solidFill>
                    <a:effectLst/>
                    <a:latin typeface="-apple-system"/>
                  </a:rPr>
                  <a:t>、 </a:t>
                </a:r>
                <a14:m>
                  <m:oMath xmlns:m="http://schemas.openxmlformats.org/officeDocument/2006/math">
                    <m:sSub>
                      <m:sSubPr>
                        <m:ctrlPr>
                          <a:rPr lang="en-US" altLang="zh-CN" sz="2400" b="0" i="1" dirty="0" smtClean="0">
                            <a:solidFill>
                              <a:srgbClr val="191B1F"/>
                            </a:solidFill>
                            <a:effectLst/>
                            <a:latin typeface="Cambria Math" panose="02040503050406030204" pitchFamily="18" charset="0"/>
                          </a:rPr>
                        </m:ctrlPr>
                      </m:sSubPr>
                      <m:e>
                        <m:r>
                          <a:rPr lang="el-GR" altLang="zh-CN" sz="2400" b="0" i="1" dirty="0" smtClean="0">
                            <a:solidFill>
                              <a:srgbClr val="191B1F"/>
                            </a:solidFill>
                            <a:effectLst/>
                            <a:latin typeface="Cambria Math" panose="02040503050406030204" pitchFamily="18" charset="0"/>
                          </a:rPr>
                          <m:t>𝜃</m:t>
                        </m:r>
                      </m:e>
                      <m:sub>
                        <m:r>
                          <a:rPr lang="en-US" altLang="zh-CN" sz="2400" b="0" i="1" dirty="0" smtClean="0">
                            <a:solidFill>
                              <a:srgbClr val="191B1F"/>
                            </a:solidFill>
                            <a:effectLst/>
                            <a:latin typeface="Cambria Math" panose="02040503050406030204" pitchFamily="18" charset="0"/>
                          </a:rPr>
                          <m:t>𝐵</m:t>
                        </m:r>
                      </m:sub>
                    </m:sSub>
                    <m:r>
                      <a:rPr lang="en" altLang="zh-CN" sz="2400" b="0" i="1" dirty="0">
                        <a:solidFill>
                          <a:srgbClr val="191B1F"/>
                        </a:solidFill>
                        <a:effectLst/>
                        <a:latin typeface="Cambria Math" panose="02040503050406030204" pitchFamily="18" charset="0"/>
                      </a:rPr>
                      <m:t> </m:t>
                    </m:r>
                  </m:oMath>
                </a14:m>
                <a:r>
                  <a:rPr lang="zh-CN" altLang="en-US" sz="2400" b="0" i="0" dirty="0">
                    <a:solidFill>
                      <a:srgbClr val="191B1F"/>
                    </a:solidFill>
                    <a:effectLst/>
                    <a:latin typeface="-apple-system"/>
                  </a:rPr>
                  <a:t>分别为硬币</a:t>
                </a:r>
                <a:r>
                  <a:rPr lang="en" altLang="zh-CN" sz="2400" b="0" i="0" dirty="0">
                    <a:solidFill>
                      <a:srgbClr val="191B1F"/>
                    </a:solidFill>
                    <a:effectLst/>
                    <a:latin typeface="-apple-system"/>
                  </a:rPr>
                  <a:t>A</a:t>
                </a:r>
                <a:r>
                  <a:rPr lang="zh-CN" altLang="en" sz="2400" b="0" i="0" dirty="0">
                    <a:solidFill>
                      <a:srgbClr val="191B1F"/>
                    </a:solidFill>
                    <a:effectLst/>
                    <a:latin typeface="-apple-system"/>
                  </a:rPr>
                  <a:t>、</a:t>
                </a:r>
                <a:r>
                  <a:rPr lang="en" altLang="zh-CN" sz="2400" b="0" i="0" dirty="0">
                    <a:solidFill>
                      <a:srgbClr val="191B1F"/>
                    </a:solidFill>
                    <a:effectLst/>
                    <a:latin typeface="-apple-system"/>
                  </a:rPr>
                  <a:t>B</a:t>
                </a:r>
                <a:r>
                  <a:rPr lang="zh-CN" altLang="en-US" sz="2400" b="0" i="0" dirty="0">
                    <a:solidFill>
                      <a:srgbClr val="191B1F"/>
                    </a:solidFill>
                    <a:effectLst/>
                    <a:latin typeface="-apple-system"/>
                  </a:rPr>
                  <a:t>正面朝上的概率</a:t>
                </a:r>
                <a:r>
                  <a:rPr lang="zh-CN" altLang="en-US" sz="2400" dirty="0">
                    <a:solidFill>
                      <a:srgbClr val="191B1F"/>
                    </a:solidFill>
                    <a:latin typeface="-apple-system"/>
                  </a:rPr>
                  <a:t>，求解</a:t>
                </a:r>
                <a14:m>
                  <m:oMath xmlns:m="http://schemas.openxmlformats.org/officeDocument/2006/math">
                    <m:sSub>
                      <m:sSubPr>
                        <m:ctrlPr>
                          <a:rPr lang="en-US" altLang="zh-CN" sz="2400" i="1" dirty="0">
                            <a:solidFill>
                              <a:srgbClr val="191B1F"/>
                            </a:solidFill>
                            <a:latin typeface="Cambria Math" panose="02040503050406030204" pitchFamily="18" charset="0"/>
                          </a:rPr>
                        </m:ctrlPr>
                      </m:sSubPr>
                      <m:e>
                        <m:r>
                          <a:rPr lang="el-GR" altLang="zh-CN" sz="2400" i="1" dirty="0">
                            <a:solidFill>
                              <a:srgbClr val="191B1F"/>
                            </a:solidFill>
                            <a:latin typeface="Cambria Math" panose="02040503050406030204" pitchFamily="18" charset="0"/>
                          </a:rPr>
                          <m:t>𝜃</m:t>
                        </m:r>
                      </m:e>
                      <m:sub>
                        <m:r>
                          <a:rPr lang="en-US" altLang="zh-CN" sz="2400" i="1" dirty="0">
                            <a:solidFill>
                              <a:srgbClr val="191B1F"/>
                            </a:solidFill>
                            <a:latin typeface="Cambria Math" panose="02040503050406030204" pitchFamily="18" charset="0"/>
                          </a:rPr>
                          <m:t>𝐴</m:t>
                        </m:r>
                        <m:r>
                          <a:rPr lang="en-US" altLang="zh-CN" sz="2400" i="1" dirty="0">
                            <a:solidFill>
                              <a:srgbClr val="191B1F"/>
                            </a:solidFill>
                            <a:latin typeface="Cambria Math" panose="02040503050406030204" pitchFamily="18" charset="0"/>
                          </a:rPr>
                          <m:t> </m:t>
                        </m:r>
                      </m:sub>
                    </m:sSub>
                    <m:r>
                      <a:rPr lang="en" altLang="zh-CN" sz="2400" i="1" dirty="0">
                        <a:solidFill>
                          <a:srgbClr val="191B1F"/>
                        </a:solidFill>
                        <a:latin typeface="Cambria Math" panose="02040503050406030204" pitchFamily="18" charset="0"/>
                      </a:rPr>
                      <m:t> </m:t>
                    </m:r>
                  </m:oMath>
                </a14:m>
                <a:r>
                  <a:rPr lang="zh-CN" altLang="en-US" sz="2400" dirty="0">
                    <a:solidFill>
                      <a:srgbClr val="191B1F"/>
                    </a:solidFill>
                    <a:latin typeface="-apple-system"/>
                  </a:rPr>
                  <a:t>和</a:t>
                </a:r>
                <a:r>
                  <a:rPr lang="zh-CN" altLang="en" sz="2400" dirty="0">
                    <a:solidFill>
                      <a:srgbClr val="191B1F"/>
                    </a:solidFill>
                    <a:latin typeface="-apple-system"/>
                  </a:rPr>
                  <a:t> </a:t>
                </a:r>
                <a14:m>
                  <m:oMath xmlns:m="http://schemas.openxmlformats.org/officeDocument/2006/math">
                    <m:sSub>
                      <m:sSubPr>
                        <m:ctrlPr>
                          <a:rPr lang="en-US" altLang="zh-CN" sz="2400" i="1" dirty="0">
                            <a:solidFill>
                              <a:srgbClr val="191B1F"/>
                            </a:solidFill>
                            <a:latin typeface="Cambria Math" panose="02040503050406030204" pitchFamily="18" charset="0"/>
                          </a:rPr>
                        </m:ctrlPr>
                      </m:sSubPr>
                      <m:e>
                        <m:r>
                          <a:rPr lang="el-GR" altLang="zh-CN" sz="2400" i="1" dirty="0">
                            <a:solidFill>
                              <a:srgbClr val="191B1F"/>
                            </a:solidFill>
                            <a:latin typeface="Cambria Math" panose="02040503050406030204" pitchFamily="18" charset="0"/>
                          </a:rPr>
                          <m:t>𝜃</m:t>
                        </m:r>
                      </m:e>
                      <m:sub>
                        <m:r>
                          <a:rPr lang="en-US" altLang="zh-CN" sz="2400" i="1" dirty="0">
                            <a:solidFill>
                              <a:srgbClr val="191B1F"/>
                            </a:solidFill>
                            <a:latin typeface="Cambria Math" panose="02040503050406030204" pitchFamily="18" charset="0"/>
                          </a:rPr>
                          <m:t>𝐵</m:t>
                        </m:r>
                      </m:sub>
                    </m:sSub>
                    <m:r>
                      <a:rPr lang="en" altLang="zh-CN" sz="2400" i="1" dirty="0">
                        <a:solidFill>
                          <a:srgbClr val="191B1F"/>
                        </a:solidFill>
                        <a:latin typeface="Cambria Math" panose="02040503050406030204" pitchFamily="18" charset="0"/>
                      </a:rPr>
                      <m:t> </m:t>
                    </m:r>
                  </m:oMath>
                </a14:m>
                <a:r>
                  <a:rPr lang="zh-CN" altLang="en-US" sz="2400" dirty="0"/>
                  <a:t>。</a:t>
                </a:r>
              </a:p>
            </p:txBody>
          </p:sp>
        </mc:Choice>
        <mc:Fallback>
          <p:sp>
            <p:nvSpPr>
              <p:cNvPr id="12" name="文本框 11">
                <a:extLst>
                  <a:ext uri="{FF2B5EF4-FFF2-40B4-BE49-F238E27FC236}">
                    <a16:creationId xmlns:a16="http://schemas.microsoft.com/office/drawing/2014/main" id="{54871B95-6DBE-6B91-3634-23844F0DB4E6}"/>
                  </a:ext>
                </a:extLst>
              </p:cNvPr>
              <p:cNvSpPr txBox="1">
                <a:spLocks noRot="1" noChangeAspect="1" noMove="1" noResize="1" noEditPoints="1" noAdjustHandles="1" noChangeArrowheads="1" noChangeShapeType="1" noTextEdit="1"/>
              </p:cNvSpPr>
              <p:nvPr/>
            </p:nvSpPr>
            <p:spPr>
              <a:xfrm>
                <a:off x="443548" y="1072869"/>
                <a:ext cx="7889083" cy="1569660"/>
              </a:xfrm>
              <a:prstGeom prst="rect">
                <a:avLst/>
              </a:prstGeom>
              <a:blipFill>
                <a:blip r:embed="rId5"/>
                <a:stretch>
                  <a:fillRect l="-1236" t="-4669" r="-1159" b="-661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AD792553-BF29-BD9A-5DDF-E19219A33AB1}"/>
              </a:ext>
            </a:extLst>
          </p:cNvPr>
          <p:cNvPicPr>
            <a:picLocks noChangeAspect="1"/>
          </p:cNvPicPr>
          <p:nvPr/>
        </p:nvPicPr>
        <p:blipFill>
          <a:blip r:embed="rId6"/>
          <a:stretch>
            <a:fillRect/>
          </a:stretch>
        </p:blipFill>
        <p:spPr>
          <a:xfrm>
            <a:off x="2862049" y="2858783"/>
            <a:ext cx="5953717" cy="3715119"/>
          </a:xfrm>
          <a:prstGeom prst="rect">
            <a:avLst/>
          </a:prstGeom>
        </p:spPr>
      </p:pic>
      <p:sp>
        <p:nvSpPr>
          <p:cNvPr id="9" name="文本框 8">
            <a:extLst>
              <a:ext uri="{FF2B5EF4-FFF2-40B4-BE49-F238E27FC236}">
                <a16:creationId xmlns:a16="http://schemas.microsoft.com/office/drawing/2014/main" id="{B9D0AEA6-D235-8FCB-5641-C6AC05058B13}"/>
              </a:ext>
            </a:extLst>
          </p:cNvPr>
          <p:cNvSpPr txBox="1"/>
          <p:nvPr/>
        </p:nvSpPr>
        <p:spPr>
          <a:xfrm>
            <a:off x="361676" y="3889006"/>
            <a:ext cx="2814143" cy="1200329"/>
          </a:xfrm>
          <a:prstGeom prst="rect">
            <a:avLst/>
          </a:prstGeom>
          <a:noFill/>
        </p:spPr>
        <p:txBody>
          <a:bodyPr wrap="square" rtlCol="0">
            <a:spAutoFit/>
          </a:bodyPr>
          <a:lstStyle/>
          <a:p>
            <a:r>
              <a:rPr kumimoji="1" lang="zh-CN" altLang="en-US" sz="2400" dirty="0"/>
              <a:t>在不知道抽中哪个硬币的情况下就需要用到</a:t>
            </a:r>
            <a:r>
              <a:rPr kumimoji="1" lang="en-US" altLang="zh-CN" sz="2400" dirty="0"/>
              <a:t>EM</a:t>
            </a:r>
            <a:r>
              <a:rPr kumimoji="1" lang="zh-CN" altLang="en-US" sz="2400" dirty="0"/>
              <a:t>算法</a:t>
            </a:r>
          </a:p>
        </p:txBody>
      </p:sp>
    </p:spTree>
    <p:extLst>
      <p:ext uri="{BB962C8B-B14F-4D97-AF65-F5344CB8AC3E}">
        <p14:creationId xmlns:p14="http://schemas.microsoft.com/office/powerpoint/2010/main" val="850517966"/>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a:extLst>
            <a:ext uri="{FF2B5EF4-FFF2-40B4-BE49-F238E27FC236}">
              <a16:creationId xmlns:a16="http://schemas.microsoft.com/office/drawing/2014/main" id="{FF895730-C26F-1912-D023-9C1A4388745E}"/>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12A6D940-50F2-2910-5F72-255731887E50}"/>
              </a:ext>
            </a:extLst>
          </p:cNvPr>
          <p:cNvGrpSpPr/>
          <p:nvPr/>
        </p:nvGrpSpPr>
        <p:grpSpPr>
          <a:xfrm>
            <a:off x="-4445" y="340995"/>
            <a:ext cx="8925560" cy="583565"/>
            <a:chOff x="-9" y="380"/>
            <a:chExt cx="14056" cy="919"/>
          </a:xfrm>
        </p:grpSpPr>
        <p:sp>
          <p:nvSpPr>
            <p:cNvPr id="34" name="矩形 33">
              <a:extLst>
                <a:ext uri="{FF2B5EF4-FFF2-40B4-BE49-F238E27FC236}">
                  <a16:creationId xmlns:a16="http://schemas.microsoft.com/office/drawing/2014/main" id="{7A4348BE-3B73-869C-70AD-37A37281688A}"/>
                </a:ext>
              </a:extLst>
            </p:cNvPr>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a:extLst>
                <a:ext uri="{FF2B5EF4-FFF2-40B4-BE49-F238E27FC236}">
                  <a16:creationId xmlns:a16="http://schemas.microsoft.com/office/drawing/2014/main" id="{3FB9B59B-65BE-71C9-4BDB-FA2D40C8489C}"/>
                </a:ext>
              </a:extLst>
            </p:cNvPr>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a:extLst>
                <a:ext uri="{FF2B5EF4-FFF2-40B4-BE49-F238E27FC236}">
                  <a16:creationId xmlns:a16="http://schemas.microsoft.com/office/drawing/2014/main" id="{9F0A7D69-FD55-F867-5D40-E4037B7BC2A5}"/>
                </a:ext>
              </a:extLst>
            </p:cNvPr>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a:extLst>
                <a:ext uri="{FF2B5EF4-FFF2-40B4-BE49-F238E27FC236}">
                  <a16:creationId xmlns:a16="http://schemas.microsoft.com/office/drawing/2014/main" id="{5C86B8C0-33EF-732D-5FC4-FEBE48832A9F}"/>
                </a:ext>
              </a:extLst>
            </p:cNvPr>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a:extLst>
                <a:ext uri="{FF2B5EF4-FFF2-40B4-BE49-F238E27FC236}">
                  <a16:creationId xmlns:a16="http://schemas.microsoft.com/office/drawing/2014/main" id="{FA24EFAD-2520-AFF0-B8FC-972AA5609CB2}"/>
                </a:ext>
              </a:extLst>
            </p:cNvPr>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308AFDD-1B5D-F0B5-6F22-336D7FE1B50F}"/>
                  </a:ext>
                </a:extLst>
              </p:cNvPr>
              <p:cNvSpPr txBox="1"/>
              <p:nvPr/>
            </p:nvSpPr>
            <p:spPr>
              <a:xfrm>
                <a:off x="443548" y="1072869"/>
                <a:ext cx="7889083" cy="1015663"/>
              </a:xfrm>
              <a:prstGeom prst="rect">
                <a:avLst/>
              </a:prstGeom>
              <a:noFill/>
            </p:spPr>
            <p:txBody>
              <a:bodyPr wrap="square">
                <a:spAutoFit/>
              </a:bodyPr>
              <a:lstStyle/>
              <a:p>
                <a:r>
                  <a:rPr lang="zh-CN" altLang="en-US" sz="2000" b="0" i="0" dirty="0">
                    <a:solidFill>
                      <a:srgbClr val="191B1F"/>
                    </a:solidFill>
                    <a:effectLst/>
                    <a:latin typeface="-apple-system"/>
                  </a:rPr>
                  <a:t>现在有两个硬币</a:t>
                </a:r>
                <a:r>
                  <a:rPr lang="en" altLang="zh-CN" sz="2000" b="0" i="0" dirty="0">
                    <a:solidFill>
                      <a:srgbClr val="191B1F"/>
                    </a:solidFill>
                    <a:effectLst/>
                    <a:latin typeface="-apple-system"/>
                  </a:rPr>
                  <a:t>A</a:t>
                </a:r>
                <a:r>
                  <a:rPr lang="zh-CN" altLang="en-US" sz="2000" b="0" i="0" dirty="0">
                    <a:solidFill>
                      <a:srgbClr val="191B1F"/>
                    </a:solidFill>
                    <a:effectLst/>
                    <a:latin typeface="-apple-system"/>
                  </a:rPr>
                  <a:t>和</a:t>
                </a:r>
                <a:r>
                  <a:rPr lang="en" altLang="zh-CN" sz="2000" b="0" i="0" dirty="0">
                    <a:solidFill>
                      <a:srgbClr val="191B1F"/>
                    </a:solidFill>
                    <a:effectLst/>
                    <a:latin typeface="-apple-system"/>
                  </a:rPr>
                  <a:t>B</a:t>
                </a:r>
                <a:r>
                  <a:rPr lang="zh-CN" altLang="en" sz="2000" b="0" i="0" dirty="0">
                    <a:solidFill>
                      <a:srgbClr val="191B1F"/>
                    </a:solidFill>
                    <a:effectLst/>
                    <a:latin typeface="-apple-system"/>
                  </a:rPr>
                  <a:t>，</a:t>
                </a:r>
                <a:r>
                  <a:rPr lang="zh-CN" altLang="en-US" sz="2000" b="0" i="0" dirty="0">
                    <a:solidFill>
                      <a:srgbClr val="191B1F"/>
                    </a:solidFill>
                    <a:effectLst/>
                    <a:latin typeface="-apple-system"/>
                  </a:rPr>
                  <a:t>这两个硬币都是有偏的。现在要做</a:t>
                </a:r>
                <a:r>
                  <a:rPr lang="en-US" altLang="zh-CN" sz="2000" b="0" i="0" dirty="0">
                    <a:solidFill>
                      <a:srgbClr val="191B1F"/>
                    </a:solidFill>
                    <a:effectLst/>
                    <a:latin typeface="-apple-system"/>
                  </a:rPr>
                  <a:t>5</a:t>
                </a:r>
                <a:r>
                  <a:rPr lang="zh-CN" altLang="en-US" sz="2000" b="0" i="0" dirty="0">
                    <a:solidFill>
                      <a:srgbClr val="191B1F"/>
                    </a:solidFill>
                    <a:effectLst/>
                    <a:latin typeface="-apple-system"/>
                  </a:rPr>
                  <a:t>组实验，每次实验从两个硬币中随机抽取一个，然后连续抛</a:t>
                </a:r>
                <a:r>
                  <a:rPr lang="en-US" altLang="zh-CN" sz="2000" b="0" i="0" dirty="0">
                    <a:solidFill>
                      <a:srgbClr val="191B1F"/>
                    </a:solidFill>
                    <a:effectLst/>
                    <a:latin typeface="-apple-system"/>
                  </a:rPr>
                  <a:t>10</a:t>
                </a:r>
                <a:r>
                  <a:rPr lang="zh-CN" altLang="en-US" sz="2000" b="0" i="0" dirty="0">
                    <a:solidFill>
                      <a:srgbClr val="191B1F"/>
                    </a:solidFill>
                    <a:effectLst/>
                    <a:latin typeface="-apple-system"/>
                  </a:rPr>
                  <a:t>次。设参数 </a:t>
                </a:r>
                <a14:m>
                  <m:oMath xmlns:m="http://schemas.openxmlformats.org/officeDocument/2006/math">
                    <m:sSub>
                      <m:sSubPr>
                        <m:ctrlPr>
                          <a:rPr lang="en-US" altLang="zh-CN" sz="2000" i="1" dirty="0">
                            <a:solidFill>
                              <a:srgbClr val="191B1F"/>
                            </a:solidFill>
                            <a:latin typeface="Cambria Math" panose="02040503050406030204" pitchFamily="18" charset="0"/>
                          </a:rPr>
                        </m:ctrlPr>
                      </m:sSubPr>
                      <m:e>
                        <m:r>
                          <a:rPr lang="el-GR" altLang="zh-CN" sz="2000" i="1" dirty="0">
                            <a:solidFill>
                              <a:srgbClr val="191B1F"/>
                            </a:solidFill>
                            <a:latin typeface="Cambria Math" panose="02040503050406030204" pitchFamily="18" charset="0"/>
                          </a:rPr>
                          <m:t>𝜃</m:t>
                        </m:r>
                      </m:e>
                      <m:sub>
                        <m:r>
                          <a:rPr lang="en-US" altLang="zh-CN" sz="2000" b="0" i="1" dirty="0" smtClean="0">
                            <a:solidFill>
                              <a:srgbClr val="191B1F"/>
                            </a:solidFill>
                            <a:latin typeface="Cambria Math" panose="02040503050406030204" pitchFamily="18" charset="0"/>
                          </a:rPr>
                          <m:t>𝐴</m:t>
                        </m:r>
                        <m:r>
                          <a:rPr lang="en-US" altLang="zh-CN" sz="2000" b="0" i="1" dirty="0" smtClean="0">
                            <a:solidFill>
                              <a:srgbClr val="191B1F"/>
                            </a:solidFill>
                            <a:latin typeface="Cambria Math" panose="02040503050406030204" pitchFamily="18" charset="0"/>
                          </a:rPr>
                          <m:t> </m:t>
                        </m:r>
                      </m:sub>
                    </m:sSub>
                    <m:r>
                      <a:rPr lang="en" altLang="zh-CN" sz="2000" i="1" dirty="0">
                        <a:solidFill>
                          <a:srgbClr val="191B1F"/>
                        </a:solidFill>
                        <a:latin typeface="Cambria Math" panose="02040503050406030204" pitchFamily="18" charset="0"/>
                      </a:rPr>
                      <m:t> </m:t>
                    </m:r>
                  </m:oMath>
                </a14:m>
                <a:r>
                  <a:rPr lang="zh-CN" altLang="en" sz="2000" b="0" i="0" dirty="0">
                    <a:solidFill>
                      <a:srgbClr val="191B1F"/>
                    </a:solidFill>
                    <a:effectLst/>
                    <a:latin typeface="-apple-system"/>
                  </a:rPr>
                  <a:t>、 </a:t>
                </a:r>
                <a14:m>
                  <m:oMath xmlns:m="http://schemas.openxmlformats.org/officeDocument/2006/math">
                    <m:sSub>
                      <m:sSubPr>
                        <m:ctrlPr>
                          <a:rPr lang="en-US" altLang="zh-CN" sz="2000" b="0" i="1" dirty="0" smtClean="0">
                            <a:solidFill>
                              <a:srgbClr val="191B1F"/>
                            </a:solidFill>
                            <a:effectLst/>
                            <a:latin typeface="Cambria Math" panose="02040503050406030204" pitchFamily="18" charset="0"/>
                          </a:rPr>
                        </m:ctrlPr>
                      </m:sSubPr>
                      <m:e>
                        <m:r>
                          <a:rPr lang="el-GR" altLang="zh-CN" sz="2000" b="0" i="1" dirty="0" smtClean="0">
                            <a:solidFill>
                              <a:srgbClr val="191B1F"/>
                            </a:solidFill>
                            <a:effectLst/>
                            <a:latin typeface="Cambria Math" panose="02040503050406030204" pitchFamily="18" charset="0"/>
                          </a:rPr>
                          <m:t>𝜃</m:t>
                        </m:r>
                      </m:e>
                      <m:sub>
                        <m:r>
                          <a:rPr lang="en-US" altLang="zh-CN" sz="2000" b="0" i="1" dirty="0" smtClean="0">
                            <a:solidFill>
                              <a:srgbClr val="191B1F"/>
                            </a:solidFill>
                            <a:effectLst/>
                            <a:latin typeface="Cambria Math" panose="02040503050406030204" pitchFamily="18" charset="0"/>
                          </a:rPr>
                          <m:t>𝐵</m:t>
                        </m:r>
                      </m:sub>
                    </m:sSub>
                    <m:r>
                      <a:rPr lang="en" altLang="zh-CN" sz="2000" b="0" i="1" dirty="0">
                        <a:solidFill>
                          <a:srgbClr val="191B1F"/>
                        </a:solidFill>
                        <a:effectLst/>
                        <a:latin typeface="Cambria Math" panose="02040503050406030204" pitchFamily="18" charset="0"/>
                      </a:rPr>
                      <m:t> </m:t>
                    </m:r>
                  </m:oMath>
                </a14:m>
                <a:r>
                  <a:rPr lang="zh-CN" altLang="en-US" sz="2000" b="0" i="0" dirty="0">
                    <a:solidFill>
                      <a:srgbClr val="191B1F"/>
                    </a:solidFill>
                    <a:effectLst/>
                    <a:latin typeface="-apple-system"/>
                  </a:rPr>
                  <a:t>分别为硬币</a:t>
                </a:r>
                <a:r>
                  <a:rPr lang="en" altLang="zh-CN" sz="2000" b="0" i="0" dirty="0">
                    <a:solidFill>
                      <a:srgbClr val="191B1F"/>
                    </a:solidFill>
                    <a:effectLst/>
                    <a:latin typeface="-apple-system"/>
                  </a:rPr>
                  <a:t>A</a:t>
                </a:r>
                <a:r>
                  <a:rPr lang="zh-CN" altLang="en" sz="2000" b="0" i="0" dirty="0">
                    <a:solidFill>
                      <a:srgbClr val="191B1F"/>
                    </a:solidFill>
                    <a:effectLst/>
                    <a:latin typeface="-apple-system"/>
                  </a:rPr>
                  <a:t>、</a:t>
                </a:r>
                <a:r>
                  <a:rPr lang="en" altLang="zh-CN" sz="2000" b="0" i="0" dirty="0">
                    <a:solidFill>
                      <a:srgbClr val="191B1F"/>
                    </a:solidFill>
                    <a:effectLst/>
                    <a:latin typeface="-apple-system"/>
                  </a:rPr>
                  <a:t>B</a:t>
                </a:r>
                <a:r>
                  <a:rPr lang="zh-CN" altLang="en-US" sz="2000" b="0" i="0" dirty="0">
                    <a:solidFill>
                      <a:srgbClr val="191B1F"/>
                    </a:solidFill>
                    <a:effectLst/>
                    <a:latin typeface="-apple-system"/>
                  </a:rPr>
                  <a:t>正面朝上的概率</a:t>
                </a:r>
                <a:r>
                  <a:rPr lang="zh-CN" altLang="en-US" sz="2000" dirty="0">
                    <a:solidFill>
                      <a:srgbClr val="191B1F"/>
                    </a:solidFill>
                    <a:latin typeface="-apple-system"/>
                  </a:rPr>
                  <a:t>，求解</a:t>
                </a:r>
                <a14:m>
                  <m:oMath xmlns:m="http://schemas.openxmlformats.org/officeDocument/2006/math">
                    <m:sSub>
                      <m:sSubPr>
                        <m:ctrlPr>
                          <a:rPr lang="en-US" altLang="zh-CN" sz="2000" i="1" dirty="0">
                            <a:solidFill>
                              <a:srgbClr val="191B1F"/>
                            </a:solidFill>
                            <a:latin typeface="Cambria Math" panose="02040503050406030204" pitchFamily="18" charset="0"/>
                          </a:rPr>
                        </m:ctrlPr>
                      </m:sSubPr>
                      <m:e>
                        <m:r>
                          <a:rPr lang="el-GR" altLang="zh-CN" sz="2000" i="1" dirty="0">
                            <a:solidFill>
                              <a:srgbClr val="191B1F"/>
                            </a:solidFill>
                            <a:latin typeface="Cambria Math" panose="02040503050406030204" pitchFamily="18" charset="0"/>
                          </a:rPr>
                          <m:t>𝜃</m:t>
                        </m:r>
                      </m:e>
                      <m:sub>
                        <m:r>
                          <a:rPr lang="en-US" altLang="zh-CN" sz="2000" i="1" dirty="0">
                            <a:solidFill>
                              <a:srgbClr val="191B1F"/>
                            </a:solidFill>
                            <a:latin typeface="Cambria Math" panose="02040503050406030204" pitchFamily="18" charset="0"/>
                          </a:rPr>
                          <m:t>𝐴</m:t>
                        </m:r>
                        <m:r>
                          <a:rPr lang="en-US" altLang="zh-CN" sz="2000" i="1" dirty="0">
                            <a:solidFill>
                              <a:srgbClr val="191B1F"/>
                            </a:solidFill>
                            <a:latin typeface="Cambria Math" panose="02040503050406030204" pitchFamily="18" charset="0"/>
                          </a:rPr>
                          <m:t> </m:t>
                        </m:r>
                      </m:sub>
                    </m:sSub>
                    <m:r>
                      <a:rPr lang="en" altLang="zh-CN" sz="2000" i="1" dirty="0">
                        <a:solidFill>
                          <a:srgbClr val="191B1F"/>
                        </a:solidFill>
                        <a:latin typeface="Cambria Math" panose="02040503050406030204" pitchFamily="18" charset="0"/>
                      </a:rPr>
                      <m:t> </m:t>
                    </m:r>
                  </m:oMath>
                </a14:m>
                <a:r>
                  <a:rPr lang="zh-CN" altLang="en-US" sz="2000" dirty="0">
                    <a:solidFill>
                      <a:srgbClr val="191B1F"/>
                    </a:solidFill>
                    <a:latin typeface="-apple-system"/>
                  </a:rPr>
                  <a:t>和</a:t>
                </a:r>
                <a:r>
                  <a:rPr lang="zh-CN" altLang="en" sz="2000" dirty="0">
                    <a:solidFill>
                      <a:srgbClr val="191B1F"/>
                    </a:solidFill>
                    <a:latin typeface="-apple-system"/>
                  </a:rPr>
                  <a:t> </a:t>
                </a:r>
                <a14:m>
                  <m:oMath xmlns:m="http://schemas.openxmlformats.org/officeDocument/2006/math">
                    <m:sSub>
                      <m:sSubPr>
                        <m:ctrlPr>
                          <a:rPr lang="en-US" altLang="zh-CN" sz="2000" i="1" dirty="0">
                            <a:solidFill>
                              <a:srgbClr val="191B1F"/>
                            </a:solidFill>
                            <a:latin typeface="Cambria Math" panose="02040503050406030204" pitchFamily="18" charset="0"/>
                          </a:rPr>
                        </m:ctrlPr>
                      </m:sSubPr>
                      <m:e>
                        <m:r>
                          <a:rPr lang="el-GR" altLang="zh-CN" sz="2000" i="1" dirty="0">
                            <a:solidFill>
                              <a:srgbClr val="191B1F"/>
                            </a:solidFill>
                            <a:latin typeface="Cambria Math" panose="02040503050406030204" pitchFamily="18" charset="0"/>
                          </a:rPr>
                          <m:t>𝜃</m:t>
                        </m:r>
                      </m:e>
                      <m:sub>
                        <m:r>
                          <a:rPr lang="en-US" altLang="zh-CN" sz="2000" i="1" dirty="0">
                            <a:solidFill>
                              <a:srgbClr val="191B1F"/>
                            </a:solidFill>
                            <a:latin typeface="Cambria Math" panose="02040503050406030204" pitchFamily="18" charset="0"/>
                          </a:rPr>
                          <m:t>𝐵</m:t>
                        </m:r>
                      </m:sub>
                    </m:sSub>
                    <m:r>
                      <a:rPr lang="en" altLang="zh-CN" sz="2000" i="1" dirty="0">
                        <a:solidFill>
                          <a:srgbClr val="191B1F"/>
                        </a:solidFill>
                        <a:latin typeface="Cambria Math" panose="02040503050406030204" pitchFamily="18" charset="0"/>
                      </a:rPr>
                      <m:t> </m:t>
                    </m:r>
                  </m:oMath>
                </a14:m>
                <a:endParaRPr lang="zh-CN" altLang="en-US" sz="2000" dirty="0"/>
              </a:p>
            </p:txBody>
          </p:sp>
        </mc:Choice>
        <mc:Fallback xmlns="">
          <p:sp>
            <p:nvSpPr>
              <p:cNvPr id="12" name="文本框 11">
                <a:extLst>
                  <a:ext uri="{FF2B5EF4-FFF2-40B4-BE49-F238E27FC236}">
                    <a16:creationId xmlns:a16="http://schemas.microsoft.com/office/drawing/2014/main" id="{0308AFDD-1B5D-F0B5-6F22-336D7FE1B50F}"/>
                  </a:ext>
                </a:extLst>
              </p:cNvPr>
              <p:cNvSpPr txBox="1">
                <a:spLocks noRot="1" noChangeAspect="1" noMove="1" noResize="1" noEditPoints="1" noAdjustHandles="1" noChangeArrowheads="1" noChangeShapeType="1" noTextEdit="1"/>
              </p:cNvSpPr>
              <p:nvPr/>
            </p:nvSpPr>
            <p:spPr>
              <a:xfrm>
                <a:off x="443548" y="1072869"/>
                <a:ext cx="7889083" cy="1015663"/>
              </a:xfrm>
              <a:prstGeom prst="rect">
                <a:avLst/>
              </a:prstGeom>
              <a:blipFill>
                <a:blip r:embed="rId5"/>
                <a:stretch>
                  <a:fillRect l="-965" t="-6173" b="-9877"/>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6441946-73F6-EC07-D65D-EF694682E8CF}"/>
              </a:ext>
            </a:extLst>
          </p:cNvPr>
          <p:cNvPicPr>
            <a:picLocks noChangeAspect="1"/>
          </p:cNvPicPr>
          <p:nvPr/>
        </p:nvPicPr>
        <p:blipFill>
          <a:blip r:embed="rId6"/>
          <a:stretch>
            <a:fillRect/>
          </a:stretch>
        </p:blipFill>
        <p:spPr>
          <a:xfrm>
            <a:off x="1953261" y="164121"/>
            <a:ext cx="4149449" cy="2589256"/>
          </a:xfrm>
          <a:prstGeom prst="rect">
            <a:avLst/>
          </a:prstGeom>
        </p:spPr>
      </p:pic>
      <p:pic>
        <p:nvPicPr>
          <p:cNvPr id="3" name="图片 2">
            <a:extLst>
              <a:ext uri="{FF2B5EF4-FFF2-40B4-BE49-F238E27FC236}">
                <a16:creationId xmlns:a16="http://schemas.microsoft.com/office/drawing/2014/main" id="{93F18940-979C-82EA-6DA0-FFE85DC1809E}"/>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99391" y="2768258"/>
            <a:ext cx="9243391" cy="4127870"/>
          </a:xfrm>
          <a:prstGeom prst="rect">
            <a:avLst/>
          </a:prstGeom>
        </p:spPr>
      </p:pic>
    </p:spTree>
    <p:extLst>
      <p:ext uri="{BB962C8B-B14F-4D97-AF65-F5344CB8AC3E}">
        <p14:creationId xmlns:p14="http://schemas.microsoft.com/office/powerpoint/2010/main" val="1405600371"/>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p:pic>
        <p:nvPicPr>
          <p:cNvPr id="35" name="图片 34">
            <a:extLst>
              <a:ext uri="{FF2B5EF4-FFF2-40B4-BE49-F238E27FC236}">
                <a16:creationId xmlns:a16="http://schemas.microsoft.com/office/drawing/2014/main" id="{010EAB0A-418C-4D3F-828E-EA7C209F932D}"/>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53817" y="1029970"/>
            <a:ext cx="9110079" cy="5592674"/>
          </a:xfrm>
          <a:prstGeom prst="rect">
            <a:avLst/>
          </a:prstGeom>
        </p:spPr>
      </p:pic>
    </p:spTree>
    <p:extLst>
      <p:ext uri="{BB962C8B-B14F-4D97-AF65-F5344CB8AC3E}">
        <p14:creationId xmlns:p14="http://schemas.microsoft.com/office/powerpoint/2010/main" val="3181514895"/>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3053" y="429"/>
              <a:ext cx="10994"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点估计</a:t>
              </a:r>
            </a:p>
          </p:txBody>
        </p:sp>
      </p:grpSp>
      <p:pic>
        <p:nvPicPr>
          <p:cNvPr id="2" name="图片 1">
            <a:extLst>
              <a:ext uri="{FF2B5EF4-FFF2-40B4-BE49-F238E27FC236}">
                <a16:creationId xmlns:a16="http://schemas.microsoft.com/office/drawing/2014/main" id="{A0C983B9-2057-4686-B497-A92B480BCDC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56054" y="1094077"/>
            <a:ext cx="6703541" cy="1766594"/>
          </a:xfrm>
          <a:prstGeom prst="rect">
            <a:avLst/>
          </a:prstGeom>
        </p:spPr>
      </p:pic>
      <p:pic>
        <p:nvPicPr>
          <p:cNvPr id="3" name="图片 2">
            <a:extLst>
              <a:ext uri="{FF2B5EF4-FFF2-40B4-BE49-F238E27FC236}">
                <a16:creationId xmlns:a16="http://schemas.microsoft.com/office/drawing/2014/main" id="{C3321A8C-130E-4457-810B-19DD174F3E9C}"/>
              </a:ext>
            </a:extLst>
          </p:cNvPr>
          <p:cNvPicPr>
            <a:picLocks noChangeAspect="1"/>
          </p:cNvPicPr>
          <p:nvPr/>
        </p:nvPicPr>
        <p:blipFill rotWithShape="1">
          <a:blip r:embed="rId6">
            <a:clrChange>
              <a:clrFrom>
                <a:srgbClr val="FFFFFF"/>
              </a:clrFrom>
              <a:clrTo>
                <a:srgbClr val="FFFFFF">
                  <a:alpha val="0"/>
                </a:srgbClr>
              </a:clrTo>
            </a:clrChange>
          </a:blip>
          <a:srcRect b="26706"/>
          <a:stretch/>
        </p:blipFill>
        <p:spPr>
          <a:xfrm>
            <a:off x="774402" y="3098134"/>
            <a:ext cx="7901285" cy="967240"/>
          </a:xfrm>
          <a:prstGeom prst="rect">
            <a:avLst/>
          </a:prstGeom>
        </p:spPr>
      </p:pic>
      <p:cxnSp>
        <p:nvCxnSpPr>
          <p:cNvPr id="5" name="直接箭头连接符 4">
            <a:extLst>
              <a:ext uri="{FF2B5EF4-FFF2-40B4-BE49-F238E27FC236}">
                <a16:creationId xmlns:a16="http://schemas.microsoft.com/office/drawing/2014/main" id="{525D7954-93BD-440E-8DCF-FCFA84EFF74D}"/>
              </a:ext>
            </a:extLst>
          </p:cNvPr>
          <p:cNvCxnSpPr>
            <a:cxnSpLocks/>
          </p:cNvCxnSpPr>
          <p:nvPr/>
        </p:nvCxnSpPr>
        <p:spPr>
          <a:xfrm flipH="1">
            <a:off x="4516395" y="3861486"/>
            <a:ext cx="1365421" cy="3044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02D82251-BCC3-4ACD-AA28-F9B894D58F42}"/>
              </a:ext>
            </a:extLst>
          </p:cNvPr>
          <p:cNvSpPr txBox="1"/>
          <p:nvPr/>
        </p:nvSpPr>
        <p:spPr>
          <a:xfrm>
            <a:off x="3279847" y="4117864"/>
            <a:ext cx="2262158" cy="369332"/>
          </a:xfrm>
          <a:prstGeom prst="rect">
            <a:avLst/>
          </a:prstGeom>
          <a:noFill/>
        </p:spPr>
        <p:txBody>
          <a:bodyPr wrap="none" rtlCol="0">
            <a:spAutoFit/>
          </a:bodyPr>
          <a:lstStyle/>
          <a:p>
            <a:r>
              <a:rPr lang="zh-CN" altLang="en-US" dirty="0"/>
              <a:t>这个期望怎么算呢？</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FD46F16-26C3-4FD1-A228-9FED3E1D136C}"/>
                  </a:ext>
                </a:extLst>
              </p:cNvPr>
              <p:cNvSpPr txBox="1"/>
              <p:nvPr/>
            </p:nvSpPr>
            <p:spPr>
              <a:xfrm>
                <a:off x="910288" y="4557147"/>
                <a:ext cx="4631717" cy="1245213"/>
              </a:xfrm>
              <a:prstGeom prst="rect">
                <a:avLst/>
              </a:prstGeom>
              <a:noFill/>
            </p:spPr>
            <p:txBody>
              <a:bodyPr wrap="none" rtlCol="0">
                <a:spAutoFit/>
              </a:bodyPr>
              <a:lstStyle/>
              <a:p>
                <a:pPr marL="285750" indent="-285750">
                  <a:buFont typeface="Wingdings" panose="05000000000000000000" pitchFamily="2" charset="2"/>
                  <a:buChar char="Ø"/>
                </a:pPr>
                <a:r>
                  <a:rPr lang="zh-CN" altLang="en-US" sz="1600" dirty="0"/>
                  <a:t>直接采样：</a:t>
                </a:r>
                <a:endParaRPr lang="en-US" altLang="zh-CN" sz="1600" dirty="0"/>
              </a:p>
              <a:p>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𝐸</m:t>
                          </m:r>
                        </m:e>
                        <m:sub>
                          <m:r>
                            <a:rPr lang="en-US" altLang="zh-CN" sz="1600" b="0" i="1" smtClean="0">
                              <a:latin typeface="Cambria Math" panose="02040503050406030204" pitchFamily="18" charset="0"/>
                            </a:rPr>
                            <m:t>𝑧</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𝑞</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𝑧</m:t>
                              </m:r>
                            </m:e>
                          </m:d>
                        </m:sub>
                      </m:sSub>
                      <m:d>
                        <m:dPr>
                          <m:begChr m:val="["/>
                          <m:endChr m:val="]"/>
                          <m:ctrlPr>
                            <a:rPr lang="en-US" altLang="zh-CN" sz="1600" b="0" i="1" smtClean="0">
                              <a:latin typeface="Cambria Math" panose="02040503050406030204" pitchFamily="18" charset="0"/>
                            </a:rPr>
                          </m:ctrlPr>
                        </m:dPr>
                        <m:e>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r>
                                <a:rPr lang="en-US" altLang="zh-CN" sz="1600" b="0" i="1" smtClean="0">
                                  <a:latin typeface="Cambria Math" panose="02040503050406030204" pitchFamily="18" charset="0"/>
                                </a:rPr>
                                <m:t>𝑝</m:t>
                              </m:r>
                              <m:d>
                                <m:dPr>
                                  <m:sep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𝑥</m:t>
                                  </m:r>
                                </m:e>
                                <m:e>
                                  <m:r>
                                    <a:rPr lang="en-US" altLang="zh-CN" sz="1600" b="0" i="1" smtClean="0">
                                      <a:latin typeface="Cambria Math" panose="02040503050406030204" pitchFamily="18" charset="0"/>
                                    </a:rPr>
                                    <m:t>𝑧</m:t>
                                  </m:r>
                                  <m:r>
                                    <a:rPr lang="en-US" altLang="zh-CN" sz="1600" b="0" i="1" smtClean="0">
                                      <a:latin typeface="Cambria Math" panose="02040503050406030204" pitchFamily="18" charset="0"/>
                                    </a:rPr>
                                    <m:t>,</m:t>
                                  </m:r>
                                  <m:r>
                                    <m:rPr>
                                      <m:sty m:val="p"/>
                                    </m:rPr>
                                    <a:rPr lang="en-US" altLang="zh-CN" sz="1600" b="0" i="0" smtClean="0">
                                      <a:latin typeface="Cambria Math" panose="02040503050406030204" pitchFamily="18" charset="0"/>
                                    </a:rPr>
                                    <m:t>Θ</m:t>
                                  </m:r>
                                </m:e>
                              </m:d>
                            </m:e>
                          </m:func>
                        </m:e>
                      </m:d>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1</m:t>
                          </m:r>
                        </m:num>
                        <m:den>
                          <m:r>
                            <a:rPr lang="en-US" altLang="zh-CN" sz="1600" b="0" i="1" smtClean="0">
                              <a:latin typeface="Cambria Math" panose="02040503050406030204" pitchFamily="18" charset="0"/>
                            </a:rPr>
                            <m:t>𝑁</m:t>
                          </m:r>
                        </m:den>
                      </m:f>
                      <m:nary>
                        <m:naryPr>
                          <m:chr m:val="∑"/>
                          <m:supHide m:val="on"/>
                          <m:ctrlPr>
                            <a:rPr lang="en-US" altLang="zh-CN" sz="1600" b="0" i="1" smtClean="0">
                              <a:latin typeface="Cambria Math" panose="02040503050406030204" pitchFamily="18" charset="0"/>
                            </a:rPr>
                          </m:ctrlPr>
                        </m:naryPr>
                        <m:sub>
                          <m:sSub>
                            <m:sSubPr>
                              <m:ctrlPr>
                                <a:rPr lang="en-US" altLang="zh-CN" sz="1600" b="0" i="1" smtClean="0">
                                  <a:latin typeface="Cambria Math" panose="02040503050406030204" pitchFamily="18" charset="0"/>
                                </a:rPr>
                              </m:ctrlPr>
                            </m:sSubPr>
                            <m:e>
                              <m:r>
                                <m:rPr>
                                  <m:brk m:alnAt="7"/>
                                </m:rPr>
                                <a:rPr lang="en-US" altLang="zh-CN" sz="1600" b="0" i="1" smtClean="0">
                                  <a:latin typeface="Cambria Math" panose="02040503050406030204" pitchFamily="18" charset="0"/>
                                </a:rPr>
                                <m:t>𝑧</m:t>
                              </m:r>
                            </m:e>
                            <m:sub>
                              <m:r>
                                <m:rPr>
                                  <m:brk m:alnAt="7"/>
                                </m:rPr>
                                <a:rPr lang="en-US" altLang="zh-CN" sz="1600" b="0" i="1" smtClean="0">
                                  <a:latin typeface="Cambria Math" panose="02040503050406030204" pitchFamily="18" charset="0"/>
                                </a:rPr>
                                <m:t>𝑖</m:t>
                              </m:r>
                            </m:sub>
                          </m:sSub>
                        </m:sub>
                        <m:sup/>
                        <m:e>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r>
                                <a:rPr lang="en-US" altLang="zh-CN" sz="1600" b="0" i="1" smtClean="0">
                                  <a:latin typeface="Cambria Math" panose="02040503050406030204" pitchFamily="18" charset="0"/>
                                </a:rPr>
                                <m:t>𝑝</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𝑥</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𝑧</m:t>
                                  </m:r>
                                </m:e>
                                <m:sub>
                                  <m:r>
                                    <a:rPr lang="en-US" altLang="zh-CN" sz="1600" b="0" i="1" smtClean="0">
                                      <a:latin typeface="Cambria Math" panose="02040503050406030204" pitchFamily="18" charset="0"/>
                                    </a:rPr>
                                    <m:t>𝑖</m:t>
                                  </m:r>
                                </m:sub>
                              </m:sSub>
                              <m:r>
                                <a:rPr lang="en-US" altLang="zh-CN" sz="1600" b="0" i="1" smtClean="0">
                                  <a:latin typeface="Cambria Math" panose="02040503050406030204" pitchFamily="18" charset="0"/>
                                </a:rPr>
                                <m:t>,</m:t>
                              </m:r>
                              <m:r>
                                <m:rPr>
                                  <m:sty m:val="p"/>
                                </m:rPr>
                                <a:rPr lang="en-US" altLang="zh-CN" sz="1600" b="0" i="0" smtClean="0">
                                  <a:latin typeface="Cambria Math" panose="02040503050406030204" pitchFamily="18" charset="0"/>
                                </a:rPr>
                                <m:t>Θ</m:t>
                              </m:r>
                              <m:r>
                                <a:rPr lang="en-US" altLang="zh-CN" sz="1600" b="0" i="1" smtClean="0">
                                  <a:latin typeface="Cambria Math" panose="02040503050406030204" pitchFamily="18" charset="0"/>
                                </a:rPr>
                                <m:t>)</m:t>
                              </m:r>
                            </m:e>
                          </m:func>
                        </m:e>
                      </m:nary>
                    </m:oMath>
                  </m:oMathPara>
                </a14:m>
                <a:endParaRPr lang="en-US" altLang="zh-CN" sz="1600" dirty="0"/>
              </a:p>
              <a:p>
                <a:pPr marL="285750" indent="-285750">
                  <a:buFont typeface="Wingdings" panose="05000000000000000000" pitchFamily="2" charset="2"/>
                  <a:buChar char="Ø"/>
                </a:pPr>
                <a:r>
                  <a:rPr lang="zh-CN" altLang="en-US" sz="1600" dirty="0"/>
                  <a:t>变分法（在后面的推断部分会讲到）</a:t>
                </a:r>
              </a:p>
            </p:txBody>
          </p:sp>
        </mc:Choice>
        <mc:Fallback xmlns="">
          <p:sp>
            <p:nvSpPr>
              <p:cNvPr id="8" name="文本框 7">
                <a:extLst>
                  <a:ext uri="{FF2B5EF4-FFF2-40B4-BE49-F238E27FC236}">
                    <a16:creationId xmlns:a16="http://schemas.microsoft.com/office/drawing/2014/main" id="{3FD46F16-26C3-4FD1-A228-9FED3E1D136C}"/>
                  </a:ext>
                </a:extLst>
              </p:cNvPr>
              <p:cNvSpPr txBox="1">
                <a:spLocks noRot="1" noChangeAspect="1" noMove="1" noResize="1" noEditPoints="1" noAdjustHandles="1" noChangeArrowheads="1" noChangeShapeType="1" noTextEdit="1"/>
              </p:cNvSpPr>
              <p:nvPr/>
            </p:nvSpPr>
            <p:spPr>
              <a:xfrm>
                <a:off x="910288" y="4557147"/>
                <a:ext cx="4631717" cy="1245213"/>
              </a:xfrm>
              <a:prstGeom prst="rect">
                <a:avLst/>
              </a:prstGeom>
              <a:blipFill>
                <a:blip r:embed="rId7"/>
                <a:stretch>
                  <a:fillRect l="-526" t="-2451" b="-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58258969"/>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3587" y="429"/>
              <a:ext cx="10460"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2834"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收敛性</a:t>
              </a:r>
            </a:p>
          </p:txBody>
        </p:sp>
      </p:grpSp>
      <p:pic>
        <p:nvPicPr>
          <p:cNvPr id="6" name="图片 5"/>
          <p:cNvPicPr>
            <a:picLocks noChangeAspect="1"/>
          </p:cNvPicPr>
          <p:nvPr/>
        </p:nvPicPr>
        <p:blipFill>
          <a:blip r:embed="rId5"/>
          <a:srcRect l="1039" r="2522"/>
          <a:stretch>
            <a:fillRect/>
          </a:stretch>
        </p:blipFill>
        <p:spPr>
          <a:xfrm>
            <a:off x="0" y="2968625"/>
            <a:ext cx="9144000" cy="3073400"/>
          </a:xfrm>
          <a:prstGeom prst="rect">
            <a:avLst/>
          </a:prstGeom>
        </p:spPr>
      </p:pic>
      <p:grpSp>
        <p:nvGrpSpPr>
          <p:cNvPr id="3" name="组合 2"/>
          <p:cNvGrpSpPr/>
          <p:nvPr/>
        </p:nvGrpSpPr>
        <p:grpSpPr>
          <a:xfrm>
            <a:off x="812800" y="1618615"/>
            <a:ext cx="7165340" cy="1049020"/>
            <a:chOff x="3552" y="2356"/>
            <a:chExt cx="11284" cy="1652"/>
          </a:xfrm>
        </p:grpSpPr>
        <p:pic>
          <p:nvPicPr>
            <p:cNvPr id="9" name="图片 8"/>
            <p:cNvPicPr>
              <a:picLocks noChangeAspect="1"/>
            </p:cNvPicPr>
            <p:nvPr/>
          </p:nvPicPr>
          <p:blipFill>
            <a:blip r:embed="rId6"/>
            <a:stretch>
              <a:fillRect/>
            </a:stretch>
          </p:blipFill>
          <p:spPr>
            <a:xfrm>
              <a:off x="3552" y="2356"/>
              <a:ext cx="11208" cy="916"/>
            </a:xfrm>
            <a:prstGeom prst="rect">
              <a:avLst/>
            </a:prstGeom>
          </p:spPr>
        </p:pic>
        <p:sp>
          <p:nvSpPr>
            <p:cNvPr id="7" name="文本框 6"/>
            <p:cNvSpPr txBox="1"/>
            <p:nvPr/>
          </p:nvSpPr>
          <p:spPr>
            <a:xfrm>
              <a:off x="12000" y="3428"/>
              <a:ext cx="890" cy="580"/>
            </a:xfrm>
            <a:prstGeom prst="rect">
              <a:avLst/>
            </a:prstGeom>
            <a:noFill/>
          </p:spPr>
          <p:txBody>
            <a:bodyPr wrap="none" rtlCol="0">
              <a:spAutoFit/>
            </a:bodyPr>
            <a:lstStyle/>
            <a:p>
              <a:r>
                <a:rPr lang="en-US" altLang="zh-CN" b="1" dirty="0">
                  <a:solidFill>
                    <a:srgbClr val="385C98"/>
                  </a:solidFill>
                  <a:latin typeface="Times New Roman" panose="02020603050405020304" charset="0"/>
                  <a:cs typeface="Times New Roman" panose="02020603050405020304" charset="0"/>
                </a:rPr>
                <a:t>E</a:t>
              </a:r>
              <a:r>
                <a:rPr lang="zh-CN" altLang="en-US" b="1" dirty="0">
                  <a:solidFill>
                    <a:srgbClr val="385C98"/>
                  </a:solidFill>
                  <a:latin typeface="Times New Roman" panose="02020603050405020304" charset="0"/>
                  <a:cs typeface="Times New Roman" panose="02020603050405020304" charset="0"/>
                </a:rPr>
                <a:t>步</a:t>
              </a:r>
            </a:p>
          </p:txBody>
        </p:sp>
        <p:sp>
          <p:nvSpPr>
            <p:cNvPr id="10" name="文本框 9"/>
            <p:cNvSpPr txBox="1"/>
            <p:nvPr/>
          </p:nvSpPr>
          <p:spPr>
            <a:xfrm>
              <a:off x="7680" y="3412"/>
              <a:ext cx="990" cy="580"/>
            </a:xfrm>
            <a:prstGeom prst="rect">
              <a:avLst/>
            </a:prstGeom>
            <a:noFill/>
          </p:spPr>
          <p:txBody>
            <a:bodyPr wrap="none" rtlCol="0">
              <a:spAutoFit/>
            </a:bodyPr>
            <a:lstStyle/>
            <a:p>
              <a:r>
                <a:rPr lang="en-US" altLang="zh-CN" b="1" dirty="0">
                  <a:solidFill>
                    <a:srgbClr val="FF0000"/>
                  </a:solidFill>
                  <a:latin typeface="Times New Roman" panose="02020603050405020304" charset="0"/>
                  <a:cs typeface="Times New Roman" panose="02020603050405020304" charset="0"/>
                </a:rPr>
                <a:t>M</a:t>
              </a:r>
              <a:r>
                <a:rPr lang="zh-CN" altLang="en-US" b="1" dirty="0">
                  <a:solidFill>
                    <a:srgbClr val="FF0000"/>
                  </a:solidFill>
                  <a:latin typeface="Times New Roman" panose="02020603050405020304" charset="0"/>
                  <a:cs typeface="Times New Roman" panose="02020603050405020304" charset="0"/>
                </a:rPr>
                <a:t>步</a:t>
              </a:r>
            </a:p>
          </p:txBody>
        </p:sp>
        <p:sp>
          <p:nvSpPr>
            <p:cNvPr id="11" name="矩形: 圆角 10"/>
            <p:cNvSpPr/>
            <p:nvPr/>
          </p:nvSpPr>
          <p:spPr>
            <a:xfrm>
              <a:off x="6000" y="2400"/>
              <a:ext cx="3660" cy="755"/>
            </a:xfrm>
            <a:prstGeom prst="roundRect">
              <a:avLst/>
            </a:prstGeom>
            <a:noFill/>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400" dirty="0"/>
            </a:p>
          </p:txBody>
        </p:sp>
        <p:sp>
          <p:nvSpPr>
            <p:cNvPr id="12" name="矩形: 圆角 11"/>
            <p:cNvSpPr/>
            <p:nvPr/>
          </p:nvSpPr>
          <p:spPr>
            <a:xfrm>
              <a:off x="9719" y="2379"/>
              <a:ext cx="5117" cy="804"/>
            </a:xfrm>
            <a:prstGeom prst="roundRect">
              <a:avLst/>
            </a:prstGeom>
            <a:noFill/>
            <a:ln>
              <a:solidFill>
                <a:schemeClr val="tx2"/>
              </a:solidFill>
            </a:ln>
          </p:spPr>
          <p:style>
            <a:lnRef idx="2">
              <a:schemeClr val="accent2"/>
            </a:lnRef>
            <a:fillRef idx="1">
              <a:schemeClr val="lt1"/>
            </a:fillRef>
            <a:effectRef idx="0">
              <a:schemeClr val="accent2"/>
            </a:effectRef>
            <a:fontRef idx="minor">
              <a:schemeClr val="dk1"/>
            </a:fontRef>
          </p:style>
          <p:txBody>
            <a:bodyPr wrap="square" rtlCol="0" anchor="ctr">
              <a:spAutoFit/>
            </a:bodyPr>
            <a:lstStyle/>
            <a:p>
              <a:pPr algn="ctr"/>
              <a:endParaRPr lang="zh-CN" altLang="en-US" sz="2400" dirty="0"/>
            </a:p>
          </p:txBody>
        </p:sp>
      </p:grpSp>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4182" y="429"/>
              <a:ext cx="9865"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贝叶斯估计</a:t>
              </a:r>
            </a:p>
          </p:txBody>
        </p:sp>
      </p:grpSp>
      <p:pic>
        <p:nvPicPr>
          <p:cNvPr id="2" name="图片 1">
            <a:extLst>
              <a:ext uri="{FF2B5EF4-FFF2-40B4-BE49-F238E27FC236}">
                <a16:creationId xmlns:a16="http://schemas.microsoft.com/office/drawing/2014/main" id="{69051DE3-BADE-42BB-B167-734A2B004177}"/>
              </a:ext>
            </a:extLst>
          </p:cNvPr>
          <p:cNvPicPr>
            <a:picLocks noChangeAspect="1"/>
          </p:cNvPicPr>
          <p:nvPr/>
        </p:nvPicPr>
        <p:blipFill rotWithShape="1">
          <a:blip r:embed="rId5">
            <a:clrChange>
              <a:clrFrom>
                <a:srgbClr val="FFFFFF"/>
              </a:clrFrom>
              <a:clrTo>
                <a:srgbClr val="FFFFFF">
                  <a:alpha val="0"/>
                </a:srgbClr>
              </a:clrTo>
            </a:clrChange>
          </a:blip>
          <a:srcRect t="4491"/>
          <a:stretch/>
        </p:blipFill>
        <p:spPr>
          <a:xfrm>
            <a:off x="71304" y="1465945"/>
            <a:ext cx="9001391" cy="3625039"/>
          </a:xfrm>
          <a:prstGeom prst="rect">
            <a:avLst/>
          </a:prstGeom>
        </p:spPr>
      </p:pic>
    </p:spTree>
    <p:extLst>
      <p:ext uri="{BB962C8B-B14F-4D97-AF65-F5344CB8AC3E}">
        <p14:creationId xmlns:p14="http://schemas.microsoft.com/office/powerpoint/2010/main" val="2297778027"/>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0995"/>
            <a:ext cx="8925560" cy="583565"/>
            <a:chOff x="-9" y="380"/>
            <a:chExt cx="14056" cy="919"/>
          </a:xfrm>
        </p:grpSpPr>
        <p:sp>
          <p:nvSpPr>
            <p:cNvPr id="34" name="矩形 33"/>
            <p:cNvSpPr/>
            <p:nvPr/>
          </p:nvSpPr>
          <p:spPr>
            <a:xfrm>
              <a:off x="2469" y="429"/>
              <a:ext cx="11578"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33" y="380"/>
              <a:ext cx="6092" cy="919"/>
            </a:xfrm>
            <a:prstGeom prst="rect">
              <a:avLst/>
            </a:prstGeom>
          </p:spPr>
          <p:txBody>
            <a:bodyPr wrap="square">
              <a:spAutoFit/>
            </a:bodyPr>
            <a:lstStyle/>
            <a:p>
              <a:pPr fontAlgn="auto">
                <a:lnSpc>
                  <a:spcPct val="100000"/>
                </a:lnSpc>
              </a:pPr>
              <a:r>
                <a:rPr lang="zh-CN" altLang="en-US" sz="3200" b="1" dirty="0">
                  <a:solidFill>
                    <a:srgbClr val="18478F"/>
                  </a:solidFill>
                  <a:latin typeface="+mn-ea"/>
                  <a:cs typeface="+mn-ea"/>
                  <a:sym typeface="+mn-ea"/>
                </a:rPr>
                <a:t>小节</a:t>
              </a:r>
            </a:p>
          </p:txBody>
        </p:sp>
      </p:grpSp>
    </p:spTree>
    <p:extLst>
      <p:ext uri="{BB962C8B-B14F-4D97-AF65-F5344CB8AC3E}">
        <p14:creationId xmlns:p14="http://schemas.microsoft.com/office/powerpoint/2010/main" val="1429828033"/>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8025"/>
            <a:chOff x="-9" y="254"/>
            <a:chExt cx="14056" cy="1115"/>
          </a:xfrm>
        </p:grpSpPr>
        <p:sp>
          <p:nvSpPr>
            <p:cNvPr id="34" name="矩形 33"/>
            <p:cNvSpPr/>
            <p:nvPr/>
          </p:nvSpPr>
          <p:spPr>
            <a:xfrm>
              <a:off x="4221" y="429"/>
              <a:ext cx="9826"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4148"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推断方法</a:t>
              </a:r>
            </a:p>
          </p:txBody>
        </p:sp>
      </p:grpSp>
      <p:grpSp>
        <p:nvGrpSpPr>
          <p:cNvPr id="10" name="组合 9"/>
          <p:cNvGrpSpPr/>
          <p:nvPr/>
        </p:nvGrpSpPr>
        <p:grpSpPr>
          <a:xfrm>
            <a:off x="637540" y="3198495"/>
            <a:ext cx="7997190" cy="460375"/>
            <a:chOff x="827" y="3088"/>
            <a:chExt cx="12594" cy="725"/>
          </a:xfrm>
        </p:grpSpPr>
        <p:sp>
          <p:nvSpPr>
            <p:cNvPr id="6" name="文本框 5"/>
            <p:cNvSpPr txBox="1"/>
            <p:nvPr/>
          </p:nvSpPr>
          <p:spPr>
            <a:xfrm>
              <a:off x="1672" y="3088"/>
              <a:ext cx="11749" cy="725"/>
            </a:xfrm>
            <a:prstGeom prst="rect">
              <a:avLst/>
            </a:prstGeom>
            <a:noFill/>
          </p:spPr>
          <p:txBody>
            <a:bodyPr wrap="square" rtlCol="0" anchor="t">
              <a:spAutoFit/>
            </a:bodyPr>
            <a:lstStyle/>
            <a:p>
              <a:r>
                <a:rPr lang="zh-CN" altLang="en-US" sz="2400" b="1" dirty="0">
                  <a:sym typeface="+mn-ea"/>
                </a:rPr>
                <a:t>近似推断 </a:t>
              </a:r>
              <a:r>
                <a:rPr lang="en-US" altLang="zh-CN" sz="2400" b="1" dirty="0">
                  <a:latin typeface="Times New Roman" panose="02020603050405020304" charset="0"/>
                  <a:cs typeface="Times New Roman" panose="02020603050405020304" charset="0"/>
                  <a:sym typeface="+mn-ea"/>
                </a:rPr>
                <a:t>Approximate Inference</a:t>
              </a:r>
              <a:endParaRPr lang="zh-CN" altLang="en-US" sz="2400" b="1" dirty="0">
                <a:latin typeface="Times New Roman" panose="02020603050405020304" charset="0"/>
                <a:ea typeface="宋体" panose="02010600030101010101" pitchFamily="2" charset="-122"/>
                <a:cs typeface="Times New Roman" panose="02020603050405020304" charset="0"/>
                <a:sym typeface="+mn-ea"/>
              </a:endParaRPr>
            </a:p>
          </p:txBody>
        </p:sp>
        <p:grpSp>
          <p:nvGrpSpPr>
            <p:cNvPr id="8" name="Group 98"/>
            <p:cNvGrpSpPr/>
            <p:nvPr/>
          </p:nvGrpSpPr>
          <p:grpSpPr bwMode="auto">
            <a:xfrm rot="420000">
              <a:off x="827" y="3140"/>
              <a:ext cx="809" cy="538"/>
              <a:chOff x="2345" y="1092"/>
              <a:chExt cx="1116" cy="555"/>
            </a:xfrm>
          </p:grpSpPr>
          <p:sp>
            <p:nvSpPr>
              <p:cNvPr id="2" name="AutoShape 99"/>
              <p:cNvSpPr>
                <a:spLocks noChangeArrowheads="1"/>
              </p:cNvSpPr>
              <p:nvPr/>
            </p:nvSpPr>
            <p:spPr bwMode="gray">
              <a:xfrm rot="-5400000">
                <a:off x="2249" y="1222"/>
                <a:ext cx="288" cy="96"/>
              </a:xfrm>
              <a:prstGeom prst="parallelogram">
                <a:avLst>
                  <a:gd name="adj" fmla="val 18736"/>
                </a:avLst>
              </a:prstGeom>
              <a:gradFill rotWithShape="1">
                <a:gsLst>
                  <a:gs pos="0">
                    <a:srgbClr val="EAEAEA">
                      <a:gamma/>
                      <a:shade val="85882"/>
                      <a:invGamma/>
                    </a:srgbClr>
                  </a:gs>
                  <a:gs pos="100000">
                    <a:srgbClr val="EAEAEA"/>
                  </a:gs>
                </a:gsLst>
                <a:lin ang="5400000" scaled="1"/>
              </a:gradFill>
              <a:ln w="9525">
                <a:noFill/>
                <a:miter lim="800000"/>
              </a:ln>
              <a:effectLst/>
              <a:scene3d>
                <a:camera prst="legacyObliqueTopRight"/>
                <a:lightRig rig="legacyFlat3" dir="b"/>
              </a:scene3d>
              <a:sp3d extrusionH="36500" prstMaterial="legacyMatte">
                <a:bevelT w="13500" h="13500" prst="angle"/>
                <a:bevelB w="13500" h="13500" prst="angle"/>
                <a:extrusionClr>
                  <a:srgbClr val="EAEAEA"/>
                </a:extrusionClr>
              </a:sp3d>
            </p:spPr>
            <p:txBody>
              <a:bodyPr wrap="none" anchor="ct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nvGrpSpPr>
              <p:cNvPr id="9" name="Group 100"/>
              <p:cNvGrpSpPr/>
              <p:nvPr/>
            </p:nvGrpSpPr>
            <p:grpSpPr bwMode="auto">
              <a:xfrm>
                <a:off x="2414" y="1092"/>
                <a:ext cx="1047" cy="555"/>
                <a:chOff x="2414" y="1104"/>
                <a:chExt cx="975" cy="555"/>
              </a:xfrm>
            </p:grpSpPr>
            <p:sp>
              <p:nvSpPr>
                <p:cNvPr id="3" name="Freeform 101"/>
                <p:cNvSpPr/>
                <p:nvPr/>
              </p:nvSpPr>
              <p:spPr bwMode="gray">
                <a:xfrm flipH="1">
                  <a:off x="2414" y="1104"/>
                  <a:ext cx="975" cy="555"/>
                </a:xfrm>
                <a:custGeom>
                  <a:avLst/>
                  <a:gdLst/>
                  <a:ahLst/>
                  <a:cxnLst>
                    <a:cxn ang="0">
                      <a:pos x="837" y="0"/>
                    </a:cxn>
                    <a:cxn ang="0">
                      <a:pos x="837" y="317"/>
                    </a:cxn>
                    <a:cxn ang="0">
                      <a:pos x="116" y="476"/>
                    </a:cxn>
                    <a:cxn ang="0">
                      <a:pos x="0" y="304"/>
                    </a:cxn>
                    <a:cxn ang="0">
                      <a:pos x="110" y="100"/>
                    </a:cxn>
                    <a:cxn ang="0">
                      <a:pos x="837" y="0"/>
                    </a:cxn>
                  </a:cxnLst>
                  <a:rect l="0" t="0" r="r" b="b"/>
                  <a:pathLst>
                    <a:path w="837" h="476">
                      <a:moveTo>
                        <a:pt x="837" y="0"/>
                      </a:moveTo>
                      <a:lnTo>
                        <a:pt x="837" y="317"/>
                      </a:lnTo>
                      <a:lnTo>
                        <a:pt x="116" y="476"/>
                      </a:lnTo>
                      <a:lnTo>
                        <a:pt x="0" y="304"/>
                      </a:lnTo>
                      <a:lnTo>
                        <a:pt x="110" y="100"/>
                      </a:lnTo>
                      <a:lnTo>
                        <a:pt x="837" y="0"/>
                      </a:lnTo>
                      <a:close/>
                    </a:path>
                  </a:pathLst>
                </a:custGeom>
                <a:gradFill rotWithShape="1">
                  <a:gsLst>
                    <a:gs pos="0">
                      <a:srgbClr val="FFFFFF"/>
                    </a:gs>
                    <a:gs pos="100000">
                      <a:srgbClr val="FFFFFF">
                        <a:gamma/>
                        <a:shade val="85882"/>
                        <a:invGamma/>
                      </a:srgbClr>
                    </a:gs>
                  </a:gsLst>
                  <a:lin ang="0" scaled="1"/>
                </a:gradFill>
                <a:ln w="9525"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b">
                    <a:rot lat="0" lon="0" rev="8700000"/>
                  </a:lightRig>
                </a:scene3d>
                <a:sp3d>
                  <a:bevelT w="190500" h="38100"/>
                </a:sp3d>
              </p:spPr>
              <p:txBody>
                <a:bodyP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5" name="Freeform 102"/>
                <p:cNvSpPr/>
                <p:nvPr/>
              </p:nvSpPr>
              <p:spPr bwMode="gray">
                <a:xfrm flipH="1">
                  <a:off x="2447" y="1143"/>
                  <a:ext cx="905" cy="461"/>
                </a:xfrm>
                <a:custGeom>
                  <a:avLst/>
                  <a:gdLst/>
                  <a:ahLst/>
                  <a:cxnLst>
                    <a:cxn ang="0">
                      <a:pos x="786" y="0"/>
                    </a:cxn>
                    <a:cxn ang="0">
                      <a:pos x="786" y="252"/>
                    </a:cxn>
                    <a:cxn ang="0">
                      <a:pos x="92" y="396"/>
                    </a:cxn>
                    <a:cxn ang="0">
                      <a:pos x="0" y="266"/>
                    </a:cxn>
                    <a:cxn ang="0">
                      <a:pos x="88" y="112"/>
                    </a:cxn>
                    <a:cxn ang="0">
                      <a:pos x="786" y="0"/>
                    </a:cxn>
                  </a:cxnLst>
                  <a:rect l="0" t="0" r="r" b="b"/>
                  <a:pathLst>
                    <a:path w="786" h="396">
                      <a:moveTo>
                        <a:pt x="786" y="0"/>
                      </a:moveTo>
                      <a:lnTo>
                        <a:pt x="786" y="252"/>
                      </a:lnTo>
                      <a:lnTo>
                        <a:pt x="92" y="396"/>
                      </a:lnTo>
                      <a:lnTo>
                        <a:pt x="0" y="266"/>
                      </a:lnTo>
                      <a:lnTo>
                        <a:pt x="88" y="112"/>
                      </a:lnTo>
                      <a:lnTo>
                        <a:pt x="786" y="0"/>
                      </a:lnTo>
                      <a:close/>
                    </a:path>
                  </a:pathLst>
                </a:custGeom>
                <a:solidFill>
                  <a:srgbClr val="18478F"/>
                </a:solidFill>
                <a:ln w="9525" cap="flat" cmpd="sng">
                  <a:noFill/>
                  <a:prstDash val="solid"/>
                  <a:round/>
                  <a:headEnd type="none" w="med" len="med"/>
                  <a:tailEnd type="none" w="med" len="med"/>
                </a:ln>
                <a:effectLst/>
              </p:spPr>
              <p:txBody>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grpSp>
      </p:grpSp>
      <p:grpSp>
        <p:nvGrpSpPr>
          <p:cNvPr id="4" name="组合 3"/>
          <p:cNvGrpSpPr/>
          <p:nvPr/>
        </p:nvGrpSpPr>
        <p:grpSpPr>
          <a:xfrm>
            <a:off x="604520" y="1409700"/>
            <a:ext cx="7997190" cy="460375"/>
            <a:chOff x="827" y="3088"/>
            <a:chExt cx="12594" cy="725"/>
          </a:xfrm>
        </p:grpSpPr>
        <p:sp>
          <p:nvSpPr>
            <p:cNvPr id="7" name="文本框 6"/>
            <p:cNvSpPr txBox="1"/>
            <p:nvPr/>
          </p:nvSpPr>
          <p:spPr>
            <a:xfrm>
              <a:off x="1672" y="3088"/>
              <a:ext cx="11749" cy="725"/>
            </a:xfrm>
            <a:prstGeom prst="rect">
              <a:avLst/>
            </a:prstGeom>
            <a:noFill/>
          </p:spPr>
          <p:txBody>
            <a:bodyPr wrap="square" rtlCol="0" anchor="t">
              <a:spAutoFit/>
            </a:bodyPr>
            <a:lstStyle/>
            <a:p>
              <a:r>
                <a:rPr lang="zh-CN" altLang="en-US" sz="2400" b="1" dirty="0">
                  <a:sym typeface="+mn-ea"/>
                </a:rPr>
                <a:t>精确推断 </a:t>
              </a:r>
              <a:r>
                <a:rPr lang="en-US" altLang="zh-CN" sz="2400" b="1" dirty="0">
                  <a:latin typeface="Times New Roman" panose="02020603050405020304" charset="0"/>
                  <a:cs typeface="Times New Roman" panose="02020603050405020304" charset="0"/>
                  <a:sym typeface="+mn-ea"/>
                </a:rPr>
                <a:t>Exact Inference</a:t>
              </a:r>
              <a:endParaRPr lang="zh-CN" altLang="en-US" sz="2400" b="1" dirty="0">
                <a:latin typeface="Times New Roman" panose="02020603050405020304" charset="0"/>
                <a:ea typeface="宋体" panose="02010600030101010101" pitchFamily="2" charset="-122"/>
                <a:cs typeface="Times New Roman" panose="02020603050405020304" charset="0"/>
                <a:sym typeface="+mn-ea"/>
              </a:endParaRPr>
            </a:p>
          </p:txBody>
        </p:sp>
        <p:grpSp>
          <p:nvGrpSpPr>
            <p:cNvPr id="11" name="Group 98"/>
            <p:cNvGrpSpPr/>
            <p:nvPr/>
          </p:nvGrpSpPr>
          <p:grpSpPr bwMode="auto">
            <a:xfrm rot="420000">
              <a:off x="827" y="3140"/>
              <a:ext cx="809" cy="538"/>
              <a:chOff x="2345" y="1092"/>
              <a:chExt cx="1116" cy="555"/>
            </a:xfrm>
          </p:grpSpPr>
          <p:sp>
            <p:nvSpPr>
              <p:cNvPr id="12" name="AutoShape 99"/>
              <p:cNvSpPr>
                <a:spLocks noChangeArrowheads="1"/>
              </p:cNvSpPr>
              <p:nvPr/>
            </p:nvSpPr>
            <p:spPr bwMode="gray">
              <a:xfrm rot="-5400000">
                <a:off x="2249" y="1222"/>
                <a:ext cx="288" cy="96"/>
              </a:xfrm>
              <a:prstGeom prst="parallelogram">
                <a:avLst>
                  <a:gd name="adj" fmla="val 18736"/>
                </a:avLst>
              </a:prstGeom>
              <a:gradFill rotWithShape="1">
                <a:gsLst>
                  <a:gs pos="0">
                    <a:srgbClr val="EAEAEA">
                      <a:gamma/>
                      <a:shade val="85882"/>
                      <a:invGamma/>
                    </a:srgbClr>
                  </a:gs>
                  <a:gs pos="100000">
                    <a:srgbClr val="EAEAEA"/>
                  </a:gs>
                </a:gsLst>
                <a:lin ang="5400000" scaled="1"/>
              </a:gradFill>
              <a:ln w="9525">
                <a:noFill/>
                <a:miter lim="800000"/>
              </a:ln>
              <a:effectLst/>
              <a:scene3d>
                <a:camera prst="legacyObliqueTopRight"/>
                <a:lightRig rig="legacyFlat3" dir="b"/>
              </a:scene3d>
              <a:sp3d extrusionH="36500" prstMaterial="legacyMatte">
                <a:bevelT w="13500" h="13500" prst="angle"/>
                <a:bevelB w="13500" h="13500" prst="angle"/>
                <a:extrusionClr>
                  <a:srgbClr val="EAEAEA"/>
                </a:extrusionClr>
              </a:sp3d>
            </p:spPr>
            <p:txBody>
              <a:bodyPr wrap="none" anchor="ct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nvGrpSpPr>
              <p:cNvPr id="13" name="Group 100"/>
              <p:cNvGrpSpPr/>
              <p:nvPr/>
            </p:nvGrpSpPr>
            <p:grpSpPr bwMode="auto">
              <a:xfrm>
                <a:off x="2414" y="1092"/>
                <a:ext cx="1047" cy="555"/>
                <a:chOff x="2414" y="1104"/>
                <a:chExt cx="975" cy="555"/>
              </a:xfrm>
            </p:grpSpPr>
            <p:sp>
              <p:nvSpPr>
                <p:cNvPr id="14" name="Freeform 101"/>
                <p:cNvSpPr/>
                <p:nvPr/>
              </p:nvSpPr>
              <p:spPr bwMode="gray">
                <a:xfrm flipH="1">
                  <a:off x="2414" y="1104"/>
                  <a:ext cx="975" cy="555"/>
                </a:xfrm>
                <a:custGeom>
                  <a:avLst/>
                  <a:gdLst/>
                  <a:ahLst/>
                  <a:cxnLst>
                    <a:cxn ang="0">
                      <a:pos x="837" y="0"/>
                    </a:cxn>
                    <a:cxn ang="0">
                      <a:pos x="837" y="317"/>
                    </a:cxn>
                    <a:cxn ang="0">
                      <a:pos x="116" y="476"/>
                    </a:cxn>
                    <a:cxn ang="0">
                      <a:pos x="0" y="304"/>
                    </a:cxn>
                    <a:cxn ang="0">
                      <a:pos x="110" y="100"/>
                    </a:cxn>
                    <a:cxn ang="0">
                      <a:pos x="837" y="0"/>
                    </a:cxn>
                  </a:cxnLst>
                  <a:rect l="0" t="0" r="r" b="b"/>
                  <a:pathLst>
                    <a:path w="837" h="476">
                      <a:moveTo>
                        <a:pt x="837" y="0"/>
                      </a:moveTo>
                      <a:lnTo>
                        <a:pt x="837" y="317"/>
                      </a:lnTo>
                      <a:lnTo>
                        <a:pt x="116" y="476"/>
                      </a:lnTo>
                      <a:lnTo>
                        <a:pt x="0" y="304"/>
                      </a:lnTo>
                      <a:lnTo>
                        <a:pt x="110" y="100"/>
                      </a:lnTo>
                      <a:lnTo>
                        <a:pt x="837" y="0"/>
                      </a:lnTo>
                      <a:close/>
                    </a:path>
                  </a:pathLst>
                </a:custGeom>
                <a:gradFill rotWithShape="1">
                  <a:gsLst>
                    <a:gs pos="0">
                      <a:srgbClr val="FFFFFF"/>
                    </a:gs>
                    <a:gs pos="100000">
                      <a:srgbClr val="FFFFFF">
                        <a:gamma/>
                        <a:shade val="85882"/>
                        <a:invGamma/>
                      </a:srgbClr>
                    </a:gs>
                  </a:gsLst>
                  <a:lin ang="0" scaled="1"/>
                </a:gradFill>
                <a:ln w="9525" cap="flat" cmpd="sng">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b">
                    <a:rot lat="0" lon="0" rev="8700000"/>
                  </a:lightRig>
                </a:scene3d>
                <a:sp3d>
                  <a:bevelT w="190500" h="38100"/>
                </a:sp3d>
              </p:spPr>
              <p:txBody>
                <a:bodyPr>
                  <a:flatTx/>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5" name="Freeform 102"/>
                <p:cNvSpPr/>
                <p:nvPr/>
              </p:nvSpPr>
              <p:spPr bwMode="gray">
                <a:xfrm flipH="1">
                  <a:off x="2447" y="1143"/>
                  <a:ext cx="905" cy="461"/>
                </a:xfrm>
                <a:custGeom>
                  <a:avLst/>
                  <a:gdLst/>
                  <a:ahLst/>
                  <a:cxnLst>
                    <a:cxn ang="0">
                      <a:pos x="786" y="0"/>
                    </a:cxn>
                    <a:cxn ang="0">
                      <a:pos x="786" y="252"/>
                    </a:cxn>
                    <a:cxn ang="0">
                      <a:pos x="92" y="396"/>
                    </a:cxn>
                    <a:cxn ang="0">
                      <a:pos x="0" y="266"/>
                    </a:cxn>
                    <a:cxn ang="0">
                      <a:pos x="88" y="112"/>
                    </a:cxn>
                    <a:cxn ang="0">
                      <a:pos x="786" y="0"/>
                    </a:cxn>
                  </a:cxnLst>
                  <a:rect l="0" t="0" r="r" b="b"/>
                  <a:pathLst>
                    <a:path w="786" h="396">
                      <a:moveTo>
                        <a:pt x="786" y="0"/>
                      </a:moveTo>
                      <a:lnTo>
                        <a:pt x="786" y="252"/>
                      </a:lnTo>
                      <a:lnTo>
                        <a:pt x="92" y="396"/>
                      </a:lnTo>
                      <a:lnTo>
                        <a:pt x="0" y="266"/>
                      </a:lnTo>
                      <a:lnTo>
                        <a:pt x="88" y="112"/>
                      </a:lnTo>
                      <a:lnTo>
                        <a:pt x="786" y="0"/>
                      </a:lnTo>
                      <a:close/>
                    </a:path>
                  </a:pathLst>
                </a:custGeom>
                <a:solidFill>
                  <a:srgbClr val="18478F"/>
                </a:solidFill>
                <a:ln w="9525" cap="flat" cmpd="sng">
                  <a:noFill/>
                  <a:prstDash val="solid"/>
                  <a:round/>
                  <a:headEnd type="none" w="med" len="med"/>
                  <a:tailEnd type="none" w="med" len="med"/>
                </a:ln>
                <a:effectLst/>
              </p:spPr>
              <p:txBody>
                <a:bodyPr/>
                <a:lstStyle/>
                <a:p>
                  <a:pPr>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grpSp>
        </p:grpSp>
      </p:grpSp>
      <p:grpSp>
        <p:nvGrpSpPr>
          <p:cNvPr id="16" name="组合 15"/>
          <p:cNvGrpSpPr/>
          <p:nvPr/>
        </p:nvGrpSpPr>
        <p:grpSpPr>
          <a:xfrm>
            <a:off x="1189990" y="1870075"/>
            <a:ext cx="5464810" cy="414020"/>
            <a:chOff x="765" y="2299"/>
            <a:chExt cx="8606" cy="652"/>
          </a:xfrm>
        </p:grpSpPr>
        <p:sp>
          <p:nvSpPr>
            <p:cNvPr id="17" name="椭圆 16"/>
            <p:cNvSpPr/>
            <p:nvPr/>
          </p:nvSpPr>
          <p:spPr>
            <a:xfrm>
              <a:off x="765" y="2543"/>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8" name="文本框 17"/>
            <p:cNvSpPr txBox="1"/>
            <p:nvPr/>
          </p:nvSpPr>
          <p:spPr>
            <a:xfrm>
              <a:off x="1015" y="2299"/>
              <a:ext cx="8356" cy="652"/>
            </a:xfrm>
            <a:prstGeom prst="rect">
              <a:avLst/>
            </a:prstGeom>
            <a:noFill/>
          </p:spPr>
          <p:txBody>
            <a:bodyPr wrap="square" rtlCol="0" anchor="t">
              <a:spAutoFit/>
            </a:bodyPr>
            <a:lstStyle/>
            <a:p>
              <a:pPr marL="0" lvl="1" algn="just">
                <a:buClrTx/>
                <a:buSzTx/>
                <a:buFontTx/>
              </a:pPr>
              <a:r>
                <a:rPr lang="zh-CN" altLang="en-US" sz="2100" dirty="0">
                  <a:sym typeface="+mn-ea"/>
                </a:rPr>
                <a:t>变量消去法</a:t>
              </a:r>
              <a:r>
                <a:rPr lang="zh-CN" altLang="en-US" sz="2100" dirty="0">
                  <a:latin typeface="Times New Roman" panose="02020603050405020304" charset="0"/>
                  <a:cs typeface="Times New Roman" panose="02020603050405020304" charset="0"/>
                  <a:sym typeface="+mn-ea"/>
                </a:rPr>
                <a:t> </a:t>
              </a:r>
              <a:r>
                <a:rPr lang="en-US" altLang="zh-CN" sz="2100" dirty="0">
                  <a:solidFill>
                    <a:schemeClr val="tx1"/>
                  </a:solidFill>
                  <a:latin typeface="Times New Roman" panose="02020603050405020304" charset="0"/>
                  <a:cs typeface="Times New Roman" panose="02020603050405020304" charset="0"/>
                  <a:sym typeface="+mn-ea"/>
                </a:rPr>
                <a:t>(Variable Elimination Algorithm)</a:t>
              </a:r>
              <a:endParaRPr lang="zh-CN" altLang="en-US" sz="2100" dirty="0">
                <a:solidFill>
                  <a:schemeClr val="tx1"/>
                </a:solidFill>
                <a:latin typeface="Times New Roman" panose="02020603050405020304" charset="0"/>
                <a:cs typeface="Times New Roman" panose="02020603050405020304" charset="0"/>
                <a:sym typeface="+mn-ea"/>
              </a:endParaRPr>
            </a:p>
          </p:txBody>
        </p:sp>
      </p:grpSp>
      <p:grpSp>
        <p:nvGrpSpPr>
          <p:cNvPr id="20" name="组合 19"/>
          <p:cNvGrpSpPr/>
          <p:nvPr/>
        </p:nvGrpSpPr>
        <p:grpSpPr>
          <a:xfrm>
            <a:off x="1189990" y="2284095"/>
            <a:ext cx="5464810" cy="414020"/>
            <a:chOff x="765" y="2299"/>
            <a:chExt cx="8606" cy="652"/>
          </a:xfrm>
        </p:grpSpPr>
        <p:sp>
          <p:nvSpPr>
            <p:cNvPr id="21" name="椭圆 20"/>
            <p:cNvSpPr/>
            <p:nvPr/>
          </p:nvSpPr>
          <p:spPr>
            <a:xfrm>
              <a:off x="765" y="2543"/>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2" name="文本框 21"/>
            <p:cNvSpPr txBox="1"/>
            <p:nvPr/>
          </p:nvSpPr>
          <p:spPr>
            <a:xfrm>
              <a:off x="1015" y="2299"/>
              <a:ext cx="8356" cy="652"/>
            </a:xfrm>
            <a:prstGeom prst="rect">
              <a:avLst/>
            </a:prstGeom>
            <a:noFill/>
          </p:spPr>
          <p:txBody>
            <a:bodyPr wrap="square" rtlCol="0" anchor="t">
              <a:spAutoFit/>
            </a:bodyPr>
            <a:lstStyle/>
            <a:p>
              <a:pPr marL="0" lvl="1" algn="just">
                <a:buClrTx/>
                <a:buSzTx/>
                <a:buFontTx/>
              </a:pPr>
              <a:r>
                <a:rPr lang="zh-CN" altLang="en-US" sz="2100" dirty="0">
                  <a:sym typeface="+mn-ea"/>
                </a:rPr>
                <a:t>信念传播</a:t>
              </a:r>
              <a:endParaRPr lang="zh-CN" altLang="en-US" sz="2100" dirty="0">
                <a:latin typeface="Times New Roman" panose="02020603050405020304" charset="0"/>
                <a:cs typeface="Times New Roman" panose="02020603050405020304" charset="0"/>
                <a:sym typeface="+mn-ea"/>
              </a:endParaRPr>
            </a:p>
          </p:txBody>
        </p:sp>
      </p:grpSp>
      <p:grpSp>
        <p:nvGrpSpPr>
          <p:cNvPr id="23" name="组合 22"/>
          <p:cNvGrpSpPr/>
          <p:nvPr/>
        </p:nvGrpSpPr>
        <p:grpSpPr>
          <a:xfrm>
            <a:off x="1189990" y="2698115"/>
            <a:ext cx="5464810" cy="414020"/>
            <a:chOff x="765" y="2299"/>
            <a:chExt cx="8606" cy="652"/>
          </a:xfrm>
        </p:grpSpPr>
        <p:sp>
          <p:nvSpPr>
            <p:cNvPr id="24" name="椭圆 23"/>
            <p:cNvSpPr/>
            <p:nvPr/>
          </p:nvSpPr>
          <p:spPr>
            <a:xfrm>
              <a:off x="765" y="2543"/>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5" name="文本框 24"/>
            <p:cNvSpPr txBox="1"/>
            <p:nvPr/>
          </p:nvSpPr>
          <p:spPr>
            <a:xfrm>
              <a:off x="1015" y="2299"/>
              <a:ext cx="8356" cy="652"/>
            </a:xfrm>
            <a:prstGeom prst="rect">
              <a:avLst/>
            </a:prstGeom>
            <a:noFill/>
          </p:spPr>
          <p:txBody>
            <a:bodyPr wrap="square" rtlCol="0" anchor="t">
              <a:spAutoFit/>
            </a:bodyPr>
            <a:lstStyle/>
            <a:p>
              <a:pPr marL="0" lvl="1" algn="just">
                <a:buClrTx/>
                <a:buSzTx/>
                <a:buFontTx/>
              </a:pPr>
              <a:r>
                <a:rPr lang="zh-CN" altLang="en-US" sz="2100" dirty="0">
                  <a:sym typeface="+mn-ea"/>
                </a:rPr>
                <a:t>联合树算法</a:t>
              </a:r>
              <a:endParaRPr lang="zh-CN" altLang="en-US" sz="2100" dirty="0">
                <a:solidFill>
                  <a:schemeClr val="tx1"/>
                </a:solidFill>
                <a:latin typeface="Times New Roman" panose="02020603050405020304" charset="0"/>
                <a:cs typeface="Times New Roman" panose="02020603050405020304" charset="0"/>
                <a:sym typeface="+mn-ea"/>
              </a:endParaRPr>
            </a:p>
          </p:txBody>
        </p:sp>
      </p:grpSp>
      <p:grpSp>
        <p:nvGrpSpPr>
          <p:cNvPr id="26" name="组合 25"/>
          <p:cNvGrpSpPr/>
          <p:nvPr/>
        </p:nvGrpSpPr>
        <p:grpSpPr>
          <a:xfrm>
            <a:off x="1174115" y="3658870"/>
            <a:ext cx="5464810" cy="414020"/>
            <a:chOff x="765" y="2299"/>
            <a:chExt cx="8606" cy="652"/>
          </a:xfrm>
        </p:grpSpPr>
        <p:sp>
          <p:nvSpPr>
            <p:cNvPr id="27" name="椭圆 26"/>
            <p:cNvSpPr/>
            <p:nvPr/>
          </p:nvSpPr>
          <p:spPr>
            <a:xfrm>
              <a:off x="765" y="2543"/>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8" name="文本框 27"/>
            <p:cNvSpPr txBox="1"/>
            <p:nvPr/>
          </p:nvSpPr>
          <p:spPr>
            <a:xfrm>
              <a:off x="1015" y="2299"/>
              <a:ext cx="8356" cy="652"/>
            </a:xfrm>
            <a:prstGeom prst="rect">
              <a:avLst/>
            </a:prstGeom>
            <a:noFill/>
          </p:spPr>
          <p:txBody>
            <a:bodyPr wrap="square" rtlCol="0" anchor="t">
              <a:spAutoFit/>
            </a:bodyPr>
            <a:lstStyle/>
            <a:p>
              <a:pPr marL="0" lvl="1" algn="just">
                <a:buClrTx/>
                <a:buSzTx/>
                <a:buFontTx/>
              </a:pPr>
              <a:r>
                <a:rPr lang="zh-CN" altLang="en-US" sz="2100" dirty="0">
                  <a:solidFill>
                    <a:srgbClr val="FF0000"/>
                  </a:solidFill>
                  <a:sym typeface="+mn-ea"/>
                </a:rPr>
                <a:t>变分推断</a:t>
              </a:r>
              <a:endParaRPr lang="zh-CN" altLang="en-US" sz="2100" dirty="0">
                <a:solidFill>
                  <a:schemeClr val="tx1"/>
                </a:solidFill>
                <a:latin typeface="Times New Roman" panose="02020603050405020304" charset="0"/>
                <a:cs typeface="Times New Roman" panose="02020603050405020304" charset="0"/>
                <a:sym typeface="+mn-ea"/>
              </a:endParaRPr>
            </a:p>
          </p:txBody>
        </p:sp>
      </p:grpSp>
      <p:grpSp>
        <p:nvGrpSpPr>
          <p:cNvPr id="29" name="组合 28"/>
          <p:cNvGrpSpPr/>
          <p:nvPr/>
        </p:nvGrpSpPr>
        <p:grpSpPr>
          <a:xfrm>
            <a:off x="1174115" y="4072890"/>
            <a:ext cx="5464810" cy="414020"/>
            <a:chOff x="765" y="2299"/>
            <a:chExt cx="8606" cy="652"/>
          </a:xfrm>
        </p:grpSpPr>
        <p:sp>
          <p:nvSpPr>
            <p:cNvPr id="31" name="椭圆 30"/>
            <p:cNvSpPr/>
            <p:nvPr/>
          </p:nvSpPr>
          <p:spPr>
            <a:xfrm>
              <a:off x="765" y="2543"/>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32" name="文本框 31"/>
            <p:cNvSpPr txBox="1"/>
            <p:nvPr/>
          </p:nvSpPr>
          <p:spPr>
            <a:xfrm>
              <a:off x="1015" y="2299"/>
              <a:ext cx="8356" cy="652"/>
            </a:xfrm>
            <a:prstGeom prst="rect">
              <a:avLst/>
            </a:prstGeom>
            <a:noFill/>
          </p:spPr>
          <p:txBody>
            <a:bodyPr wrap="square" rtlCol="0" anchor="t">
              <a:spAutoFit/>
            </a:bodyPr>
            <a:lstStyle/>
            <a:p>
              <a:pPr marL="0" lvl="1" algn="just">
                <a:buClrTx/>
                <a:buSzTx/>
                <a:buFontTx/>
              </a:pPr>
              <a:r>
                <a:rPr lang="zh-CN" altLang="en-US" sz="2100" dirty="0">
                  <a:solidFill>
                    <a:srgbClr val="FF0000"/>
                  </a:solidFill>
                  <a:latin typeface="Times New Roman" panose="02020603050405020304" charset="0"/>
                  <a:cs typeface="Times New Roman" panose="02020603050405020304" charset="0"/>
                  <a:sym typeface="+mn-ea"/>
                </a:rPr>
                <a:t>采样法（蒙特卡罗方法）</a:t>
              </a:r>
            </a:p>
          </p:txBody>
        </p:sp>
      </p:grpSp>
      <p:grpSp>
        <p:nvGrpSpPr>
          <p:cNvPr id="43" name="组合 42"/>
          <p:cNvGrpSpPr/>
          <p:nvPr/>
        </p:nvGrpSpPr>
        <p:grpSpPr>
          <a:xfrm>
            <a:off x="1321435" y="4815840"/>
            <a:ext cx="4197985" cy="504825"/>
            <a:chOff x="2081" y="7584"/>
            <a:chExt cx="6611" cy="795"/>
          </a:xfrm>
        </p:grpSpPr>
        <p:sp>
          <p:nvSpPr>
            <p:cNvPr id="41" name="五角星 40"/>
            <p:cNvSpPr/>
            <p:nvPr/>
          </p:nvSpPr>
          <p:spPr>
            <a:xfrm>
              <a:off x="2081" y="7584"/>
              <a:ext cx="857" cy="793"/>
            </a:xfrm>
            <a:prstGeom prst="star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2" name="文本框 41"/>
            <p:cNvSpPr txBox="1"/>
            <p:nvPr/>
          </p:nvSpPr>
          <p:spPr>
            <a:xfrm>
              <a:off x="3150" y="7749"/>
              <a:ext cx="5542" cy="630"/>
            </a:xfrm>
            <a:prstGeom prst="rect">
              <a:avLst/>
            </a:prstGeom>
            <a:noFill/>
          </p:spPr>
          <p:txBody>
            <a:bodyPr wrap="none" rtlCol="0" anchor="t">
              <a:spAutoFit/>
            </a:bodyPr>
            <a:lstStyle/>
            <a:p>
              <a:r>
                <a:rPr lang="zh-CN" altLang="en-US" sz="2000" dirty="0">
                  <a:solidFill>
                    <a:srgbClr val="FF0000"/>
                  </a:solidFill>
                  <a:latin typeface="Times New Roman" panose="02020603050405020304" charset="0"/>
                  <a:cs typeface="Times New Roman" panose="02020603050405020304" charset="0"/>
                  <a:sym typeface="+mn-ea"/>
                </a:rPr>
                <a:t>关键在于如何计算边际概率。</a:t>
              </a: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800" decel="100000"/>
                                        <p:tgtEl>
                                          <p:spTgt spid="43"/>
                                        </p:tgtEl>
                                      </p:cBhvr>
                                    </p:animEffect>
                                    <p:anim calcmode="lin" valueType="num">
                                      <p:cBhvr>
                                        <p:cTn id="8" dur="800" decel="100000" fill="hold"/>
                                        <p:tgtEl>
                                          <p:spTgt spid="43"/>
                                        </p:tgtEl>
                                        <p:attrNameLst>
                                          <p:attrName>style.rotation</p:attrName>
                                        </p:attrNameLst>
                                      </p:cBhvr>
                                      <p:tavLst>
                                        <p:tav tm="0">
                                          <p:val>
                                            <p:fltVal val="-90"/>
                                          </p:val>
                                        </p:tav>
                                        <p:tav tm="100000">
                                          <p:val>
                                            <p:fltVal val="0"/>
                                          </p:val>
                                        </p:tav>
                                      </p:tavLst>
                                    </p:anim>
                                    <p:anim calcmode="lin" valueType="num">
                                      <p:cBhvr>
                                        <p:cTn id="9" dur="800" decel="100000" fill="hold"/>
                                        <p:tgtEl>
                                          <p:spTgt spid="43"/>
                                        </p:tgtEl>
                                        <p:attrNameLst>
                                          <p:attrName>ppt_x</p:attrName>
                                        </p:attrNameLst>
                                      </p:cBhvr>
                                      <p:tavLst>
                                        <p:tav tm="0">
                                          <p:val>
                                            <p:strVal val="#ppt_x+0.4"/>
                                          </p:val>
                                        </p:tav>
                                        <p:tav tm="100000">
                                          <p:val>
                                            <p:strVal val="#ppt_x-0.05"/>
                                          </p:val>
                                        </p:tav>
                                      </p:tavLst>
                                    </p:anim>
                                    <p:anim calcmode="lin" valueType="num">
                                      <p:cBhvr>
                                        <p:cTn id="10" dur="800" decel="100000" fill="hold"/>
                                        <p:tgtEl>
                                          <p:spTgt spid="4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4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4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349250"/>
            <a:ext cx="8925560" cy="540385"/>
            <a:chOff x="-9" y="393"/>
            <a:chExt cx="14056" cy="851"/>
          </a:xfrm>
        </p:grpSpPr>
        <p:sp>
          <p:nvSpPr>
            <p:cNvPr id="34" name="矩形 33"/>
            <p:cNvSpPr/>
            <p:nvPr/>
          </p:nvSpPr>
          <p:spPr>
            <a:xfrm>
              <a:off x="7597" y="429"/>
              <a:ext cx="6450"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422"/>
              <a:ext cx="6842" cy="822"/>
            </a:xfrm>
            <a:prstGeom prst="rect">
              <a:avLst/>
            </a:prstGeom>
          </p:spPr>
          <p:txBody>
            <a:bodyPr wrap="square">
              <a:spAutoFit/>
            </a:bodyPr>
            <a:lstStyle/>
            <a:p>
              <a:pPr fontAlgn="auto">
                <a:lnSpc>
                  <a:spcPct val="100000"/>
                </a:lnSpc>
              </a:pPr>
              <a:r>
                <a:rPr lang="zh-CN" altLang="en-US" sz="2800" b="1" dirty="0">
                  <a:solidFill>
                    <a:srgbClr val="18478F"/>
                  </a:solidFill>
                  <a:latin typeface="+mn-ea"/>
                  <a:cs typeface="+mn-ea"/>
                  <a:sym typeface="+mn-ea"/>
                </a:rPr>
                <a:t>如何有效地计算边际概率？</a:t>
              </a:r>
            </a:p>
          </p:txBody>
        </p:sp>
      </p:grpSp>
      <p:grpSp>
        <p:nvGrpSpPr>
          <p:cNvPr id="6" name="组合 5"/>
          <p:cNvGrpSpPr/>
          <p:nvPr/>
        </p:nvGrpSpPr>
        <p:grpSpPr>
          <a:xfrm>
            <a:off x="476250" y="1149350"/>
            <a:ext cx="7954010" cy="460375"/>
            <a:chOff x="814" y="3458"/>
            <a:chExt cx="12526" cy="725"/>
          </a:xfrm>
        </p:grpSpPr>
        <p:sp>
          <p:nvSpPr>
            <p:cNvPr id="11" name="椭圆 10"/>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ym typeface="+mn-ea"/>
                </a:rPr>
                <a:t>边际概率</a:t>
              </a:r>
            </a:p>
          </p:txBody>
        </p:sp>
      </p:grpSp>
      <p:pic>
        <p:nvPicPr>
          <p:cNvPr id="3" name="图片 2"/>
          <p:cNvPicPr>
            <a:picLocks noChangeAspect="1"/>
          </p:cNvPicPr>
          <p:nvPr/>
        </p:nvPicPr>
        <p:blipFill>
          <a:blip r:embed="rId5"/>
          <a:stretch>
            <a:fillRect/>
          </a:stretch>
        </p:blipFill>
        <p:spPr>
          <a:xfrm>
            <a:off x="2000250" y="1609725"/>
            <a:ext cx="6105525" cy="976053"/>
          </a:xfrm>
          <a:prstGeom prst="rect">
            <a:avLst/>
          </a:prstGeom>
        </p:spPr>
      </p:pic>
      <p:pic>
        <p:nvPicPr>
          <p:cNvPr id="5" name="图片 4"/>
          <p:cNvPicPr>
            <a:picLocks noChangeAspect="1"/>
          </p:cNvPicPr>
          <p:nvPr/>
        </p:nvPicPr>
        <p:blipFill>
          <a:blip r:embed="rId6"/>
          <a:stretch>
            <a:fillRect/>
          </a:stretch>
        </p:blipFill>
        <p:spPr>
          <a:xfrm>
            <a:off x="2869565" y="4276482"/>
            <a:ext cx="3105150" cy="523875"/>
          </a:xfrm>
          <a:prstGeom prst="rect">
            <a:avLst/>
          </a:prstGeom>
        </p:spPr>
      </p:pic>
      <p:grpSp>
        <p:nvGrpSpPr>
          <p:cNvPr id="4" name="组合 3"/>
          <p:cNvGrpSpPr/>
          <p:nvPr/>
        </p:nvGrpSpPr>
        <p:grpSpPr>
          <a:xfrm>
            <a:off x="476250" y="3330575"/>
            <a:ext cx="7954010" cy="460375"/>
            <a:chOff x="814" y="3458"/>
            <a:chExt cx="12526" cy="725"/>
          </a:xfrm>
        </p:grpSpPr>
        <p:sp>
          <p:nvSpPr>
            <p:cNvPr id="7" name="椭圆 6"/>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8" name="文本框 7"/>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a:sym typeface="+mn-ea"/>
                </a:rPr>
                <a:t>如何减少计算量？</a:t>
              </a:r>
            </a:p>
          </p:txBody>
        </p:sp>
      </p:grpSp>
      <p:sp>
        <p:nvSpPr>
          <p:cNvPr id="13" name="文本框 12"/>
          <p:cNvSpPr txBox="1"/>
          <p:nvPr/>
        </p:nvSpPr>
        <p:spPr>
          <a:xfrm>
            <a:off x="3338830" y="3330575"/>
            <a:ext cx="2167255" cy="460375"/>
          </a:xfrm>
          <a:prstGeom prst="rect">
            <a:avLst/>
          </a:prstGeom>
          <a:noFill/>
        </p:spPr>
        <p:txBody>
          <a:bodyPr wrap="square" rtlCol="0">
            <a:spAutoFit/>
          </a:bodyPr>
          <a:lstStyle/>
          <a:p>
            <a:pPr marL="0" lvl="1" algn="l"/>
            <a:r>
              <a:rPr lang="zh-CN" altLang="en-US" sz="2400">
                <a:solidFill>
                  <a:schemeClr val="tx2"/>
                </a:solidFill>
                <a:sym typeface="+mn-ea"/>
              </a:rPr>
              <a:t>乘法的分配律</a:t>
            </a:r>
          </a:p>
        </p:txBody>
      </p:sp>
    </p:spTree>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3505" y="429"/>
              <a:ext cx="10542"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2751"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采样法</a:t>
              </a:r>
            </a:p>
          </p:txBody>
        </p:sp>
      </p:grpSp>
      <p:sp>
        <p:nvSpPr>
          <p:cNvPr id="4" name="文本框 3"/>
          <p:cNvSpPr txBox="1"/>
          <p:nvPr/>
        </p:nvSpPr>
        <p:spPr>
          <a:xfrm>
            <a:off x="2226945" y="488315"/>
            <a:ext cx="1929130" cy="368300"/>
          </a:xfrm>
          <a:prstGeom prst="rect">
            <a:avLst/>
          </a:prstGeom>
          <a:noFill/>
        </p:spPr>
        <p:txBody>
          <a:bodyPr wrap="none" rtlCol="0" anchor="t">
            <a:spAutoFit/>
          </a:bodyPr>
          <a:lstStyle/>
          <a:p>
            <a:r>
              <a:rPr lang="en-US" altLang="zh-CN" b="1" dirty="0">
                <a:solidFill>
                  <a:schemeClr val="bg1">
                    <a:lumMod val="95000"/>
                  </a:schemeClr>
                </a:solidFill>
                <a:latin typeface="Times New Roman" panose="02020603050405020304" charset="0"/>
                <a:cs typeface="Times New Roman" panose="02020603050405020304" charset="0"/>
                <a:sym typeface="+mn-ea"/>
              </a:rPr>
              <a:t>Sampling Method</a:t>
            </a:r>
            <a:endParaRPr lang="zh-CN" altLang="en-US"/>
          </a:p>
        </p:txBody>
      </p:sp>
      <p:pic>
        <p:nvPicPr>
          <p:cNvPr id="5" name="图片 4"/>
          <p:cNvPicPr>
            <a:picLocks noChangeAspect="1"/>
          </p:cNvPicPr>
          <p:nvPr/>
        </p:nvPicPr>
        <p:blipFill>
          <a:blip r:embed="rId5"/>
          <a:stretch>
            <a:fillRect/>
          </a:stretch>
        </p:blipFill>
        <p:spPr>
          <a:xfrm>
            <a:off x="3221990" y="1791970"/>
            <a:ext cx="2616425" cy="762000"/>
          </a:xfrm>
          <a:prstGeom prst="rect">
            <a:avLst/>
          </a:prstGeom>
        </p:spPr>
      </p:pic>
      <p:pic>
        <p:nvPicPr>
          <p:cNvPr id="7" name="图片 6"/>
          <p:cNvPicPr>
            <a:picLocks noChangeAspect="1"/>
          </p:cNvPicPr>
          <p:nvPr/>
        </p:nvPicPr>
        <p:blipFill>
          <a:blip r:embed="rId6"/>
          <a:stretch>
            <a:fillRect/>
          </a:stretch>
        </p:blipFill>
        <p:spPr>
          <a:xfrm>
            <a:off x="2767330" y="4419600"/>
            <a:ext cx="3525180" cy="669131"/>
          </a:xfrm>
          <a:prstGeom prst="rect">
            <a:avLst/>
          </a:prstGeom>
        </p:spPr>
      </p:pic>
      <p:grpSp>
        <p:nvGrpSpPr>
          <p:cNvPr id="11" name="组合 10"/>
          <p:cNvGrpSpPr/>
          <p:nvPr/>
        </p:nvGrpSpPr>
        <p:grpSpPr>
          <a:xfrm>
            <a:off x="476250" y="1149350"/>
            <a:ext cx="7954010" cy="460375"/>
            <a:chOff x="814" y="3458"/>
            <a:chExt cx="12526" cy="725"/>
          </a:xfrm>
        </p:grpSpPr>
        <p:sp>
          <p:nvSpPr>
            <p:cNvPr id="12" name="椭圆 11"/>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ym typeface="+mn-ea"/>
                </a:rPr>
                <a:t>假设要推断的概率分布为</a:t>
              </a:r>
              <a:r>
                <a:rPr lang="en-US" altLang="zh-CN" sz="2400" dirty="0">
                  <a:sym typeface="+mn-ea"/>
                </a:rPr>
                <a:t>p(x)</a:t>
              </a:r>
              <a:r>
                <a:rPr lang="zh-CN" altLang="en-US" sz="2400" dirty="0">
                  <a:sym typeface="+mn-ea"/>
                </a:rPr>
                <a:t>，并用来计算期望</a:t>
              </a:r>
            </a:p>
          </p:txBody>
        </p:sp>
      </p:grpSp>
      <p:grpSp>
        <p:nvGrpSpPr>
          <p:cNvPr id="6" name="组合 5"/>
          <p:cNvGrpSpPr/>
          <p:nvPr/>
        </p:nvGrpSpPr>
        <p:grpSpPr>
          <a:xfrm>
            <a:off x="474345" y="2735580"/>
            <a:ext cx="7954010" cy="460375"/>
            <a:chOff x="814" y="3458"/>
            <a:chExt cx="12526" cy="725"/>
          </a:xfrm>
        </p:grpSpPr>
        <p:sp>
          <p:nvSpPr>
            <p:cNvPr id="8" name="椭圆 7"/>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9" name="文本框 8"/>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ym typeface="+mn-ea"/>
                </a:rPr>
                <a:t>采样法</a:t>
              </a:r>
            </a:p>
          </p:txBody>
        </p:sp>
      </p:grpSp>
      <p:grpSp>
        <p:nvGrpSpPr>
          <p:cNvPr id="17" name="组合 16"/>
          <p:cNvGrpSpPr/>
          <p:nvPr/>
        </p:nvGrpSpPr>
        <p:grpSpPr>
          <a:xfrm>
            <a:off x="480060" y="3195955"/>
            <a:ext cx="7763510" cy="1060450"/>
            <a:chOff x="756" y="5033"/>
            <a:chExt cx="12226" cy="1670"/>
          </a:xfrm>
        </p:grpSpPr>
        <p:grpSp>
          <p:nvGrpSpPr>
            <p:cNvPr id="16" name="组合 15"/>
            <p:cNvGrpSpPr/>
            <p:nvPr/>
          </p:nvGrpSpPr>
          <p:grpSpPr>
            <a:xfrm>
              <a:off x="756" y="5033"/>
              <a:ext cx="12226" cy="1670"/>
              <a:chOff x="756" y="2535"/>
              <a:chExt cx="12226" cy="1670"/>
            </a:xfrm>
          </p:grpSpPr>
          <p:sp>
            <p:nvSpPr>
              <p:cNvPr id="14" name="文本框 13"/>
              <p:cNvSpPr txBox="1"/>
              <p:nvPr/>
            </p:nvSpPr>
            <p:spPr>
              <a:xfrm>
                <a:off x="756" y="2535"/>
                <a:ext cx="12226" cy="1670"/>
              </a:xfrm>
              <a:prstGeom prst="rect">
                <a:avLst/>
              </a:prstGeom>
              <a:noFill/>
            </p:spPr>
            <p:txBody>
              <a:bodyPr wrap="square" rtlCol="0" anchor="t">
                <a:spAutoFit/>
              </a:bodyPr>
              <a:lstStyle/>
              <a:p>
                <a:pPr lvl="1"/>
                <a:r>
                  <a:rPr lang="zh-CN" altLang="en-US" sz="2100" dirty="0">
                    <a:sym typeface="+mn-ea"/>
                  </a:rPr>
                  <a:t>也称为蒙特卡罗方法</a:t>
                </a:r>
                <a:r>
                  <a:rPr lang="en-US" altLang="zh-CN" sz="2100" dirty="0">
                    <a:sym typeface="+mn-ea"/>
                  </a:rPr>
                  <a:t>(Monte Carlo Method)</a:t>
                </a:r>
              </a:p>
              <a:p>
                <a:pPr lvl="1"/>
                <a:r>
                  <a:rPr lang="zh-CN" altLang="en-US" sz="2100" dirty="0">
                    <a:sym typeface="+mn-ea"/>
                  </a:rPr>
                  <a:t>数值解：用数值方法求出解，给出一系列对应的自变量和解</a:t>
                </a:r>
              </a:p>
              <a:p>
                <a:pPr lvl="1"/>
                <a:r>
                  <a:rPr lang="zh-CN" altLang="en-US" sz="2100" dirty="0">
                    <a:sym typeface="+mn-ea"/>
                  </a:rPr>
                  <a:t>独立抽取</a:t>
                </a:r>
                <a:r>
                  <a:rPr lang="en-US" altLang="zh-CN" sz="2100" dirty="0">
                    <a:sym typeface="+mn-ea"/>
                  </a:rPr>
                  <a:t>N</a:t>
                </a:r>
                <a:r>
                  <a:rPr lang="zh-CN" altLang="en-US" sz="2100" dirty="0">
                    <a:sym typeface="+mn-ea"/>
                  </a:rPr>
                  <a:t>个样本，并计算</a:t>
                </a:r>
              </a:p>
            </p:txBody>
          </p:sp>
          <p:sp>
            <p:nvSpPr>
              <p:cNvPr id="24" name="椭圆 23"/>
              <p:cNvSpPr/>
              <p:nvPr/>
            </p:nvSpPr>
            <p:spPr>
              <a:xfrm>
                <a:off x="1323" y="2773"/>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5" name="椭圆 14"/>
              <p:cNvSpPr/>
              <p:nvPr/>
            </p:nvSpPr>
            <p:spPr>
              <a:xfrm>
                <a:off x="1323" y="3252"/>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sp>
          <p:nvSpPr>
            <p:cNvPr id="10" name="椭圆 9"/>
            <p:cNvSpPr/>
            <p:nvPr/>
          </p:nvSpPr>
          <p:spPr>
            <a:xfrm>
              <a:off x="1323" y="6228"/>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19" name="组合 18"/>
          <p:cNvGrpSpPr/>
          <p:nvPr/>
        </p:nvGrpSpPr>
        <p:grpSpPr>
          <a:xfrm>
            <a:off x="474345" y="5222240"/>
            <a:ext cx="7763510" cy="414020"/>
            <a:chOff x="756" y="2535"/>
            <a:chExt cx="12226" cy="652"/>
          </a:xfrm>
        </p:grpSpPr>
        <p:sp>
          <p:nvSpPr>
            <p:cNvPr id="20" name="文本框 19"/>
            <p:cNvSpPr txBox="1"/>
            <p:nvPr/>
          </p:nvSpPr>
          <p:spPr>
            <a:xfrm>
              <a:off x="756" y="2535"/>
              <a:ext cx="12226" cy="652"/>
            </a:xfrm>
            <a:prstGeom prst="rect">
              <a:avLst/>
            </a:prstGeom>
            <a:noFill/>
          </p:spPr>
          <p:txBody>
            <a:bodyPr wrap="square" rtlCol="0" anchor="t">
              <a:spAutoFit/>
            </a:bodyPr>
            <a:lstStyle/>
            <a:p>
              <a:pPr lvl="1"/>
              <a:r>
                <a:rPr lang="zh-CN" altLang="en-US" sz="2100" dirty="0">
                  <a:sym typeface="+mn-ea"/>
                </a:rPr>
                <a:t>根据大数定律，当</a:t>
              </a:r>
              <a:r>
                <a:rPr lang="en-US" altLang="zh-CN" sz="2100" dirty="0">
                  <a:sym typeface="+mn-ea"/>
                </a:rPr>
                <a:t>N</a:t>
              </a:r>
              <a:r>
                <a:rPr lang="zh-CN" altLang="en-US" sz="2100" dirty="0">
                  <a:sym typeface="+mn-ea"/>
                </a:rPr>
                <a:t>趋向于无穷大时，样本均值收敛于期望值</a:t>
              </a:r>
            </a:p>
          </p:txBody>
        </p:sp>
        <p:sp>
          <p:nvSpPr>
            <p:cNvPr id="21" name="椭圆 20"/>
            <p:cNvSpPr/>
            <p:nvPr/>
          </p:nvSpPr>
          <p:spPr>
            <a:xfrm>
              <a:off x="1323" y="2773"/>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spTree>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11" name="组合 10"/>
          <p:cNvGrpSpPr/>
          <p:nvPr/>
        </p:nvGrpSpPr>
        <p:grpSpPr>
          <a:xfrm>
            <a:off x="476250" y="1149350"/>
            <a:ext cx="7954010" cy="460375"/>
            <a:chOff x="814" y="3458"/>
            <a:chExt cx="12526" cy="725"/>
          </a:xfrm>
        </p:grpSpPr>
        <p:sp>
          <p:nvSpPr>
            <p:cNvPr id="12" name="椭圆 11"/>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olidFill>
                    <a:srgbClr val="FF0000"/>
                  </a:solidFill>
                  <a:sym typeface="+mn-ea"/>
                </a:rPr>
                <a:t>直接采样  </a:t>
              </a:r>
              <a:r>
                <a:rPr lang="zh-CN" altLang="en-US" sz="2000" dirty="0">
                  <a:solidFill>
                    <a:schemeClr val="tx2"/>
                  </a:solidFill>
                  <a:sym typeface="+mn-ea"/>
                </a:rPr>
                <a:t>均匀分布</a:t>
              </a:r>
            </a:p>
          </p:txBody>
        </p:sp>
      </p:grpSp>
      <p:grpSp>
        <p:nvGrpSpPr>
          <p:cNvPr id="2" name="组合 1"/>
          <p:cNvGrpSpPr/>
          <p:nvPr/>
        </p:nvGrpSpPr>
        <p:grpSpPr>
          <a:xfrm>
            <a:off x="480060" y="1628140"/>
            <a:ext cx="7954010" cy="460375"/>
            <a:chOff x="814" y="3458"/>
            <a:chExt cx="12526" cy="725"/>
          </a:xfrm>
        </p:grpSpPr>
        <p:sp>
          <p:nvSpPr>
            <p:cNvPr id="3" name="椭圆 2"/>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4" name="文本框 3"/>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ym typeface="+mn-ea"/>
                </a:rPr>
                <a:t>逆变换采样</a:t>
              </a:r>
              <a:r>
                <a:rPr lang="en-US" altLang="zh-CN" sz="2000" dirty="0">
                  <a:sym typeface="+mn-ea"/>
                </a:rPr>
                <a:t>(</a:t>
              </a:r>
              <a:r>
                <a:rPr lang="en-US" altLang="zh-CN" sz="2000" dirty="0">
                  <a:latin typeface="Times New Roman" panose="02020603050405020304" charset="0"/>
                  <a:cs typeface="Times New Roman" panose="02020603050405020304" charset="0"/>
                  <a:sym typeface="+mn-ea"/>
                </a:rPr>
                <a:t>Inverse Transform Sampling)</a:t>
              </a:r>
            </a:p>
          </p:txBody>
        </p:sp>
      </p:grpSp>
      <p:grpSp>
        <p:nvGrpSpPr>
          <p:cNvPr id="5" name="组合 4"/>
          <p:cNvGrpSpPr/>
          <p:nvPr/>
        </p:nvGrpSpPr>
        <p:grpSpPr>
          <a:xfrm>
            <a:off x="476250" y="2159000"/>
            <a:ext cx="7954010" cy="460375"/>
            <a:chOff x="814" y="3458"/>
            <a:chExt cx="12526" cy="725"/>
          </a:xfrm>
        </p:grpSpPr>
        <p:sp>
          <p:nvSpPr>
            <p:cNvPr id="6" name="椭圆 5"/>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7" name="文本框 6"/>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Box–Muller</a:t>
              </a:r>
              <a:r>
                <a:rPr lang="zh-CN" altLang="en-US" sz="2400" dirty="0">
                  <a:sym typeface="+mn-ea"/>
                </a:rPr>
                <a:t>方法  </a:t>
              </a:r>
              <a:r>
                <a:rPr lang="zh-CN" altLang="en-US" sz="2000" dirty="0">
                  <a:solidFill>
                    <a:schemeClr val="tx2"/>
                  </a:solidFill>
                  <a:sym typeface="+mn-ea"/>
                </a:rPr>
                <a:t>正态分布</a:t>
              </a:r>
              <a:endParaRPr lang="zh-CN" altLang="en-US" sz="2400" dirty="0">
                <a:latin typeface="Times New Roman" panose="02020603050405020304" charset="0"/>
                <a:cs typeface="Times New Roman" panose="02020603050405020304" charset="0"/>
                <a:sym typeface="+mn-ea"/>
              </a:endParaRPr>
            </a:p>
          </p:txBody>
        </p:sp>
      </p:grpSp>
      <p:grpSp>
        <p:nvGrpSpPr>
          <p:cNvPr id="8" name="组合 7"/>
          <p:cNvGrpSpPr/>
          <p:nvPr/>
        </p:nvGrpSpPr>
        <p:grpSpPr>
          <a:xfrm>
            <a:off x="476250" y="2759710"/>
            <a:ext cx="7954010" cy="460375"/>
            <a:chOff x="814" y="3458"/>
            <a:chExt cx="12526" cy="725"/>
          </a:xfrm>
        </p:grpSpPr>
        <p:sp>
          <p:nvSpPr>
            <p:cNvPr id="9" name="椭圆 8"/>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0" name="文本框 9"/>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olidFill>
                    <a:srgbClr val="FF0000"/>
                  </a:solidFill>
                  <a:sym typeface="+mn-ea"/>
                </a:rPr>
                <a:t>拒绝采样</a:t>
              </a:r>
              <a:endParaRPr lang="zh-CN" altLang="en-US" sz="2400" dirty="0">
                <a:solidFill>
                  <a:srgbClr val="FF0000"/>
                </a:solidFill>
                <a:latin typeface="Times New Roman" panose="02020603050405020304" charset="0"/>
                <a:cs typeface="Times New Roman" panose="02020603050405020304" charset="0"/>
                <a:sym typeface="+mn-ea"/>
              </a:endParaRPr>
            </a:p>
          </p:txBody>
        </p:sp>
      </p:grpSp>
      <p:grpSp>
        <p:nvGrpSpPr>
          <p:cNvPr id="14" name="组合 13"/>
          <p:cNvGrpSpPr/>
          <p:nvPr/>
        </p:nvGrpSpPr>
        <p:grpSpPr>
          <a:xfrm>
            <a:off x="480060" y="3329940"/>
            <a:ext cx="7954010" cy="460375"/>
            <a:chOff x="814" y="3458"/>
            <a:chExt cx="12526" cy="725"/>
          </a:xfrm>
        </p:grpSpPr>
        <p:sp>
          <p:nvSpPr>
            <p:cNvPr id="15" name="椭圆 14"/>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6" name="文本框 15"/>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solidFill>
                    <a:srgbClr val="FF0000"/>
                  </a:solidFill>
                  <a:sym typeface="+mn-ea"/>
                </a:rPr>
                <a:t>重要性采样</a:t>
              </a:r>
              <a:endParaRPr lang="zh-CN" altLang="en-US" sz="2400" dirty="0">
                <a:solidFill>
                  <a:srgbClr val="FF0000"/>
                </a:solidFill>
                <a:latin typeface="Times New Roman" panose="02020603050405020304" charset="0"/>
                <a:cs typeface="Times New Roman" panose="02020603050405020304" charset="0"/>
                <a:sym typeface="+mn-ea"/>
              </a:endParaRPr>
            </a:p>
          </p:txBody>
        </p:sp>
      </p:grpSp>
      <p:grpSp>
        <p:nvGrpSpPr>
          <p:cNvPr id="17" name="组合 16"/>
          <p:cNvGrpSpPr/>
          <p:nvPr/>
        </p:nvGrpSpPr>
        <p:grpSpPr>
          <a:xfrm>
            <a:off x="476250" y="3896360"/>
            <a:ext cx="7954010" cy="460375"/>
            <a:chOff x="814" y="3458"/>
            <a:chExt cx="12526" cy="725"/>
          </a:xfrm>
        </p:grpSpPr>
        <p:sp>
          <p:nvSpPr>
            <p:cNvPr id="18" name="椭圆 17"/>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9" name="文本框 18"/>
            <p:cNvSpPr txBox="1"/>
            <p:nvPr/>
          </p:nvSpPr>
          <p:spPr>
            <a:xfrm>
              <a:off x="1064" y="3458"/>
              <a:ext cx="12276" cy="725"/>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马尔可夫链蒙特卡罗</a:t>
              </a:r>
              <a:r>
                <a:rPr lang="en-US" altLang="zh-CN" sz="2000" dirty="0">
                  <a:latin typeface="Times New Roman" panose="02020603050405020304" charset="0"/>
                  <a:cs typeface="Times New Roman" panose="02020603050405020304" charset="0"/>
                  <a:sym typeface="+mn-ea"/>
                </a:rPr>
                <a:t>(Markov Chain Monte Carlo</a:t>
              </a:r>
              <a:r>
                <a:rPr lang="zh-CN" altLang="en-US" sz="2000" dirty="0">
                  <a:latin typeface="Times New Roman" panose="02020603050405020304" charset="0"/>
                  <a:cs typeface="Times New Roman" panose="02020603050405020304" charset="0"/>
                  <a:sym typeface="+mn-ea"/>
                </a:rPr>
                <a:t>，</a:t>
              </a:r>
              <a:r>
                <a:rPr lang="en-US" altLang="zh-CN" sz="2000" dirty="0">
                  <a:latin typeface="Times New Roman" panose="02020603050405020304" charset="0"/>
                  <a:cs typeface="Times New Roman" panose="02020603050405020304" charset="0"/>
                  <a:sym typeface="+mn-ea"/>
                </a:rPr>
                <a:t>MCMC)</a:t>
              </a:r>
              <a:r>
                <a:rPr lang="zh-CN" altLang="en-US" sz="2400" dirty="0">
                  <a:latin typeface="Times New Roman" panose="02020603050405020304" charset="0"/>
                  <a:cs typeface="Times New Roman" panose="02020603050405020304" charset="0"/>
                  <a:sym typeface="+mn-ea"/>
                </a:rPr>
                <a:t>方法</a:t>
              </a:r>
            </a:p>
          </p:txBody>
        </p:sp>
      </p:grpSp>
      <p:grpSp>
        <p:nvGrpSpPr>
          <p:cNvPr id="22" name="组合 21"/>
          <p:cNvGrpSpPr/>
          <p:nvPr/>
        </p:nvGrpSpPr>
        <p:grpSpPr>
          <a:xfrm>
            <a:off x="476250" y="4340860"/>
            <a:ext cx="7763510" cy="1060450"/>
            <a:chOff x="756" y="5033"/>
            <a:chExt cx="12226" cy="1670"/>
          </a:xfrm>
        </p:grpSpPr>
        <p:grpSp>
          <p:nvGrpSpPr>
            <p:cNvPr id="23" name="组合 22"/>
            <p:cNvGrpSpPr/>
            <p:nvPr/>
          </p:nvGrpSpPr>
          <p:grpSpPr>
            <a:xfrm>
              <a:off x="756" y="5033"/>
              <a:ext cx="12226" cy="1670"/>
              <a:chOff x="756" y="2535"/>
              <a:chExt cx="12226" cy="1670"/>
            </a:xfrm>
          </p:grpSpPr>
          <p:sp>
            <p:nvSpPr>
              <p:cNvPr id="24" name="文本框 23"/>
              <p:cNvSpPr txBox="1"/>
              <p:nvPr/>
            </p:nvSpPr>
            <p:spPr>
              <a:xfrm>
                <a:off x="756" y="2535"/>
                <a:ext cx="12226" cy="1670"/>
              </a:xfrm>
              <a:prstGeom prst="rect">
                <a:avLst/>
              </a:prstGeom>
              <a:noFill/>
            </p:spPr>
            <p:txBody>
              <a:bodyPr wrap="square" rtlCol="0" anchor="t">
                <a:spAutoFit/>
              </a:bodyPr>
              <a:lstStyle/>
              <a:p>
                <a:pPr marL="0" lvl="1"/>
                <a:r>
                  <a:rPr lang="en-US" altLang="zh-CN" sz="2100" dirty="0">
                    <a:sym typeface="+mn-ea"/>
                  </a:rPr>
                  <a:t>      </a:t>
                </a:r>
                <a:r>
                  <a:rPr lang="en-US" altLang="zh-CN" sz="2100" dirty="0">
                    <a:latin typeface="Times New Roman" panose="02020603050405020304" charset="0"/>
                    <a:cs typeface="Times New Roman" panose="02020603050405020304" charset="0"/>
                    <a:sym typeface="+mn-ea"/>
                  </a:rPr>
                  <a:t>  Metropolis-Hastings</a:t>
                </a:r>
                <a:r>
                  <a:rPr lang="zh-CN" altLang="en-US" sz="2100" dirty="0">
                    <a:latin typeface="Times New Roman" panose="02020603050405020304" charset="0"/>
                    <a:cs typeface="Times New Roman" panose="02020603050405020304" charset="0"/>
                    <a:sym typeface="+mn-ea"/>
                  </a:rPr>
                  <a:t>算法</a:t>
                </a:r>
                <a:endParaRPr lang="en-US" altLang="zh-CN" sz="2100" dirty="0">
                  <a:latin typeface="Times New Roman" panose="02020603050405020304" charset="0"/>
                  <a:cs typeface="Times New Roman" panose="02020603050405020304" charset="0"/>
                </a:endParaRPr>
              </a:p>
              <a:p>
                <a:pPr lvl="1"/>
                <a:r>
                  <a:rPr lang="en-US" altLang="zh-CN" sz="2100" dirty="0">
                    <a:latin typeface="Times New Roman" panose="02020603050405020304" charset="0"/>
                    <a:cs typeface="Times New Roman" panose="02020603050405020304" charset="0"/>
                    <a:sym typeface="+mn-ea"/>
                  </a:rPr>
                  <a:t>Metropolis</a:t>
                </a:r>
                <a:r>
                  <a:rPr lang="zh-CN" altLang="en-US" sz="2100" dirty="0">
                    <a:latin typeface="Times New Roman" panose="02020603050405020304" charset="0"/>
                    <a:cs typeface="Times New Roman" panose="02020603050405020304" charset="0"/>
                    <a:sym typeface="+mn-ea"/>
                  </a:rPr>
                  <a:t>算法</a:t>
                </a:r>
                <a:endParaRPr lang="en-US" altLang="zh-CN" sz="2100" dirty="0">
                  <a:latin typeface="Times New Roman" panose="02020603050405020304" charset="0"/>
                  <a:cs typeface="Times New Roman" panose="02020603050405020304" charset="0"/>
                </a:endParaRPr>
              </a:p>
              <a:p>
                <a:pPr lvl="1"/>
                <a:r>
                  <a:rPr lang="en-US" altLang="zh-CN" sz="2100" dirty="0">
                    <a:latin typeface="Times New Roman" panose="02020603050405020304" charset="0"/>
                    <a:cs typeface="Times New Roman" panose="02020603050405020304" charset="0"/>
                    <a:sym typeface="+mn-ea"/>
                  </a:rPr>
                  <a:t>Gibbs</a:t>
                </a:r>
                <a:r>
                  <a:rPr lang="zh-CN" altLang="en-US" sz="2100" dirty="0">
                    <a:latin typeface="Times New Roman" panose="02020603050405020304" charset="0"/>
                    <a:cs typeface="Times New Roman" panose="02020603050405020304" charset="0"/>
                    <a:sym typeface="+mn-ea"/>
                  </a:rPr>
                  <a:t>采样法</a:t>
                </a:r>
              </a:p>
            </p:txBody>
          </p:sp>
          <p:sp>
            <p:nvSpPr>
              <p:cNvPr id="25" name="椭圆 24"/>
              <p:cNvSpPr/>
              <p:nvPr/>
            </p:nvSpPr>
            <p:spPr>
              <a:xfrm>
                <a:off x="1323" y="2773"/>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26" name="椭圆 25"/>
              <p:cNvSpPr/>
              <p:nvPr/>
            </p:nvSpPr>
            <p:spPr>
              <a:xfrm>
                <a:off x="1323" y="3252"/>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sp>
          <p:nvSpPr>
            <p:cNvPr id="27" name="椭圆 26"/>
            <p:cNvSpPr/>
            <p:nvPr/>
          </p:nvSpPr>
          <p:spPr>
            <a:xfrm>
              <a:off x="1323" y="6228"/>
              <a:ext cx="187" cy="187"/>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grpSp>
        <p:nvGrpSpPr>
          <p:cNvPr id="28" name="组合 27"/>
          <p:cNvGrpSpPr/>
          <p:nvPr/>
        </p:nvGrpSpPr>
        <p:grpSpPr>
          <a:xfrm>
            <a:off x="-4445" y="260985"/>
            <a:ext cx="8925560" cy="706755"/>
            <a:chOff x="-9" y="254"/>
            <a:chExt cx="14056" cy="1113"/>
          </a:xfrm>
        </p:grpSpPr>
        <p:sp>
          <p:nvSpPr>
            <p:cNvPr id="29" name="矩形 28"/>
            <p:cNvSpPr/>
            <p:nvPr/>
          </p:nvSpPr>
          <p:spPr>
            <a:xfrm>
              <a:off x="3505" y="429"/>
              <a:ext cx="10542"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1" name="圆角矩形 30"/>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2" name="圆角矩形 31"/>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5" name="矩形 34"/>
            <p:cNvSpPr/>
            <p:nvPr/>
          </p:nvSpPr>
          <p:spPr>
            <a:xfrm>
              <a:off x="754" y="254"/>
              <a:ext cx="2751"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采样法</a:t>
              </a:r>
            </a:p>
          </p:txBody>
        </p:sp>
      </p:grpSp>
    </p:spTree>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show="0">
  <p:cSld>
    <p:bg>
      <p:bgPr>
        <a:blipFill rotWithShape="1">
          <a:blip r:embed="rId5"/>
          <a:stretch>
            <a:fillRect/>
          </a:stretch>
        </a:blipFill>
        <a:effectLst/>
      </p:bgPr>
    </p:bg>
    <p:spTree>
      <p:nvGrpSpPr>
        <p:cNvPr id="1" name=""/>
        <p:cNvGrpSpPr/>
        <p:nvPr/>
      </p:nvGrpSpPr>
      <p:grpSpPr>
        <a:xfrm>
          <a:off x="0" y="0"/>
          <a:ext cx="0" cy="0"/>
          <a:chOff x="0" y="0"/>
          <a:chExt cx="0" cy="0"/>
        </a:xfrm>
      </p:grpSpPr>
      <p:grpSp>
        <p:nvGrpSpPr>
          <p:cNvPr id="30" name="组合 29"/>
          <p:cNvGrpSpPr/>
          <p:nvPr/>
        </p:nvGrpSpPr>
        <p:grpSpPr>
          <a:xfrm>
            <a:off x="-4445" y="260985"/>
            <a:ext cx="8925560" cy="706755"/>
            <a:chOff x="-9" y="254"/>
            <a:chExt cx="14056" cy="1113"/>
          </a:xfrm>
        </p:grpSpPr>
        <p:sp>
          <p:nvSpPr>
            <p:cNvPr id="34" name="矩形 33"/>
            <p:cNvSpPr/>
            <p:nvPr/>
          </p:nvSpPr>
          <p:spPr>
            <a:xfrm>
              <a:off x="4318" y="429"/>
              <a:ext cx="9729"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35"/>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37" name="圆角矩形 36"/>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39" name="矩形 38"/>
            <p:cNvSpPr/>
            <p:nvPr/>
          </p:nvSpPr>
          <p:spPr>
            <a:xfrm>
              <a:off x="754" y="254"/>
              <a:ext cx="3564"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拒绝采样</a:t>
              </a:r>
            </a:p>
          </p:txBody>
        </p:sp>
      </p:grpSp>
      <p:grpSp>
        <p:nvGrpSpPr>
          <p:cNvPr id="5" name="组合 4"/>
          <p:cNvGrpSpPr/>
          <p:nvPr/>
        </p:nvGrpSpPr>
        <p:grpSpPr>
          <a:xfrm>
            <a:off x="762000" y="2266315"/>
            <a:ext cx="4742180" cy="1709420"/>
            <a:chOff x="673" y="3600"/>
            <a:chExt cx="7468" cy="2692"/>
          </a:xfrm>
        </p:grpSpPr>
        <p:sp>
          <p:nvSpPr>
            <p:cNvPr id="6" name="矩形 5"/>
            <p:cNvSpPr/>
            <p:nvPr/>
          </p:nvSpPr>
          <p:spPr>
            <a:xfrm>
              <a:off x="673" y="3600"/>
              <a:ext cx="7468" cy="2692"/>
            </a:xfrm>
            <a:prstGeom prst="rect">
              <a:avLst/>
            </a:prstGeom>
            <a:solidFill>
              <a:schemeClr val="accent1">
                <a:lumMod val="40000"/>
                <a:lumOff val="60000"/>
                <a:alpha val="5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832" y="3728"/>
              <a:ext cx="1402" cy="628"/>
            </a:xfrm>
            <a:prstGeom prst="rect">
              <a:avLst/>
            </a:prstGeom>
            <a:noFill/>
          </p:spPr>
          <p:txBody>
            <a:bodyPr wrap="square" rtlCol="0" anchor="t">
              <a:spAutoFit/>
            </a:bodyPr>
            <a:lstStyle/>
            <a:p>
              <a:r>
                <a:rPr lang="zh-CN" altLang="en-US" sz="2000" b="1" dirty="0">
                  <a:latin typeface="宋体" panose="02010600030101010101" pitchFamily="2" charset="-122"/>
                  <a:ea typeface="宋体" panose="02010600030101010101" pitchFamily="2" charset="-122"/>
                  <a:cs typeface="宋体" panose="02010600030101010101" pitchFamily="2" charset="-122"/>
                  <a:sym typeface="+mn-ea"/>
                </a:rPr>
                <a:t>流程：</a:t>
              </a:r>
            </a:p>
          </p:txBody>
        </p:sp>
        <p:sp>
          <p:nvSpPr>
            <p:cNvPr id="4" name="文本框 3"/>
            <p:cNvSpPr txBox="1"/>
            <p:nvPr/>
          </p:nvSpPr>
          <p:spPr>
            <a:xfrm>
              <a:off x="837" y="4105"/>
              <a:ext cx="7165" cy="1961"/>
            </a:xfrm>
            <a:prstGeom prst="rect">
              <a:avLst/>
            </a:prstGeom>
            <a:noFill/>
          </p:spPr>
          <p:txBody>
            <a:bodyPr wrap="none" rtlCol="0">
              <a:spAutoFit/>
            </a:bodyPr>
            <a:lstStyle/>
            <a:p>
              <a:pPr algn="l" fontAlgn="auto">
                <a:lnSpc>
                  <a:spcPct val="125000"/>
                </a:lnSpc>
              </a:pPr>
              <a:r>
                <a:rPr lang="en-US" altLang="zh-CN" sz="2000"/>
                <a:t>Step1 </a:t>
              </a:r>
              <a:r>
                <a:rPr lang="zh-CN" altLang="en-US" sz="2000" dirty="0">
                  <a:sym typeface="+mn-ea"/>
                </a:rPr>
                <a:t>从分</a:t>
              </a:r>
              <a:r>
                <a:rPr lang="zh-CN" altLang="en-US" sz="2000" dirty="0">
                  <a:latin typeface="Times New Roman" panose="02020603050405020304" charset="0"/>
                  <a:cs typeface="Times New Roman" panose="02020603050405020304" charset="0"/>
                  <a:sym typeface="+mn-ea"/>
                </a:rPr>
                <a:t>布</a:t>
              </a:r>
              <a:r>
                <a:rPr lang="en-US" altLang="zh-CN" sz="2000" dirty="0">
                  <a:latin typeface="Times New Roman" panose="02020603050405020304" charset="0"/>
                  <a:cs typeface="Times New Roman" panose="02020603050405020304" charset="0"/>
                  <a:sym typeface="+mn-ea"/>
                </a:rPr>
                <a:t>q(x)</a:t>
              </a:r>
              <a:r>
                <a:rPr lang="zh-CN" altLang="en-US" sz="2000" dirty="0">
                  <a:latin typeface="Times New Roman" panose="02020603050405020304" charset="0"/>
                  <a:cs typeface="Times New Roman" panose="02020603050405020304" charset="0"/>
                  <a:sym typeface="+mn-ea"/>
                </a:rPr>
                <a:t>中采样</a:t>
              </a:r>
            </a:p>
            <a:p>
              <a:pPr algn="l" fontAlgn="auto">
                <a:lnSpc>
                  <a:spcPct val="125000"/>
                </a:lnSpc>
              </a:pPr>
              <a:r>
                <a:rPr lang="en-US" altLang="zh-CN" sz="2000" dirty="0">
                  <a:latin typeface="Times New Roman" panose="02020603050405020304" charset="0"/>
                  <a:cs typeface="Times New Roman" panose="02020603050405020304" charset="0"/>
                  <a:sym typeface="+mn-ea"/>
                </a:rPr>
                <a:t>Step2 </a:t>
              </a:r>
              <a:r>
                <a:rPr lang="zh-CN" altLang="en-US" sz="2000" dirty="0">
                  <a:latin typeface="Times New Roman" panose="02020603050405020304" charset="0"/>
                  <a:cs typeface="Times New Roman" panose="02020603050405020304" charset="0"/>
                  <a:sym typeface="+mn-ea"/>
                </a:rPr>
                <a:t>以某个标准来拒绝一部分的样本</a:t>
              </a:r>
            </a:p>
            <a:p>
              <a:pPr marL="0" lvl="1" algn="l" fontAlgn="auto">
                <a:lnSpc>
                  <a:spcPct val="125000"/>
                </a:lnSpc>
              </a:pPr>
              <a:r>
                <a:rPr lang="en-US" altLang="zh-CN" sz="2000">
                  <a:latin typeface="Times New Roman" panose="02020603050405020304" charset="0"/>
                  <a:cs typeface="Times New Roman" panose="02020603050405020304" charset="0"/>
                </a:rPr>
                <a:t>Step3 </a:t>
              </a:r>
              <a:r>
                <a:rPr lang="zh-CN" altLang="en-US" sz="2000" dirty="0">
                  <a:latin typeface="Times New Roman" panose="02020603050405020304" charset="0"/>
                  <a:cs typeface="Times New Roman" panose="02020603050405020304" charset="0"/>
                  <a:sym typeface="+mn-ea"/>
                </a:rPr>
                <a:t>使得最终采集的样本服从分布</a:t>
              </a:r>
              <a:r>
                <a:rPr lang="en-US" altLang="zh-CN" sz="2000" dirty="0">
                  <a:latin typeface="Times New Roman" panose="02020603050405020304" charset="0"/>
                  <a:cs typeface="Times New Roman" panose="02020603050405020304" charset="0"/>
                  <a:sym typeface="+mn-ea"/>
                </a:rPr>
                <a:t>p(x)</a:t>
              </a:r>
            </a:p>
          </p:txBody>
        </p:sp>
      </p:grpSp>
      <p:pic>
        <p:nvPicPr>
          <p:cNvPr id="8" name="图片 7"/>
          <p:cNvPicPr>
            <a:picLocks noChangeAspect="1"/>
          </p:cNvPicPr>
          <p:nvPr/>
        </p:nvPicPr>
        <p:blipFill>
          <a:blip r:embed="rId6"/>
          <a:stretch>
            <a:fillRect/>
          </a:stretch>
        </p:blipFill>
        <p:spPr>
          <a:xfrm>
            <a:off x="5612765" y="3820795"/>
            <a:ext cx="3194050" cy="2513965"/>
          </a:xfrm>
          <a:prstGeom prst="rect">
            <a:avLst/>
          </a:prstGeom>
        </p:spPr>
      </p:pic>
      <p:grpSp>
        <p:nvGrpSpPr>
          <p:cNvPr id="15" name="组合 14"/>
          <p:cNvGrpSpPr/>
          <p:nvPr/>
        </p:nvGrpSpPr>
        <p:grpSpPr>
          <a:xfrm>
            <a:off x="603250" y="1276350"/>
            <a:ext cx="7954010" cy="829945"/>
            <a:chOff x="814" y="3458"/>
            <a:chExt cx="12526" cy="1307"/>
          </a:xfrm>
        </p:grpSpPr>
        <p:sp>
          <p:nvSpPr>
            <p:cNvPr id="16" name="椭圆 15"/>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7" name="文本框 16"/>
            <p:cNvSpPr txBox="1"/>
            <p:nvPr/>
          </p:nvSpPr>
          <p:spPr>
            <a:xfrm>
              <a:off x="1064" y="3458"/>
              <a:ext cx="12276" cy="1307"/>
            </a:xfrm>
            <a:prstGeom prst="rect">
              <a:avLst/>
            </a:prstGeom>
            <a:noFill/>
          </p:spPr>
          <p:txBody>
            <a:bodyPr wrap="square" rtlCol="0" anchor="t">
              <a:spAutoFit/>
            </a:bodyPr>
            <a:lstStyle/>
            <a:p>
              <a:pPr marL="0" lvl="1" algn="just">
                <a:buClrTx/>
                <a:buSzTx/>
                <a:buFontTx/>
              </a:pPr>
              <a:r>
                <a:rPr lang="zh-CN" altLang="en-US" sz="2400" dirty="0">
                  <a:sym typeface="+mn-ea"/>
                </a:rPr>
                <a:t>假设原始分</a:t>
              </a:r>
              <a:r>
                <a:rPr lang="zh-CN" altLang="en-US" sz="2400" dirty="0">
                  <a:latin typeface="Times New Roman" panose="02020603050405020304" charset="0"/>
                  <a:cs typeface="Times New Roman" panose="02020603050405020304" charset="0"/>
                  <a:sym typeface="+mn-ea"/>
                </a:rPr>
                <a:t>布</a:t>
              </a:r>
              <a:r>
                <a:rPr lang="en-US" altLang="zh-CN" sz="2400" dirty="0">
                  <a:latin typeface="Times New Roman" panose="02020603050405020304" charset="0"/>
                  <a:cs typeface="Times New Roman" panose="02020603050405020304" charset="0"/>
                  <a:sym typeface="+mn-ea"/>
                </a:rPr>
                <a:t>p(x)</a:t>
              </a:r>
              <a:r>
                <a:rPr lang="zh-CN" altLang="en-US" sz="2400" dirty="0">
                  <a:sym typeface="+mn-ea"/>
                </a:rPr>
                <a:t>难以直接采样，引入一个容易采样的分</a:t>
              </a:r>
              <a:r>
                <a:rPr lang="zh-CN" altLang="en-US" sz="2400" dirty="0">
                  <a:latin typeface="Times New Roman" panose="02020603050405020304" charset="0"/>
                  <a:cs typeface="Times New Roman" panose="02020603050405020304" charset="0"/>
                  <a:sym typeface="+mn-ea"/>
                </a:rPr>
                <a:t>布</a:t>
              </a:r>
              <a:r>
                <a:rPr lang="zh-CN" altLang="en-US" sz="2400" dirty="0">
                  <a:solidFill>
                    <a:schemeClr val="tx2"/>
                  </a:solidFill>
                  <a:latin typeface="Times New Roman" panose="02020603050405020304" charset="0"/>
                  <a:cs typeface="Times New Roman" panose="02020603050405020304" charset="0"/>
                  <a:sym typeface="+mn-ea"/>
                </a:rPr>
                <a:t>q(x)</a:t>
              </a:r>
              <a:r>
                <a:rPr lang="zh-CN" altLang="en-US" sz="2400" dirty="0">
                  <a:latin typeface="Times New Roman" panose="02020603050405020304" charset="0"/>
                  <a:cs typeface="Times New Roman" panose="02020603050405020304" charset="0"/>
                  <a:sym typeface="+mn-ea"/>
                </a:rPr>
                <a:t>，一般称为</a:t>
              </a:r>
              <a:r>
                <a:rPr lang="zh-CN" altLang="en-US" sz="2400" dirty="0">
                  <a:solidFill>
                    <a:schemeClr val="tx2"/>
                  </a:solidFill>
                  <a:latin typeface="Times New Roman" panose="02020603050405020304" charset="0"/>
                  <a:cs typeface="Times New Roman" panose="02020603050405020304" charset="0"/>
                  <a:sym typeface="+mn-ea"/>
                </a:rPr>
                <a:t>提议分布</a:t>
              </a:r>
              <a:r>
                <a:rPr lang="zh-CN" altLang="en-US" sz="2400" dirty="0">
                  <a:latin typeface="Times New Roman" panose="02020603050405020304" charset="0"/>
                  <a:cs typeface="Times New Roman" panose="02020603050405020304" charset="0"/>
                  <a:sym typeface="+mn-ea"/>
                </a:rPr>
                <a:t>（Proposal Distribution）</a:t>
              </a:r>
            </a:p>
          </p:txBody>
        </p:sp>
      </p:grpSp>
      <p:grpSp>
        <p:nvGrpSpPr>
          <p:cNvPr id="22" name="组合 21"/>
          <p:cNvGrpSpPr/>
          <p:nvPr/>
        </p:nvGrpSpPr>
        <p:grpSpPr>
          <a:xfrm>
            <a:off x="603250" y="4186555"/>
            <a:ext cx="5035550" cy="1586865"/>
            <a:chOff x="700" y="6229"/>
            <a:chExt cx="7930" cy="2499"/>
          </a:xfrm>
        </p:grpSpPr>
        <p:grpSp>
          <p:nvGrpSpPr>
            <p:cNvPr id="11" name="组合 10"/>
            <p:cNvGrpSpPr/>
            <p:nvPr/>
          </p:nvGrpSpPr>
          <p:grpSpPr>
            <a:xfrm>
              <a:off x="700" y="6229"/>
              <a:ext cx="7930" cy="1888"/>
              <a:chOff x="814" y="3458"/>
              <a:chExt cx="7930" cy="1888"/>
            </a:xfrm>
          </p:grpSpPr>
          <p:sp>
            <p:nvSpPr>
              <p:cNvPr id="12" name="椭圆 11"/>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3" name="文本框 12"/>
              <p:cNvSpPr txBox="1"/>
              <p:nvPr/>
            </p:nvSpPr>
            <p:spPr>
              <a:xfrm>
                <a:off x="1064" y="3458"/>
                <a:ext cx="7680" cy="1888"/>
              </a:xfrm>
              <a:prstGeom prst="rect">
                <a:avLst/>
              </a:prstGeom>
              <a:noFill/>
            </p:spPr>
            <p:txBody>
              <a:bodyPr wrap="square" rtlCol="0" anchor="t">
                <a:spAutoFit/>
              </a:bodyPr>
              <a:lstStyle/>
              <a:p>
                <a:pPr marL="0" lvl="1" algn="just">
                  <a:buClrTx/>
                  <a:buSzTx/>
                  <a:buFontTx/>
                </a:pPr>
                <a:r>
                  <a:rPr lang="zh-CN" altLang="en-US" sz="2400">
                    <a:sym typeface="+mn-ea"/>
                  </a:rPr>
                  <a:t>已知一归一化的分布</a:t>
                </a:r>
              </a:p>
              <a:p>
                <a:pPr marL="0" lvl="1" algn="just">
                  <a:buClrTx/>
                  <a:buSzTx/>
                  <a:buFontTx/>
                </a:pPr>
                <a:r>
                  <a:rPr lang="zh-CN" altLang="en-US" sz="2400" dirty="0">
                    <a:latin typeface="Times New Roman" panose="02020603050405020304" charset="0"/>
                    <a:cs typeface="Times New Roman" panose="02020603050405020304" charset="0"/>
                    <a:sym typeface="+mn-ea"/>
                  </a:rPr>
                  <a:t>构建一个提议分布</a:t>
                </a:r>
                <a:r>
                  <a:rPr lang="en-US" altLang="zh-CN" sz="2400" dirty="0">
                    <a:latin typeface="Times New Roman" panose="02020603050405020304" charset="0"/>
                    <a:cs typeface="Times New Roman" panose="02020603050405020304" charset="0"/>
                    <a:sym typeface="+mn-ea"/>
                  </a:rPr>
                  <a:t>q(x)</a:t>
                </a:r>
                <a:r>
                  <a:rPr lang="zh-CN" altLang="en-US" sz="2400" dirty="0">
                    <a:latin typeface="Times New Roman" panose="02020603050405020304" charset="0"/>
                    <a:cs typeface="Times New Roman" panose="02020603050405020304" charset="0"/>
                    <a:sym typeface="+mn-ea"/>
                  </a:rPr>
                  <a:t>和一个常数</a:t>
                </a:r>
                <a:r>
                  <a:rPr lang="en-US" altLang="zh-CN" sz="2400" dirty="0">
                    <a:latin typeface="Times New Roman" panose="02020603050405020304" charset="0"/>
                    <a:cs typeface="Times New Roman" panose="02020603050405020304" charset="0"/>
                    <a:sym typeface="+mn-ea"/>
                  </a:rPr>
                  <a:t>k,</a:t>
                </a:r>
                <a:r>
                  <a:rPr lang="zh-CN" altLang="en-US" sz="2400" dirty="0">
                    <a:latin typeface="Times New Roman" panose="02020603050405020304" charset="0"/>
                    <a:cs typeface="Times New Roman" panose="02020603050405020304" charset="0"/>
                    <a:sym typeface="+mn-ea"/>
                  </a:rPr>
                  <a:t>使得</a:t>
                </a:r>
                <a:r>
                  <a:rPr lang="en-US" altLang="zh-CN" sz="2400" dirty="0">
                    <a:latin typeface="Times New Roman" panose="02020603050405020304" charset="0"/>
                    <a:cs typeface="Times New Roman" panose="02020603050405020304" charset="0"/>
                    <a:sym typeface="+mn-ea"/>
                  </a:rPr>
                  <a:t>kq(x)</a:t>
                </a:r>
                <a:r>
                  <a:rPr lang="zh-CN" altLang="en-US" sz="2400" dirty="0">
                    <a:latin typeface="Times New Roman" panose="02020603050405020304" charset="0"/>
                    <a:cs typeface="Times New Roman" panose="02020603050405020304" charset="0"/>
                    <a:sym typeface="+mn-ea"/>
                  </a:rPr>
                  <a:t>可以覆盖函数        ，即</a:t>
                </a:r>
              </a:p>
            </p:txBody>
          </p:sp>
        </p:grpSp>
        <p:graphicFrame>
          <p:nvGraphicFramePr>
            <p:cNvPr id="10" name="对象 9">
              <a:hlinkClick r:id="" action="ppaction://ole?verb=0"/>
            </p:cNvPr>
            <p:cNvGraphicFramePr>
              <a:graphicFrameLocks noChangeAspect="1"/>
            </p:cNvGraphicFramePr>
            <p:nvPr/>
          </p:nvGraphicFramePr>
          <p:xfrm>
            <a:off x="1077" y="8117"/>
            <a:ext cx="3130" cy="611"/>
          </p:xfrm>
          <a:graphic>
            <a:graphicData uri="http://schemas.openxmlformats.org/presentationml/2006/ole">
              <mc:AlternateContent xmlns:mc="http://schemas.openxmlformats.org/markup-compatibility/2006">
                <mc:Choice xmlns:v="urn:schemas-microsoft-com:vml" Requires="v">
                  <p:oleObj spid="_x0000_s1029" r:id="rId7" imgW="1041400" imgH="203200" progId="Equation.KSEE3">
                    <p:embed/>
                  </p:oleObj>
                </mc:Choice>
                <mc:Fallback>
                  <p:oleObj r:id="rId7" imgW="1041400" imgH="203200" progId="Equation.KSEE3">
                    <p:embed/>
                    <p:pic>
                      <p:nvPicPr>
                        <p:cNvPr id="10" name="对象 9">
                          <a:hlinkClick r:id="" action="ppaction://ole?verb=0"/>
                        </p:cNvPr>
                        <p:cNvPicPr/>
                        <p:nvPr/>
                      </p:nvPicPr>
                      <p:blipFill>
                        <a:blip r:embed="rId8"/>
                        <a:stretch>
                          <a:fillRect/>
                        </a:stretch>
                      </p:blipFill>
                      <p:spPr>
                        <a:xfrm>
                          <a:off x="1077" y="8117"/>
                          <a:ext cx="3130" cy="611"/>
                        </a:xfrm>
                        <a:prstGeom prst="rect">
                          <a:avLst/>
                        </a:prstGeom>
                      </p:spPr>
                    </p:pic>
                  </p:oleObj>
                </mc:Fallback>
              </mc:AlternateContent>
            </a:graphicData>
          </a:graphic>
        </p:graphicFrame>
        <p:graphicFrame>
          <p:nvGraphicFramePr>
            <p:cNvPr id="18" name="对象 17">
              <a:hlinkClick r:id="" action="ppaction://ole?verb=0"/>
            </p:cNvPr>
            <p:cNvGraphicFramePr>
              <a:graphicFrameLocks noChangeAspect="1"/>
            </p:cNvGraphicFramePr>
            <p:nvPr/>
          </p:nvGraphicFramePr>
          <p:xfrm>
            <a:off x="5963" y="7435"/>
            <a:ext cx="1004" cy="619"/>
          </p:xfrm>
          <a:graphic>
            <a:graphicData uri="http://schemas.openxmlformats.org/presentationml/2006/ole">
              <mc:AlternateContent xmlns:mc="http://schemas.openxmlformats.org/markup-compatibility/2006">
                <mc:Choice xmlns:v="urn:schemas-microsoft-com:vml" Requires="v">
                  <p:oleObj spid="_x0000_s1030" r:id="rId9" imgW="330200" imgH="203200" progId="Equation.KSEE3">
                    <p:embed/>
                  </p:oleObj>
                </mc:Choice>
                <mc:Fallback>
                  <p:oleObj r:id="rId9" imgW="330200" imgH="203200" progId="Equation.KSEE3">
                    <p:embed/>
                    <p:pic>
                      <p:nvPicPr>
                        <p:cNvPr id="18" name="对象 17">
                          <a:hlinkClick r:id="" action="ppaction://ole?verb=0"/>
                        </p:cNvPr>
                        <p:cNvPicPr/>
                        <p:nvPr/>
                      </p:nvPicPr>
                      <p:blipFill>
                        <a:blip r:embed="rId10"/>
                        <a:stretch>
                          <a:fillRect/>
                        </a:stretch>
                      </p:blipFill>
                      <p:spPr>
                        <a:xfrm>
                          <a:off x="5963" y="7435"/>
                          <a:ext cx="1004" cy="619"/>
                        </a:xfrm>
                        <a:prstGeom prst="rect">
                          <a:avLst/>
                        </a:prstGeom>
                      </p:spPr>
                    </p:pic>
                  </p:oleObj>
                </mc:Fallback>
              </mc:AlternateContent>
            </a:graphicData>
          </a:graphic>
        </p:graphicFrame>
        <p:graphicFrame>
          <p:nvGraphicFramePr>
            <p:cNvPr id="20" name="对象 19">
              <a:hlinkClick r:id="" action="ppaction://ole?verb=0"/>
            </p:cNvPr>
            <p:cNvGraphicFramePr>
              <a:graphicFrameLocks noChangeAspect="1"/>
            </p:cNvGraphicFramePr>
            <p:nvPr/>
          </p:nvGraphicFramePr>
          <p:xfrm>
            <a:off x="5385" y="6250"/>
            <a:ext cx="1004" cy="619"/>
          </p:xfrm>
          <a:graphic>
            <a:graphicData uri="http://schemas.openxmlformats.org/presentationml/2006/ole">
              <mc:AlternateContent xmlns:mc="http://schemas.openxmlformats.org/markup-compatibility/2006">
                <mc:Choice xmlns:v="urn:schemas-microsoft-com:vml" Requires="v">
                  <p:oleObj spid="_x0000_s1031" r:id="rId9" imgW="330200" imgH="203200" progId="Equation.KSEE3">
                    <p:embed/>
                  </p:oleObj>
                </mc:Choice>
                <mc:Fallback>
                  <p:oleObj r:id="rId9" imgW="330200" imgH="203200" progId="Equation.KSEE3">
                    <p:embed/>
                    <p:pic>
                      <p:nvPicPr>
                        <p:cNvPr id="20" name="对象 19">
                          <a:hlinkClick r:id="" action="ppaction://ole?verb=0"/>
                        </p:cNvPr>
                        <p:cNvPicPr/>
                        <p:nvPr/>
                      </p:nvPicPr>
                      <p:blipFill>
                        <a:blip r:embed="rId10"/>
                        <a:stretch>
                          <a:fillRect/>
                        </a:stretch>
                      </p:blipFill>
                      <p:spPr>
                        <a:xfrm>
                          <a:off x="5385" y="6250"/>
                          <a:ext cx="1004" cy="619"/>
                        </a:xfrm>
                        <a:prstGeom prst="rect">
                          <a:avLst/>
                        </a:prstGeom>
                      </p:spPr>
                    </p:pic>
                  </p:oleObj>
                </mc:Fallback>
              </mc:AlternateContent>
            </a:graphicData>
          </a:graphic>
        </p:graphicFrame>
      </p:gr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6755"/>
            <a:chOff x="-9" y="254"/>
            <a:chExt cx="14056" cy="1113"/>
          </a:xfrm>
        </p:grpSpPr>
        <p:sp>
          <p:nvSpPr>
            <p:cNvPr id="3" name="矩形 2"/>
            <p:cNvSpPr/>
            <p:nvPr/>
          </p:nvSpPr>
          <p:spPr>
            <a:xfrm>
              <a:off x="4318" y="429"/>
              <a:ext cx="9729"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3564"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拒绝采样</a:t>
              </a:r>
            </a:p>
          </p:txBody>
        </p:sp>
      </p:grpSp>
      <p:pic>
        <p:nvPicPr>
          <p:cNvPr id="8" name="图片 7"/>
          <p:cNvPicPr>
            <a:picLocks noChangeAspect="1"/>
          </p:cNvPicPr>
          <p:nvPr/>
        </p:nvPicPr>
        <p:blipFill>
          <a:blip r:embed="rId5"/>
          <a:stretch>
            <a:fillRect/>
          </a:stretch>
        </p:blipFill>
        <p:spPr>
          <a:xfrm>
            <a:off x="929005" y="1123315"/>
            <a:ext cx="7153275" cy="3594735"/>
          </a:xfrm>
          <a:prstGeom prst="rect">
            <a:avLst/>
          </a:prstGeom>
        </p:spPr>
      </p:pic>
      <p:pic>
        <p:nvPicPr>
          <p:cNvPr id="9" name="图片 8"/>
          <p:cNvPicPr>
            <a:picLocks noChangeAspect="1"/>
          </p:cNvPicPr>
          <p:nvPr/>
        </p:nvPicPr>
        <p:blipFill>
          <a:blip r:embed="rId6"/>
          <a:srcRect t="12931"/>
          <a:stretch>
            <a:fillRect/>
          </a:stretch>
        </p:blipFill>
        <p:spPr>
          <a:xfrm>
            <a:off x="3512820" y="4851400"/>
            <a:ext cx="1768475" cy="915035"/>
          </a:xfrm>
          <a:prstGeom prst="rect">
            <a:avLst/>
          </a:prstGeom>
        </p:spPr>
      </p:pic>
      <p:sp>
        <p:nvSpPr>
          <p:cNvPr id="10" name="矩形 9"/>
          <p:cNvSpPr/>
          <p:nvPr/>
        </p:nvSpPr>
        <p:spPr>
          <a:xfrm>
            <a:off x="2298700" y="5766435"/>
            <a:ext cx="4202430" cy="398780"/>
          </a:xfrm>
          <a:prstGeom prst="rect">
            <a:avLst/>
          </a:prstGeom>
        </p:spPr>
        <p:txBody>
          <a:bodyPr wrap="none">
            <a:spAutoFit/>
          </a:bodyPr>
          <a:lstStyle/>
          <a:p>
            <a:r>
              <a:rPr lang="zh-CN" altLang="en-US" sz="2000" b="1" dirty="0">
                <a:latin typeface="Times New Roman" panose="02020603050405020304" charset="0"/>
                <a:cs typeface="Times New Roman" panose="02020603050405020304" charset="0"/>
              </a:rPr>
              <a:t>接受概率</a:t>
            </a:r>
            <a:r>
              <a:rPr lang="zh-CN" altLang="en-US" sz="2000" dirty="0">
                <a:latin typeface="Times New Roman" panose="02020603050405020304" charset="0"/>
                <a:cs typeface="Times New Roman" panose="02020603050405020304" charset="0"/>
              </a:rPr>
              <a:t>（ Acceptance Probability ）</a:t>
            </a:r>
          </a:p>
        </p:txBody>
      </p: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6755"/>
            <a:chOff x="-9" y="254"/>
            <a:chExt cx="14056" cy="1113"/>
          </a:xfrm>
        </p:grpSpPr>
        <p:sp>
          <p:nvSpPr>
            <p:cNvPr id="3" name="矩形 2"/>
            <p:cNvSpPr/>
            <p:nvPr/>
          </p:nvSpPr>
          <p:spPr>
            <a:xfrm>
              <a:off x="5134" y="429"/>
              <a:ext cx="8913"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3"/>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重要性采样</a:t>
              </a:r>
            </a:p>
          </p:txBody>
        </p:sp>
      </p:grpSp>
      <p:grpSp>
        <p:nvGrpSpPr>
          <p:cNvPr id="15" name="组合 14"/>
          <p:cNvGrpSpPr/>
          <p:nvPr/>
        </p:nvGrpSpPr>
        <p:grpSpPr>
          <a:xfrm>
            <a:off x="603250" y="1276350"/>
            <a:ext cx="7954010" cy="1198880"/>
            <a:chOff x="814" y="3458"/>
            <a:chExt cx="12526" cy="1888"/>
          </a:xfrm>
        </p:grpSpPr>
        <p:sp>
          <p:nvSpPr>
            <p:cNvPr id="16" name="椭圆 15"/>
            <p:cNvSpPr/>
            <p:nvPr/>
          </p:nvSpPr>
          <p:spPr>
            <a:xfrm>
              <a:off x="814" y="3724"/>
              <a:ext cx="250" cy="250"/>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sp>
          <p:nvSpPr>
            <p:cNvPr id="17" name="文本框 16"/>
            <p:cNvSpPr txBox="1"/>
            <p:nvPr/>
          </p:nvSpPr>
          <p:spPr>
            <a:xfrm>
              <a:off x="1064" y="3458"/>
              <a:ext cx="12276" cy="1888"/>
            </a:xfrm>
            <a:prstGeom prst="rect">
              <a:avLst/>
            </a:prstGeom>
            <a:noFill/>
          </p:spPr>
          <p:txBody>
            <a:bodyPr wrap="square" rtlCol="0" anchor="t">
              <a:spAutoFit/>
            </a:bodyPr>
            <a:lstStyle/>
            <a:p>
              <a:pPr marL="0" lvl="1" algn="just">
                <a:buClrTx/>
                <a:buSzTx/>
                <a:buFontTx/>
              </a:pPr>
              <a:r>
                <a:rPr lang="zh-CN" altLang="en-US" sz="2400" dirty="0">
                  <a:latin typeface="Times New Roman" panose="02020603050405020304" charset="0"/>
                  <a:cs typeface="Times New Roman" panose="02020603050405020304" charset="0"/>
                  <a:sym typeface="+mn-ea"/>
                </a:rPr>
                <a:t>如果采样的目的是计算分布</a:t>
              </a:r>
              <a:r>
                <a:rPr lang="en-US" altLang="zh-CN" sz="2400" dirty="0">
                  <a:latin typeface="Times New Roman" panose="02020603050405020304" charset="0"/>
                  <a:cs typeface="Times New Roman" panose="02020603050405020304" charset="0"/>
                  <a:sym typeface="+mn-ea"/>
                </a:rPr>
                <a:t>p(x)</a:t>
              </a:r>
              <a:r>
                <a:rPr lang="zh-CN" altLang="en-US" sz="2400" dirty="0">
                  <a:latin typeface="Times New Roman" panose="02020603050405020304" charset="0"/>
                  <a:cs typeface="Times New Roman" panose="02020603050405020304" charset="0"/>
                  <a:sym typeface="+mn-ea"/>
                </a:rPr>
                <a:t>下函数</a:t>
              </a:r>
              <a:r>
                <a:rPr lang="en-US" altLang="zh-CN" sz="2400" dirty="0">
                  <a:latin typeface="Times New Roman" panose="02020603050405020304" charset="0"/>
                  <a:cs typeface="Times New Roman" panose="02020603050405020304" charset="0"/>
                  <a:sym typeface="+mn-ea"/>
                </a:rPr>
                <a:t>f(x)</a:t>
              </a:r>
              <a:r>
                <a:rPr lang="zh-CN" altLang="en-US" sz="2400" dirty="0">
                  <a:latin typeface="Times New Roman" panose="02020603050405020304" charset="0"/>
                  <a:cs typeface="Times New Roman" panose="02020603050405020304" charset="0"/>
                  <a:sym typeface="+mn-ea"/>
                </a:rPr>
                <a:t>的期望，那么实际上抽取的样本不需要严格服从分布</a:t>
              </a:r>
              <a:r>
                <a:rPr lang="en-US" altLang="zh-CN" sz="2400" dirty="0">
                  <a:latin typeface="Times New Roman" panose="02020603050405020304" charset="0"/>
                  <a:cs typeface="Times New Roman" panose="02020603050405020304" charset="0"/>
                  <a:sym typeface="+mn-ea"/>
                </a:rPr>
                <a:t>p(x)</a:t>
              </a:r>
              <a:r>
                <a:rPr lang="zh-CN" altLang="en-US" sz="2400" dirty="0">
                  <a:latin typeface="Times New Roman" panose="02020603050405020304" charset="0"/>
                  <a:cs typeface="Times New Roman" panose="02020603050405020304" charset="0"/>
                  <a:sym typeface="+mn-ea"/>
                </a:rPr>
                <a:t>。也可以通过另一个分布，即提议分布</a:t>
              </a:r>
              <a:r>
                <a:rPr lang="en-US" altLang="zh-CN" sz="2400" dirty="0">
                  <a:latin typeface="Times New Roman" panose="02020603050405020304" charset="0"/>
                  <a:cs typeface="Times New Roman" panose="02020603050405020304" charset="0"/>
                  <a:sym typeface="+mn-ea"/>
                </a:rPr>
                <a:t>q(x)</a:t>
              </a:r>
              <a:r>
                <a:rPr lang="zh-CN" altLang="en-US" sz="2400" dirty="0">
                  <a:latin typeface="Times New Roman" panose="02020603050405020304" charset="0"/>
                  <a:cs typeface="Times New Roman" panose="02020603050405020304" charset="0"/>
                  <a:sym typeface="+mn-ea"/>
                </a:rPr>
                <a:t>，直接采样并估计</a:t>
              </a:r>
              <a:r>
                <a:rPr lang="en-US" altLang="zh-CN" sz="2400" dirty="0">
                  <a:latin typeface="Times New Roman" panose="02020603050405020304" charset="0"/>
                  <a:cs typeface="Times New Roman" panose="02020603050405020304" charset="0"/>
                  <a:sym typeface="+mn-ea"/>
                </a:rPr>
                <a:t>E</a:t>
              </a:r>
              <a:r>
                <a:rPr lang="en-US" altLang="zh-CN" sz="2400" baseline="-25000" dirty="0">
                  <a:latin typeface="Times New Roman" panose="02020603050405020304" charset="0"/>
                  <a:cs typeface="Times New Roman" panose="02020603050405020304" charset="0"/>
                  <a:sym typeface="+mn-ea"/>
                </a:rPr>
                <a:t>p</a:t>
              </a:r>
              <a:r>
                <a:rPr lang="en-US" altLang="zh-CN" sz="2400" dirty="0">
                  <a:latin typeface="Times New Roman" panose="02020603050405020304" charset="0"/>
                  <a:cs typeface="Times New Roman" panose="02020603050405020304" charset="0"/>
                  <a:sym typeface="+mn-ea"/>
                </a:rPr>
                <a:t>[f(x)]</a:t>
              </a:r>
              <a:r>
                <a:rPr lang="zh-CN" altLang="en-US" sz="2400" dirty="0">
                  <a:latin typeface="Times New Roman" panose="02020603050405020304" charset="0"/>
                  <a:cs typeface="Times New Roman" panose="02020603050405020304" charset="0"/>
                  <a:sym typeface="+mn-ea"/>
                </a:rPr>
                <a:t>。</a:t>
              </a:r>
            </a:p>
          </p:txBody>
        </p:sp>
      </p:grpSp>
      <p:pic>
        <p:nvPicPr>
          <p:cNvPr id="12" name="图片 11"/>
          <p:cNvPicPr>
            <a:picLocks noChangeAspect="1"/>
          </p:cNvPicPr>
          <p:nvPr/>
        </p:nvPicPr>
        <p:blipFill>
          <a:blip r:embed="rId5"/>
          <a:stretch>
            <a:fillRect/>
          </a:stretch>
        </p:blipFill>
        <p:spPr>
          <a:xfrm>
            <a:off x="548005" y="2760980"/>
            <a:ext cx="3142615" cy="2295525"/>
          </a:xfrm>
          <a:prstGeom prst="rect">
            <a:avLst/>
          </a:prstGeom>
        </p:spPr>
      </p:pic>
      <mc:AlternateContent xmlns:mc="http://schemas.openxmlformats.org/markup-compatibility/2006" xmlns:a14="http://schemas.microsoft.com/office/drawing/2010/main">
        <mc:Choice Requires="a14">
          <p:sp>
            <p:nvSpPr>
              <p:cNvPr id="6" name="矩形 5"/>
              <p:cNvSpPr/>
              <p:nvPr/>
            </p:nvSpPr>
            <p:spPr>
              <a:xfrm>
                <a:off x="1466644" y="4959270"/>
                <a:ext cx="2171685" cy="369332"/>
              </a:xfrm>
              <a:prstGeom prst="rect">
                <a:avLst/>
              </a:prstGeom>
            </p:spPr>
            <p:txBody>
              <a:bodyPr wrap="none">
                <a:spAutoFit/>
              </a:bodyPr>
              <a:lstStyle/>
              <a:p>
                <a14:m>
                  <m:oMath xmlns:m="http://schemas.openxmlformats.org/officeDocument/2006/math">
                    <m:r>
                      <a:rPr lang="zh-CN" altLang="en-US" i="1" dirty="0" smtClean="0">
                        <a:latin typeface="Cambria Math" panose="02040503050406030204" pitchFamily="18" charset="0"/>
                      </a:rPr>
                      <m:t> </m:t>
                    </m:r>
                    <m:r>
                      <a:rPr lang="zh-CN" altLang="en-US" i="1" dirty="0" smtClean="0">
                        <a:latin typeface="Cambria Math" panose="02040503050406030204" pitchFamily="18" charset="0"/>
                      </a:rPr>
                      <m:t>𝑤</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𝑥</m:t>
                    </m:r>
                    <m:r>
                      <a:rPr lang="zh-CN" altLang="en-US" i="1" dirty="0" smtClean="0">
                        <a:latin typeface="Cambria Math" panose="02040503050406030204" pitchFamily="18" charset="0"/>
                      </a:rPr>
                      <m:t>) </m:t>
                    </m:r>
                  </m:oMath>
                </a14:m>
                <a:r>
                  <a:rPr lang="zh-CN" altLang="en-US" dirty="0"/>
                  <a:t>为</a:t>
                </a:r>
                <a:r>
                  <a:rPr lang="zh-CN" altLang="en-US" dirty="0">
                    <a:solidFill>
                      <a:srgbClr val="FF0000"/>
                    </a:solidFill>
                  </a:rPr>
                  <a:t>重要性权重</a:t>
                </a:r>
              </a:p>
            </p:txBody>
          </p:sp>
        </mc:Choice>
        <mc:Fallback xmlns="">
          <p:sp>
            <p:nvSpPr>
              <p:cNvPr id="6" name="矩形 5">
                <a:extLst/>
              </p:cNvPr>
              <p:cNvSpPr>
                <a:spLocks noRot="1" noChangeAspect="1" noMove="1" noResize="1" noEditPoints="1" noAdjustHandles="1" noChangeArrowheads="1" noChangeShapeType="1" noTextEdit="1"/>
              </p:cNvSpPr>
              <p:nvPr/>
            </p:nvSpPr>
            <p:spPr>
              <a:xfrm>
                <a:off x="1466644" y="4959270"/>
                <a:ext cx="2171685" cy="369332"/>
              </a:xfrm>
              <a:prstGeom prst="rect">
                <a:avLst/>
              </a:prstGeom>
              <a:blipFill>
                <a:blip r:embed="rId6"/>
                <a:stretch>
                  <a:fillRect t="-15000" r="-2247" b="-21667"/>
                </a:stretch>
              </a:blipFill>
            </p:spPr>
            <p:txBody>
              <a:bodyPr/>
              <a:lstStyle/>
              <a:p>
                <a:r>
                  <a:rPr lang="zh-CN" altLang="en-US">
                    <a:noFill/>
                  </a:rPr>
                  <a:t> </a:t>
                </a:r>
              </a:p>
            </p:txBody>
          </p:sp>
        </mc:Fallback>
      </mc:AlternateContent>
      <p:pic>
        <p:nvPicPr>
          <p:cNvPr id="14" name="图片 13"/>
          <p:cNvPicPr>
            <a:picLocks noChangeAspect="1"/>
          </p:cNvPicPr>
          <p:nvPr/>
        </p:nvPicPr>
        <p:blipFill>
          <a:blip r:embed="rId7"/>
          <a:stretch>
            <a:fillRect/>
          </a:stretch>
        </p:blipFill>
        <p:spPr>
          <a:xfrm>
            <a:off x="4652645" y="3426460"/>
            <a:ext cx="4095115" cy="647065"/>
          </a:xfrm>
          <a:prstGeom prst="rect">
            <a:avLst/>
          </a:prstGeom>
        </p:spPr>
      </p:pic>
      <p:sp>
        <p:nvSpPr>
          <p:cNvPr id="18" name="箭头: 右 8"/>
          <p:cNvSpPr/>
          <p:nvPr/>
        </p:nvSpPr>
        <p:spPr>
          <a:xfrm>
            <a:off x="3880485" y="3599180"/>
            <a:ext cx="685800" cy="329565"/>
          </a:xfrm>
          <a:prstGeom prst="rightArrow">
            <a:avLst/>
          </a:prstGeom>
          <a:ln>
            <a:solidFill>
              <a:srgbClr val="45679F"/>
            </a:solidFill>
          </a:ln>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
        <p:nvSpPr>
          <p:cNvPr id="19" name="矩形 18"/>
          <p:cNvSpPr/>
          <p:nvPr/>
        </p:nvSpPr>
        <p:spPr>
          <a:xfrm>
            <a:off x="548005" y="2760980"/>
            <a:ext cx="3142615" cy="2839720"/>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4652645" y="3425825"/>
            <a:ext cx="4095750" cy="647700"/>
          </a:xfrm>
          <a:prstGeom prst="rect">
            <a:avLst/>
          </a:prstGeom>
          <a:solidFill>
            <a:schemeClr val="accent1">
              <a:alpha val="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21" name="图片 20">
            <a:extLst>
              <a:ext uri="{FF2B5EF4-FFF2-40B4-BE49-F238E27FC236}">
                <a16:creationId xmlns:a16="http://schemas.microsoft.com/office/drawing/2014/main" id="{788242C6-AF7A-47E2-8403-89D5C0E58735}"/>
              </a:ext>
            </a:extLst>
          </p:cNvPr>
          <p:cNvPicPr>
            <a:picLocks noChangeAspect="1"/>
          </p:cNvPicPr>
          <p:nvPr/>
        </p:nvPicPr>
        <p:blipFill rotWithShape="1">
          <a:blip r:embed="rId5">
            <a:clrChange>
              <a:clrFrom>
                <a:srgbClr val="FFFFFF"/>
              </a:clrFrom>
              <a:clrTo>
                <a:srgbClr val="FFFFFF">
                  <a:alpha val="0"/>
                </a:srgbClr>
              </a:clrTo>
            </a:clrChange>
          </a:blip>
          <a:srcRect b="26706"/>
          <a:stretch/>
        </p:blipFill>
        <p:spPr>
          <a:xfrm>
            <a:off x="404108" y="1163536"/>
            <a:ext cx="7901285" cy="967240"/>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187DAE4-72F5-44DC-89A6-5D37581A57FB}"/>
                  </a:ext>
                </a:extLst>
              </p:cNvPr>
              <p:cNvSpPr txBox="1"/>
              <p:nvPr/>
            </p:nvSpPr>
            <p:spPr>
              <a:xfrm>
                <a:off x="545192" y="2133132"/>
                <a:ext cx="4026808" cy="1295868"/>
              </a:xfrm>
              <a:prstGeom prst="rect">
                <a:avLst/>
              </a:prstGeom>
              <a:noFill/>
            </p:spPr>
            <p:txBody>
              <a:bodyPr wrap="none" rtlCol="0">
                <a:spAutoFit/>
              </a:bodyPr>
              <a:lstStyle/>
              <a:p>
                <a:pPr marL="285750" indent="-285750">
                  <a:lnSpc>
                    <a:spcPct val="150000"/>
                  </a:lnSpc>
                  <a:buFont typeface="Wingdings" panose="05000000000000000000" pitchFamily="2" charset="2"/>
                  <a:buChar char="Ø"/>
                </a:pPr>
                <a:r>
                  <a:rPr lang="zh-CN" altLang="en-US" dirty="0"/>
                  <a:t>如何定义</a:t>
                </a:r>
                <a14:m>
                  <m:oMath xmlns:m="http://schemas.openxmlformats.org/officeDocument/2006/math">
                    <m:r>
                      <a:rPr lang="en-US" altLang="zh-CN" b="0" i="1" smtClean="0">
                        <a:latin typeface="Cambria Math" panose="02040503050406030204" pitchFamily="18" charset="0"/>
                      </a:rPr>
                      <m:t>𝑞</m:t>
                    </m:r>
                    <m:r>
                      <a:rPr lang="en-US" altLang="zh-CN" b="0" i="1" smtClean="0">
                        <a:latin typeface="Cambria Math" panose="02040503050406030204" pitchFamily="18" charset="0"/>
                      </a:rPr>
                      <m:t>(</m:t>
                    </m:r>
                    <m:r>
                      <a:rPr lang="en-US" altLang="zh-CN" b="0" i="1" smtClean="0">
                        <a:latin typeface="Cambria Math" panose="02040503050406030204" pitchFamily="18" charset="0"/>
                      </a:rPr>
                      <m:t>𝑧</m:t>
                    </m:r>
                    <m:r>
                      <a:rPr lang="en-US" altLang="zh-CN" b="0" i="1" smtClean="0">
                        <a:latin typeface="Cambria Math" panose="02040503050406030204" pitchFamily="18" charset="0"/>
                      </a:rPr>
                      <m:t>)</m:t>
                    </m:r>
                    <m:r>
                      <a:rPr lang="zh-CN" altLang="en-US" i="1">
                        <a:latin typeface="Cambria Math" panose="02040503050406030204" pitchFamily="18" charset="0"/>
                      </a:rPr>
                      <m:t>并</m:t>
                    </m:r>
                  </m:oMath>
                </a14:m>
                <a:r>
                  <a:rPr lang="zh-CN" altLang="en-US" dirty="0"/>
                  <a:t>在</a:t>
                </a:r>
                <a:r>
                  <a:rPr lang="en-US" altLang="zh-CN" dirty="0"/>
                  <a:t>E</a:t>
                </a:r>
                <a:r>
                  <a:rPr lang="zh-CN" altLang="en-US" dirty="0"/>
                  <a:t>步中进行求解？</a:t>
                </a:r>
                <a:endParaRPr lang="en-US" altLang="zh-CN" dirty="0"/>
              </a:p>
              <a:p>
                <a:pPr marL="285750" indent="-285750">
                  <a:lnSpc>
                    <a:spcPct val="150000"/>
                  </a:lnSpc>
                  <a:buFont typeface="Wingdings" panose="05000000000000000000" pitchFamily="2" charset="2"/>
                  <a:buChar char="Ø"/>
                </a:pPr>
                <a:r>
                  <a:rPr lang="zh-CN" altLang="en-US" dirty="0"/>
                  <a:t>如何处理</a:t>
                </a:r>
                <a:r>
                  <a:rPr lang="en-US" altLang="zh-CN" dirty="0"/>
                  <a:t>M step</a:t>
                </a:r>
                <a:r>
                  <a:rPr lang="zh-CN" altLang="en-US" dirty="0"/>
                  <a:t>中的积分项？</a:t>
                </a:r>
                <a:endParaRPr lang="en-US" altLang="zh-CN" dirty="0"/>
              </a:p>
              <a:p>
                <a:pPr marL="285750" indent="-285750">
                  <a:lnSpc>
                    <a:spcPct val="150000"/>
                  </a:lnSpc>
                  <a:buFont typeface="Wingdings" panose="05000000000000000000" pitchFamily="2" charset="2"/>
                  <a:buChar char="Ø"/>
                </a:pPr>
                <a:endParaRPr lang="zh-CN" altLang="en-US" dirty="0"/>
              </a:p>
            </p:txBody>
          </p:sp>
        </mc:Choice>
        <mc:Fallback xmlns="">
          <p:sp>
            <p:nvSpPr>
              <p:cNvPr id="9" name="文本框 8">
                <a:extLst>
                  <a:ext uri="{FF2B5EF4-FFF2-40B4-BE49-F238E27FC236}">
                    <a16:creationId xmlns:a16="http://schemas.microsoft.com/office/drawing/2014/main" id="{5187DAE4-72F5-44DC-89A6-5D37581A57FB}"/>
                  </a:ext>
                </a:extLst>
              </p:cNvPr>
              <p:cNvSpPr txBox="1">
                <a:spLocks noRot="1" noChangeAspect="1" noMove="1" noResize="1" noEditPoints="1" noAdjustHandles="1" noChangeArrowheads="1" noChangeShapeType="1" noTextEdit="1"/>
              </p:cNvSpPr>
              <p:nvPr/>
            </p:nvSpPr>
            <p:spPr>
              <a:xfrm>
                <a:off x="545192" y="2133132"/>
                <a:ext cx="4026808" cy="1295868"/>
              </a:xfrm>
              <a:prstGeom prst="rect">
                <a:avLst/>
              </a:prstGeom>
              <a:blipFill>
                <a:blip r:embed="rId6"/>
                <a:stretch>
                  <a:fillRect l="-908" r="-756"/>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0174F72B-EF6D-4F1C-9109-7573D686E3F3}"/>
              </a:ext>
            </a:extLst>
          </p:cNvPr>
          <p:cNvPicPr>
            <a:picLocks noChangeAspect="1"/>
          </p:cNvPicPr>
          <p:nvPr/>
        </p:nvPicPr>
        <p:blipFill rotWithShape="1">
          <a:blip r:embed="rId7">
            <a:clrChange>
              <a:clrFrom>
                <a:srgbClr val="FFFFFF"/>
              </a:clrFrom>
              <a:clrTo>
                <a:srgbClr val="FFFFFF">
                  <a:alpha val="0"/>
                </a:srgbClr>
              </a:clrTo>
            </a:clrChange>
          </a:blip>
          <a:srcRect t="20596" b="34493"/>
          <a:stretch/>
        </p:blipFill>
        <p:spPr>
          <a:xfrm>
            <a:off x="545192" y="3601523"/>
            <a:ext cx="7669294" cy="1807759"/>
          </a:xfrm>
          <a:prstGeom prst="rect">
            <a:avLst/>
          </a:prstGeom>
        </p:spPr>
      </p:pic>
      <p:sp>
        <p:nvSpPr>
          <p:cNvPr id="11" name="文本框 10">
            <a:extLst>
              <a:ext uri="{FF2B5EF4-FFF2-40B4-BE49-F238E27FC236}">
                <a16:creationId xmlns:a16="http://schemas.microsoft.com/office/drawing/2014/main" id="{4BB8B0D4-4F2C-428C-A205-543E290497EE}"/>
              </a:ext>
            </a:extLst>
          </p:cNvPr>
          <p:cNvSpPr txBox="1"/>
          <p:nvPr/>
        </p:nvSpPr>
        <p:spPr>
          <a:xfrm>
            <a:off x="666104" y="3145930"/>
            <a:ext cx="2233304"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方法</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MCMC</a:t>
            </a:r>
            <a:r>
              <a:rPr lang="zh-CN" altLang="en-US" dirty="0">
                <a:latin typeface="微软雅黑" panose="020B0503020204020204" pitchFamily="34" charset="-122"/>
                <a:ea typeface="微软雅黑" panose="020B0503020204020204" pitchFamily="34" charset="-122"/>
              </a:rPr>
              <a:t>求解</a:t>
            </a:r>
          </a:p>
        </p:txBody>
      </p:sp>
    </p:spTree>
    <p:extLst>
      <p:ext uri="{BB962C8B-B14F-4D97-AF65-F5344CB8AC3E}">
        <p14:creationId xmlns:p14="http://schemas.microsoft.com/office/powerpoint/2010/main" val="2485791124"/>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sp>
        <p:nvSpPr>
          <p:cNvPr id="9" name="文本框 8">
            <a:extLst>
              <a:ext uri="{FF2B5EF4-FFF2-40B4-BE49-F238E27FC236}">
                <a16:creationId xmlns:a16="http://schemas.microsoft.com/office/drawing/2014/main" id="{CAF3105D-E035-4685-9846-E153F7FDDB13}"/>
              </a:ext>
            </a:extLst>
          </p:cNvPr>
          <p:cNvSpPr txBox="1"/>
          <p:nvPr/>
        </p:nvSpPr>
        <p:spPr>
          <a:xfrm>
            <a:off x="480060" y="1057275"/>
            <a:ext cx="2396810"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方法</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：变分推断求解</a:t>
            </a:r>
          </a:p>
        </p:txBody>
      </p:sp>
      <p:pic>
        <p:nvPicPr>
          <p:cNvPr id="6" name="图片 5">
            <a:extLst>
              <a:ext uri="{FF2B5EF4-FFF2-40B4-BE49-F238E27FC236}">
                <a16:creationId xmlns:a16="http://schemas.microsoft.com/office/drawing/2014/main" id="{7D1F6570-643D-47EE-8A5B-B6E7B8EA9B4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28279" y="1674159"/>
            <a:ext cx="8287441" cy="2710554"/>
          </a:xfrm>
          <a:prstGeom prst="rect">
            <a:avLst/>
          </a:prstGeom>
        </p:spPr>
      </p:pic>
    </p:spTree>
    <p:extLst>
      <p:ext uri="{BB962C8B-B14F-4D97-AF65-F5344CB8AC3E}">
        <p14:creationId xmlns:p14="http://schemas.microsoft.com/office/powerpoint/2010/main" val="436621184"/>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9" name="图片 8">
            <a:extLst>
              <a:ext uri="{FF2B5EF4-FFF2-40B4-BE49-F238E27FC236}">
                <a16:creationId xmlns:a16="http://schemas.microsoft.com/office/drawing/2014/main" id="{20FD7BC7-200A-4724-AE1F-64B349C2CAD2}"/>
              </a:ext>
            </a:extLst>
          </p:cNvPr>
          <p:cNvPicPr>
            <a:picLocks noChangeAspect="1"/>
          </p:cNvPicPr>
          <p:nvPr/>
        </p:nvPicPr>
        <p:blipFill rotWithShape="1">
          <a:blip r:embed="rId5">
            <a:clrChange>
              <a:clrFrom>
                <a:srgbClr val="FFFFFF"/>
              </a:clrFrom>
              <a:clrTo>
                <a:srgbClr val="FFFFFF">
                  <a:alpha val="0"/>
                </a:srgbClr>
              </a:clrTo>
            </a:clrChange>
          </a:blip>
          <a:srcRect l="3187"/>
          <a:stretch/>
        </p:blipFill>
        <p:spPr>
          <a:xfrm>
            <a:off x="294723" y="1241617"/>
            <a:ext cx="8428413" cy="3882046"/>
          </a:xfrm>
          <a:prstGeom prst="rect">
            <a:avLst/>
          </a:prstGeom>
        </p:spPr>
      </p:pic>
    </p:spTree>
    <p:extLst>
      <p:ext uri="{BB962C8B-B14F-4D97-AF65-F5344CB8AC3E}">
        <p14:creationId xmlns:p14="http://schemas.microsoft.com/office/powerpoint/2010/main" val="1816065483"/>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sp>
        <p:nvSpPr>
          <p:cNvPr id="9" name="文本框 8">
            <a:extLst>
              <a:ext uri="{FF2B5EF4-FFF2-40B4-BE49-F238E27FC236}">
                <a16:creationId xmlns:a16="http://schemas.microsoft.com/office/drawing/2014/main" id="{0EE51170-1702-45A6-AE28-188678F691EF}"/>
              </a:ext>
            </a:extLst>
          </p:cNvPr>
          <p:cNvSpPr txBox="1"/>
          <p:nvPr/>
        </p:nvSpPr>
        <p:spPr>
          <a:xfrm>
            <a:off x="480060" y="1057275"/>
            <a:ext cx="43040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实例：</a:t>
            </a:r>
            <a:r>
              <a:rPr lang="en-US" altLang="zh-CN" dirty="0">
                <a:latin typeface="微软雅黑" panose="020B0503020204020204" pitchFamily="34" charset="-122"/>
                <a:ea typeface="微软雅黑" panose="020B0503020204020204" pitchFamily="34" charset="-122"/>
              </a:rPr>
              <a:t>Variational Auto-Encoder (VAE)</a:t>
            </a:r>
            <a:endParaRPr lang="zh-CN" altLang="en-US" dirty="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DC11E219-2A31-4734-9399-49C5E0608C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492061" y="1426607"/>
            <a:ext cx="3085024" cy="2806235"/>
          </a:xfrm>
          <a:prstGeom prst="rect">
            <a:avLst/>
          </a:prstGeom>
        </p:spPr>
      </p:pic>
      <p:cxnSp>
        <p:nvCxnSpPr>
          <p:cNvPr id="12" name="连接符: 肘形 11">
            <a:extLst>
              <a:ext uri="{FF2B5EF4-FFF2-40B4-BE49-F238E27FC236}">
                <a16:creationId xmlns:a16="http://schemas.microsoft.com/office/drawing/2014/main" id="{666C1ACB-2015-4A6A-904C-54B067A7A376}"/>
              </a:ext>
            </a:extLst>
          </p:cNvPr>
          <p:cNvCxnSpPr>
            <a:stCxn id="10" idx="1"/>
            <a:endCxn id="10" idx="3"/>
          </p:cNvCxnSpPr>
          <p:nvPr/>
        </p:nvCxnSpPr>
        <p:spPr>
          <a:xfrm rot="10800000" flipH="1">
            <a:off x="2492061" y="2829725"/>
            <a:ext cx="3085024" cy="12700"/>
          </a:xfrm>
          <a:prstGeom prst="bentConnector5">
            <a:avLst>
              <a:gd name="adj1" fmla="val -7410"/>
              <a:gd name="adj2" fmla="val -11727039"/>
              <a:gd name="adj3" fmla="val 107410"/>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 name="文本框 13">
            <a:extLst>
              <a:ext uri="{FF2B5EF4-FFF2-40B4-BE49-F238E27FC236}">
                <a16:creationId xmlns:a16="http://schemas.microsoft.com/office/drawing/2014/main" id="{AA681586-7ABA-43C3-877D-BDA7041990D6}"/>
              </a:ext>
            </a:extLst>
          </p:cNvPr>
          <p:cNvSpPr txBox="1"/>
          <p:nvPr/>
        </p:nvSpPr>
        <p:spPr>
          <a:xfrm>
            <a:off x="3106420" y="4374052"/>
            <a:ext cx="2050048" cy="369332"/>
          </a:xfrm>
          <a:prstGeom prst="rect">
            <a:avLst/>
          </a:prstGeom>
          <a:noFill/>
        </p:spPr>
        <p:txBody>
          <a:bodyPr wrap="none" rtlCol="0">
            <a:spAutoFit/>
          </a:bodyPr>
          <a:lstStyle/>
          <a:p>
            <a:r>
              <a:rPr lang="en-US" altLang="zh-CN" dirty="0"/>
              <a:t>Reconstruction Loss</a:t>
            </a:r>
            <a:endParaRPr lang="zh-CN" altLang="en-US" dirty="0"/>
          </a:p>
        </p:txBody>
      </p:sp>
      <p:pic>
        <p:nvPicPr>
          <p:cNvPr id="16" name="图片 15">
            <a:extLst>
              <a:ext uri="{FF2B5EF4-FFF2-40B4-BE49-F238E27FC236}">
                <a16:creationId xmlns:a16="http://schemas.microsoft.com/office/drawing/2014/main" id="{EB37F253-660E-4F22-BFFE-4044B7E9688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20427" y="4899486"/>
            <a:ext cx="5071579" cy="1742461"/>
          </a:xfrm>
          <a:prstGeom prst="rect">
            <a:avLst/>
          </a:prstGeom>
        </p:spPr>
      </p:pic>
      <p:sp>
        <p:nvSpPr>
          <p:cNvPr id="17" name="文本框 16">
            <a:extLst>
              <a:ext uri="{FF2B5EF4-FFF2-40B4-BE49-F238E27FC236}">
                <a16:creationId xmlns:a16="http://schemas.microsoft.com/office/drawing/2014/main" id="{D1F7C3FA-466A-404D-B968-3840E60190C4}"/>
              </a:ext>
            </a:extLst>
          </p:cNvPr>
          <p:cNvSpPr txBox="1"/>
          <p:nvPr/>
        </p:nvSpPr>
        <p:spPr>
          <a:xfrm>
            <a:off x="1029414" y="2855651"/>
            <a:ext cx="891591" cy="369332"/>
          </a:xfrm>
          <a:prstGeom prst="rect">
            <a:avLst/>
          </a:prstGeom>
          <a:noFill/>
        </p:spPr>
        <p:txBody>
          <a:bodyPr wrap="none" rtlCol="0">
            <a:spAutoFit/>
          </a:bodyPr>
          <a:lstStyle/>
          <a:p>
            <a:r>
              <a:rPr lang="zh-CN" altLang="en-US" dirty="0"/>
              <a:t>传统</a:t>
            </a:r>
            <a:r>
              <a:rPr lang="en-US" altLang="zh-CN" dirty="0"/>
              <a:t>AE</a:t>
            </a:r>
            <a:endParaRPr lang="zh-CN" altLang="en-US" dirty="0"/>
          </a:p>
        </p:txBody>
      </p:sp>
      <p:sp>
        <p:nvSpPr>
          <p:cNvPr id="18" name="文本框 17">
            <a:extLst>
              <a:ext uri="{FF2B5EF4-FFF2-40B4-BE49-F238E27FC236}">
                <a16:creationId xmlns:a16="http://schemas.microsoft.com/office/drawing/2014/main" id="{9833B508-AEDE-4B8B-A3B0-A59975BCD297}"/>
              </a:ext>
            </a:extLst>
          </p:cNvPr>
          <p:cNvSpPr txBox="1"/>
          <p:nvPr/>
        </p:nvSpPr>
        <p:spPr>
          <a:xfrm>
            <a:off x="849305" y="5431393"/>
            <a:ext cx="550535" cy="369332"/>
          </a:xfrm>
          <a:prstGeom prst="rect">
            <a:avLst/>
          </a:prstGeom>
          <a:noFill/>
        </p:spPr>
        <p:txBody>
          <a:bodyPr wrap="none" rtlCol="0">
            <a:spAutoFit/>
          </a:bodyPr>
          <a:lstStyle/>
          <a:p>
            <a:r>
              <a:rPr lang="en-US" altLang="zh-CN" dirty="0"/>
              <a:t>VAE</a:t>
            </a:r>
            <a:endParaRPr lang="zh-CN" altLang="en-US" dirty="0"/>
          </a:p>
        </p:txBody>
      </p:sp>
    </p:spTree>
    <p:extLst>
      <p:ext uri="{BB962C8B-B14F-4D97-AF65-F5344CB8AC3E}">
        <p14:creationId xmlns:p14="http://schemas.microsoft.com/office/powerpoint/2010/main" val="1410640260"/>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sp>
        <p:nvSpPr>
          <p:cNvPr id="9" name="文本框 8">
            <a:extLst>
              <a:ext uri="{FF2B5EF4-FFF2-40B4-BE49-F238E27FC236}">
                <a16:creationId xmlns:a16="http://schemas.microsoft.com/office/drawing/2014/main" id="{0DC69283-B8CD-492D-B8C2-7897C0577BA3}"/>
              </a:ext>
            </a:extLst>
          </p:cNvPr>
          <p:cNvSpPr txBox="1"/>
          <p:nvPr/>
        </p:nvSpPr>
        <p:spPr>
          <a:xfrm>
            <a:off x="480060" y="1057275"/>
            <a:ext cx="4411464"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Why Variational Auto-Encoder (VAE)</a:t>
            </a:r>
            <a:r>
              <a:rPr lang="zh-CN" altLang="en-US" dirty="0">
                <a:latin typeface="微软雅黑" panose="020B0503020204020204" pitchFamily="34" charset="-122"/>
                <a:ea typeface="微软雅黑" panose="020B0503020204020204" pitchFamily="34" charset="-122"/>
              </a:rPr>
              <a:t>？</a:t>
            </a:r>
          </a:p>
        </p:txBody>
      </p:sp>
      <p:pic>
        <p:nvPicPr>
          <p:cNvPr id="10" name="图片 9">
            <a:extLst>
              <a:ext uri="{FF2B5EF4-FFF2-40B4-BE49-F238E27FC236}">
                <a16:creationId xmlns:a16="http://schemas.microsoft.com/office/drawing/2014/main" id="{5C2D11DA-93B6-4820-A9B1-51388A1A27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45151" y="1627267"/>
            <a:ext cx="6060733" cy="3030367"/>
          </a:xfrm>
          <a:prstGeom prst="rect">
            <a:avLst/>
          </a:prstGeom>
        </p:spPr>
      </p:pic>
      <p:sp>
        <p:nvSpPr>
          <p:cNvPr id="11" name="文本框 10">
            <a:extLst>
              <a:ext uri="{FF2B5EF4-FFF2-40B4-BE49-F238E27FC236}">
                <a16:creationId xmlns:a16="http://schemas.microsoft.com/office/drawing/2014/main" id="{B0FA3C3B-F893-42D5-AE91-A85BC15BAE56}"/>
              </a:ext>
            </a:extLst>
          </p:cNvPr>
          <p:cNvSpPr txBox="1"/>
          <p:nvPr/>
        </p:nvSpPr>
        <p:spPr>
          <a:xfrm>
            <a:off x="2685792" y="4488962"/>
            <a:ext cx="429926" cy="369332"/>
          </a:xfrm>
          <a:prstGeom prst="rect">
            <a:avLst/>
          </a:prstGeom>
          <a:noFill/>
        </p:spPr>
        <p:txBody>
          <a:bodyPr wrap="none" rtlCol="0">
            <a:spAutoFit/>
          </a:bodyPr>
          <a:lstStyle/>
          <a:p>
            <a:r>
              <a:rPr lang="en-US" altLang="zh-CN" dirty="0"/>
              <a:t>AE</a:t>
            </a:r>
            <a:endParaRPr lang="zh-CN" altLang="en-US" dirty="0"/>
          </a:p>
        </p:txBody>
      </p:sp>
      <p:sp>
        <p:nvSpPr>
          <p:cNvPr id="12" name="文本框 11">
            <a:extLst>
              <a:ext uri="{FF2B5EF4-FFF2-40B4-BE49-F238E27FC236}">
                <a16:creationId xmlns:a16="http://schemas.microsoft.com/office/drawing/2014/main" id="{473BF069-6741-4244-8366-D1C6CD8C8FD2}"/>
              </a:ext>
            </a:extLst>
          </p:cNvPr>
          <p:cNvSpPr txBox="1"/>
          <p:nvPr/>
        </p:nvSpPr>
        <p:spPr>
          <a:xfrm>
            <a:off x="5807454" y="4472968"/>
            <a:ext cx="550535" cy="369332"/>
          </a:xfrm>
          <a:prstGeom prst="rect">
            <a:avLst/>
          </a:prstGeom>
          <a:noFill/>
        </p:spPr>
        <p:txBody>
          <a:bodyPr wrap="none" rtlCol="0">
            <a:spAutoFit/>
          </a:bodyPr>
          <a:lstStyle/>
          <a:p>
            <a:r>
              <a:rPr lang="en-US" altLang="zh-CN" dirty="0"/>
              <a:t>VAE</a:t>
            </a:r>
            <a:endParaRPr lang="zh-CN" altLang="en-US" dirty="0"/>
          </a:p>
        </p:txBody>
      </p:sp>
    </p:spTree>
    <p:extLst>
      <p:ext uri="{BB962C8B-B14F-4D97-AF65-F5344CB8AC3E}">
        <p14:creationId xmlns:p14="http://schemas.microsoft.com/office/powerpoint/2010/main" val="3830019267"/>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sp>
        <p:nvSpPr>
          <p:cNvPr id="9" name="文本框 8">
            <a:extLst>
              <a:ext uri="{FF2B5EF4-FFF2-40B4-BE49-F238E27FC236}">
                <a16:creationId xmlns:a16="http://schemas.microsoft.com/office/drawing/2014/main" id="{0DC69283-B8CD-492D-B8C2-7897C0577BA3}"/>
              </a:ext>
            </a:extLst>
          </p:cNvPr>
          <p:cNvSpPr txBox="1"/>
          <p:nvPr/>
        </p:nvSpPr>
        <p:spPr>
          <a:xfrm>
            <a:off x="480060" y="1057275"/>
            <a:ext cx="4411464"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Why Variational Auto-Encoder (VAE)</a:t>
            </a:r>
            <a:r>
              <a:rPr lang="zh-CN" altLang="en-US" dirty="0">
                <a:latin typeface="微软雅黑" panose="020B0503020204020204" pitchFamily="34" charset="-122"/>
                <a:ea typeface="微软雅黑" panose="020B0503020204020204" pitchFamily="34" charset="-122"/>
              </a:rPr>
              <a:t>？</a:t>
            </a:r>
          </a:p>
        </p:txBody>
      </p:sp>
      <p:pic>
        <p:nvPicPr>
          <p:cNvPr id="13" name="图片 12">
            <a:extLst>
              <a:ext uri="{FF2B5EF4-FFF2-40B4-BE49-F238E27FC236}">
                <a16:creationId xmlns:a16="http://schemas.microsoft.com/office/drawing/2014/main" id="{9C6DFA3A-4C4A-4C7F-A4DA-183188B369D4}"/>
              </a:ext>
            </a:extLst>
          </p:cNvPr>
          <p:cNvPicPr>
            <a:picLocks noChangeAspect="1"/>
          </p:cNvPicPr>
          <p:nvPr/>
        </p:nvPicPr>
        <p:blipFill rotWithShape="1">
          <a:blip r:embed="rId5">
            <a:extLst>
              <a:ext uri="{28A0092B-C50C-407E-A947-70E740481C1C}">
                <a14:useLocalDpi xmlns:a14="http://schemas.microsoft.com/office/drawing/2010/main" val="0"/>
              </a:ext>
            </a:extLst>
          </a:blip>
          <a:srcRect l="9228" t="22369" r="5089" b="28872"/>
          <a:stretch/>
        </p:blipFill>
        <p:spPr>
          <a:xfrm>
            <a:off x="802517" y="2093295"/>
            <a:ext cx="6845194" cy="2921499"/>
          </a:xfrm>
          <a:prstGeom prst="rect">
            <a:avLst/>
          </a:prstGeom>
        </p:spPr>
      </p:pic>
    </p:spTree>
    <p:extLst>
      <p:ext uri="{BB962C8B-B14F-4D97-AF65-F5344CB8AC3E}">
        <p14:creationId xmlns:p14="http://schemas.microsoft.com/office/powerpoint/2010/main" val="2035591394"/>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6" name="图片 5">
            <a:extLst>
              <a:ext uri="{FF2B5EF4-FFF2-40B4-BE49-F238E27FC236}">
                <a16:creationId xmlns:a16="http://schemas.microsoft.com/office/drawing/2014/main" id="{6431A181-355F-4039-9402-3CB2B318C87F}"/>
              </a:ext>
            </a:extLst>
          </p:cNvPr>
          <p:cNvPicPr>
            <a:picLocks noChangeAspect="1"/>
          </p:cNvPicPr>
          <p:nvPr/>
        </p:nvPicPr>
        <p:blipFill rotWithShape="1">
          <a:blip r:embed="rId5">
            <a:clrChange>
              <a:clrFrom>
                <a:srgbClr val="FFFFFF"/>
              </a:clrFrom>
              <a:clrTo>
                <a:srgbClr val="FFFFFF">
                  <a:alpha val="0"/>
                </a:srgbClr>
              </a:clrTo>
            </a:clrChange>
          </a:blip>
          <a:srcRect l="4027" b="12549"/>
          <a:stretch/>
        </p:blipFill>
        <p:spPr>
          <a:xfrm>
            <a:off x="601133" y="2763383"/>
            <a:ext cx="5483184" cy="3833632"/>
          </a:xfrm>
          <a:prstGeom prst="rect">
            <a:avLst/>
          </a:prstGeom>
        </p:spPr>
      </p:pic>
      <p:pic>
        <p:nvPicPr>
          <p:cNvPr id="10" name="图片 9">
            <a:extLst>
              <a:ext uri="{FF2B5EF4-FFF2-40B4-BE49-F238E27FC236}">
                <a16:creationId xmlns:a16="http://schemas.microsoft.com/office/drawing/2014/main" id="{9615D74D-13BA-44AF-8462-E3BFFB8FDC4C}"/>
              </a:ext>
            </a:extLst>
          </p:cNvPr>
          <p:cNvPicPr>
            <a:picLocks noChangeAspect="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t="48399" r="55926" b="16308"/>
          <a:stretch/>
        </p:blipFill>
        <p:spPr>
          <a:xfrm>
            <a:off x="3814364" y="4001841"/>
            <a:ext cx="1515272" cy="364595"/>
          </a:xfrm>
          <a:prstGeom prst="rect">
            <a:avLst/>
          </a:prstGeom>
        </p:spPr>
      </p:pic>
      <p:pic>
        <p:nvPicPr>
          <p:cNvPr id="9" name="图片 8">
            <a:extLst>
              <a:ext uri="{FF2B5EF4-FFF2-40B4-BE49-F238E27FC236}">
                <a16:creationId xmlns:a16="http://schemas.microsoft.com/office/drawing/2014/main" id="{0EFB4120-4E99-C041-929C-6051253DBB4F}"/>
              </a:ext>
            </a:extLst>
          </p:cNvPr>
          <p:cNvPicPr>
            <a:picLocks noChangeAspect="1"/>
          </p:cNvPicPr>
          <p:nvPr/>
        </p:nvPicPr>
        <p:blipFill rotWithShape="1">
          <a:blip r:embed="rId7">
            <a:clrChange>
              <a:clrFrom>
                <a:srgbClr val="FFFFFF"/>
              </a:clrFrom>
              <a:clrTo>
                <a:srgbClr val="FFFFFF">
                  <a:alpha val="0"/>
                </a:srgbClr>
              </a:clrTo>
            </a:clrChange>
          </a:blip>
          <a:srcRect l="3187" t="49668"/>
          <a:stretch/>
        </p:blipFill>
        <p:spPr>
          <a:xfrm>
            <a:off x="590543" y="1117592"/>
            <a:ext cx="7935602" cy="1839659"/>
          </a:xfrm>
          <a:prstGeom prst="rect">
            <a:avLst/>
          </a:prstGeom>
        </p:spPr>
      </p:pic>
    </p:spTree>
    <p:extLst>
      <p:ext uri="{BB962C8B-B14F-4D97-AF65-F5344CB8AC3E}">
        <p14:creationId xmlns:p14="http://schemas.microsoft.com/office/powerpoint/2010/main" val="2436409279"/>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6" name="图片 5">
            <a:extLst>
              <a:ext uri="{FF2B5EF4-FFF2-40B4-BE49-F238E27FC236}">
                <a16:creationId xmlns:a16="http://schemas.microsoft.com/office/drawing/2014/main" id="{449CD547-4CA7-4E90-947F-F84B1C28DC3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74827" y="1478759"/>
            <a:ext cx="8370154" cy="4317480"/>
          </a:xfrm>
          <a:prstGeom prst="rect">
            <a:avLst/>
          </a:prstGeom>
        </p:spPr>
      </p:pic>
    </p:spTree>
    <p:extLst>
      <p:ext uri="{BB962C8B-B14F-4D97-AF65-F5344CB8AC3E}">
        <p14:creationId xmlns:p14="http://schemas.microsoft.com/office/powerpoint/2010/main" val="938804225"/>
      </p:ext>
    </p:extLst>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9" name="图片 8">
            <a:extLst>
              <a:ext uri="{FF2B5EF4-FFF2-40B4-BE49-F238E27FC236}">
                <a16:creationId xmlns:a16="http://schemas.microsoft.com/office/drawing/2014/main" id="{299126BD-DBE6-46C3-BB25-6D51595BDD9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6264" y="1388064"/>
            <a:ext cx="7983996" cy="2851427"/>
          </a:xfrm>
          <a:prstGeom prst="rect">
            <a:avLst/>
          </a:prstGeom>
        </p:spPr>
      </p:pic>
    </p:spTree>
    <p:extLst>
      <p:ext uri="{BB962C8B-B14F-4D97-AF65-F5344CB8AC3E}">
        <p14:creationId xmlns:p14="http://schemas.microsoft.com/office/powerpoint/2010/main" val="3247246081"/>
      </p:ext>
    </p:extLst>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6" name="图片 5">
            <a:extLst>
              <a:ext uri="{FF2B5EF4-FFF2-40B4-BE49-F238E27FC236}">
                <a16:creationId xmlns:a16="http://schemas.microsoft.com/office/drawing/2014/main" id="{26AE7F52-61D4-45ED-9F00-FFAB2C8E7BF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80060" y="1254465"/>
            <a:ext cx="8439824" cy="4126136"/>
          </a:xfrm>
          <a:prstGeom prst="rect">
            <a:avLst/>
          </a:prstGeom>
        </p:spPr>
      </p:pic>
      <p:pic>
        <p:nvPicPr>
          <p:cNvPr id="1026" name="Picture 2">
            <a:extLst>
              <a:ext uri="{FF2B5EF4-FFF2-40B4-BE49-F238E27FC236}">
                <a16:creationId xmlns:a16="http://schemas.microsoft.com/office/drawing/2014/main" id="{E71E982E-F325-2065-8A71-FCFB316A080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47884" y="5295900"/>
            <a:ext cx="457200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790312"/>
      </p:ext>
    </p:extLst>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9" name="图片 8">
            <a:extLst>
              <a:ext uri="{FF2B5EF4-FFF2-40B4-BE49-F238E27FC236}">
                <a16:creationId xmlns:a16="http://schemas.microsoft.com/office/drawing/2014/main" id="{A4A83333-3FC0-4E05-ADD9-0866A9B4D5D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80059" y="1223767"/>
            <a:ext cx="7765151" cy="2577416"/>
          </a:xfrm>
          <a:prstGeom prst="rect">
            <a:avLst/>
          </a:prstGeom>
        </p:spPr>
      </p:pic>
    </p:spTree>
    <p:extLst>
      <p:ext uri="{BB962C8B-B14F-4D97-AF65-F5344CB8AC3E}">
        <p14:creationId xmlns:p14="http://schemas.microsoft.com/office/powerpoint/2010/main" val="2943662725"/>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10" name="图片 9">
            <a:extLst>
              <a:ext uri="{FF2B5EF4-FFF2-40B4-BE49-F238E27FC236}">
                <a16:creationId xmlns:a16="http://schemas.microsoft.com/office/drawing/2014/main" id="{C72F0845-EB6C-480F-8078-A2AE706547CF}"/>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64029" y="1604922"/>
            <a:ext cx="8415942" cy="3941934"/>
          </a:xfrm>
          <a:prstGeom prst="rect">
            <a:avLst/>
          </a:prstGeom>
        </p:spPr>
      </p:pic>
    </p:spTree>
    <p:extLst>
      <p:ext uri="{BB962C8B-B14F-4D97-AF65-F5344CB8AC3E}">
        <p14:creationId xmlns:p14="http://schemas.microsoft.com/office/powerpoint/2010/main" val="227159412"/>
      </p:ext>
    </p:extLst>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2" name="组合 1"/>
          <p:cNvGrpSpPr/>
          <p:nvPr/>
        </p:nvGrpSpPr>
        <p:grpSpPr>
          <a:xfrm>
            <a:off x="-4445" y="260985"/>
            <a:ext cx="8925560" cy="708025"/>
            <a:chOff x="-9" y="254"/>
            <a:chExt cx="14056" cy="1115"/>
          </a:xfrm>
        </p:grpSpPr>
        <p:sp>
          <p:nvSpPr>
            <p:cNvPr id="3" name="矩形 2"/>
            <p:cNvSpPr/>
            <p:nvPr/>
          </p:nvSpPr>
          <p:spPr>
            <a:xfrm>
              <a:off x="4376" y="429"/>
              <a:ext cx="9671" cy="763"/>
            </a:xfrm>
            <a:prstGeom prst="rect">
              <a:avLst/>
            </a:prstGeom>
            <a:gradFill>
              <a:gsLst>
                <a:gs pos="0">
                  <a:schemeClr val="accent1">
                    <a:lumMod val="5000"/>
                    <a:lumOff val="95000"/>
                    <a:alpha val="0"/>
                  </a:schemeClr>
                </a:gs>
                <a:gs pos="77000">
                  <a:srgbClr val="385C98"/>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3"/>
            <p:cNvSpPr/>
            <p:nvPr/>
          </p:nvSpPr>
          <p:spPr>
            <a:xfrm rot="10800000" flipV="1">
              <a:off x="-9" y="393"/>
              <a:ext cx="763" cy="773"/>
            </a:xfrm>
            <a:prstGeom prst="roundRect">
              <a:avLst>
                <a:gd name="adj" fmla="val 5039"/>
              </a:avLst>
            </a:prstGeom>
            <a:solidFill>
              <a:srgbClr val="385C9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dirty="0"/>
            </a:p>
          </p:txBody>
        </p:sp>
        <p:sp>
          <p:nvSpPr>
            <p:cNvPr id="5" name="圆角矩形 4"/>
            <p:cNvSpPr/>
            <p:nvPr/>
          </p:nvSpPr>
          <p:spPr>
            <a:xfrm rot="16200000" flipV="1">
              <a:off x="13279" y="442"/>
              <a:ext cx="763" cy="773"/>
            </a:xfrm>
            <a:prstGeom prst="roundRect">
              <a:avLst>
                <a:gd name="adj" fmla="val 5039"/>
              </a:avLst>
            </a:prstGeom>
            <a:solidFill>
              <a:schemeClr val="accent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96"/>
            <p:cNvSpPr/>
            <p:nvPr/>
          </p:nvSpPr>
          <p:spPr bwMode="auto">
            <a:xfrm>
              <a:off x="13425" y="613"/>
              <a:ext cx="442" cy="426"/>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sp>
          <p:nvSpPr>
            <p:cNvPr id="7" name="矩形 6"/>
            <p:cNvSpPr/>
            <p:nvPr/>
          </p:nvSpPr>
          <p:spPr>
            <a:xfrm>
              <a:off x="754" y="254"/>
              <a:ext cx="4380" cy="1115"/>
            </a:xfrm>
            <a:prstGeom prst="rect">
              <a:avLst/>
            </a:prstGeom>
          </p:spPr>
          <p:txBody>
            <a:bodyPr wrap="square">
              <a:spAutoFit/>
            </a:bodyPr>
            <a:lstStyle/>
            <a:p>
              <a:pPr fontAlgn="auto">
                <a:lnSpc>
                  <a:spcPct val="100000"/>
                </a:lnSpc>
              </a:pPr>
              <a:r>
                <a:rPr lang="zh-CN" altLang="en-US" sz="4000" b="1" dirty="0">
                  <a:solidFill>
                    <a:srgbClr val="18478F"/>
                  </a:solidFill>
                  <a:latin typeface="+mn-ea"/>
                  <a:cs typeface="+mn-ea"/>
                  <a:sym typeface="+mn-ea"/>
                </a:rPr>
                <a:t>变分推断</a:t>
              </a:r>
            </a:p>
          </p:txBody>
        </p:sp>
      </p:grpSp>
      <p:pic>
        <p:nvPicPr>
          <p:cNvPr id="6" name="图片 5">
            <a:extLst>
              <a:ext uri="{FF2B5EF4-FFF2-40B4-BE49-F238E27FC236}">
                <a16:creationId xmlns:a16="http://schemas.microsoft.com/office/drawing/2014/main" id="{2D7F867F-7834-43C5-B2F1-A9F537AFA762}"/>
              </a:ext>
            </a:extLst>
          </p:cNvPr>
          <p:cNvPicPr>
            <a:picLocks noChangeAspect="1"/>
          </p:cNvPicPr>
          <p:nvPr/>
        </p:nvPicPr>
        <p:blipFill rotWithShape="1">
          <a:blip r:embed="rId5">
            <a:clrChange>
              <a:clrFrom>
                <a:srgbClr val="FFFFFF"/>
              </a:clrFrom>
              <a:clrTo>
                <a:srgbClr val="FFFFFF">
                  <a:alpha val="0"/>
                </a:srgbClr>
              </a:clrTo>
            </a:clrChange>
          </a:blip>
          <a:srcRect r="291"/>
          <a:stretch/>
        </p:blipFill>
        <p:spPr>
          <a:xfrm>
            <a:off x="480060" y="1272535"/>
            <a:ext cx="8240747" cy="4553932"/>
          </a:xfrm>
          <a:prstGeom prst="rect">
            <a:avLst/>
          </a:prstGeom>
        </p:spPr>
      </p:pic>
    </p:spTree>
    <p:extLst>
      <p:ext uri="{BB962C8B-B14F-4D97-AF65-F5344CB8AC3E}">
        <p14:creationId xmlns:p14="http://schemas.microsoft.com/office/powerpoint/2010/main" val="3248218368"/>
      </p:ext>
    </p:extLst>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pic>
        <p:nvPicPr>
          <p:cNvPr id="6" name="Picture 7" descr="校园-大门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697095"/>
            <a:ext cx="9144000" cy="2148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未标题-1"/>
          <p:cNvPicPr>
            <a:picLocks noChangeAspect="1"/>
          </p:cNvPicPr>
          <p:nvPr/>
        </p:nvPicPr>
        <p:blipFill>
          <a:blip r:embed="rId6"/>
          <a:stretch>
            <a:fillRect/>
          </a:stretch>
        </p:blipFill>
        <p:spPr>
          <a:xfrm>
            <a:off x="63500" y="63500"/>
            <a:ext cx="1228090" cy="1256030"/>
          </a:xfrm>
          <a:prstGeom prst="rect">
            <a:avLst/>
          </a:prstGeom>
        </p:spPr>
      </p:pic>
      <p:grpSp>
        <p:nvGrpSpPr>
          <p:cNvPr id="2" name="组合 1"/>
          <p:cNvGrpSpPr/>
          <p:nvPr/>
        </p:nvGrpSpPr>
        <p:grpSpPr>
          <a:xfrm>
            <a:off x="1291590" y="2047875"/>
            <a:ext cx="7266305" cy="1751965"/>
            <a:chOff x="7729" y="4918"/>
            <a:chExt cx="11443" cy="2759"/>
          </a:xfrm>
        </p:grpSpPr>
        <p:sp>
          <p:nvSpPr>
            <p:cNvPr id="36" name="文本框 35"/>
            <p:cNvSpPr txBox="1"/>
            <p:nvPr/>
          </p:nvSpPr>
          <p:spPr>
            <a:xfrm>
              <a:off x="7729" y="4918"/>
              <a:ext cx="11443" cy="1743"/>
            </a:xfrm>
            <a:prstGeom prst="rect">
              <a:avLst/>
            </a:prstGeom>
            <a:noFill/>
          </p:spPr>
          <p:txBody>
            <a:bodyPr wrap="square" rtlCol="0">
              <a:spAutoFit/>
            </a:bodyPr>
            <a:lstStyle/>
            <a:p>
              <a:pPr algn="ctr"/>
              <a:r>
                <a:rPr lang="zh-CN" altLang="en-US" sz="6600" b="1" spc="600" dirty="0">
                  <a:solidFill>
                    <a:srgbClr val="18478F"/>
                  </a:solidFill>
                  <a:latin typeface="微软雅黑" panose="020B0503020204020204" pitchFamily="34" charset="-122"/>
                  <a:ea typeface="微软雅黑" panose="020B0503020204020204" pitchFamily="34" charset="-122"/>
                  <a:cs typeface="+mn-ea"/>
                  <a:sym typeface="+mn-lt"/>
                </a:rPr>
                <a:t>谢谢！</a:t>
              </a:r>
            </a:p>
          </p:txBody>
        </p:sp>
        <p:cxnSp>
          <p:nvCxnSpPr>
            <p:cNvPr id="9" name="直接连接符 8"/>
            <p:cNvCxnSpPr/>
            <p:nvPr/>
          </p:nvCxnSpPr>
          <p:spPr>
            <a:xfrm>
              <a:off x="8771" y="6623"/>
              <a:ext cx="9358" cy="0"/>
            </a:xfrm>
            <a:prstGeom prst="line">
              <a:avLst/>
            </a:prstGeom>
            <a:ln>
              <a:solidFill>
                <a:srgbClr val="18478F"/>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8072" y="6853"/>
              <a:ext cx="10756" cy="824"/>
            </a:xfrm>
            <a:prstGeom prst="rect">
              <a:avLst/>
            </a:prstGeom>
            <a:noFill/>
          </p:spPr>
          <p:txBody>
            <a:bodyPr wrap="square" rtlCol="0">
              <a:spAutoFit/>
            </a:bodyPr>
            <a:lstStyle/>
            <a:p>
              <a:pPr algn="ctr"/>
              <a:r>
                <a:rPr lang="en-US" altLang="zh-CN" sz="2800" dirty="0">
                  <a:solidFill>
                    <a:srgbClr val="18478F"/>
                  </a:solidFill>
                  <a:latin typeface="微软雅黑" panose="020B0503020204020204" pitchFamily="34" charset="-122"/>
                  <a:ea typeface="微软雅黑" panose="020B0503020204020204" pitchFamily="34" charset="-122"/>
                  <a:cs typeface="+mn-ea"/>
                  <a:sym typeface="+mn-lt"/>
                </a:rPr>
                <a:t>THANK YOU FOR LISTENING</a:t>
              </a:r>
              <a:endParaRPr lang="zh-CN" altLang="en-US" sz="2800" dirty="0">
                <a:solidFill>
                  <a:srgbClr val="18478F"/>
                </a:solidFill>
                <a:latin typeface="微软雅黑" panose="020B0503020204020204" pitchFamily="34" charset="-122"/>
                <a:ea typeface="微软雅黑" panose="020B0503020204020204" pitchFamily="34" charset="-122"/>
                <a:cs typeface="+mn-ea"/>
                <a:sym typeface="+mn-lt"/>
              </a:endParaRPr>
            </a:p>
          </p:txBody>
        </p:sp>
      </p:grpSp>
    </p:spTree>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392.5133858267718,&quot;width&quot;:15218.617322834645}"/>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begin{eqnarray*}&#10;    p( x_{1}, \ldots, x_{7} ) &amp;= &amp; p(x_1) p(x_2) p(x_3) p(x_4|x_1, x_2, x_3) \\&#10;    &amp; &amp; p(x_5|x_1, x_3) p(x_6|x_4) p(x_7|x_4, x_5)&#10;\end{eqnarray*}&#10;\end{document}&#10;"/>
  <p:tag name="FILENAME" val="TP_tmp"/>
  <p:tag name="FORMAT" val="png256"/>
  <p:tag name="RES" val="600"/>
  <p:tag name="BLEND" val="0"/>
  <p:tag name="TRANSPARENT" val="1"/>
  <p:tag name="TBUG" val="0"/>
  <p:tag name="ALLOWFS" val="0"/>
  <p:tag name="ORIGWIDTH" val="220"/>
  <p:tag name="PICTUREFILESIZE" val="8262"/>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book}&#10;\pagestyle{empty}&#10;\input{C:/Users/markussv/depots/CMBBOOK/latex/prml-utils}&#10;\begin{document}&#10;\[&#10;p(a,b,c) = p(c|a,b) p(a,b) = p(c|a,b)p(b|a)p(a)&#10;\]&#10;\end{document}&#10;"/>
  <p:tag name="FILENAME" val="TP_tmp"/>
  <p:tag name="FORMAT" val="png256"/>
  <p:tag name="RES" val="600"/>
  <p:tag name="BLEND" val="0"/>
  <p:tag name="TRANSPARENT" val="1"/>
  <p:tag name="TBUG" val="0"/>
  <p:tag name="ALLOWFS" val="0"/>
  <p:tag name="ORIGWIDTH" val="200"/>
  <p:tag name="PICTUREFILESIZE" val="464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2921</TotalTime>
  <Words>3192</Words>
  <Application>Microsoft Office PowerPoint</Application>
  <PresentationFormat>全屏显示(4:3)</PresentationFormat>
  <Paragraphs>507</Paragraphs>
  <Slides>72</Slides>
  <Notes>72</Notes>
  <HiddenSlides>14</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72</vt:i4>
      </vt:variant>
    </vt:vector>
  </HeadingPairs>
  <TitlesOfParts>
    <vt:vector size="83" baseType="lpstr">
      <vt:lpstr>-apple-system</vt:lpstr>
      <vt:lpstr>黑体</vt:lpstr>
      <vt:lpstr>宋体</vt:lpstr>
      <vt:lpstr>微软雅黑</vt:lpstr>
      <vt:lpstr>Arial</vt:lpstr>
      <vt:lpstr>Calibri</vt:lpstr>
      <vt:lpstr>Cambria Math</vt:lpstr>
      <vt:lpstr>Times New Roman</vt:lpstr>
      <vt:lpstr>Wingdings</vt:lpstr>
      <vt:lpstr>Office 主题</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403</cp:revision>
  <dcterms:created xsi:type="dcterms:W3CDTF">2019-06-19T02:08:00Z</dcterms:created>
  <dcterms:modified xsi:type="dcterms:W3CDTF">2026-04-14T13:40:35Z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